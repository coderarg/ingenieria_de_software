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Lst>
  <p:sldSz cy="6858000" cx="12192000"/>
  <p:notesSz cx="6858000" cy="9144000"/>
  <p:embeddedFontLst>
    <p:embeddedFont>
      <p:font typeface="Urbanist"/>
      <p:regular r:id="rId8"/>
      <p:bold r:id="rId9"/>
      <p:italic r:id="rId10"/>
      <p:boldItalic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2" roundtripDataSignature="AMtx7mgtu7pT/OFNNASvRj5YQlADoHYXQ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font" Target="fonts/Urbanist-boldItalic.fntdata"/><Relationship Id="rId10" Type="http://schemas.openxmlformats.org/officeDocument/2006/relationships/font" Target="fonts/Urbanist-italic.fntdata"/><Relationship Id="rId12" Type="http://customschemas.google.com/relationships/presentationmetadata" Target="metadata"/><Relationship Id="rId9" Type="http://schemas.openxmlformats.org/officeDocument/2006/relationships/font" Target="fonts/Urbanist-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font" Target="fonts/Urbanis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fb58d30147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 name="Google Shape;89;g3fb58d30147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4"/>
          <p:cNvSpPr/>
          <p:nvPr>
            <p:ph idx="2" type="pic"/>
          </p:nvPr>
        </p:nvSpPr>
        <p:spPr>
          <a:xfrm>
            <a:off x="1792288" y="612775"/>
            <a:ext cx="5486400" cy="4114800"/>
          </a:xfrm>
          <a:prstGeom prst="rect">
            <a:avLst/>
          </a:prstGeom>
          <a:noFill/>
          <a:ln>
            <a:noFill/>
          </a:ln>
        </p:spPr>
      </p:sp>
      <p:sp>
        <p:nvSpPr>
          <p:cNvPr id="64" name="Google Shape;64;p1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9F5"/>
        </a:solidFill>
      </p:bgPr>
    </p:bg>
    <p:spTree>
      <p:nvGrpSpPr>
        <p:cNvPr id="83" name="Shape 83"/>
        <p:cNvGrpSpPr/>
        <p:nvPr/>
      </p:nvGrpSpPr>
      <p:grpSpPr>
        <a:xfrm>
          <a:off x="0" y="0"/>
          <a:ext cx="0" cy="0"/>
          <a:chOff x="0" y="0"/>
          <a:chExt cx="0" cy="0"/>
        </a:xfrm>
      </p:grpSpPr>
      <p:pic>
        <p:nvPicPr>
          <p:cNvPr descr="image.png" id="84" name="Google Shape;84;p1"/>
          <p:cNvPicPr preferRelativeResize="0"/>
          <p:nvPr/>
        </p:nvPicPr>
        <p:blipFill rotWithShape="1">
          <a:blip r:embed="rId3">
            <a:alphaModFix/>
          </a:blip>
          <a:srcRect b="0" l="0" r="0" t="0"/>
          <a:stretch/>
        </p:blipFill>
        <p:spPr>
          <a:xfrm>
            <a:off x="571500" y="965625"/>
            <a:ext cx="10776375" cy="5030100"/>
          </a:xfrm>
          <a:prstGeom prst="rect">
            <a:avLst/>
          </a:prstGeom>
          <a:noFill/>
          <a:ln>
            <a:noFill/>
          </a:ln>
        </p:spPr>
      </p:pic>
      <p:sp>
        <p:nvSpPr>
          <p:cNvPr id="85" name="Google Shape;85;p1"/>
          <p:cNvSpPr txBox="1"/>
          <p:nvPr/>
        </p:nvSpPr>
        <p:spPr>
          <a:xfrm>
            <a:off x="2491401" y="3174608"/>
            <a:ext cx="4895700" cy="2550000"/>
          </a:xfrm>
          <a:prstGeom prst="rect">
            <a:avLst/>
          </a:prstGeom>
          <a:noFill/>
          <a:ln>
            <a:noFill/>
          </a:ln>
        </p:spPr>
        <p:txBody>
          <a:bodyPr anchorCtr="0" anchor="t" bIns="0" lIns="0" spcFirstLastPara="1" rIns="0" wrap="square" tIns="0">
            <a:spAutoFit/>
          </a:bodyPr>
          <a:lstStyle/>
          <a:p>
            <a:pPr indent="0" lvl="0" marL="0" marR="0" rtl="0" algn="l">
              <a:lnSpc>
                <a:spcPct val="119936"/>
              </a:lnSpc>
              <a:spcBef>
                <a:spcPts val="0"/>
              </a:spcBef>
              <a:spcAft>
                <a:spcPts val="0"/>
              </a:spcAft>
              <a:buClr>
                <a:srgbClr val="000000"/>
              </a:buClr>
              <a:buSzPts val="1575"/>
              <a:buFont typeface="Arial"/>
              <a:buNone/>
            </a:pPr>
            <a:r>
              <a:rPr b="1" lang="en-US" sz="1275">
                <a:solidFill>
                  <a:srgbClr val="1E293B"/>
                </a:solidFill>
                <a:latin typeface="Urbanist"/>
                <a:ea typeface="Urbanist"/>
                <a:cs typeface="Urbanist"/>
                <a:sym typeface="Urbanist"/>
              </a:rPr>
              <a:t>Profesora:</a:t>
            </a:r>
            <a:endParaRPr b="1"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rPr lang="en-US" sz="1275">
                <a:solidFill>
                  <a:srgbClr val="1E293B"/>
                </a:solidFill>
                <a:latin typeface="Urbanist"/>
                <a:ea typeface="Urbanist"/>
                <a:cs typeface="Urbanist"/>
                <a:sym typeface="Urbanist"/>
              </a:rPr>
              <a:t>Susana Daldín</a:t>
            </a:r>
            <a:endParaRPr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t/>
            </a:r>
            <a:endParaRPr b="1"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rPr b="1" lang="en-US" sz="1275">
                <a:solidFill>
                  <a:srgbClr val="1E293B"/>
                </a:solidFill>
                <a:latin typeface="Urbanist"/>
                <a:ea typeface="Urbanist"/>
                <a:cs typeface="Urbanist"/>
                <a:sym typeface="Urbanist"/>
              </a:rPr>
              <a:t>Integranes</a:t>
            </a:r>
            <a:endParaRPr b="1"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rPr lang="en-US" sz="1275">
                <a:solidFill>
                  <a:srgbClr val="1E293B"/>
                </a:solidFill>
                <a:latin typeface="Urbanist"/>
                <a:ea typeface="Urbanist"/>
                <a:cs typeface="Urbanist"/>
                <a:sym typeface="Urbanist"/>
              </a:rPr>
              <a:t>Matias Barzaghi LU: 1206689</a:t>
            </a:r>
            <a:endParaRPr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rPr lang="en-US" sz="1275">
                <a:solidFill>
                  <a:srgbClr val="1E293B"/>
                </a:solidFill>
                <a:latin typeface="Urbanist"/>
                <a:ea typeface="Urbanist"/>
                <a:cs typeface="Urbanist"/>
                <a:sym typeface="Urbanist"/>
              </a:rPr>
              <a:t>Lucas García Lauman LU: 1204316</a:t>
            </a:r>
            <a:endParaRPr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rPr lang="en-US" sz="1275">
                <a:solidFill>
                  <a:srgbClr val="1E293B"/>
                </a:solidFill>
                <a:latin typeface="Urbanist"/>
                <a:ea typeface="Urbanist"/>
                <a:cs typeface="Urbanist"/>
                <a:sym typeface="Urbanist"/>
              </a:rPr>
              <a:t>Lucas Jorge García - LU:1204795</a:t>
            </a:r>
            <a:endParaRPr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rPr lang="en-US" sz="1275">
                <a:solidFill>
                  <a:srgbClr val="1E293B"/>
                </a:solidFill>
                <a:latin typeface="Urbanist"/>
                <a:ea typeface="Urbanist"/>
                <a:cs typeface="Urbanist"/>
                <a:sym typeface="Urbanist"/>
              </a:rPr>
              <a:t>Julián Manuel Bonavota - LU:1174935</a:t>
            </a:r>
            <a:endParaRPr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rPr lang="en-US" sz="1275">
                <a:solidFill>
                  <a:srgbClr val="1E293B"/>
                </a:solidFill>
                <a:latin typeface="Urbanist"/>
                <a:ea typeface="Urbanist"/>
                <a:cs typeface="Urbanist"/>
                <a:sym typeface="Urbanist"/>
              </a:rPr>
              <a:t>Enzo Marco - LU: 1160022</a:t>
            </a:r>
            <a:endParaRPr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rPr lang="en-US" sz="1275">
                <a:solidFill>
                  <a:srgbClr val="1E293B"/>
                </a:solidFill>
                <a:latin typeface="Urbanist"/>
                <a:ea typeface="Urbanist"/>
                <a:cs typeface="Urbanist"/>
                <a:sym typeface="Urbanist"/>
              </a:rPr>
              <a:t>Santiago Viken Sarkissian - LU: </a:t>
            </a:r>
            <a:endParaRPr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t/>
            </a:r>
            <a:endParaRPr sz="1275">
              <a:solidFill>
                <a:srgbClr val="1E293B"/>
              </a:solidFill>
              <a:latin typeface="Urbanist"/>
              <a:ea typeface="Urbanist"/>
              <a:cs typeface="Urbanist"/>
              <a:sym typeface="Urbanist"/>
            </a:endParaRPr>
          </a:p>
        </p:txBody>
      </p:sp>
      <p:sp>
        <p:nvSpPr>
          <p:cNvPr id="86" name="Google Shape;86;p1"/>
          <p:cNvSpPr txBox="1"/>
          <p:nvPr/>
        </p:nvSpPr>
        <p:spPr>
          <a:xfrm>
            <a:off x="2741250" y="1551350"/>
            <a:ext cx="6709500" cy="1385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lang="en-US" sz="3000">
                <a:solidFill>
                  <a:srgbClr val="C25E37"/>
                </a:solidFill>
                <a:latin typeface="Urbanist"/>
                <a:ea typeface="Urbanist"/>
                <a:cs typeface="Urbanist"/>
                <a:sym typeface="Urbanist"/>
              </a:rPr>
              <a:t>Ingeniería de Software</a:t>
            </a:r>
            <a:endParaRPr b="1" sz="3000">
              <a:solidFill>
                <a:srgbClr val="C25E37"/>
              </a:solidFill>
              <a:latin typeface="Urbanist"/>
              <a:ea typeface="Urbanist"/>
              <a:cs typeface="Urbanist"/>
              <a:sym typeface="Urbanist"/>
            </a:endParaRPr>
          </a:p>
          <a:p>
            <a:pPr indent="0" lvl="0" marL="0" marR="0" rtl="0" algn="ctr">
              <a:lnSpc>
                <a:spcPct val="100000"/>
              </a:lnSpc>
              <a:spcBef>
                <a:spcPts val="0"/>
              </a:spcBef>
              <a:spcAft>
                <a:spcPts val="0"/>
              </a:spcAft>
              <a:buClr>
                <a:srgbClr val="000000"/>
              </a:buClr>
              <a:buSzPts val="1200"/>
              <a:buFont typeface="Arial"/>
              <a:buNone/>
            </a:pPr>
            <a:r>
              <a:rPr b="1" lang="en-US" sz="3000">
                <a:solidFill>
                  <a:srgbClr val="C25E37"/>
                </a:solidFill>
                <a:latin typeface="Urbanist"/>
                <a:ea typeface="Urbanist"/>
                <a:cs typeface="Urbanist"/>
                <a:sym typeface="Urbanist"/>
              </a:rPr>
              <a:t>Grupo 10</a:t>
            </a:r>
            <a:endParaRPr b="1" sz="3000">
              <a:solidFill>
                <a:srgbClr val="C25E37"/>
              </a:solidFill>
              <a:latin typeface="Urbanist"/>
              <a:ea typeface="Urbanist"/>
              <a:cs typeface="Urbanist"/>
              <a:sym typeface="Urbanist"/>
            </a:endParaRPr>
          </a:p>
          <a:p>
            <a:pPr indent="0" lvl="0" marL="0" marR="0" rtl="0" algn="ctr">
              <a:lnSpc>
                <a:spcPct val="100000"/>
              </a:lnSpc>
              <a:spcBef>
                <a:spcPts val="0"/>
              </a:spcBef>
              <a:spcAft>
                <a:spcPts val="0"/>
              </a:spcAft>
              <a:buClr>
                <a:srgbClr val="000000"/>
              </a:buClr>
              <a:buSzPts val="1200"/>
              <a:buFont typeface="Arial"/>
              <a:buNone/>
            </a:pPr>
            <a:r>
              <a:rPr b="1" lang="en-US" sz="3000">
                <a:solidFill>
                  <a:srgbClr val="C25E37"/>
                </a:solidFill>
                <a:latin typeface="Urbanist"/>
                <a:ea typeface="Urbanist"/>
                <a:cs typeface="Urbanist"/>
                <a:sym typeface="Urbanist"/>
              </a:rPr>
              <a:t>Sistema Administrativo Barrera</a:t>
            </a:r>
            <a:endParaRPr b="1" sz="3000">
              <a:solidFill>
                <a:srgbClr val="C25E37"/>
              </a:solidFill>
              <a:latin typeface="Urbanist"/>
              <a:ea typeface="Urbanist"/>
              <a:cs typeface="Urbanist"/>
              <a:sym typeface="Urbanis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9F5"/>
        </a:solidFill>
      </p:bgPr>
    </p:bg>
    <p:spTree>
      <p:nvGrpSpPr>
        <p:cNvPr id="90" name="Shape 90"/>
        <p:cNvGrpSpPr/>
        <p:nvPr/>
      </p:nvGrpSpPr>
      <p:grpSpPr>
        <a:xfrm>
          <a:off x="0" y="0"/>
          <a:ext cx="0" cy="0"/>
          <a:chOff x="0" y="0"/>
          <a:chExt cx="0" cy="0"/>
        </a:xfrm>
      </p:grpSpPr>
      <p:pic>
        <p:nvPicPr>
          <p:cNvPr descr="image.png" id="91" name="Google Shape;91;g3fb58d30147_0_6"/>
          <p:cNvPicPr preferRelativeResize="0"/>
          <p:nvPr/>
        </p:nvPicPr>
        <p:blipFill rotWithShape="1">
          <a:blip r:embed="rId3">
            <a:alphaModFix/>
          </a:blip>
          <a:srcRect b="0" l="0" r="0" t="0"/>
          <a:stretch/>
        </p:blipFill>
        <p:spPr>
          <a:xfrm>
            <a:off x="571500" y="965625"/>
            <a:ext cx="5386425" cy="2514225"/>
          </a:xfrm>
          <a:prstGeom prst="rect">
            <a:avLst/>
          </a:prstGeom>
          <a:noFill/>
          <a:ln>
            <a:noFill/>
          </a:ln>
        </p:spPr>
      </p:pic>
      <p:sp>
        <p:nvSpPr>
          <p:cNvPr id="92" name="Google Shape;92;g3fb58d30147_0_6"/>
          <p:cNvSpPr txBox="1"/>
          <p:nvPr/>
        </p:nvSpPr>
        <p:spPr>
          <a:xfrm>
            <a:off x="7836424" y="2019663"/>
            <a:ext cx="2199600" cy="3020700"/>
          </a:xfrm>
          <a:prstGeom prst="rect">
            <a:avLst/>
          </a:prstGeom>
          <a:noFill/>
          <a:ln>
            <a:noFill/>
          </a:ln>
        </p:spPr>
        <p:txBody>
          <a:bodyPr anchorCtr="0" anchor="t" bIns="0" lIns="0" spcFirstLastPara="1" rIns="0" wrap="square" tIns="0">
            <a:spAutoFit/>
          </a:bodyPr>
          <a:lstStyle/>
          <a:p>
            <a:pPr indent="0" lvl="0" marL="0" marR="0" rtl="0" algn="l">
              <a:lnSpc>
                <a:spcPct val="119936"/>
              </a:lnSpc>
              <a:spcBef>
                <a:spcPts val="0"/>
              </a:spcBef>
              <a:spcAft>
                <a:spcPts val="0"/>
              </a:spcAft>
              <a:buClr>
                <a:srgbClr val="000000"/>
              </a:buClr>
              <a:buSzPts val="1575"/>
              <a:buFont typeface="Arial"/>
              <a:buNone/>
            </a:pPr>
            <a:r>
              <a:rPr b="1" lang="en-US" sz="1275">
                <a:solidFill>
                  <a:srgbClr val="1E293B"/>
                </a:solidFill>
                <a:latin typeface="Urbanist"/>
                <a:ea typeface="Urbanist"/>
                <a:cs typeface="Urbanist"/>
                <a:sym typeface="Urbanist"/>
              </a:rPr>
              <a:t>Stakeholders:</a:t>
            </a:r>
            <a:endParaRPr b="1"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rPr i="0" lang="en-US" sz="1275" u="none" cap="none" strike="noStrike">
                <a:solidFill>
                  <a:srgbClr val="1E293B"/>
                </a:solidFill>
                <a:latin typeface="Urbanist"/>
                <a:ea typeface="Urbanist"/>
                <a:cs typeface="Urbanist"/>
                <a:sym typeface="Urbanist"/>
              </a:rPr>
              <a:t>Juan Barrera </a:t>
            </a:r>
            <a:r>
              <a:rPr lang="en-US" sz="1275">
                <a:solidFill>
                  <a:srgbClr val="1E293B"/>
                </a:solidFill>
                <a:latin typeface="Urbanist"/>
                <a:ea typeface="Urbanist"/>
                <a:cs typeface="Urbanist"/>
                <a:sym typeface="Urbanist"/>
              </a:rPr>
              <a:t>-</a:t>
            </a:r>
            <a:r>
              <a:rPr i="0" lang="en-US" sz="1275" u="none" cap="none" strike="noStrike">
                <a:solidFill>
                  <a:srgbClr val="1E293B"/>
                </a:solidFill>
                <a:latin typeface="Urbanist"/>
                <a:ea typeface="Urbanist"/>
                <a:cs typeface="Urbanist"/>
                <a:sym typeface="Urbanist"/>
              </a:rPr>
              <a:t> </a:t>
            </a:r>
            <a:r>
              <a:rPr lang="en-US" sz="1275">
                <a:solidFill>
                  <a:srgbClr val="1E293B"/>
                </a:solidFill>
                <a:latin typeface="Urbanist"/>
                <a:ea typeface="Urbanist"/>
                <a:cs typeface="Urbanist"/>
                <a:sym typeface="Urbanist"/>
              </a:rPr>
              <a:t>Dueño</a:t>
            </a:r>
            <a:endParaRPr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rPr lang="en-US" sz="1275">
                <a:solidFill>
                  <a:srgbClr val="1E293B"/>
                </a:solidFill>
                <a:latin typeface="Urbanist"/>
                <a:ea typeface="Urbanist"/>
                <a:cs typeface="Urbanist"/>
                <a:sym typeface="Urbanist"/>
              </a:rPr>
              <a:t>Ezequiel Ferrari - Adm</a:t>
            </a:r>
            <a:endParaRPr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rPr lang="en-US" sz="1275">
                <a:solidFill>
                  <a:srgbClr val="1E293B"/>
                </a:solidFill>
                <a:latin typeface="Urbanist"/>
                <a:ea typeface="Urbanist"/>
                <a:cs typeface="Urbanist"/>
                <a:sym typeface="Urbanist"/>
              </a:rPr>
              <a:t>Sebastián y Lucas - Técnicos de Campo</a:t>
            </a:r>
            <a:endParaRPr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rPr lang="en-US" sz="1275">
                <a:solidFill>
                  <a:srgbClr val="1E293B"/>
                </a:solidFill>
                <a:latin typeface="Urbanist"/>
                <a:ea typeface="Urbanist"/>
                <a:cs typeface="Urbanist"/>
                <a:sym typeface="Urbanist"/>
              </a:rPr>
              <a:t>Comercios y Clientes</a:t>
            </a:r>
            <a:endParaRPr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t/>
            </a:r>
            <a:endParaRPr b="1"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rPr b="1" lang="en-US" sz="1275">
                <a:solidFill>
                  <a:srgbClr val="1E293B"/>
                </a:solidFill>
                <a:latin typeface="Urbanist"/>
                <a:ea typeface="Urbanist"/>
                <a:cs typeface="Urbanist"/>
                <a:sym typeface="Urbanist"/>
              </a:rPr>
              <a:t>Equipo de Desarrollo</a:t>
            </a:r>
            <a:endParaRPr b="1"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rPr lang="en-US" sz="1275">
                <a:solidFill>
                  <a:srgbClr val="1E293B"/>
                </a:solidFill>
                <a:latin typeface="Urbanist"/>
                <a:ea typeface="Urbanist"/>
                <a:cs typeface="Urbanist"/>
                <a:sym typeface="Urbanist"/>
              </a:rPr>
              <a:t>Líder técnico / Cloud-DevOps</a:t>
            </a:r>
            <a:endParaRPr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rPr lang="en-US" sz="1275">
                <a:solidFill>
                  <a:srgbClr val="1E293B"/>
                </a:solidFill>
                <a:latin typeface="Urbanist"/>
                <a:ea typeface="Urbanist"/>
                <a:cs typeface="Urbanist"/>
                <a:sym typeface="Urbanist"/>
              </a:rPr>
              <a:t>Frontend Sr </a:t>
            </a:r>
            <a:endParaRPr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rPr lang="en-US" sz="1275">
                <a:solidFill>
                  <a:srgbClr val="1E293B"/>
                </a:solidFill>
                <a:latin typeface="Urbanist"/>
                <a:ea typeface="Urbanist"/>
                <a:cs typeface="Urbanist"/>
                <a:sym typeface="Urbanist"/>
              </a:rPr>
              <a:t>Full-stack </a:t>
            </a:r>
            <a:endParaRPr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rPr lang="en-US" sz="1275">
                <a:solidFill>
                  <a:srgbClr val="1E293B"/>
                </a:solidFill>
                <a:latin typeface="Urbanist"/>
                <a:ea typeface="Urbanist"/>
                <a:cs typeface="Urbanist"/>
                <a:sym typeface="Urbanist"/>
              </a:rPr>
              <a:t>Analista / QA</a:t>
            </a:r>
            <a:endParaRPr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rPr lang="en-US" sz="1275">
                <a:solidFill>
                  <a:srgbClr val="1E293B"/>
                </a:solidFill>
                <a:latin typeface="Urbanist"/>
                <a:ea typeface="Urbanist"/>
                <a:cs typeface="Urbanist"/>
                <a:sym typeface="Urbanist"/>
              </a:rPr>
              <a:t>Product Owner</a:t>
            </a:r>
            <a:endParaRPr sz="1275">
              <a:solidFill>
                <a:srgbClr val="1E293B"/>
              </a:solidFill>
              <a:latin typeface="Urbanist"/>
              <a:ea typeface="Urbanist"/>
              <a:cs typeface="Urbanist"/>
              <a:sym typeface="Urbanist"/>
            </a:endParaRPr>
          </a:p>
        </p:txBody>
      </p:sp>
      <p:pic>
        <p:nvPicPr>
          <p:cNvPr descr="image.png" id="93" name="Google Shape;93;g3fb58d30147_0_6"/>
          <p:cNvPicPr preferRelativeResize="0"/>
          <p:nvPr/>
        </p:nvPicPr>
        <p:blipFill rotWithShape="1">
          <a:blip r:embed="rId3">
            <a:alphaModFix/>
          </a:blip>
          <a:srcRect b="0" l="0" r="0" t="0"/>
          <a:stretch/>
        </p:blipFill>
        <p:spPr>
          <a:xfrm>
            <a:off x="633825" y="3696025"/>
            <a:ext cx="5324100" cy="3020700"/>
          </a:xfrm>
          <a:prstGeom prst="rect">
            <a:avLst/>
          </a:prstGeom>
          <a:noFill/>
          <a:ln>
            <a:noFill/>
          </a:ln>
        </p:spPr>
      </p:pic>
      <p:sp>
        <p:nvSpPr>
          <p:cNvPr id="94" name="Google Shape;94;g3fb58d30147_0_6"/>
          <p:cNvSpPr txBox="1"/>
          <p:nvPr/>
        </p:nvSpPr>
        <p:spPr>
          <a:xfrm>
            <a:off x="826301" y="4421250"/>
            <a:ext cx="4876800" cy="1137900"/>
          </a:xfrm>
          <a:prstGeom prst="rect">
            <a:avLst/>
          </a:prstGeom>
          <a:noFill/>
          <a:ln>
            <a:noFill/>
          </a:ln>
        </p:spPr>
        <p:txBody>
          <a:bodyPr anchorCtr="0" anchor="t" bIns="0" lIns="0" spcFirstLastPara="1" rIns="0" wrap="square" tIns="0">
            <a:spAutoFit/>
          </a:bodyPr>
          <a:lstStyle/>
          <a:p>
            <a:pPr indent="0" lvl="0" marL="0" marR="0" rtl="0" algn="l">
              <a:lnSpc>
                <a:spcPct val="119936"/>
              </a:lnSpc>
              <a:spcBef>
                <a:spcPts val="0"/>
              </a:spcBef>
              <a:spcAft>
                <a:spcPts val="0"/>
              </a:spcAft>
              <a:buClr>
                <a:srgbClr val="000000"/>
              </a:buClr>
              <a:buSzPts val="1575"/>
              <a:buFont typeface="Arial"/>
              <a:buNone/>
            </a:pPr>
            <a:r>
              <a:rPr b="1" lang="en-US" sz="1275">
                <a:solidFill>
                  <a:srgbClr val="1E293B"/>
                </a:solidFill>
                <a:latin typeface="Urbanist"/>
                <a:ea typeface="Urbanist"/>
                <a:cs typeface="Urbanist"/>
                <a:sym typeface="Urbanist"/>
              </a:rPr>
              <a:t>Operativa Diaria:</a:t>
            </a:r>
            <a:endParaRPr b="1"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rPr lang="en-US" sz="1275">
                <a:solidFill>
                  <a:srgbClr val="1E293B"/>
                </a:solidFill>
                <a:latin typeface="Urbanist"/>
                <a:ea typeface="Urbanist"/>
                <a:cs typeface="Urbanist"/>
                <a:sym typeface="Urbanist"/>
              </a:rPr>
              <a:t>Seguimiento de presupuestos y servicios ofrecidos a clientes.</a:t>
            </a:r>
            <a:endParaRPr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rPr lang="en-US" sz="1275">
                <a:solidFill>
                  <a:srgbClr val="1E293B"/>
                </a:solidFill>
                <a:latin typeface="Urbanist"/>
                <a:ea typeface="Urbanist"/>
                <a:cs typeface="Urbanist"/>
                <a:sym typeface="Urbanist"/>
              </a:rPr>
              <a:t>Corroborar conforme de servicio y seguimientos de pagos.</a:t>
            </a:r>
            <a:endParaRPr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rPr lang="en-US" sz="1275">
                <a:solidFill>
                  <a:srgbClr val="1E293B"/>
                </a:solidFill>
                <a:latin typeface="Urbanist"/>
                <a:ea typeface="Urbanist"/>
                <a:cs typeface="Urbanist"/>
                <a:sym typeface="Urbanist"/>
              </a:rPr>
              <a:t>Gestión de presupuestos, costos y beneficios.</a:t>
            </a:r>
            <a:endParaRPr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t/>
            </a:r>
            <a:endParaRPr sz="1275">
              <a:solidFill>
                <a:srgbClr val="1E293B"/>
              </a:solidFill>
              <a:latin typeface="Urbanist"/>
              <a:ea typeface="Urbanist"/>
              <a:cs typeface="Urbanist"/>
              <a:sym typeface="Urbanist"/>
            </a:endParaRPr>
          </a:p>
        </p:txBody>
      </p:sp>
      <p:pic>
        <p:nvPicPr>
          <p:cNvPr descr="image.png" id="95" name="Google Shape;95;g3fb58d30147_0_6"/>
          <p:cNvPicPr preferRelativeResize="0"/>
          <p:nvPr/>
        </p:nvPicPr>
        <p:blipFill rotWithShape="1">
          <a:blip r:embed="rId3">
            <a:alphaModFix/>
          </a:blip>
          <a:srcRect b="0" l="0" r="0" t="0"/>
          <a:stretch/>
        </p:blipFill>
        <p:spPr>
          <a:xfrm>
            <a:off x="6589538" y="3696025"/>
            <a:ext cx="5324100" cy="3020700"/>
          </a:xfrm>
          <a:prstGeom prst="rect">
            <a:avLst/>
          </a:prstGeom>
          <a:noFill/>
          <a:ln>
            <a:noFill/>
          </a:ln>
        </p:spPr>
      </p:pic>
      <p:pic>
        <p:nvPicPr>
          <p:cNvPr descr="image.png" id="96" name="Google Shape;96;g3fb58d30147_0_6"/>
          <p:cNvPicPr preferRelativeResize="0"/>
          <p:nvPr/>
        </p:nvPicPr>
        <p:blipFill rotWithShape="1">
          <a:blip r:embed="rId3">
            <a:alphaModFix/>
          </a:blip>
          <a:srcRect b="0" l="0" r="0" t="0"/>
          <a:stretch/>
        </p:blipFill>
        <p:spPr>
          <a:xfrm>
            <a:off x="6558388" y="965625"/>
            <a:ext cx="5386425" cy="2514225"/>
          </a:xfrm>
          <a:prstGeom prst="rect">
            <a:avLst/>
          </a:prstGeom>
          <a:noFill/>
          <a:ln>
            <a:noFill/>
          </a:ln>
        </p:spPr>
      </p:pic>
      <p:sp>
        <p:nvSpPr>
          <p:cNvPr id="97" name="Google Shape;97;g3fb58d30147_0_6"/>
          <p:cNvSpPr txBox="1"/>
          <p:nvPr/>
        </p:nvSpPr>
        <p:spPr>
          <a:xfrm>
            <a:off x="6759426" y="1269570"/>
            <a:ext cx="4895700" cy="1373100"/>
          </a:xfrm>
          <a:prstGeom prst="rect">
            <a:avLst/>
          </a:prstGeom>
          <a:noFill/>
          <a:ln>
            <a:noFill/>
          </a:ln>
        </p:spPr>
        <p:txBody>
          <a:bodyPr anchorCtr="0" anchor="t" bIns="0" lIns="0" spcFirstLastPara="1" rIns="0" wrap="square" tIns="0">
            <a:spAutoFit/>
          </a:bodyPr>
          <a:lstStyle/>
          <a:p>
            <a:pPr indent="0" lvl="0" marL="0" marR="0" rtl="0" algn="l">
              <a:lnSpc>
                <a:spcPct val="119936"/>
              </a:lnSpc>
              <a:spcBef>
                <a:spcPts val="0"/>
              </a:spcBef>
              <a:spcAft>
                <a:spcPts val="0"/>
              </a:spcAft>
              <a:buClr>
                <a:srgbClr val="000000"/>
              </a:buClr>
              <a:buSzPts val="1575"/>
              <a:buFont typeface="Arial"/>
              <a:buNone/>
            </a:pPr>
            <a:r>
              <a:rPr b="1" lang="en-US" sz="1275">
                <a:solidFill>
                  <a:srgbClr val="1E293B"/>
                </a:solidFill>
                <a:latin typeface="Urbanist"/>
                <a:ea typeface="Urbanist"/>
                <a:cs typeface="Urbanist"/>
                <a:sym typeface="Urbanist"/>
              </a:rPr>
              <a:t>Aplicación Mobile:</a:t>
            </a:r>
            <a:endParaRPr b="1"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rPr lang="en-US" sz="1275">
                <a:solidFill>
                  <a:srgbClr val="1E293B"/>
                </a:solidFill>
                <a:latin typeface="Urbanist"/>
                <a:ea typeface="Urbanist"/>
                <a:cs typeface="Urbanist"/>
                <a:sym typeface="Urbanist"/>
              </a:rPr>
              <a:t>En un contexto donde el administrativo debe hacer seguimiento de los clientes que son atendidos en campo por los técnico, debe darse una interacción sencilla, rápida con persistencia compartida. Además, el formato debe ser mobile para que los técnicos, que no cuentan con computadoras, puedan cargar datos del cliente.</a:t>
            </a:r>
            <a:endParaRPr sz="1275">
              <a:solidFill>
                <a:srgbClr val="1E293B"/>
              </a:solidFill>
              <a:latin typeface="Urbanist"/>
              <a:ea typeface="Urbanist"/>
              <a:cs typeface="Urbanist"/>
              <a:sym typeface="Urbanist"/>
            </a:endParaRPr>
          </a:p>
        </p:txBody>
      </p:sp>
      <p:sp>
        <p:nvSpPr>
          <p:cNvPr id="98" name="Google Shape;98;g3fb58d30147_0_6"/>
          <p:cNvSpPr txBox="1"/>
          <p:nvPr/>
        </p:nvSpPr>
        <p:spPr>
          <a:xfrm>
            <a:off x="6768876" y="4211575"/>
            <a:ext cx="4876800" cy="666900"/>
          </a:xfrm>
          <a:prstGeom prst="rect">
            <a:avLst/>
          </a:prstGeom>
          <a:noFill/>
          <a:ln>
            <a:noFill/>
          </a:ln>
        </p:spPr>
        <p:txBody>
          <a:bodyPr anchorCtr="0" anchor="t" bIns="0" lIns="0" spcFirstLastPara="1" rIns="0" wrap="square" tIns="0">
            <a:spAutoFit/>
          </a:bodyPr>
          <a:lstStyle/>
          <a:p>
            <a:pPr indent="0" lvl="0" marL="0" marR="0" rtl="0" algn="l">
              <a:lnSpc>
                <a:spcPct val="119936"/>
              </a:lnSpc>
              <a:spcBef>
                <a:spcPts val="0"/>
              </a:spcBef>
              <a:spcAft>
                <a:spcPts val="0"/>
              </a:spcAft>
              <a:buClr>
                <a:srgbClr val="000000"/>
              </a:buClr>
              <a:buSzPts val="1575"/>
              <a:buFont typeface="Arial"/>
              <a:buNone/>
            </a:pPr>
            <a:r>
              <a:rPr b="1" lang="en-US" sz="1275">
                <a:solidFill>
                  <a:srgbClr val="1E293B"/>
                </a:solidFill>
                <a:latin typeface="Urbanist"/>
                <a:ea typeface="Urbanist"/>
                <a:cs typeface="Urbanist"/>
                <a:sym typeface="Urbanist"/>
              </a:rPr>
              <a:t>Gestión de Clientes:</a:t>
            </a:r>
            <a:endParaRPr b="1"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t/>
            </a:r>
            <a:endParaRPr b="1"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t/>
            </a:r>
            <a:endParaRPr sz="1275">
              <a:solidFill>
                <a:srgbClr val="1E293B"/>
              </a:solidFill>
              <a:latin typeface="Urbanist"/>
              <a:ea typeface="Urbanist"/>
              <a:cs typeface="Urbanist"/>
              <a:sym typeface="Urbanist"/>
            </a:endParaRPr>
          </a:p>
        </p:txBody>
      </p:sp>
      <p:sp>
        <p:nvSpPr>
          <p:cNvPr id="99" name="Google Shape;99;g3fb58d30147_0_6"/>
          <p:cNvSpPr txBox="1"/>
          <p:nvPr/>
        </p:nvSpPr>
        <p:spPr>
          <a:xfrm>
            <a:off x="816851" y="1269583"/>
            <a:ext cx="4895700" cy="2079300"/>
          </a:xfrm>
          <a:prstGeom prst="rect">
            <a:avLst/>
          </a:prstGeom>
          <a:noFill/>
          <a:ln>
            <a:noFill/>
          </a:ln>
        </p:spPr>
        <p:txBody>
          <a:bodyPr anchorCtr="0" anchor="t" bIns="0" lIns="0" spcFirstLastPara="1" rIns="0" wrap="square" tIns="0">
            <a:spAutoFit/>
          </a:bodyPr>
          <a:lstStyle/>
          <a:p>
            <a:pPr indent="0" lvl="0" marL="0" marR="0" rtl="0" algn="l">
              <a:lnSpc>
                <a:spcPct val="119936"/>
              </a:lnSpc>
              <a:spcBef>
                <a:spcPts val="0"/>
              </a:spcBef>
              <a:spcAft>
                <a:spcPts val="0"/>
              </a:spcAft>
              <a:buClr>
                <a:srgbClr val="000000"/>
              </a:buClr>
              <a:buSzPts val="1575"/>
              <a:buFont typeface="Arial"/>
              <a:buNone/>
            </a:pPr>
            <a:r>
              <a:rPr b="1" lang="en-US" sz="1275">
                <a:solidFill>
                  <a:srgbClr val="1E293B"/>
                </a:solidFill>
                <a:latin typeface="Urbanist"/>
                <a:ea typeface="Urbanist"/>
                <a:cs typeface="Urbanist"/>
                <a:sym typeface="Urbanist"/>
              </a:rPr>
              <a:t>Stakeholders:</a:t>
            </a:r>
            <a:endParaRPr b="1"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rPr i="0" lang="en-US" sz="1275" u="none" cap="none" strike="noStrike">
                <a:solidFill>
                  <a:srgbClr val="1E293B"/>
                </a:solidFill>
                <a:latin typeface="Urbanist"/>
                <a:ea typeface="Urbanist"/>
                <a:cs typeface="Urbanist"/>
                <a:sym typeface="Urbanist"/>
              </a:rPr>
              <a:t>Juan Barrera (</a:t>
            </a:r>
            <a:r>
              <a:rPr lang="en-US" sz="1275">
                <a:solidFill>
                  <a:srgbClr val="1E293B"/>
                </a:solidFill>
                <a:latin typeface="Urbanist"/>
                <a:ea typeface="Urbanist"/>
                <a:cs typeface="Urbanist"/>
                <a:sym typeface="Urbanist"/>
              </a:rPr>
              <a:t>Dueño) - Ezequiel Ferrari (Administrativo) - </a:t>
            </a:r>
            <a:endParaRPr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rPr lang="en-US" sz="1275">
                <a:solidFill>
                  <a:srgbClr val="1E293B"/>
                </a:solidFill>
                <a:latin typeface="Urbanist"/>
                <a:ea typeface="Urbanist"/>
                <a:cs typeface="Urbanist"/>
                <a:sym typeface="Urbanist"/>
              </a:rPr>
              <a:t>Sebastián Barrera y Lucas Gozzi (Técnicos de Campo)</a:t>
            </a:r>
            <a:endParaRPr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rPr lang="en-US" sz="1275">
                <a:solidFill>
                  <a:srgbClr val="1E293B"/>
                </a:solidFill>
                <a:latin typeface="Urbanist"/>
                <a:ea typeface="Urbanist"/>
                <a:cs typeface="Urbanist"/>
                <a:sym typeface="Urbanist"/>
              </a:rPr>
              <a:t>Comercios y Clientes</a:t>
            </a:r>
            <a:endParaRPr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t/>
            </a:r>
            <a:endParaRPr b="1"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rPr b="1" lang="en-US" sz="1275">
                <a:solidFill>
                  <a:srgbClr val="1E293B"/>
                </a:solidFill>
                <a:latin typeface="Urbanist"/>
                <a:ea typeface="Urbanist"/>
                <a:cs typeface="Urbanist"/>
                <a:sym typeface="Urbanist"/>
              </a:rPr>
              <a:t>Equipo de Desarrollo</a:t>
            </a:r>
            <a:endParaRPr b="1"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rPr lang="en-US" sz="1275">
                <a:solidFill>
                  <a:srgbClr val="1E293B"/>
                </a:solidFill>
                <a:latin typeface="Urbanist"/>
                <a:ea typeface="Urbanist"/>
                <a:cs typeface="Urbanist"/>
                <a:sym typeface="Urbanist"/>
              </a:rPr>
              <a:t>Líder técnico / Cloud-DevOps - Desarrollador Frontend - Desarrollador BackEnd</a:t>
            </a:r>
            <a:endParaRPr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rPr lang="en-US" sz="1275">
                <a:solidFill>
                  <a:srgbClr val="1E293B"/>
                </a:solidFill>
                <a:latin typeface="Urbanist"/>
                <a:ea typeface="Urbanist"/>
                <a:cs typeface="Urbanist"/>
                <a:sym typeface="Urbanist"/>
              </a:rPr>
              <a:t>Analista / QA - Product Owner</a:t>
            </a:r>
            <a:endParaRPr sz="1275">
              <a:solidFill>
                <a:srgbClr val="1E293B"/>
              </a:solidFill>
              <a:latin typeface="Urbanist"/>
              <a:ea typeface="Urbanist"/>
              <a:cs typeface="Urbanist"/>
              <a:sym typeface="Urbanist"/>
            </a:endParaRPr>
          </a:p>
        </p:txBody>
      </p:sp>
      <p:sp>
        <p:nvSpPr>
          <p:cNvPr id="100" name="Google Shape;100;g3fb58d30147_0_6"/>
          <p:cNvSpPr txBox="1"/>
          <p:nvPr/>
        </p:nvSpPr>
        <p:spPr>
          <a:xfrm>
            <a:off x="4002700" y="3118352"/>
            <a:ext cx="18027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25E37"/>
                </a:solidFill>
                <a:latin typeface="Urbanist"/>
                <a:ea typeface="Urbanist"/>
                <a:cs typeface="Urbanist"/>
                <a:sym typeface="Urbanist"/>
              </a:rPr>
              <a:t>01 / </a:t>
            </a:r>
            <a:r>
              <a:rPr b="1" lang="en-US" sz="1200">
                <a:solidFill>
                  <a:srgbClr val="C25E37"/>
                </a:solidFill>
                <a:latin typeface="Urbanist"/>
                <a:ea typeface="Urbanist"/>
                <a:cs typeface="Urbanist"/>
                <a:sym typeface="Urbanist"/>
              </a:rPr>
              <a:t>Personas</a:t>
            </a:r>
            <a:endParaRPr b="0" i="0" sz="1400" u="none" cap="none" strike="noStrike">
              <a:solidFill>
                <a:srgbClr val="000000"/>
              </a:solidFill>
              <a:latin typeface="Arial"/>
              <a:ea typeface="Arial"/>
              <a:cs typeface="Arial"/>
              <a:sym typeface="Arial"/>
            </a:endParaRPr>
          </a:p>
        </p:txBody>
      </p:sp>
      <p:sp>
        <p:nvSpPr>
          <p:cNvPr id="101" name="Google Shape;101;g3fb58d30147_0_6"/>
          <p:cNvSpPr txBox="1"/>
          <p:nvPr/>
        </p:nvSpPr>
        <p:spPr>
          <a:xfrm>
            <a:off x="4002700" y="3887915"/>
            <a:ext cx="18027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lang="en-US" sz="1200">
                <a:solidFill>
                  <a:srgbClr val="C25E37"/>
                </a:solidFill>
                <a:latin typeface="Urbanist"/>
                <a:ea typeface="Urbanist"/>
                <a:cs typeface="Urbanist"/>
                <a:sym typeface="Urbanist"/>
              </a:rPr>
              <a:t>03</a:t>
            </a:r>
            <a:r>
              <a:rPr b="1" i="0" lang="en-US" sz="1200" u="none" cap="none" strike="noStrike">
                <a:solidFill>
                  <a:srgbClr val="C25E37"/>
                </a:solidFill>
                <a:latin typeface="Urbanist"/>
                <a:ea typeface="Urbanist"/>
                <a:cs typeface="Urbanist"/>
                <a:sym typeface="Urbanist"/>
              </a:rPr>
              <a:t> / </a:t>
            </a:r>
            <a:r>
              <a:rPr b="1" lang="en-US" sz="1200">
                <a:solidFill>
                  <a:srgbClr val="C25E37"/>
                </a:solidFill>
                <a:latin typeface="Urbanist"/>
                <a:ea typeface="Urbanist"/>
                <a:cs typeface="Urbanist"/>
                <a:sym typeface="Urbanist"/>
              </a:rPr>
              <a:t>Proceso</a:t>
            </a:r>
            <a:endParaRPr b="0" i="0" sz="1400" u="none" cap="none" strike="noStrike">
              <a:solidFill>
                <a:srgbClr val="000000"/>
              </a:solidFill>
              <a:latin typeface="Arial"/>
              <a:ea typeface="Arial"/>
              <a:cs typeface="Arial"/>
              <a:sym typeface="Arial"/>
            </a:endParaRPr>
          </a:p>
        </p:txBody>
      </p:sp>
      <p:sp>
        <p:nvSpPr>
          <p:cNvPr id="102" name="Google Shape;102;g3fb58d30147_0_6"/>
          <p:cNvSpPr txBox="1"/>
          <p:nvPr/>
        </p:nvSpPr>
        <p:spPr>
          <a:xfrm>
            <a:off x="9934775" y="3150027"/>
            <a:ext cx="18027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25E37"/>
                </a:solidFill>
                <a:latin typeface="Urbanist"/>
                <a:ea typeface="Urbanist"/>
                <a:cs typeface="Urbanist"/>
                <a:sym typeface="Urbanist"/>
              </a:rPr>
              <a:t>0</a:t>
            </a:r>
            <a:r>
              <a:rPr b="1" lang="en-US" sz="1200">
                <a:solidFill>
                  <a:srgbClr val="C25E37"/>
                </a:solidFill>
                <a:latin typeface="Urbanist"/>
                <a:ea typeface="Urbanist"/>
                <a:cs typeface="Urbanist"/>
                <a:sym typeface="Urbanist"/>
              </a:rPr>
              <a:t>2</a:t>
            </a:r>
            <a:r>
              <a:rPr b="1" i="0" lang="en-US" sz="1200" u="none" cap="none" strike="noStrike">
                <a:solidFill>
                  <a:srgbClr val="C25E37"/>
                </a:solidFill>
                <a:latin typeface="Urbanist"/>
                <a:ea typeface="Urbanist"/>
                <a:cs typeface="Urbanist"/>
                <a:sym typeface="Urbanist"/>
              </a:rPr>
              <a:t> / </a:t>
            </a:r>
            <a:r>
              <a:rPr b="1" lang="en-US" sz="1200">
                <a:solidFill>
                  <a:srgbClr val="C25E37"/>
                </a:solidFill>
                <a:latin typeface="Urbanist"/>
                <a:ea typeface="Urbanist"/>
                <a:cs typeface="Urbanist"/>
                <a:sym typeface="Urbanist"/>
              </a:rPr>
              <a:t>Producto</a:t>
            </a:r>
            <a:endParaRPr b="0" i="0" sz="1400" u="none" cap="none" strike="noStrike">
              <a:solidFill>
                <a:srgbClr val="000000"/>
              </a:solidFill>
              <a:latin typeface="Arial"/>
              <a:ea typeface="Arial"/>
              <a:cs typeface="Arial"/>
              <a:sym typeface="Arial"/>
            </a:endParaRPr>
          </a:p>
        </p:txBody>
      </p:sp>
      <p:sp>
        <p:nvSpPr>
          <p:cNvPr id="103" name="Google Shape;103;g3fb58d30147_0_6"/>
          <p:cNvSpPr txBox="1"/>
          <p:nvPr/>
        </p:nvSpPr>
        <p:spPr>
          <a:xfrm>
            <a:off x="9934775" y="3842177"/>
            <a:ext cx="18027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25E37"/>
                </a:solidFill>
                <a:latin typeface="Urbanist"/>
                <a:ea typeface="Urbanist"/>
                <a:cs typeface="Urbanist"/>
                <a:sym typeface="Urbanist"/>
              </a:rPr>
              <a:t>0</a:t>
            </a:r>
            <a:r>
              <a:rPr b="1" lang="en-US" sz="1200">
                <a:solidFill>
                  <a:srgbClr val="C25E37"/>
                </a:solidFill>
                <a:latin typeface="Urbanist"/>
                <a:ea typeface="Urbanist"/>
                <a:cs typeface="Urbanist"/>
                <a:sym typeface="Urbanist"/>
              </a:rPr>
              <a:t>4 </a:t>
            </a:r>
            <a:r>
              <a:rPr b="1" i="0" lang="en-US" sz="1200" u="none" cap="none" strike="noStrike">
                <a:solidFill>
                  <a:srgbClr val="C25E37"/>
                </a:solidFill>
                <a:latin typeface="Urbanist"/>
                <a:ea typeface="Urbanist"/>
                <a:cs typeface="Urbanist"/>
                <a:sym typeface="Urbanist"/>
              </a:rPr>
              <a:t>/ </a:t>
            </a:r>
            <a:r>
              <a:rPr b="1" lang="en-US" sz="1200">
                <a:solidFill>
                  <a:srgbClr val="C25E37"/>
                </a:solidFill>
                <a:latin typeface="Urbanist"/>
                <a:ea typeface="Urbanist"/>
                <a:cs typeface="Urbanist"/>
                <a:sym typeface="Urbanist"/>
              </a:rPr>
              <a:t>Proyecto/Problema</a:t>
            </a:r>
            <a:endParaRPr b="0" i="0" sz="1400" u="none" cap="none" strike="noStrike">
              <a:solidFill>
                <a:srgbClr val="000000"/>
              </a:solidFill>
              <a:latin typeface="Arial"/>
              <a:ea typeface="Arial"/>
              <a:cs typeface="Arial"/>
              <a:sym typeface="Arial"/>
            </a:endParaRPr>
          </a:p>
        </p:txBody>
      </p:sp>
      <p:sp>
        <p:nvSpPr>
          <p:cNvPr id="104" name="Google Shape;104;g3fb58d30147_0_6"/>
          <p:cNvSpPr txBox="1"/>
          <p:nvPr/>
        </p:nvSpPr>
        <p:spPr>
          <a:xfrm>
            <a:off x="6768876" y="4534325"/>
            <a:ext cx="4876800" cy="902400"/>
          </a:xfrm>
          <a:prstGeom prst="rect">
            <a:avLst/>
          </a:prstGeom>
          <a:noFill/>
          <a:ln>
            <a:noFill/>
          </a:ln>
        </p:spPr>
        <p:txBody>
          <a:bodyPr anchorCtr="0" anchor="t" bIns="0" lIns="0" spcFirstLastPara="1" rIns="0" wrap="square" tIns="0">
            <a:spAutoFit/>
          </a:bodyPr>
          <a:lstStyle/>
          <a:p>
            <a:pPr indent="0" lvl="0" marL="0" marR="0" rtl="0" algn="l">
              <a:lnSpc>
                <a:spcPct val="119936"/>
              </a:lnSpc>
              <a:spcBef>
                <a:spcPts val="0"/>
              </a:spcBef>
              <a:spcAft>
                <a:spcPts val="0"/>
              </a:spcAft>
              <a:buClr>
                <a:srgbClr val="000000"/>
              </a:buClr>
              <a:buSzPts val="1575"/>
              <a:buFont typeface="Arial"/>
              <a:buNone/>
            </a:pPr>
            <a:r>
              <a:rPr b="1" lang="en-US" sz="1275">
                <a:solidFill>
                  <a:srgbClr val="1E293B"/>
                </a:solidFill>
                <a:latin typeface="Urbanist"/>
                <a:ea typeface="Urbanist"/>
                <a:cs typeface="Urbanist"/>
                <a:sym typeface="Urbanist"/>
              </a:rPr>
              <a:t>Gestión Manual:</a:t>
            </a:r>
            <a:endParaRPr b="1" sz="1275">
              <a:solidFill>
                <a:srgbClr val="1E293B"/>
              </a:solidFill>
              <a:latin typeface="Urbanist"/>
              <a:ea typeface="Urbanist"/>
              <a:cs typeface="Urbanist"/>
              <a:sym typeface="Urbanist"/>
            </a:endParaRPr>
          </a:p>
          <a:p>
            <a:pPr indent="0" lvl="0" marL="0" marR="0" rtl="0" algn="l">
              <a:lnSpc>
                <a:spcPct val="119936"/>
              </a:lnSpc>
              <a:spcBef>
                <a:spcPts val="0"/>
              </a:spcBef>
              <a:spcAft>
                <a:spcPts val="0"/>
              </a:spcAft>
              <a:buClr>
                <a:srgbClr val="000000"/>
              </a:buClr>
              <a:buSzPts val="1575"/>
              <a:buFont typeface="Arial"/>
              <a:buNone/>
            </a:pPr>
            <a:r>
              <a:rPr lang="en-US" sz="1275">
                <a:solidFill>
                  <a:srgbClr val="1E293B"/>
                </a:solidFill>
                <a:latin typeface="Urbanist"/>
                <a:ea typeface="Urbanist"/>
                <a:cs typeface="Urbanist"/>
                <a:sym typeface="Urbanist"/>
              </a:rPr>
              <a:t>Ascensores Barrera es una PyME familiar que mantiene ascensores y bombas de agua en CABA. Hoy su operación depende de planillas, mensajes y papel — y eso cuesta tiempo, dinero y clientes. </a:t>
            </a:r>
            <a:endParaRPr sz="1275">
              <a:solidFill>
                <a:srgbClr val="1E293B"/>
              </a:solidFill>
              <a:latin typeface="Urbanist"/>
              <a:ea typeface="Urbanist"/>
              <a:cs typeface="Urbanist"/>
              <a:sym typeface="Urbanist"/>
            </a:endParaRPr>
          </a:p>
        </p:txBody>
      </p:sp>
      <p:sp>
        <p:nvSpPr>
          <p:cNvPr id="105" name="Google Shape;105;g3fb58d30147_0_6"/>
          <p:cNvSpPr txBox="1"/>
          <p:nvPr/>
        </p:nvSpPr>
        <p:spPr>
          <a:xfrm>
            <a:off x="2910250" y="199425"/>
            <a:ext cx="6709500" cy="461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lang="en-US" sz="3000">
                <a:solidFill>
                  <a:srgbClr val="C25E37"/>
                </a:solidFill>
                <a:latin typeface="Urbanist"/>
                <a:ea typeface="Urbanist"/>
                <a:cs typeface="Urbanist"/>
                <a:sym typeface="Urbanist"/>
              </a:rPr>
              <a:t>Las 4 P de la Ingeniería del Software</a:t>
            </a:r>
            <a:endParaRPr b="1" sz="3000">
              <a:solidFill>
                <a:srgbClr val="C25E37"/>
              </a:solidFill>
              <a:latin typeface="Urbanist"/>
              <a:ea typeface="Urbanist"/>
              <a:cs typeface="Urbanist"/>
              <a:sym typeface="Urbanist"/>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