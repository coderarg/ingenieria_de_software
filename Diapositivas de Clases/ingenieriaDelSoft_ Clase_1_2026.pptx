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4"/>
  </p:sldMasterIdLst>
  <p:notesMasterIdLst>
    <p:notesMasterId r:id="rId42"/>
  </p:notesMasterIdLst>
  <p:sldIdLst>
    <p:sldId id="264" r:id="rId5"/>
    <p:sldId id="256" r:id="rId6"/>
    <p:sldId id="266" r:id="rId7"/>
    <p:sldId id="263" r:id="rId8"/>
    <p:sldId id="265" r:id="rId9"/>
    <p:sldId id="257" r:id="rId10"/>
    <p:sldId id="258" r:id="rId11"/>
    <p:sldId id="259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58" r:id="rId21"/>
    <p:sldId id="442" r:id="rId22"/>
    <p:sldId id="443" r:id="rId23"/>
    <p:sldId id="444" r:id="rId24"/>
    <p:sldId id="449" r:id="rId25"/>
    <p:sldId id="457" r:id="rId26"/>
    <p:sldId id="450" r:id="rId27"/>
    <p:sldId id="451" r:id="rId28"/>
    <p:sldId id="452" r:id="rId29"/>
    <p:sldId id="453" r:id="rId30"/>
    <p:sldId id="260" r:id="rId31"/>
    <p:sldId id="267" r:id="rId32"/>
    <p:sldId id="432" r:id="rId33"/>
    <p:sldId id="269" r:id="rId34"/>
    <p:sldId id="270" r:id="rId35"/>
    <p:sldId id="271" r:id="rId36"/>
    <p:sldId id="262" r:id="rId37"/>
    <p:sldId id="454" r:id="rId38"/>
    <p:sldId id="455" r:id="rId39"/>
    <p:sldId id="456" r:id="rId40"/>
    <p:sldId id="268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0FE794AD-3B64-489B-9852-ADDE1484F2B3}">
          <p14:sldIdLst>
            <p14:sldId id="264"/>
          </p14:sldIdLst>
        </p14:section>
        <p14:section name="Sección sin título" id="{B65F8EB9-90F9-4C71-BF67-776591760318}">
          <p14:sldIdLst>
            <p14:sldId id="256"/>
            <p14:sldId id="266"/>
            <p14:sldId id="263"/>
            <p14:sldId id="265"/>
            <p14:sldId id="257"/>
            <p14:sldId id="258"/>
            <p14:sldId id="259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58"/>
            <p14:sldId id="442"/>
            <p14:sldId id="443"/>
            <p14:sldId id="444"/>
            <p14:sldId id="449"/>
            <p14:sldId id="457"/>
            <p14:sldId id="450"/>
            <p14:sldId id="451"/>
            <p14:sldId id="452"/>
            <p14:sldId id="453"/>
            <p14:sldId id="260"/>
            <p14:sldId id="267"/>
            <p14:sldId id="432"/>
            <p14:sldId id="269"/>
            <p14:sldId id="270"/>
            <p14:sldId id="271"/>
            <p14:sldId id="262"/>
            <p14:sldId id="454"/>
            <p14:sldId id="455"/>
            <p14:sldId id="45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2882C-E6A0-E445-038A-7D372D07C276}" v="1" dt="2026-08-10T08:45:04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DIN GRACIELA SUSANA" userId="S::gdaldin@uade.edu.ar::4fdff1c9-ccbd-4515-a030-ff7d0f1057b2" providerId="AD" clId="Web-{86A2882C-E6A0-E445-038A-7D372D07C276}"/>
    <pc:docChg chg="delSld modSection">
      <pc:chgData name="DALDIN GRACIELA SUSANA" userId="S::gdaldin@uade.edu.ar::4fdff1c9-ccbd-4515-a030-ff7d0f1057b2" providerId="AD" clId="Web-{86A2882C-E6A0-E445-038A-7D372D07C276}" dt="2026-08-10T08:45:04.714" v="0"/>
      <pc:docMkLst>
        <pc:docMk/>
      </pc:docMkLst>
      <pc:sldChg chg="del">
        <pc:chgData name="DALDIN GRACIELA SUSANA" userId="S::gdaldin@uade.edu.ar::4fdff1c9-ccbd-4515-a030-ff7d0f1057b2" providerId="AD" clId="Web-{86A2882C-E6A0-E445-038A-7D372D07C276}" dt="2026-08-10T08:45:04.714" v="0"/>
        <pc:sldMkLst>
          <pc:docMk/>
          <pc:sldMk cId="1709020371" sldId="459"/>
        </pc:sldMkLst>
      </pc:sldChg>
    </pc:docChg>
  </pc:docChgLst>
  <pc:docChgLst>
    <pc:chgData name="DALDIN GRACIELA SUSANA" userId="S::gdaldin@uade.edu.ar::4fdff1c9-ccbd-4515-a030-ff7d0f1057b2" providerId="AD" clId="Web-{158673AF-E601-7012-00A8-02C4E8377F03}"/>
    <pc:docChg chg="addSld modSection">
      <pc:chgData name="DALDIN GRACIELA SUSANA" userId="S::gdaldin@uade.edu.ar::4fdff1c9-ccbd-4515-a030-ff7d0f1057b2" providerId="AD" clId="Web-{158673AF-E601-7012-00A8-02C4E8377F03}" dt="2026-08-04T01:15:04.982" v="1"/>
      <pc:docMkLst>
        <pc:docMk/>
      </pc:docMkLst>
      <pc:sldChg chg="new">
        <pc:chgData name="DALDIN GRACIELA SUSANA" userId="S::gdaldin@uade.edu.ar::4fdff1c9-ccbd-4515-a030-ff7d0f1057b2" providerId="AD" clId="Web-{158673AF-E601-7012-00A8-02C4E8377F03}" dt="2026-08-04T00:55:49.819" v="0"/>
        <pc:sldMkLst>
          <pc:docMk/>
          <pc:sldMk cId="1742243098" sldId="458"/>
        </pc:sldMkLst>
      </pc:sldChg>
    </pc:docChg>
  </pc:docChgLst>
  <pc:docChgLst>
    <pc:chgData name="DALDIN GRACIELA SUSANA" userId="S::gdaldin@uade.edu.ar::4fdff1c9-ccbd-4515-a030-ff7d0f1057b2" providerId="AD" clId="Web-{9DF1993E-6EE6-D3FC-A2CB-38681BC78F95}"/>
    <pc:docChg chg="modSld">
      <pc:chgData name="DALDIN GRACIELA SUSANA" userId="S::gdaldin@uade.edu.ar::4fdff1c9-ccbd-4515-a030-ff7d0f1057b2" providerId="AD" clId="Web-{9DF1993E-6EE6-D3FC-A2CB-38681BC78F95}" dt="2026-07-27T18:05:38.005" v="1"/>
      <pc:docMkLst>
        <pc:docMk/>
      </pc:docMkLst>
      <pc:sldChg chg="modSp">
        <pc:chgData name="DALDIN GRACIELA SUSANA" userId="S::gdaldin@uade.edu.ar::4fdff1c9-ccbd-4515-a030-ff7d0f1057b2" providerId="AD" clId="Web-{9DF1993E-6EE6-D3FC-A2CB-38681BC78F95}" dt="2026-07-27T18:05:38.005" v="1"/>
        <pc:sldMkLst>
          <pc:docMk/>
          <pc:sldMk cId="0" sldId="262"/>
        </pc:sldMkLst>
        <pc:spChg chg="mod">
          <ac:chgData name="DALDIN GRACIELA SUSANA" userId="S::gdaldin@uade.edu.ar::4fdff1c9-ccbd-4515-a030-ff7d0f1057b2" providerId="AD" clId="Web-{9DF1993E-6EE6-D3FC-A2CB-38681BC78F95}" dt="2026-07-27T18:05:38.005" v="1"/>
          <ac:spMkLst>
            <pc:docMk/>
            <pc:sldMk cId="0" sldId="262"/>
            <ac:spMk id="8195" creationId="{348DA791-7416-31AC-06B1-AEEFB925891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5D1F8-2D6D-42CD-BC05-9113129B8C3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F1DCF-C87F-465B-BF64-23520B1FCF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1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3F28A1F-3E69-47E5-AE93-E7F2155A242D}" type="slidenum">
              <a:rPr lang="es-ES" noProof="0" smtClean="0"/>
              <a:t>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74766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3F28A1F-3E69-47E5-AE93-E7F2155A242D}" type="slidenum">
              <a:rPr lang="es-ES" noProof="0" smtClean="0"/>
              <a:t>38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114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9090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0093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5038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5745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4698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7933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676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13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8687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5184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4173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797642D-A9EB-465D-9B43-4975D1A9A9F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E40E506-8910-4A1D-9597-9E72BD293B97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9083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A1EB241-0852-428A-8A50-67737CA93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23EDC2-E1E5-4C5D-9C74-714516AF5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781548-0E4F-4401-A909-82EDF50DB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030110-5A0B-4476-9070-A890E1987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003031-514F-496F-BCAE-0BC68959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7117" y="6543513"/>
            <a:ext cx="10993549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Agenda</a:t>
            </a: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A08DAED-6222-40F8-97FA-1474D91F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ADE | Comenzá tu carrera en una Gran Universidad">
            <a:extLst>
              <a:ext uri="{FF2B5EF4-FFF2-40B4-BE49-F238E27FC236}">
                <a16:creationId xmlns:a16="http://schemas.microsoft.com/office/drawing/2014/main" id="{7133C0B5-A121-A890-1684-32757CCF0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" b="478"/>
          <a:stretch/>
        </p:blipFill>
        <p:spPr bwMode="auto">
          <a:xfrm>
            <a:off x="775361" y="1598166"/>
            <a:ext cx="3014297" cy="179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9EA7D0C-D986-4DAE-813C-903CF7A31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2" y="641102"/>
            <a:ext cx="3666744" cy="36985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99C405-B1A7-43F2-998F-543F8B2B8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333" y="974331"/>
            <a:ext cx="6084428" cy="304221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0FEAC2C-4B4A-4DAB-9021-A01837447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8704" y="642071"/>
            <a:ext cx="7475220" cy="370144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04E7CE-C66B-49FC-8E37-3A08EF9A5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CCD094-D228-ACA0-C5E7-11CE7ECEBC4A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rnd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86B7EEF-213B-ED3F-12AC-237F7203E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80332" y="5063119"/>
            <a:ext cx="5869987" cy="689515"/>
          </a:xfrm>
        </p:spPr>
        <p:txBody>
          <a:bodyPr>
            <a:normAutofit/>
          </a:bodyPr>
          <a:lstStyle/>
          <a:p>
            <a:r>
              <a:rPr lang="es-AR" sz="2400"/>
              <a:t>INGENIERIA DEL SOFTWARE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0841ED-2283-0373-CE8E-77201754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2494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1608D19-0B90-C36D-CF71-9448BD25D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AR"/>
              <a:t>Ingeniería del Software</a:t>
            </a:r>
          </a:p>
        </p:txBody>
      </p:sp>
      <p:sp>
        <p:nvSpPr>
          <p:cNvPr id="2051" name="Text Box 3">
            <a:extLst>
              <a:ext uri="{FF2B5EF4-FFF2-40B4-BE49-F238E27FC236}">
                <a16:creationId xmlns:a16="http://schemas.microsoft.com/office/drawing/2014/main" id="{004FE818-6F92-7E7B-0560-3BE06F070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155" y="2202402"/>
            <a:ext cx="1036024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eaLnBrk="0" hangingPunct="0"/>
            <a:r>
              <a:rPr lang="es-ES_tradnl" altLang="es-AR" sz="3200" dirty="0">
                <a:solidFill>
                  <a:srgbClr val="002060"/>
                </a:solidFill>
              </a:rPr>
              <a:t>Definición:</a:t>
            </a:r>
          </a:p>
          <a:p>
            <a:pPr eaLnBrk="0" hangingPunct="0"/>
            <a:endParaRPr lang="es-ES_tradnl" altLang="es-AR" sz="3200">
              <a:solidFill>
                <a:srgbClr val="002060"/>
              </a:solidFill>
            </a:endParaRPr>
          </a:p>
          <a:p>
            <a:pPr eaLnBrk="0" hangingPunct="0"/>
            <a:r>
              <a:rPr lang="es-ES" sz="3200" dirty="0">
                <a:solidFill>
                  <a:srgbClr val="002060"/>
                </a:solidFill>
              </a:rPr>
              <a:t>Según lo expresa Pressman (2010), la ingeniería del software es la aplicación de enfoques sistemáticos, disciplinados y cuantificables al desarrollo, operación y mantenimiento de software y el estudio de estos enfoques para la </a:t>
            </a:r>
            <a:r>
              <a:rPr lang="es-ES_tradnl" altLang="es-AR" sz="3200" dirty="0">
                <a:solidFill>
                  <a:srgbClr val="002060"/>
                </a:solidFill>
              </a:rPr>
              <a:t>gestión efectiva de un proyecto de software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EBA2557-1B9A-22B9-430C-B93FE8DB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0D6BEE5-62AC-9D19-7D50-D79B9A599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AR"/>
              <a:t>10 Causas de fracaso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D7040C9-2EA1-301D-A8EB-F5D29579A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981200"/>
            <a:ext cx="8610600" cy="4495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Solución en busca de un problema.</a:t>
            </a:r>
          </a:p>
          <a:p>
            <a:pPr marL="305435" indent="-305435"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Solo el equipo del proyecto está interesado en el resultado final.</a:t>
            </a:r>
          </a:p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Nadie a cargo.</a:t>
            </a:r>
          </a:p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Plan carece de estructura.</a:t>
            </a:r>
          </a:p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Plan carece de detalle.</a:t>
            </a:r>
          </a:p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Presupuesto inferior al requerido.</a:t>
            </a:r>
          </a:p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Recursos asignados insuficientes.</a:t>
            </a:r>
          </a:p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No hay seguimiento contra un plan.</a:t>
            </a:r>
          </a:p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El equipo no se comunica.</a:t>
            </a:r>
          </a:p>
          <a:p>
            <a:pPr>
              <a:lnSpc>
                <a:spcPct val="90000"/>
              </a:lnSpc>
            </a:pPr>
            <a:r>
              <a:rPr lang="es-ES_tradnl" altLang="es-AR" sz="3200">
                <a:solidFill>
                  <a:srgbClr val="002060"/>
                </a:solidFill>
              </a:rPr>
              <a:t>El proyecto se aparta de sus metas originales.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0B2900F-21B0-61D7-7CFE-C2C5D59F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</a:t>
            </a:fld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253E911-F9A5-43EE-254A-D5A3CC000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AR"/>
              <a:t>Ambito del Software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0EF15A1-A091-A503-F412-55BAC907AF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altLang="es-AR"/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Función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Rendimiento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Restricciones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Interfaces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Fiabilidad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596B110-22A1-C662-70AA-E56F1EE1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4</a:t>
            </a:fld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4E067BA-7D34-C73E-9C23-0A7B27487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AR"/>
              <a:t>Recursos - Software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7E65D53-4FFB-AA68-DD2C-8D6AFA8EC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Gestión de proyectos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Soporte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Análisis y Diseño 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Programación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Prueba e Integración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Simulación y creación de prototipos</a:t>
            </a:r>
          </a:p>
          <a:p>
            <a:pPr>
              <a:lnSpc>
                <a:spcPct val="7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Mantenimiento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23EB4CC-B031-9947-5A1D-4700FA40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5</a:t>
            </a:fld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5A2391-B062-6A2F-5F50-FDB4E2D2F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AR"/>
              <a:t>Gestión Efectiva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F87EC7A-ADFC-6822-F0F3-19367380C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Ámbito de trabajo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Riesgos 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Recursos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Tareas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Hitos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Esfuerzo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Plan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1F788E3-5746-601B-3E44-917AE51F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6</a:t>
            </a:fld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970C849-49BD-6691-DAC4-F605F26E16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AR"/>
              <a:t>Primeras Restricciones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33EFBC8-F093-BDD2-51DE-EF625F30B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20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Fechas de entrega</a:t>
            </a:r>
          </a:p>
          <a:p>
            <a:pPr algn="ctr">
              <a:lnSpc>
                <a:spcPct val="20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Presupuesto</a:t>
            </a:r>
          </a:p>
          <a:p>
            <a:pPr algn="ctr">
              <a:lnSpc>
                <a:spcPct val="200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Disponibilidad del Personal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3FDD692-7518-EAEA-C7A2-8617197D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7</a:t>
            </a:fld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94B1981-6C14-23B8-C64C-4FEEB5202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AR"/>
              <a:t>Análisis de Riesgos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AE8A354-96FB-22CF-21B2-BC85EE633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Análisis del riesgo 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Gestión del Riesgo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Priorización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Estrategias de control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Resolución</a:t>
            </a:r>
          </a:p>
          <a:p>
            <a:pPr algn="ctr"/>
            <a:r>
              <a:rPr lang="es-ES_tradnl" altLang="es-AR" sz="2500">
                <a:solidFill>
                  <a:srgbClr val="002060"/>
                </a:solidFill>
              </a:rPr>
              <a:t>Supervisión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FAEB3B-7CE9-3984-0933-A8EBB7EDE881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0">
                <a:effectLst/>
              </a:rPr>
              <a:t> </a:t>
            </a:r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D49AE4-81B5-63B5-79A9-1DDDC52F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8</a:t>
            </a:fld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>
            <a:extLst>
              <a:ext uri="{FF2B5EF4-FFF2-40B4-BE49-F238E27FC236}">
                <a16:creationId xmlns:a16="http://schemas.microsoft.com/office/drawing/2014/main" id="{A48F791F-5B88-A648-F4D1-267D8177DC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s-ES" altLang="es-AR"/>
              <a:t>Gestión de Riesgo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B615E68-FF91-5543-7FDC-A53420FE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9</a:t>
            </a:fld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>
            <a:extLst>
              <a:ext uri="{FF2B5EF4-FFF2-40B4-BE49-F238E27FC236}">
                <a16:creationId xmlns:a16="http://schemas.microsoft.com/office/drawing/2014/main" id="{516CCE2F-3294-FC6B-2606-ABB87FB4B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</p:spPr>
        <p:txBody>
          <a:bodyPr/>
          <a:lstStyle/>
          <a:p>
            <a:pPr eaLnBrk="1" hangingPunct="1"/>
            <a:r>
              <a:rPr lang="es-AR" altLang="es-AR"/>
              <a:t>Objetivos</a:t>
            </a:r>
            <a:endParaRPr lang="es-ES" altLang="es-AR"/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E54D4E5A-2AB3-1D98-5A44-24D94622B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6645" y="2017713"/>
            <a:ext cx="10484527" cy="4114800"/>
          </a:xfrm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Enfocar a la gestión de riesgos como proceso sistemático, analítico y </a:t>
            </a:r>
            <a:r>
              <a:rPr lang="es-AR" altLang="es-AR" sz="2500" err="1">
                <a:solidFill>
                  <a:srgbClr val="002060"/>
                </a:solidFill>
              </a:rPr>
              <a:t>contínuo</a:t>
            </a:r>
            <a:r>
              <a:rPr lang="es-AR" altLang="es-AR" sz="2500">
                <a:solidFill>
                  <a:srgbClr val="002060"/>
                </a:solidFill>
              </a:rPr>
              <a:t>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Asegurar que las actividades de identificación, análisis y mitigación están integradas en los procesos de ciclo de vida.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Aplicar métodos de identificación y análisis de riesgos. 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Delinear estrategias y priorizar opciones para mitigar el riesgo a niveles aceptables a la empresa.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Informar cambios significativos en los riesgos.</a:t>
            </a:r>
            <a:endParaRPr lang="en-US" altLang="es-AR" sz="2500">
              <a:solidFill>
                <a:srgbClr val="002060"/>
              </a:solidFill>
            </a:endParaRPr>
          </a:p>
          <a:p>
            <a:pPr eaLnBrk="1" hangingPunct="1">
              <a:lnSpc>
                <a:spcPct val="95000"/>
              </a:lnSpc>
            </a:pPr>
            <a:endParaRPr lang="es-ES" altLang="es-AR" sz="2400">
              <a:solidFill>
                <a:schemeClr val="folHlink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6A3EC84-A427-C935-9FD9-0F2A2826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10</a:t>
            </a:fld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EAC0353F-7941-6825-E33F-F2B479ABE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AR" altLang="es-AR"/>
              <a:t>Definición de riesgos</a:t>
            </a:r>
            <a:endParaRPr lang="es-ES" altLang="es-AR"/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D2AE8FAB-B355-F3F1-D029-2B2FCECFD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017713"/>
            <a:ext cx="7827962" cy="4114800"/>
          </a:xfrm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Existen muchas definiciones de Riesgo</a:t>
            </a: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La International </a:t>
            </a:r>
            <a:r>
              <a:rPr lang="es-ES_tradnl" altLang="es-AR" sz="2500" err="1">
                <a:solidFill>
                  <a:srgbClr val="002060"/>
                </a:solidFill>
              </a:rPr>
              <a:t>Standards</a:t>
            </a:r>
            <a:r>
              <a:rPr lang="es-ES_tradnl" altLang="es-AR" sz="2500">
                <a:solidFill>
                  <a:srgbClr val="002060"/>
                </a:solidFill>
              </a:rPr>
              <a:t> </a:t>
            </a:r>
            <a:r>
              <a:rPr lang="es-ES_tradnl" altLang="es-AR" sz="2500" err="1">
                <a:solidFill>
                  <a:srgbClr val="002060"/>
                </a:solidFill>
              </a:rPr>
              <a:t>Organization</a:t>
            </a:r>
            <a:r>
              <a:rPr lang="es-ES_tradnl" altLang="es-AR" sz="2500">
                <a:solidFill>
                  <a:srgbClr val="002060"/>
                </a:solidFill>
              </a:rPr>
              <a:t> (ISO) lo define de la siguiente forma:</a:t>
            </a:r>
            <a:endParaRPr lang="es-AR" altLang="es-AR" sz="2500">
              <a:solidFill>
                <a:srgbClr val="002060"/>
              </a:solidFill>
            </a:endParaRP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“La posibilidad que una amenaza determinada aproveche los puntos vulnerables de un activo o grupo de activos para causar pérdida o daños a los activos”.</a:t>
            </a:r>
          </a:p>
          <a:p>
            <a:pPr eaLnBrk="1" hangingPunct="1"/>
            <a:endParaRPr lang="es-ES" altLang="es-AR" sz="3000" i="1">
              <a:solidFill>
                <a:schemeClr val="folHlink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43FD13E-C9BF-F67F-973B-501D88F0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11</a:t>
            </a:fld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>
            <a:extLst>
              <a:ext uri="{FF2B5EF4-FFF2-40B4-BE49-F238E27FC236}">
                <a16:creationId xmlns:a16="http://schemas.microsoft.com/office/drawing/2014/main" id="{F63B9D18-CB65-47B0-1BC2-72B14FE05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029713"/>
            <a:ext cx="7827962" cy="4114800"/>
          </a:xfrm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n-US" altLang="es-AR" sz="2500" err="1">
                <a:solidFill>
                  <a:srgbClr val="002060"/>
                </a:solidFill>
              </a:rPr>
              <a:t>Definición</a:t>
            </a:r>
            <a:r>
              <a:rPr lang="en-US" altLang="es-AR" sz="2500">
                <a:solidFill>
                  <a:srgbClr val="002060"/>
                </a:solidFill>
              </a:rPr>
              <a:t> de </a:t>
            </a:r>
            <a:r>
              <a:rPr lang="en-US" altLang="es-AR" sz="2500" err="1">
                <a:solidFill>
                  <a:srgbClr val="002060"/>
                </a:solidFill>
              </a:rPr>
              <a:t>Riesgo</a:t>
            </a:r>
            <a:r>
              <a:rPr lang="en-US" altLang="es-AR" sz="2500">
                <a:solidFill>
                  <a:srgbClr val="002060"/>
                </a:solidFill>
              </a:rPr>
              <a:t>: </a:t>
            </a:r>
          </a:p>
          <a:p>
            <a:pPr algn="ctr">
              <a:lnSpc>
                <a:spcPct val="95000"/>
              </a:lnSpc>
            </a:pPr>
            <a:endParaRPr lang="en-US" altLang="es-AR" sz="2500">
              <a:solidFill>
                <a:srgbClr val="002060"/>
              </a:solidFill>
            </a:endParaRP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Contingencia o proximidad de que suceda algo que tendrá un impacto en los objetivos. Se lo mide en términos de una combinación de la probabilidad de un evento y su consecuencia.</a:t>
            </a:r>
          </a:p>
          <a:p>
            <a:pPr eaLnBrk="1" hangingPunct="1"/>
            <a:endParaRPr lang="es-ES" altLang="es-AR">
              <a:solidFill>
                <a:schemeClr val="folHlink"/>
              </a:solidFill>
            </a:endParaRP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E9AAC3C5-F2D9-1DDD-5913-EBE1109F9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  <a:noFill/>
        </p:spPr>
        <p:txBody>
          <a:bodyPr/>
          <a:lstStyle/>
          <a:p>
            <a:pPr eaLnBrk="1" hangingPunct="1"/>
            <a:r>
              <a:rPr lang="es-AR" altLang="es-AR"/>
              <a:t>Definición de riesgos</a:t>
            </a:r>
            <a:endParaRPr lang="es-ES" altLang="es-AR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A4E153-64F3-0A0B-B9E1-2DD2F46F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12</a:t>
            </a:fld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3A73D490-63D8-FB48-A15F-F5EC1649C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AR">
                <a:solidFill>
                  <a:schemeClr val="folHlink"/>
                </a:solidFill>
              </a:rPr>
              <a:t>Elementos del Riesgo</a:t>
            </a:r>
            <a:endParaRPr lang="es-ES" altLang="es-AR">
              <a:solidFill>
                <a:schemeClr val="folHlink"/>
              </a:solidFill>
            </a:endParaRPr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2F59099B-3D0C-EF0D-3DD6-7EF6EB1A4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005713"/>
            <a:ext cx="7827962" cy="4114800"/>
          </a:xfrm>
          <a:noFill/>
        </p:spPr>
        <p:txBody>
          <a:bodyPr/>
          <a:lstStyle/>
          <a:p>
            <a:pPr marL="533400" indent="-533400">
              <a:buNone/>
            </a:pPr>
            <a:endParaRPr lang="en-US" altLang="es-AR">
              <a:solidFill>
                <a:schemeClr val="folHlink"/>
              </a:solidFill>
            </a:endParaRP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Amenazas y puntos vulnerables de procesos y/o bienes (incluyendo los activos físicos y de información).</a:t>
            </a: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Impacto sobre los activos basados en las amenazas y puntos vulnerables.</a:t>
            </a: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Probabilidad de amenazas (combinación de la posibilidad y frecuencia de ocurrencia).</a:t>
            </a:r>
            <a:endParaRPr lang="es-AR" altLang="es-AR" sz="2500">
              <a:solidFill>
                <a:srgbClr val="002060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501420A-5C00-8B72-75D1-3DD346A5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13</a:t>
            </a:fld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>
            <a:extLst>
              <a:ext uri="{FF2B5EF4-FFF2-40B4-BE49-F238E27FC236}">
                <a16:creationId xmlns:a16="http://schemas.microsoft.com/office/drawing/2014/main" id="{BDD0095B-6936-39B5-3443-B35167801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</p:spPr>
        <p:txBody>
          <a:bodyPr/>
          <a:lstStyle/>
          <a:p>
            <a:pPr eaLnBrk="1" hangingPunct="1"/>
            <a:r>
              <a:rPr lang="en-US" altLang="es-AR"/>
              <a:t>Otros conceptos</a:t>
            </a:r>
            <a:endParaRPr lang="es-ES" altLang="es-AR"/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4781854E-36FF-D923-4E2C-B24DC28EE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017713"/>
            <a:ext cx="7827962" cy="4114800"/>
          </a:xfrm>
          <a:noFill/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Amenaza: Una causa potencial de un incidente no deseado, el cual puede ocasionar daños a un sistema u organización.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Vulnerabilidad: Una debilidad de un activo o grupo de activos que puede ser explotada por una amenaza.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EFF7142-DF26-69E5-029E-236CBE56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14</a:t>
            </a:fld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id="{E7DAF7AB-07C1-FE10-CE5B-FE2A6AB6E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</p:spPr>
        <p:txBody>
          <a:bodyPr/>
          <a:lstStyle/>
          <a:p>
            <a:pPr eaLnBrk="1" hangingPunct="1"/>
            <a:r>
              <a:rPr lang="en-US" altLang="es-AR"/>
              <a:t>En resúmen</a:t>
            </a:r>
            <a:endParaRPr lang="es-ES" altLang="es-AR"/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ED9BF17C-7859-70F5-B8E9-374AC1563C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276475"/>
            <a:ext cx="7827962" cy="4114800"/>
          </a:xfrm>
          <a:noFill/>
        </p:spPr>
        <p:txBody>
          <a:bodyPr/>
          <a:lstStyle/>
          <a:p>
            <a:pPr marL="306000" lvl="1" algn="ctr">
              <a:lnSpc>
                <a:spcPct val="95000"/>
              </a:lnSpc>
            </a:pPr>
            <a:r>
              <a:rPr lang="en-US" altLang="es-AR" sz="2500" err="1">
                <a:solidFill>
                  <a:srgbClr val="002060"/>
                </a:solidFill>
              </a:rPr>
              <a:t>Riesgo</a:t>
            </a:r>
            <a:r>
              <a:rPr lang="en-US" altLang="es-AR" sz="2500">
                <a:solidFill>
                  <a:srgbClr val="002060"/>
                </a:solidFill>
              </a:rPr>
              <a:t> es la </a:t>
            </a:r>
            <a:r>
              <a:rPr lang="en-US" altLang="es-AR" sz="2500" err="1">
                <a:solidFill>
                  <a:srgbClr val="002060"/>
                </a:solidFill>
              </a:rPr>
              <a:t>probabilidad</a:t>
            </a:r>
            <a:r>
              <a:rPr lang="en-US" altLang="es-AR" sz="2500">
                <a:solidFill>
                  <a:srgbClr val="002060"/>
                </a:solidFill>
              </a:rPr>
              <a:t> que un </a:t>
            </a:r>
            <a:r>
              <a:rPr lang="en-US" altLang="es-AR" sz="2500" err="1">
                <a:solidFill>
                  <a:srgbClr val="002060"/>
                </a:solidFill>
              </a:rPr>
              <a:t>evento</a:t>
            </a:r>
            <a:r>
              <a:rPr lang="en-US" altLang="es-AR" sz="2500">
                <a:solidFill>
                  <a:srgbClr val="002060"/>
                </a:solidFill>
              </a:rPr>
              <a:t> </a:t>
            </a:r>
            <a:r>
              <a:rPr lang="es-CR" altLang="es-AR" sz="2500">
                <a:solidFill>
                  <a:srgbClr val="002060"/>
                </a:solidFill>
              </a:rPr>
              <a:t>causa una </a:t>
            </a:r>
          </a:p>
          <a:p>
            <a:pPr marL="306000" lvl="1" algn="ctr">
              <a:lnSpc>
                <a:spcPct val="95000"/>
              </a:lnSpc>
            </a:pPr>
            <a:r>
              <a:rPr lang="es-CR" altLang="es-AR" sz="2500">
                <a:solidFill>
                  <a:srgbClr val="002060"/>
                </a:solidFill>
              </a:rPr>
              <a:t>pérdida financiera o daño a la empresa, su personal, </a:t>
            </a:r>
          </a:p>
          <a:p>
            <a:pPr marL="306000" lvl="1" algn="ctr">
              <a:lnSpc>
                <a:spcPct val="95000"/>
              </a:lnSpc>
            </a:pPr>
            <a:r>
              <a:rPr lang="es-CR" altLang="es-AR" sz="2500">
                <a:solidFill>
                  <a:srgbClr val="002060"/>
                </a:solidFill>
              </a:rPr>
              <a:t>activos o reputación en general.</a:t>
            </a:r>
            <a:endParaRPr lang="en-US" altLang="es-AR" sz="2500">
              <a:solidFill>
                <a:srgbClr val="002060"/>
              </a:solidFill>
            </a:endParaRPr>
          </a:p>
          <a:p>
            <a:pPr marL="306000" lvl="1" algn="ctr">
              <a:lnSpc>
                <a:spcPct val="95000"/>
              </a:lnSpc>
            </a:pPr>
            <a:endParaRPr lang="en-US" altLang="es-AR" sz="2500">
              <a:solidFill>
                <a:srgbClr val="002060"/>
              </a:solidFill>
            </a:endParaRPr>
          </a:p>
          <a:p>
            <a:pPr marL="306000" lvl="1" algn="ctr">
              <a:lnSpc>
                <a:spcPct val="95000"/>
              </a:lnSpc>
            </a:pPr>
            <a:r>
              <a:rPr lang="en-US" altLang="es-AR" sz="2500" err="1">
                <a:solidFill>
                  <a:srgbClr val="002060"/>
                </a:solidFill>
              </a:rPr>
              <a:t>Riesgo</a:t>
            </a:r>
            <a:r>
              <a:rPr lang="en-US" altLang="es-AR" sz="2500">
                <a:solidFill>
                  <a:srgbClr val="002060"/>
                </a:solidFill>
              </a:rPr>
              <a:t> total = </a:t>
            </a:r>
            <a:r>
              <a:rPr lang="en-US" altLang="es-AR" sz="2500" err="1">
                <a:solidFill>
                  <a:srgbClr val="002060"/>
                </a:solidFill>
              </a:rPr>
              <a:t>Amenazas</a:t>
            </a:r>
            <a:r>
              <a:rPr lang="en-US" altLang="es-AR" sz="2500">
                <a:solidFill>
                  <a:srgbClr val="002060"/>
                </a:solidFill>
              </a:rPr>
              <a:t> x </a:t>
            </a:r>
            <a:r>
              <a:rPr lang="en-US" altLang="es-AR" sz="2500" err="1">
                <a:solidFill>
                  <a:srgbClr val="002060"/>
                </a:solidFill>
              </a:rPr>
              <a:t>Vulnerabilidad</a:t>
            </a:r>
            <a:r>
              <a:rPr lang="en-US" altLang="es-AR" sz="2500">
                <a:solidFill>
                  <a:srgbClr val="002060"/>
                </a:solidFill>
              </a:rPr>
              <a:t> x  Valor del </a:t>
            </a:r>
            <a:r>
              <a:rPr lang="en-US" altLang="es-AR" sz="2500" err="1">
                <a:solidFill>
                  <a:srgbClr val="002060"/>
                </a:solidFill>
              </a:rPr>
              <a:t>Activo</a:t>
            </a:r>
            <a:endParaRPr lang="en-US" altLang="es-AR" sz="2500">
              <a:solidFill>
                <a:srgbClr val="002060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B985B85-571C-6D9B-F7EE-C80F540E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15</a:t>
            </a:fld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7DFB5D78-1E61-2038-F880-F769F2746A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5850" y="1989138"/>
            <a:ext cx="7772400" cy="4114800"/>
          </a:xfrm>
          <a:noFill/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Las organizaciones tienen 4 opciones estratégicas:   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Terminar la actividad que da lugar a los riesgos.  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Transferir el riesgo a un tercero.  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Reducir el riesgo usando apropiadas medidas o mecanismos de control.  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Aceptar el riesgo.</a:t>
            </a:r>
            <a:endParaRPr lang="en-US" altLang="es-AR" sz="2500">
              <a:solidFill>
                <a:srgbClr val="002060"/>
              </a:solidFill>
            </a:endParaRP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86824DCC-1BD9-AADC-7568-1DF02C6A4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  <a:noFill/>
        </p:spPr>
        <p:txBody>
          <a:bodyPr/>
          <a:lstStyle/>
          <a:p>
            <a:pPr eaLnBrk="1" hangingPunct="1"/>
            <a:r>
              <a:rPr lang="en-US" altLang="es-AR"/>
              <a:t>Gestión de Riesgos</a:t>
            </a:r>
            <a:endParaRPr lang="sl-SI" altLang="es-AR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FC3875B-FA85-F107-D623-CD1BDC67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16</a:t>
            </a:fld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AC3FE1-312E-07DB-98CD-B1ECD39B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A53161-93ED-F5AB-9A44-0E32E0CF6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98703C-82D8-9642-CCF6-2B64F460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43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>
            <a:extLst>
              <a:ext uri="{FF2B5EF4-FFF2-40B4-BE49-F238E27FC236}">
                <a16:creationId xmlns:a16="http://schemas.microsoft.com/office/drawing/2014/main" id="{8C8EBDE2-EA48-0928-0131-C9F1A4D04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5214" y="188914"/>
            <a:ext cx="7793037" cy="1462087"/>
          </a:xfrm>
        </p:spPr>
        <p:txBody>
          <a:bodyPr/>
          <a:lstStyle/>
          <a:p>
            <a:pPr eaLnBrk="1" hangingPunct="1"/>
            <a:r>
              <a:rPr lang="es-AR" altLang="es-AR"/>
              <a:t>Controles</a:t>
            </a:r>
            <a:endParaRPr lang="es-ES" altLang="es-AR"/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2510CEF8-DA32-041F-0740-BD18450021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017713"/>
            <a:ext cx="7827962" cy="4114800"/>
          </a:xfrm>
          <a:noFill/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Al implementarlos la organización debe considerar los costos y beneficios.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Costo de los controles excede los beneficios: aceptar el riesgo.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 Regla: 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 b="1">
                <a:solidFill>
                  <a:srgbClr val="002060"/>
                </a:solidFill>
              </a:rPr>
              <a:t>“El costo de control nunca debería exceder el beneficio esperado”.</a:t>
            </a:r>
            <a:endParaRPr lang="en-US" altLang="es-AR" sz="2500" b="1">
              <a:solidFill>
                <a:srgbClr val="002060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E935C32-11A0-33D5-2988-0347A467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18</a:t>
            </a:fld>
            <a:endParaRPr lang="es-E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6CD066C7-A47E-380F-AAF9-A5E4195F9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</p:spPr>
        <p:txBody>
          <a:bodyPr/>
          <a:lstStyle/>
          <a:p>
            <a:pPr eaLnBrk="1" hangingPunct="1"/>
            <a:r>
              <a:rPr lang="es-AR" altLang="es-AR"/>
              <a:t>Plan de Gestión de riesgos</a:t>
            </a:r>
            <a:endParaRPr lang="es-ES" altLang="es-AR"/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28CB73A6-8941-B421-884E-3DD314EAD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1989138"/>
            <a:ext cx="7772400" cy="4114800"/>
          </a:xfrm>
          <a:noFill/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Ningún modelo provee un panorama completo.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Categorizar lógicamente las áreas de riesgo de una organización:</a:t>
            </a:r>
          </a:p>
          <a:p>
            <a:pPr marL="306000" lvl="2" indent="-306000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Facilita concentrarse en la estrategia y decisiones claves.</a:t>
            </a:r>
          </a:p>
          <a:p>
            <a:pPr marL="306000" lvl="2" indent="-306000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Permite aplicar medidas rentables y relevantes para el negocio.</a:t>
            </a:r>
          </a:p>
          <a:p>
            <a:pPr eaLnBrk="1" hangingPunct="1">
              <a:buClrTx/>
              <a:buSzTx/>
              <a:buFontTx/>
              <a:buChar char="•"/>
            </a:pPr>
            <a:endParaRPr lang="es-AR" altLang="es-AR" sz="3000">
              <a:solidFill>
                <a:schemeClr val="folHlink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BC615CF-573D-0635-6D2B-58AEFA43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19</a:t>
            </a:fld>
            <a:endParaRPr 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>
            <a:extLst>
              <a:ext uri="{FF2B5EF4-FFF2-40B4-BE49-F238E27FC236}">
                <a16:creationId xmlns:a16="http://schemas.microsoft.com/office/drawing/2014/main" id="{068F6977-8941-7BD3-6B82-79E201CC8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Áreas de riesgo</a:t>
            </a:r>
            <a:endParaRPr lang="es-ES" altLang="es-AR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136FECE2-3DCC-FEA7-1B69-C67B286E0E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032090"/>
            <a:ext cx="7827962" cy="4114800"/>
          </a:xfrm>
          <a:noFill/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Riesgo Ambiental.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Riesgo de Negocio. 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Riesgo de Procesos: 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De operaciones- De Integridad-Financiero- De IT (Relevancia /integridad/acceso/ disponibilidad/infraestructura).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Información para Decisiones: 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Operacionales-Financieras-Estratégicas</a:t>
            </a:r>
          </a:p>
        </p:txBody>
      </p:sp>
      <p:graphicFrame>
        <p:nvGraphicFramePr>
          <p:cNvPr id="14342" name="Object 5">
            <a:extLst>
              <a:ext uri="{FF2B5EF4-FFF2-40B4-BE49-F238E27FC236}">
                <a16:creationId xmlns:a16="http://schemas.microsoft.com/office/drawing/2014/main" id="{2F97C4A4-C288-B449-6704-8A4164E3F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385502"/>
              </p:ext>
            </p:extLst>
          </p:nvPr>
        </p:nvGraphicFramePr>
        <p:xfrm>
          <a:off x="9489367" y="2230266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6095883" imgH="4067137" progId="MSGraph.Chart.8">
                  <p:embed followColorScheme="full"/>
                </p:oleObj>
              </mc:Choice>
              <mc:Fallback>
                <p:oleObj name="Gráfico" r:id="rId2" imgW="6095883" imgH="4067137" progId="MSGraph.Chart.8">
                  <p:embed followColorScheme="full"/>
                  <p:pic>
                    <p:nvPicPr>
                      <p:cNvPr id="14342" name="Object 5">
                        <a:extLst>
                          <a:ext uri="{FF2B5EF4-FFF2-40B4-BE49-F238E27FC236}">
                            <a16:creationId xmlns:a16="http://schemas.microsoft.com/office/drawing/2014/main" id="{2F97C4A4-C288-B449-6704-8A4164E3F2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9367" y="2230266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E196CF-A7F9-9248-23DC-113CBEEF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20</a:t>
            </a:fld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>
            <a:extLst>
              <a:ext uri="{FF2B5EF4-FFF2-40B4-BE49-F238E27FC236}">
                <a16:creationId xmlns:a16="http://schemas.microsoft.com/office/drawing/2014/main" id="{D0CA98FC-C17D-3CD3-2C98-AB16F2AB8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017713"/>
            <a:ext cx="7827962" cy="4114800"/>
          </a:xfrm>
          <a:noFill/>
        </p:spPr>
        <p:txBody>
          <a:bodyPr>
            <a:normAutofit fontScale="85000" lnSpcReduction="20000"/>
          </a:bodyPr>
          <a:lstStyle/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Origen de las Pérdidas: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35% computadora portátil o dispositivo perdido.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21% tercero o proveedor de servicio externo.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19% copia de respaldo electrónica.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9% registros en papel.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9% intruso malicioso o código malicioso.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7% penetración maliciosa a sistemas.</a:t>
            </a:r>
          </a:p>
          <a:p>
            <a:pPr marL="306000" lvl="1" algn="ctr">
              <a:lnSpc>
                <a:spcPct val="95000"/>
              </a:lnSpc>
            </a:pPr>
            <a:endParaRPr lang="es-AR" altLang="es-AR" sz="2500">
              <a:solidFill>
                <a:srgbClr val="002060"/>
              </a:solidFill>
            </a:endParaRPr>
          </a:p>
          <a:p>
            <a:pPr marL="306000" lvl="1" algn="ctr">
              <a:lnSpc>
                <a:spcPct val="11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“</a:t>
            </a:r>
            <a:r>
              <a:rPr lang="es-AR" altLang="es-AR" sz="2700" b="1">
                <a:solidFill>
                  <a:srgbClr val="002060"/>
                </a:solidFill>
              </a:rPr>
              <a:t>La mayoría de las pérdidas generalmente recibieron poca atención”.</a:t>
            </a:r>
          </a:p>
          <a:p>
            <a:pPr lvl="1" eaLnBrk="1" hangingPunct="1">
              <a:lnSpc>
                <a:spcPct val="80000"/>
              </a:lnSpc>
            </a:pPr>
            <a:endParaRPr lang="es-ES" altLang="es-AR" sz="2700">
              <a:solidFill>
                <a:srgbClr val="002060"/>
              </a:solidFill>
            </a:endParaRP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0B3E8E52-0F43-BFDF-0D14-153ED352A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0975" y="163514"/>
            <a:ext cx="8167687" cy="1462087"/>
          </a:xfrm>
          <a:noFill/>
        </p:spPr>
        <p:txBody>
          <a:bodyPr/>
          <a:lstStyle/>
          <a:p>
            <a:r>
              <a:rPr lang="en-US" altLang="es-AR" dirty="0" err="1"/>
              <a:t>Gestión</a:t>
            </a:r>
            <a:r>
              <a:rPr lang="en-US" altLang="es-AR" dirty="0"/>
              <a:t> de </a:t>
            </a:r>
            <a:r>
              <a:rPr lang="en-US" altLang="es-AR" dirty="0" err="1"/>
              <a:t>Riesgos</a:t>
            </a:r>
            <a:r>
              <a:rPr lang="en-US" altLang="es-AR" dirty="0"/>
              <a:t> </a:t>
            </a:r>
            <a:r>
              <a:rPr lang="en-US" altLang="es-AR" dirty="0" err="1"/>
              <a:t>históricos</a:t>
            </a:r>
            <a:endParaRPr lang="sl-SI" altLang="es-AR" dirty="0" err="1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32B386B-F9D3-D038-FBD4-F1176160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21</a:t>
            </a:fld>
            <a:endParaRPr lang="es-E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B8C24-4FAC-00C0-81A8-C89EA26A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Riesgos</a:t>
            </a:r>
            <a:r>
              <a:rPr lang="en-US" dirty="0"/>
              <a:t> </a:t>
            </a:r>
            <a:r>
              <a:rPr lang="en-US" dirty="0" err="1"/>
              <a:t>actuales</a:t>
            </a:r>
            <a:endParaRPr lang="es-ES" dirty="0" err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62D6D1-581C-8882-503B-DE4D703C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47BAA678-B399-0666-D882-4BD021885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7442706"/>
              </p:ext>
            </p:extLst>
          </p:nvPr>
        </p:nvGraphicFramePr>
        <p:xfrm>
          <a:off x="580571" y="2039257"/>
          <a:ext cx="11029950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413312673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937490386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Principales fuentes actuales de riesgo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Tendencia 2026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7837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Ataques de phishing e ingeniería social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▲ Muy alta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58793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Explotación de vulnerabilidades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▲ Muy alta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9971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 err="1">
                          <a:solidFill>
                            <a:schemeClr val="accent1"/>
                          </a:solidFill>
                        </a:rPr>
                        <a:t>Ransomware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▲ Muy alta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69028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Compromiso de terceros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▲ En fuerte crecimiento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182158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Credenciales robadas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▲ Muy alta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88748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Errores humanos y configuraciones incorrectas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▲ Alta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01769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Dispositivos perdidos o robados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▼ Menor impacto que hace 10 años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18816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Documentación en papel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solidFill>
                            <a:schemeClr val="accent1"/>
                          </a:solidFill>
                        </a:rPr>
                        <a:t>▼ Baja incidencia</a:t>
                      </a:r>
                      <a:endParaRPr lang="es-E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766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558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2FC38B9A-2676-DAC4-6D17-8526028E7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79650" y="2017713"/>
            <a:ext cx="8199438" cy="4114800"/>
          </a:xfrm>
          <a:noFill/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AR" altLang="es-AR" sz="2500" err="1">
                <a:solidFill>
                  <a:srgbClr val="002060"/>
                </a:solidFill>
              </a:rPr>
              <a:t>Indice</a:t>
            </a:r>
            <a:endParaRPr lang="es-AR" altLang="es-AR" sz="2500">
              <a:solidFill>
                <a:srgbClr val="002060"/>
              </a:solidFill>
            </a:endParaRPr>
          </a:p>
          <a:p>
            <a:pPr algn="ctr">
              <a:lnSpc>
                <a:spcPct val="95000"/>
              </a:lnSpc>
            </a:pPr>
            <a:endParaRPr lang="es-AR" altLang="es-AR" sz="2500">
              <a:solidFill>
                <a:srgbClr val="002060"/>
              </a:solidFill>
            </a:endParaRP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1) Definición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2) Visión general del Proceso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3) Requisitos de implantación</a:t>
            </a:r>
          </a:p>
          <a:p>
            <a:pPr marL="306000" lvl="1"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4) Elementos del Proceso</a:t>
            </a:r>
          </a:p>
          <a:p>
            <a:pPr eaLnBrk="1" hangingPunct="1">
              <a:lnSpc>
                <a:spcPct val="90000"/>
              </a:lnSpc>
              <a:buClrTx/>
              <a:buSzTx/>
              <a:buFont typeface="Wingdings" panose="05000000000000000000" pitchFamily="2" charset="2"/>
              <a:buNone/>
            </a:pPr>
            <a:endParaRPr lang="es-AR" altLang="es-AR" sz="280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7F252707-8324-0249-EA9B-90E4D7E53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pPr eaLnBrk="1" hangingPunct="1"/>
            <a:br>
              <a:rPr lang="es-AR" altLang="es-AR" sz="4000"/>
            </a:br>
            <a:r>
              <a:rPr lang="es-AR" altLang="es-AR" sz="4000"/>
              <a:t>Proceso de Gestión de Riesgos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D4344D2-13FB-D34A-D01E-37B4B52A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23</a:t>
            </a:fld>
            <a:endParaRPr lang="es-E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>
            <a:extLst>
              <a:ext uri="{FF2B5EF4-FFF2-40B4-BE49-F238E27FC236}">
                <a16:creationId xmlns:a16="http://schemas.microsoft.com/office/drawing/2014/main" id="{95E05AC1-C630-03D9-8325-333C300712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  <a:noFill/>
        </p:spPr>
        <p:txBody>
          <a:bodyPr/>
          <a:lstStyle/>
          <a:p>
            <a:pPr eaLnBrk="1" hangingPunct="1"/>
            <a:br>
              <a:rPr lang="es-AR" altLang="es-AR"/>
            </a:br>
            <a:r>
              <a:rPr lang="es-AR" altLang="es-AR"/>
              <a:t>Proceso de Gestión de Riesgos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C8760940-506D-A018-C3AB-05047D0E4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2032090"/>
            <a:ext cx="7827962" cy="4114800"/>
          </a:xfrm>
          <a:noFill/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n-US" altLang="es-AR" sz="2500" err="1">
                <a:solidFill>
                  <a:srgbClr val="002060"/>
                </a:solidFill>
              </a:rPr>
              <a:t>Definición</a:t>
            </a:r>
            <a:r>
              <a:rPr lang="en-US" altLang="es-AR" sz="2500">
                <a:solidFill>
                  <a:srgbClr val="002060"/>
                </a:solidFill>
              </a:rPr>
              <a:t> </a:t>
            </a:r>
          </a:p>
          <a:p>
            <a:pPr marL="306000" lvl="1" algn="ctr">
              <a:lnSpc>
                <a:spcPct val="95000"/>
              </a:lnSpc>
            </a:pPr>
            <a:r>
              <a:rPr lang="es-ES" altLang="es-AR" sz="2500">
                <a:solidFill>
                  <a:srgbClr val="002060"/>
                </a:solidFill>
              </a:rPr>
              <a:t>Es la aplicación sistemática de políticas, procedimientos y prácticas de administración a las tareas de, establecer el contexto, identificar, analizar, estimar, evaluar, tratar, monitorear y comunicar el </a:t>
            </a:r>
            <a:r>
              <a:rPr lang="es-ES" altLang="es-AR" sz="2500" b="1">
                <a:solidFill>
                  <a:srgbClr val="002060"/>
                </a:solidFill>
              </a:rPr>
              <a:t>Riesgo.</a:t>
            </a:r>
          </a:p>
          <a:p>
            <a:pPr lvl="1" eaLnBrk="1" hangingPunct="1">
              <a:buClrTx/>
              <a:buSzTx/>
              <a:buFontTx/>
              <a:buNone/>
            </a:pPr>
            <a:endParaRPr lang="en-US" altLang="es-AR" sz="320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EC4EEE-BBA6-5E11-607A-E3248E77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24</a:t>
            </a:fld>
            <a:endParaRPr lang="es-E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>
            <a:extLst>
              <a:ext uri="{FF2B5EF4-FFF2-40B4-BE49-F238E27FC236}">
                <a16:creationId xmlns:a16="http://schemas.microsoft.com/office/drawing/2014/main" id="{863DAFAA-BFEE-A674-1638-FC5B15E38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1844675"/>
            <a:ext cx="7827962" cy="4114800"/>
          </a:xfrm>
        </p:spPr>
        <p:txBody>
          <a:bodyPr>
            <a:normAutofit/>
          </a:bodyPr>
          <a:lstStyle/>
          <a:p>
            <a:pPr marL="306000" lvl="1" algn="ctr">
              <a:lnSpc>
                <a:spcPct val="105000"/>
              </a:lnSpc>
              <a:defRPr/>
            </a:pPr>
            <a:r>
              <a:rPr lang="es-AR" altLang="es-AR" sz="2500">
                <a:solidFill>
                  <a:srgbClr val="002060"/>
                </a:solidFill>
              </a:rPr>
              <a:t>Busca asegurar que el impacto de amenazas que aprovechan las vulnerabilidades esté dentro de límites aceptables y a un costo aceptable. </a:t>
            </a:r>
          </a:p>
          <a:p>
            <a:pPr marL="306000" lvl="1" algn="ctr">
              <a:lnSpc>
                <a:spcPct val="105000"/>
              </a:lnSpc>
              <a:defRPr/>
            </a:pPr>
            <a:r>
              <a:rPr lang="es-AR" altLang="es-AR" sz="2500">
                <a:solidFill>
                  <a:srgbClr val="002060"/>
                </a:solidFill>
              </a:rPr>
              <a:t>Debe ser eficaz logrando equilibrar  la exposición de riesgo con el costo de mitigación y la implementación de apropiadas contramedidas y controles</a:t>
            </a:r>
            <a:r>
              <a:rPr lang="en-US" altLang="es-AR" sz="2500">
                <a:solidFill>
                  <a:srgbClr val="002060"/>
                </a:solidFill>
              </a:rPr>
              <a:t>. </a:t>
            </a:r>
          </a:p>
          <a:p>
            <a:pPr marL="306000" lvl="1" algn="ctr">
              <a:lnSpc>
                <a:spcPct val="105000"/>
              </a:lnSpc>
              <a:defRPr/>
            </a:pPr>
            <a:r>
              <a:rPr lang="en-US" altLang="es-AR" sz="2500" err="1">
                <a:solidFill>
                  <a:srgbClr val="002060"/>
                </a:solidFill>
              </a:rPr>
              <a:t>Debe</a:t>
            </a:r>
            <a:r>
              <a:rPr lang="en-US" altLang="es-AR" sz="2500">
                <a:solidFill>
                  <a:srgbClr val="002060"/>
                </a:solidFill>
              </a:rPr>
              <a:t> ser </a:t>
            </a:r>
            <a:r>
              <a:rPr lang="en-US" altLang="es-AR" sz="2500" err="1">
                <a:solidFill>
                  <a:srgbClr val="002060"/>
                </a:solidFill>
              </a:rPr>
              <a:t>sustentable</a:t>
            </a:r>
            <a:r>
              <a:rPr lang="en-US" altLang="es-AR" sz="2500">
                <a:solidFill>
                  <a:srgbClr val="002060"/>
                </a:solidFill>
              </a:rPr>
              <a:t> en el </a:t>
            </a:r>
            <a:r>
              <a:rPr lang="en-US" altLang="es-AR" sz="2500" err="1">
                <a:solidFill>
                  <a:srgbClr val="002060"/>
                </a:solidFill>
              </a:rPr>
              <a:t>tiempo</a:t>
            </a:r>
            <a:r>
              <a:rPr lang="en-US" altLang="es-AR" sz="2500">
                <a:solidFill>
                  <a:srgbClr val="002060"/>
                </a:solidFill>
              </a:rPr>
              <a:t> para </a:t>
            </a:r>
            <a:r>
              <a:rPr lang="en-US" altLang="es-AR" sz="2500" err="1">
                <a:solidFill>
                  <a:srgbClr val="002060"/>
                </a:solidFill>
              </a:rPr>
              <a:t>acompañar</a:t>
            </a:r>
            <a:r>
              <a:rPr lang="en-US" altLang="es-AR" sz="2500">
                <a:solidFill>
                  <a:srgbClr val="002060"/>
                </a:solidFill>
              </a:rPr>
              <a:t> la </a:t>
            </a:r>
            <a:r>
              <a:rPr lang="en-US" altLang="es-AR" sz="2500" err="1">
                <a:solidFill>
                  <a:srgbClr val="002060"/>
                </a:solidFill>
              </a:rPr>
              <a:t>dinámica</a:t>
            </a:r>
            <a:r>
              <a:rPr lang="en-US" altLang="es-AR" sz="2500">
                <a:solidFill>
                  <a:srgbClr val="002060"/>
                </a:solidFill>
              </a:rPr>
              <a:t> de los </a:t>
            </a:r>
            <a:r>
              <a:rPr lang="en-US" altLang="es-AR" sz="2500" err="1">
                <a:solidFill>
                  <a:srgbClr val="002060"/>
                </a:solidFill>
              </a:rPr>
              <a:t>procesos</a:t>
            </a:r>
            <a:r>
              <a:rPr lang="en-US" altLang="es-AR" sz="2500">
                <a:solidFill>
                  <a:srgbClr val="002060"/>
                </a:solidFill>
              </a:rPr>
              <a:t> de </a:t>
            </a:r>
            <a:r>
              <a:rPr lang="en-US" altLang="es-AR" sz="2500" err="1">
                <a:solidFill>
                  <a:srgbClr val="002060"/>
                </a:solidFill>
              </a:rPr>
              <a:t>negocio</a:t>
            </a:r>
            <a:r>
              <a:rPr lang="en-US" altLang="es-AR" sz="2500">
                <a:solidFill>
                  <a:srgbClr val="002060"/>
                </a:solidFill>
              </a:rPr>
              <a:t> de la </a:t>
            </a:r>
            <a:r>
              <a:rPr lang="en-US" altLang="es-AR" sz="2500" err="1">
                <a:solidFill>
                  <a:srgbClr val="002060"/>
                </a:solidFill>
              </a:rPr>
              <a:t>organización</a:t>
            </a:r>
            <a:endParaRPr lang="en-US" altLang="es-AR" sz="2500">
              <a:solidFill>
                <a:srgbClr val="00206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s-AR" sz="2600">
              <a:solidFill>
                <a:schemeClr val="folHlink"/>
              </a:solidFill>
            </a:endParaRP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5E92D31D-C368-0DE5-C14C-0B39F177D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9" y="214314"/>
            <a:ext cx="8167687" cy="1462087"/>
          </a:xfrm>
          <a:noFill/>
        </p:spPr>
        <p:txBody>
          <a:bodyPr/>
          <a:lstStyle/>
          <a:p>
            <a:pPr eaLnBrk="1" hangingPunct="1"/>
            <a:br>
              <a:rPr lang="es-AR" altLang="es-AR"/>
            </a:br>
            <a:r>
              <a:rPr lang="es-AR" altLang="es-AR"/>
              <a:t>Proceso de Gestión de Riesgos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F97A7FF-A8C9-E671-FE06-6EE313F7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25</a:t>
            </a:fld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>
            <a:extLst>
              <a:ext uri="{FF2B5EF4-FFF2-40B4-BE49-F238E27FC236}">
                <a16:creationId xmlns:a16="http://schemas.microsoft.com/office/drawing/2014/main" id="{9F43AA54-517D-E327-8CD7-105945E71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0288" y="1844675"/>
            <a:ext cx="7827962" cy="4114800"/>
          </a:xfrm>
          <a:noFill/>
        </p:spPr>
        <p:txBody>
          <a:bodyPr/>
          <a:lstStyle/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Visión general del proceso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Proceso iterativo que contribuye a la 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mejora organizacional.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Aplicable a todos los niveles: estratégicos, tácticos y operacionales. 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También aplica en proyectos o áreas específicas.</a:t>
            </a:r>
          </a:p>
          <a:p>
            <a:pPr algn="ctr">
              <a:lnSpc>
                <a:spcPct val="95000"/>
              </a:lnSpc>
            </a:pPr>
            <a:r>
              <a:rPr lang="es-AR" altLang="es-AR" sz="2500">
                <a:solidFill>
                  <a:srgbClr val="002060"/>
                </a:solidFill>
              </a:rPr>
              <a:t>Debe mantener registros adecuados para la auditoría independiente.</a:t>
            </a:r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DD8F4B75-FC04-2419-BB0E-4B81D91A5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1139826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AR" altLang="es-AR" sz="1800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9040C261-D9CC-4A0B-98F6-04B2DE3E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289" y="214314"/>
            <a:ext cx="816768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br>
              <a:rPr lang="es-AR" altLang="es-AR" sz="4400">
                <a:solidFill>
                  <a:schemeClr val="tx2"/>
                </a:solidFill>
              </a:rPr>
            </a:br>
            <a:r>
              <a:rPr lang="es-AR" altLang="es-AR" sz="2800" cap="all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Proceso de Gestión de Riesgos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2879A5D-321E-7DFA-93E3-B01E4087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26</a:t>
            </a:fld>
            <a:endParaRPr lang="es-E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BC1B56D-D2E9-A6CD-282F-ACB5EEF3A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724" y="666645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altLang="es-AR"/>
              <a:t>Planificación Temporal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E8CC61E-338A-2DB3-A3C9-C962CC900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Identificar tareas</a:t>
            </a: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Fijar interdependencias entre tareas</a:t>
            </a: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Estimar esfuerzo de cada tarea</a:t>
            </a: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Asignar personal</a:t>
            </a: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Construir la red</a:t>
            </a:r>
          </a:p>
          <a:p>
            <a:pPr algn="ctr">
              <a:lnSpc>
                <a:spcPct val="95000"/>
              </a:lnSpc>
            </a:pPr>
            <a:r>
              <a:rPr lang="es-ES_tradnl" altLang="es-AR" sz="2500">
                <a:solidFill>
                  <a:srgbClr val="002060"/>
                </a:solidFill>
              </a:rPr>
              <a:t>Establecer el camino critico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607AAA2-3BBD-6D03-EFA6-2750CEFF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27</a:t>
            </a:fld>
            <a:endParaRPr lang="es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9B737BB-54AE-E58C-BB98-BDF9106B9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138" y="3018069"/>
            <a:ext cx="8144666" cy="831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_tradnl" altLang="es-AR" sz="4800">
                <a:solidFill>
                  <a:srgbClr val="002060"/>
                </a:solidFill>
                <a:latin typeface="+mn-lt"/>
              </a:rPr>
              <a:t>¿Porque fallan las estimaciones ?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EF60CAA-DCA0-2C4F-B38A-1CFB457A9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011" y="1018712"/>
            <a:ext cx="1002289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_tradnl" altLang="es-AR" sz="2800" cap="all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Dirección de Proyectos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BBA7D6D-47C9-6CFF-6BDF-EC89CCF2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28</a:t>
            </a:fld>
            <a:endParaRPr lang="es-E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18CC875-3FCF-444D-78AD-A11849A03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4" y="2353600"/>
            <a:ext cx="8548687" cy="305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Cambio constante en los requerimientos</a:t>
            </a: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Falta de técnicas</a:t>
            </a: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Falta de planificación</a:t>
            </a: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Falta de conocimiento de procesos de 	 estimación</a:t>
            </a: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Mal manejo de problemas políticos </a:t>
            </a: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No tomar como base casos anteriores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BEA21C1-F805-6418-C2AB-03D5852AF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421" y="1000957"/>
            <a:ext cx="1011166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_tradnl" altLang="es-AR" sz="2800" cap="all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Dirección de Proyectos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B9A7C1-6D9E-24F2-9753-E6BAE78B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29</a:t>
            </a:fld>
            <a:endParaRPr lang="es-E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8A7573C-F1DC-BC8D-8654-783838C42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50" y="628095"/>
            <a:ext cx="1129239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_tradnl" altLang="es-AR" sz="4000">
                <a:solidFill>
                  <a:srgbClr val="002060"/>
                </a:solidFill>
                <a:latin typeface="+mn-lt"/>
              </a:rPr>
              <a:t>Dirección de Proyectos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AE9B957-25F0-D209-D807-02A4B8033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036" y="1659617"/>
            <a:ext cx="7634287" cy="4459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Dos factores clave para estimar bien</a:t>
            </a: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s-ES_tradnl" altLang="es-AR" sz="2500">
              <a:solidFill>
                <a:srgbClr val="002060"/>
              </a:solidFill>
              <a:latin typeface="+mn-lt"/>
            </a:endParaRP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Disponibilidad de registros precisos sobre proyectos anteriores</a:t>
            </a: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s-ES_tradnl" altLang="es-AR" sz="2500">
              <a:solidFill>
                <a:srgbClr val="002060"/>
              </a:solidFill>
              <a:latin typeface="+mn-lt"/>
            </a:endParaRP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Adopción de metodologías estándar</a:t>
            </a: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s-ES_tradnl" altLang="es-AR" sz="2500">
              <a:solidFill>
                <a:srgbClr val="002060"/>
              </a:solidFill>
              <a:latin typeface="+mn-lt"/>
            </a:endParaRPr>
          </a:p>
          <a:p>
            <a:pPr marL="306000" indent="-306000"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s-ES_tradnl" altLang="es-AR" sz="2500">
              <a:solidFill>
                <a:srgbClr val="002060"/>
              </a:solidFill>
              <a:latin typeface="+mn-lt"/>
            </a:endParaRPr>
          </a:p>
          <a:p>
            <a:pPr algn="ctr" defTabSz="457200" eaLnBrk="1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Estos dos factores ayudaran a concebir las métricas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408155-E201-9D3A-4899-7225A556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30</a:t>
            </a:fld>
            <a:endParaRPr lang="es-E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EA0A22A-59C4-7125-39BD-6C527A62B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3" y="734627"/>
            <a:ext cx="1115035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_tradnl" altLang="es-AR" sz="4000">
                <a:solidFill>
                  <a:srgbClr val="002060"/>
                </a:solidFill>
                <a:latin typeface="+mn-lt"/>
              </a:rPr>
              <a:t>Dirección de Proyectos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A115FCD-12ED-C0FC-619D-86D9A9E67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483" y="1573058"/>
            <a:ext cx="1295226" cy="47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Métricas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B9484E52-4977-01BD-DEDF-C5F049C6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1843089"/>
            <a:ext cx="6745436" cy="4371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Que miden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				Productividad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				Calidad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                                                                  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Beneficios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				Futuras Estimaciones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                                                                  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Medidas 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				Directas</a:t>
            </a:r>
          </a:p>
          <a:p>
            <a:r>
              <a:rPr lang="es-ES_tradnl" altLang="es-AR" sz="2500">
                <a:solidFill>
                  <a:srgbClr val="002060"/>
                </a:solidFill>
                <a:latin typeface="+mn-lt"/>
              </a:rPr>
              <a:t>				Indirectas</a:t>
            </a:r>
          </a:p>
          <a:p>
            <a:r>
              <a:rPr lang="es-ES_tradnl" altLang="es-AR" sz="2800" u="sng">
                <a:latin typeface="Arial" panose="020B0604020202020204" pitchFamily="34" charset="0"/>
              </a:rPr>
              <a:t>                                                                  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364674E-B025-3C53-A7D4-057709847DE6}"/>
              </a:ext>
            </a:extLst>
          </p:cNvPr>
          <p:cNvCxnSpPr/>
          <p:nvPr/>
        </p:nvCxnSpPr>
        <p:spPr>
          <a:xfrm>
            <a:off x="3639845" y="3000652"/>
            <a:ext cx="654284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FF4BFA5-11D0-E548-1BCB-1CFDE7DEE0AB}"/>
              </a:ext>
            </a:extLst>
          </p:cNvPr>
          <p:cNvCxnSpPr/>
          <p:nvPr/>
        </p:nvCxnSpPr>
        <p:spPr>
          <a:xfrm>
            <a:off x="3676836" y="4200618"/>
            <a:ext cx="654284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0AFE89D-FB14-C757-4402-0E73EB15329C}"/>
              </a:ext>
            </a:extLst>
          </p:cNvPr>
          <p:cNvCxnSpPr/>
          <p:nvPr/>
        </p:nvCxnSpPr>
        <p:spPr>
          <a:xfrm>
            <a:off x="3660560" y="4992209"/>
            <a:ext cx="654284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6EBDF5-FA4E-87B4-B75A-24E712CF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31</a:t>
            </a:fld>
            <a:endParaRPr lang="es-E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D4E2B87B-0BFE-98FC-4406-2CFF9F910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132014"/>
            <a:ext cx="9056967" cy="378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_tradnl" altLang="es-AR" sz="4000">
                <a:solidFill>
                  <a:srgbClr val="002060"/>
                </a:solidFill>
                <a:latin typeface="+mn-lt"/>
              </a:rPr>
              <a:t>¿Qué pasa si no medimos?</a:t>
            </a:r>
          </a:p>
          <a:p>
            <a:endParaRPr lang="es-ES_tradnl" altLang="es-AR" sz="4000">
              <a:solidFill>
                <a:srgbClr val="002060"/>
              </a:solidFill>
              <a:latin typeface="+mn-lt"/>
            </a:endParaRPr>
          </a:p>
          <a:p>
            <a:endParaRPr lang="es-ES_tradnl" altLang="es-AR" sz="4000">
              <a:solidFill>
                <a:srgbClr val="002060"/>
              </a:solidFill>
              <a:latin typeface="+mn-lt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s-ES_tradnl" altLang="es-AR" sz="4000">
                <a:solidFill>
                  <a:srgbClr val="002060"/>
                </a:solidFill>
                <a:latin typeface="+mn-lt"/>
              </a:rPr>
              <a:t>		No sabemos si estamos mejorando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s-ES_tradnl" altLang="es-AR" sz="4000">
              <a:solidFill>
                <a:srgbClr val="002060"/>
              </a:solidFill>
              <a:latin typeface="+mn-lt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s-ES_tradnl" altLang="es-AR" sz="4000">
                <a:solidFill>
                  <a:srgbClr val="002060"/>
                </a:solidFill>
                <a:latin typeface="+mn-lt"/>
              </a:rPr>
              <a:t>		No podemos establecer metas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C7EE47B-6C20-ACD6-797B-4352BD39F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3" y="734627"/>
            <a:ext cx="1115035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_tradnl" altLang="es-AR" sz="4000">
                <a:solidFill>
                  <a:srgbClr val="002060"/>
                </a:solidFill>
                <a:latin typeface="+mn-lt"/>
              </a:rPr>
              <a:t>Dirección de Proyectos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38D016-D3B1-CAE3-CC58-4668EC283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32</a:t>
            </a:fld>
            <a:endParaRPr lang="es-E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5D02EBF-5318-BC50-584E-F469E5AEC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AR"/>
              <a:t>Estimaciones - Factores de riesgo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48DA791-7416-31AC-06B1-AEEFB9258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altLang="es-AR" sz="2000">
              <a:solidFill>
                <a:srgbClr val="1A3260"/>
              </a:solidFill>
            </a:endParaRPr>
          </a:p>
          <a:p>
            <a:r>
              <a:rPr lang="es-ES_tradnl" altLang="es-AR" sz="2000">
                <a:solidFill>
                  <a:srgbClr val="1A3260"/>
                </a:solidFill>
              </a:rPr>
              <a:t>Tamaño del esfuerzo</a:t>
            </a:r>
          </a:p>
          <a:p>
            <a:r>
              <a:rPr lang="es-ES_tradnl" altLang="es-AR" sz="2000">
                <a:solidFill>
                  <a:srgbClr val="1A3260"/>
                </a:solidFill>
              </a:rPr>
              <a:t>Grado de estructuración, definición y variabilidad</a:t>
            </a:r>
          </a:p>
          <a:p>
            <a:r>
              <a:rPr lang="es-ES_tradnl" altLang="es-AR" sz="2000">
                <a:solidFill>
                  <a:srgbClr val="1A3260"/>
                </a:solidFill>
              </a:rPr>
              <a:t>Complejidad basada en esfuerzos pasados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22A6D3E-3608-AE13-23B9-A8DE93C6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33</a:t>
            </a:fld>
            <a:endParaRPr lang="es-E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3F076-2099-C904-74F2-B6302DFA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Estimaciones - Factores de riesgo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3331A-84D7-2BF5-BD8C-C2223B603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b="1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1. Tamaño del esfuerzo</a:t>
            </a:r>
            <a:endParaRPr lang="es-ES" dirty="0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sz="1800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Este factor mide la magnitud total del trabajo requerido para completar el proyecto. </a:t>
            </a:r>
            <a:endParaRPr lang="es-ES" sz="1800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sz="1800" b="1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Volumen de trabajo:</a:t>
            </a:r>
            <a:r>
              <a:rPr lang="es-ES" sz="1800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 A mayor cantidad de horas-hombre, líneas de código o tareas, el riesgo aumenta exponencialmente.</a:t>
            </a:r>
            <a:endParaRPr lang="es-ES" sz="1800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sz="1800" b="1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Gestión de personal:</a:t>
            </a:r>
            <a:r>
              <a:rPr lang="es-ES" sz="1800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 Requiere equipos más grandes, lo que complica la comunicación y la alineación.</a:t>
            </a:r>
            <a:endParaRPr lang="es-ES" sz="1800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sz="1800" b="1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Impacto de errores:</a:t>
            </a:r>
            <a:r>
              <a:rPr lang="es-ES" sz="1800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 Un error inicial en un proyecto grande tiene un efecto dominó mucho más costoso que en uno pequeño.</a:t>
            </a:r>
            <a:endParaRPr lang="es-ES" sz="1800">
              <a:solidFill>
                <a:schemeClr val="accent1"/>
              </a:solidFill>
            </a:endParaRPr>
          </a:p>
          <a:p>
            <a:pPr marL="305435" indent="-305435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8247C9-E2B5-5291-3D13-3146BCAF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803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88719-608F-AF13-A608-916AF0F1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Estimaciones - Factores de riesgo</a:t>
            </a:r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5849E9-DD2C-C364-B65A-585950A9D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>
                <a:solidFill>
                  <a:schemeClr val="accent1"/>
                </a:solidFill>
                <a:highlight>
                  <a:srgbClr val="FFFFFF"/>
                </a:highlight>
              </a:rPr>
              <a:t>2. Grado de estructuración, definición y variabilidad</a:t>
            </a:r>
            <a:endParaRPr lang="es-ES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sz="1800">
                <a:solidFill>
                  <a:schemeClr val="accent1"/>
                </a:solidFill>
                <a:highlight>
                  <a:srgbClr val="FFFFFF"/>
                </a:highlight>
              </a:rPr>
              <a:t>Este factor evalúa la claridad y la estabilidad de los requisitos del proyecto desde el inicio.</a:t>
            </a:r>
            <a:endParaRPr lang="es-ES" sz="1800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sz="1800" b="1">
                <a:solidFill>
                  <a:schemeClr val="accent1"/>
                </a:solidFill>
                <a:highlight>
                  <a:srgbClr val="FFFFFF"/>
                </a:highlight>
              </a:rPr>
              <a:t>Estructuración y definición:</a:t>
            </a:r>
            <a:r>
              <a:rPr lang="es-ES" sz="1800">
                <a:solidFill>
                  <a:schemeClr val="accent1"/>
                </a:solidFill>
                <a:highlight>
                  <a:srgbClr val="FFFFFF"/>
                </a:highlight>
              </a:rPr>
              <a:t> Si los objetivos, los entregables y el alcance están mal definidos, el equipo trabajará bajo suposiciones, lo que genera retrabajo.</a:t>
            </a:r>
            <a:endParaRPr lang="es-ES" sz="1800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sz="1800" b="1">
                <a:solidFill>
                  <a:schemeClr val="accent1"/>
                </a:solidFill>
                <a:highlight>
                  <a:srgbClr val="FFFFFF"/>
                </a:highlight>
              </a:rPr>
              <a:t>Variabilidad (Volatilidad):</a:t>
            </a:r>
            <a:r>
              <a:rPr lang="es-ES" sz="1800">
                <a:solidFill>
                  <a:schemeClr val="accent1"/>
                </a:solidFill>
                <a:highlight>
                  <a:srgbClr val="FFFFFF"/>
                </a:highlight>
              </a:rPr>
              <a:t> Se refiere a qué tan seguido cambian los requisitos durante la ejecución. Una alta variabilidad destruye la planificación temporal y financiera.</a:t>
            </a:r>
            <a:endParaRPr lang="es-ES" sz="1800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sz="1800" b="1" dirty="0">
                <a:solidFill>
                  <a:schemeClr val="accent1"/>
                </a:solidFill>
                <a:highlight>
                  <a:srgbClr val="FFFFFF"/>
                </a:highlight>
              </a:rPr>
              <a:t>Riesgo asociado:</a:t>
            </a:r>
            <a:r>
              <a:rPr lang="es-ES" sz="1800" dirty="0">
                <a:solidFill>
                  <a:schemeClr val="accent1"/>
                </a:solidFill>
                <a:highlight>
                  <a:srgbClr val="FFFFFF"/>
                </a:highlight>
              </a:rPr>
              <a:t> Un proyecto con baja definición y alta variabilidad suele sufrir de </a:t>
            </a:r>
            <a:r>
              <a:rPr lang="es-ES" sz="1800" i="1" dirty="0" err="1">
                <a:solidFill>
                  <a:schemeClr val="accent1"/>
                </a:solidFill>
                <a:highlight>
                  <a:srgbClr val="FFFFFF"/>
                </a:highlight>
              </a:rPr>
              <a:t>scope</a:t>
            </a:r>
            <a:r>
              <a:rPr lang="es-ES" sz="1800" i="1" dirty="0">
                <a:solidFill>
                  <a:schemeClr val="accent1"/>
                </a:solidFill>
                <a:highlight>
                  <a:srgbClr val="FFFFFF"/>
                </a:highlight>
              </a:rPr>
              <a:t> </a:t>
            </a:r>
            <a:r>
              <a:rPr lang="es-ES" sz="1800" i="1" dirty="0" err="1">
                <a:solidFill>
                  <a:schemeClr val="accent1"/>
                </a:solidFill>
                <a:highlight>
                  <a:srgbClr val="FFFFFF"/>
                </a:highlight>
              </a:rPr>
              <a:t>creep</a:t>
            </a:r>
            <a:r>
              <a:rPr lang="es-ES" sz="1800" dirty="0">
                <a:solidFill>
                  <a:schemeClr val="accent1"/>
                </a:solidFill>
                <a:highlight>
                  <a:srgbClr val="FFFFFF"/>
                </a:highlight>
              </a:rPr>
              <a:t> (corrupción del alcance), donde el proyecto crece sin control. </a:t>
            </a:r>
            <a:endParaRPr lang="es-ES" sz="1800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2136E7-50CA-2F0E-38EE-39F98BEC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0223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6A973-1E83-CDA6-928F-61C726760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Estimaciones - Factores de riesgo</a:t>
            </a:r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855790-BE80-7CB2-7967-550EA0A19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>
                <a:solidFill>
                  <a:schemeClr val="accent1"/>
                </a:solidFill>
                <a:highlight>
                  <a:srgbClr val="FFFFFF"/>
                </a:highlight>
              </a:rPr>
              <a:t>3. Complejidad basada en esfuerzos pasados</a:t>
            </a:r>
            <a:endParaRPr lang="es-ES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>
                <a:solidFill>
                  <a:schemeClr val="accent1"/>
                </a:solidFill>
                <a:highlight>
                  <a:srgbClr val="FFFFFF"/>
                </a:highlight>
              </a:rPr>
              <a:t>Este factor compara el desafío técnico y operativo del proyecto actual con la experiencia previa del equipo.</a:t>
            </a:r>
            <a:endParaRPr lang="es-ES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b="1">
                <a:solidFill>
                  <a:schemeClr val="accent1"/>
                </a:solidFill>
                <a:highlight>
                  <a:srgbClr val="FFFFFF"/>
                </a:highlight>
              </a:rPr>
              <a:t>Curva de aprendizaje:</a:t>
            </a:r>
            <a:r>
              <a:rPr lang="es-ES">
                <a:solidFill>
                  <a:schemeClr val="accent1"/>
                </a:solidFill>
                <a:highlight>
                  <a:srgbClr val="FFFFFF"/>
                </a:highlight>
              </a:rPr>
              <a:t> Si el proyecto requiere tecnologías, arquitecturas o metodologías que el equipo nunca ha usado, el riesgo tecnológico es muy alto.</a:t>
            </a:r>
            <a:endParaRPr lang="es-ES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b="1">
                <a:solidFill>
                  <a:schemeClr val="accent1"/>
                </a:solidFill>
                <a:highlight>
                  <a:srgbClr val="FFFFFF"/>
                </a:highlight>
              </a:rPr>
              <a:t>Falta de puntos de referencia:</a:t>
            </a:r>
            <a:r>
              <a:rPr lang="es-ES">
                <a:solidFill>
                  <a:schemeClr val="accent1"/>
                </a:solidFill>
                <a:highlight>
                  <a:srgbClr val="FFFFFF"/>
                </a:highlight>
              </a:rPr>
              <a:t> Al no haber "esfuerzos pasados" similares, las estimaciones de tiempo y presupuesto se vuelven menos precisas y más propensas al error.</a:t>
            </a:r>
            <a:endParaRPr lang="es-ES">
              <a:solidFill>
                <a:schemeClr val="accent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s-ES" b="1" dirty="0" err="1">
                <a:solidFill>
                  <a:schemeClr val="accent1"/>
                </a:solidFill>
                <a:highlight>
                  <a:srgbClr val="FFFFFF"/>
                </a:highlight>
              </a:rPr>
              <a:t>Predecibilidad</a:t>
            </a:r>
            <a:r>
              <a:rPr lang="es-ES" b="1" dirty="0">
                <a:solidFill>
                  <a:schemeClr val="accent1"/>
                </a:solidFill>
                <a:highlight>
                  <a:srgbClr val="FFFFFF"/>
                </a:highlight>
              </a:rPr>
              <a:t>:</a:t>
            </a:r>
            <a:r>
              <a:rPr lang="es-ES" dirty="0">
                <a:solidFill>
                  <a:schemeClr val="accent1"/>
                </a:solidFill>
                <a:highlight>
                  <a:srgbClr val="FFFFFF"/>
                </a:highlight>
              </a:rPr>
              <a:t> La familiaridad con proyectos previos similares (lecciones aprendidas) reduce la incertidumbre y permite mitigar riesgos de forma proactiva</a:t>
            </a:r>
            <a:endParaRPr lang="es-ES">
              <a:solidFill>
                <a:schemeClr val="accent1"/>
              </a:solidFill>
            </a:endParaRPr>
          </a:p>
          <a:p>
            <a:pPr marL="305435" indent="-305435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291258-D761-17C1-F988-9FAD0CC4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9941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CBC98A8-9C8C-8912-4569-80C23EB011D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rnd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itle 1">
            <a:extLst>
              <a:ext uri="{FF2B5EF4-FFF2-40B4-BE49-F238E27FC236}">
                <a16:creationId xmlns:a16="http://schemas.microsoft.com/office/drawing/2014/main" id="{D0C82B2A-0D97-4C8D-9679-E52CD92D0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322" y="1085610"/>
            <a:ext cx="4494179" cy="553998"/>
          </a:xfrm>
        </p:spPr>
        <p:txBody>
          <a:bodyPr>
            <a:normAutofit fontScale="90000"/>
          </a:bodyPr>
          <a:lstStyle/>
          <a:p>
            <a:pPr algn="ctr"/>
            <a:r>
              <a:rPr lang="es-AR" sz="3500" b="1" spc="300">
                <a:latin typeface="Amasis MT Pro Medium" panose="02040604050005020304" pitchFamily="18" charset="0"/>
              </a:rPr>
              <a:t>Dudas ?</a:t>
            </a:r>
            <a:endParaRPr lang="en-US" sz="3500" b="1" spc="300">
              <a:latin typeface="Amasis MT Pro Medium" panose="02040604050005020304" pitchFamily="18" charset="0"/>
            </a:endParaRPr>
          </a:p>
        </p:txBody>
      </p:sp>
      <p:pic>
        <p:nvPicPr>
          <p:cNvPr id="17" name="Marcador de contenido 16" descr="Sala de alumnos levantando la mano frente a un profesor">
            <a:extLst>
              <a:ext uri="{FF2B5EF4-FFF2-40B4-BE49-F238E27FC236}">
                <a16:creationId xmlns:a16="http://schemas.microsoft.com/office/drawing/2014/main" id="{B1BF6732-AAB2-4368-81BD-4FF4065C2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494046" y="1901291"/>
            <a:ext cx="5276499" cy="3594100"/>
          </a:xfr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9AE80C0-B675-8279-4262-B98445D72064}"/>
              </a:ext>
            </a:extLst>
          </p:cNvPr>
          <p:cNvSpPr txBox="1"/>
          <p:nvPr/>
        </p:nvSpPr>
        <p:spPr>
          <a:xfrm>
            <a:off x="2102809" y="5696714"/>
            <a:ext cx="609437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300" b="1" cap="all" spc="30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  <a:ea typeface="+mj-ea"/>
                <a:cs typeface="+mj-cs"/>
              </a:rPr>
              <a:t>Comentarios</a:t>
            </a:r>
            <a:r>
              <a:rPr lang="en-US" sz="3300" b="1" cap="all" spc="30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  <a:ea typeface="+mj-ea"/>
                <a:cs typeface="+mj-cs"/>
              </a:rPr>
              <a:t>?</a:t>
            </a:r>
            <a:endParaRPr lang="es-AR" sz="3300" b="1" cap="all" spc="300">
              <a:solidFill>
                <a:schemeClr val="accent1">
                  <a:lumMod val="75000"/>
                </a:schemeClr>
              </a:solidFill>
              <a:latin typeface="Amasis MT Pro Medium" panose="02040604050005020304" pitchFamily="18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9A6AB-6996-D6D3-6AEF-1360E76EA5DE}"/>
              </a:ext>
            </a:extLst>
          </p:cNvPr>
          <p:cNvSpPr txBox="1">
            <a:spLocks/>
          </p:cNvSpPr>
          <p:nvPr/>
        </p:nvSpPr>
        <p:spPr>
          <a:xfrm>
            <a:off x="6426740" y="3338418"/>
            <a:ext cx="4494179" cy="5539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3300" b="1" spc="30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Preguntas?</a:t>
            </a:r>
            <a:br>
              <a:rPr lang="en-US" sz="3500" b="1" spc="300">
                <a:latin typeface="Amasis MT Pro Medium" panose="02040604050005020304" pitchFamily="18" charset="0"/>
              </a:rPr>
            </a:br>
            <a:br>
              <a:rPr lang="en-US" sz="3500" b="1" spc="300">
                <a:solidFill>
                  <a:schemeClr val="accent1"/>
                </a:solidFill>
                <a:latin typeface="Amasis MT Pro Medium" panose="02040604050005020304" pitchFamily="18" charset="0"/>
              </a:rPr>
            </a:br>
            <a:endParaRPr lang="en-US" sz="3500" b="1" spc="300">
              <a:solidFill>
                <a:schemeClr val="accent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EEF4A3-1185-EE88-F93A-AA447FB0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80781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299BB7DBAB604CBF92CED6F341956D" ma:contentTypeVersion="3" ma:contentTypeDescription="Crear nuevo documento." ma:contentTypeScope="" ma:versionID="9afc5c629d1fa4daa758eae5c0ffce08">
  <xsd:schema xmlns:xsd="http://www.w3.org/2001/XMLSchema" xmlns:xs="http://www.w3.org/2001/XMLSchema" xmlns:p="http://schemas.microsoft.com/office/2006/metadata/properties" xmlns:ns2="0fd8070d-56ff-4b43-b705-64ae6a394890" targetNamespace="http://schemas.microsoft.com/office/2006/metadata/properties" ma:root="true" ma:fieldsID="e452753519e258a995a8d5047b5119ca" ns2:_="">
    <xsd:import namespace="0fd8070d-56ff-4b43-b705-64ae6a394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8070d-56ff-4b43-b705-64ae6a3948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7027DF-E8FE-4DA5-9B12-3994A65B01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54F484-FF35-4402-A7F7-9EBAD13C7D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d8070d-56ff-4b43-b705-64ae6a3948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025322-1880-4269-86FE-4930D1B2D44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Application>Microsoft Office PowerPoint</Application>
  <PresentationFormat>Panorámica</PresentationFormat>
  <Slides>37</Slides>
  <Notes>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38" baseType="lpstr">
      <vt:lpstr>Dividend</vt:lpstr>
      <vt:lpstr>Agenda</vt:lpstr>
      <vt:lpstr>Ingeniería del Software</vt:lpstr>
      <vt:lpstr>10 Causas de fracaso</vt:lpstr>
      <vt:lpstr>Ambito del Software</vt:lpstr>
      <vt:lpstr>Recursos - Software</vt:lpstr>
      <vt:lpstr>Gestión Efectiva</vt:lpstr>
      <vt:lpstr>Primeras Restricciones</vt:lpstr>
      <vt:lpstr>Análisis de Riesgos</vt:lpstr>
      <vt:lpstr>Gestión de Riesgo</vt:lpstr>
      <vt:lpstr>Objetivos</vt:lpstr>
      <vt:lpstr>Definición de riesgos</vt:lpstr>
      <vt:lpstr>Definición de riesgos</vt:lpstr>
      <vt:lpstr>Elementos del Riesgo</vt:lpstr>
      <vt:lpstr>Otros conceptos</vt:lpstr>
      <vt:lpstr>En resúmen</vt:lpstr>
      <vt:lpstr>Gestión de Riesgos</vt:lpstr>
      <vt:lpstr>Presentación de PowerPoint</vt:lpstr>
      <vt:lpstr>Controles</vt:lpstr>
      <vt:lpstr>Plan de Gestión de riesgos</vt:lpstr>
      <vt:lpstr>Áreas de riesgo</vt:lpstr>
      <vt:lpstr>Gestión de Riesgos históricos</vt:lpstr>
      <vt:lpstr>Gestión de Riesgos actuales</vt:lpstr>
      <vt:lpstr> Proceso de Gestión de Riesgos</vt:lpstr>
      <vt:lpstr> Proceso de Gestión de Riesgos</vt:lpstr>
      <vt:lpstr> Proceso de Gestión de Riesgos</vt:lpstr>
      <vt:lpstr>Presentación de PowerPoint</vt:lpstr>
      <vt:lpstr>Planificación Temporal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Estimaciones - Factores de riesgo</vt:lpstr>
      <vt:lpstr>Estimaciones - Factores de riesgo</vt:lpstr>
      <vt:lpstr>Estimaciones - Factores de riesgo</vt:lpstr>
      <vt:lpstr>Estimaciones - Factores de riesgo</vt:lpstr>
      <vt:lpstr>Dudas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FERNANDEZ MARY AUXILIADORA</dc:creator>
  <cp:revision>72</cp:revision>
  <dcterms:created xsi:type="dcterms:W3CDTF">2024-02-12T22:14:11Z</dcterms:created>
  <dcterms:modified xsi:type="dcterms:W3CDTF">2026-08-10T08:45:05Z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0x01010019299BB7DBAB604CBF92CED6F341956D</vt:lpwstr>
  </property>
</Properties>
</file>