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31"/>
  </p:notesMasterIdLst>
  <p:sldIdLst>
    <p:sldId id="264" r:id="rId5"/>
    <p:sldId id="383" r:id="rId6"/>
    <p:sldId id="397" r:id="rId7"/>
    <p:sldId id="256" r:id="rId8"/>
    <p:sldId id="398" r:id="rId9"/>
    <p:sldId id="257" r:id="rId10"/>
    <p:sldId id="258" r:id="rId11"/>
    <p:sldId id="259" r:id="rId12"/>
    <p:sldId id="260" r:id="rId13"/>
    <p:sldId id="261" r:id="rId14"/>
    <p:sldId id="262" r:id="rId15"/>
    <p:sldId id="263" r:id="rId16"/>
    <p:sldId id="396" r:id="rId17"/>
    <p:sldId id="265" r:id="rId18"/>
    <p:sldId id="266" r:id="rId19"/>
    <p:sldId id="382" r:id="rId20"/>
    <p:sldId id="386" r:id="rId21"/>
    <p:sldId id="387" r:id="rId22"/>
    <p:sldId id="388" r:id="rId23"/>
    <p:sldId id="389" r:id="rId24"/>
    <p:sldId id="391" r:id="rId25"/>
    <p:sldId id="392" r:id="rId26"/>
    <p:sldId id="393" r:id="rId27"/>
    <p:sldId id="394" r:id="rId28"/>
    <p:sldId id="267" r:id="rId29"/>
    <p:sldId id="26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B79768-2BC9-1A32-84BE-ABB81C8655FC}" v="11" dt="2026-08-25T13:49:29.3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70B79768-2BC9-1A32-84BE-ABB81C8655FC}"/>
    <pc:docChg chg="addSld modSld">
      <pc:chgData name="DALDIN GRACIELA SUSANA" userId="S::gdaldin@uade.edu.ar::4fdff1c9-ccbd-4515-a030-ff7d0f1057b2" providerId="AD" clId="Web-{70B79768-2BC9-1A32-84BE-ABB81C8655FC}" dt="2026-08-25T13:49:29.382" v="10" actId="20577"/>
      <pc:docMkLst>
        <pc:docMk/>
      </pc:docMkLst>
      <pc:sldChg chg="modSp new">
        <pc:chgData name="DALDIN GRACIELA SUSANA" userId="S::gdaldin@uade.edu.ar::4fdff1c9-ccbd-4515-a030-ff7d0f1057b2" providerId="AD" clId="Web-{70B79768-2BC9-1A32-84BE-ABB81C8655FC}" dt="2026-08-25T13:49:29.382" v="10" actId="20577"/>
        <pc:sldMkLst>
          <pc:docMk/>
          <pc:sldMk cId="1316475898" sldId="398"/>
        </pc:sldMkLst>
        <pc:spChg chg="mod">
          <ac:chgData name="DALDIN GRACIELA SUSANA" userId="S::gdaldin@uade.edu.ar::4fdff1c9-ccbd-4515-a030-ff7d0f1057b2" providerId="AD" clId="Web-{70B79768-2BC9-1A32-84BE-ABB81C8655FC}" dt="2026-08-25T13:48:31.693" v="1" actId="20577"/>
          <ac:spMkLst>
            <pc:docMk/>
            <pc:sldMk cId="1316475898" sldId="398"/>
            <ac:spMk id="2" creationId="{FBD938A1-55F1-68BA-0D04-F8C695D99D92}"/>
          </ac:spMkLst>
        </pc:spChg>
        <pc:spChg chg="mod">
          <ac:chgData name="DALDIN GRACIELA SUSANA" userId="S::gdaldin@uade.edu.ar::4fdff1c9-ccbd-4515-a030-ff7d0f1057b2" providerId="AD" clId="Web-{70B79768-2BC9-1A32-84BE-ABB81C8655FC}" dt="2026-08-25T13:49:29.382" v="10" actId="20577"/>
          <ac:spMkLst>
            <pc:docMk/>
            <pc:sldMk cId="1316475898" sldId="398"/>
            <ac:spMk id="3" creationId="{4EC4F6BE-9B5E-41E7-8CA5-F97E8557D76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5D1F8-2D6D-42CD-BC05-9113129B8C36}"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F1DCF-C87F-465B-BF64-23520B1FCF43}" type="slidenum">
              <a:rPr lang="en-US" smtClean="0"/>
              <a:t>‹Nº›</a:t>
            </a:fld>
            <a:endParaRPr lang="en-US"/>
          </a:p>
        </p:txBody>
      </p:sp>
    </p:spTree>
    <p:extLst>
      <p:ext uri="{BB962C8B-B14F-4D97-AF65-F5344CB8AC3E}">
        <p14:creationId xmlns:p14="http://schemas.microsoft.com/office/powerpoint/2010/main" val="28613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1</a:t>
            </a:fld>
            <a:endParaRPr lang="es-ES" noProof="0"/>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26</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t>8/25/2026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83839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79970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8/25/2026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1256650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7642D-A9EB-465D-9B43-4975D1A9A9F5}"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36157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97642D-A9EB-465D-9B43-4975D1A9A9F5}"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89204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3037793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93446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8/25/2026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48671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7642D-A9EB-465D-9B43-4975D1A9A9F5}"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50986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547751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t>8/25/2026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3951441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t>8/25/2026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7908329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0" name="Rectangle 29">
            <a:extLst>
              <a:ext uri="{FF2B5EF4-FFF2-40B4-BE49-F238E27FC236}">
                <a16:creationId xmlns:a16="http://schemas.microsoft.com/office/drawing/2014/main" id="{0A08DAED-6222-40F8-97FA-1474D91F1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9EA7D0C-D986-4DAE-813C-903CF7A31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sp>
        <p:nvSpPr>
          <p:cNvPr id="34" name="Rectangle 33">
            <a:extLst>
              <a:ext uri="{FF2B5EF4-FFF2-40B4-BE49-F238E27FC236}">
                <a16:creationId xmlns:a16="http://schemas.microsoft.com/office/drawing/2014/main" id="{C0FEAC2C-4B4A-4DAB-9021-A01837447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D04E7CE-C66B-49FC-8E37-3A08EF9A5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 name="Marcador de texto 7">
            <a:extLst>
              <a:ext uri="{FF2B5EF4-FFF2-40B4-BE49-F238E27FC236}">
                <a16:creationId xmlns:a16="http://schemas.microsoft.com/office/drawing/2014/main" id="{13E62DB3-5A9F-DA41-68B5-FA5C1F8B0C37}"/>
              </a:ext>
            </a:extLst>
          </p:cNvPr>
          <p:cNvSpPr>
            <a:spLocks noGrp="1"/>
          </p:cNvSpPr>
          <p:nvPr>
            <p:ph type="body" sz="half" idx="2"/>
          </p:nvPr>
        </p:nvSpPr>
        <p:spPr/>
        <p:txBody>
          <a:bodyPr/>
          <a:lstStyle/>
          <a:p>
            <a:endParaRPr lang="es-AR"/>
          </a:p>
        </p:txBody>
      </p:sp>
      <p:sp>
        <p:nvSpPr>
          <p:cNvPr id="10" name="Título 9">
            <a:extLst>
              <a:ext uri="{FF2B5EF4-FFF2-40B4-BE49-F238E27FC236}">
                <a16:creationId xmlns:a16="http://schemas.microsoft.com/office/drawing/2014/main" id="{971B0463-23FD-BA27-30E6-E3A451157722}"/>
              </a:ext>
            </a:extLst>
          </p:cNvPr>
          <p:cNvSpPr>
            <a:spLocks noGrp="1"/>
          </p:cNvSpPr>
          <p:nvPr>
            <p:ph type="title"/>
          </p:nvPr>
        </p:nvSpPr>
        <p:spPr/>
        <p:txBody>
          <a:bodyPr/>
          <a:lstStyle/>
          <a:p>
            <a:endParaRPr lang="es-AR"/>
          </a:p>
        </p:txBody>
      </p:sp>
    </p:spTree>
    <p:extLst>
      <p:ext uri="{BB962C8B-B14F-4D97-AF65-F5344CB8AC3E}">
        <p14:creationId xmlns:p14="http://schemas.microsoft.com/office/powerpoint/2010/main" val="326249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89DE8-998C-26C8-9238-F2259CECF092}"/>
              </a:ext>
            </a:extLst>
          </p:cNvPr>
          <p:cNvSpPr>
            <a:spLocks noGrp="1"/>
          </p:cNvSpPr>
          <p:nvPr>
            <p:ph type="title"/>
          </p:nvPr>
        </p:nvSpPr>
        <p:spPr/>
        <p:txBody>
          <a:bodyPr/>
          <a:lstStyle/>
          <a:p>
            <a:endParaRPr lang="es-AR"/>
          </a:p>
        </p:txBody>
      </p:sp>
      <p:sp>
        <p:nvSpPr>
          <p:cNvPr id="6" name="CuadroTexto 5">
            <a:extLst>
              <a:ext uri="{FF2B5EF4-FFF2-40B4-BE49-F238E27FC236}">
                <a16:creationId xmlns:a16="http://schemas.microsoft.com/office/drawing/2014/main" id="{8C36C439-EE0B-D10A-69E5-62AE59111147}"/>
              </a:ext>
            </a:extLst>
          </p:cNvPr>
          <p:cNvSpPr txBox="1"/>
          <p:nvPr/>
        </p:nvSpPr>
        <p:spPr>
          <a:xfrm>
            <a:off x="416460" y="2677562"/>
            <a:ext cx="11443580" cy="2585323"/>
          </a:xfrm>
          <a:prstGeom prst="rect">
            <a:avLst/>
          </a:prstGeom>
          <a:noFill/>
        </p:spPr>
        <p:txBody>
          <a:bodyPr wrap="square">
            <a:spAutoFit/>
          </a:bodyPr>
          <a:lstStyle/>
          <a:p>
            <a:pPr algn="ctr"/>
            <a:r>
              <a:rPr lang="es-ES" sz="5400" b="1" cap="none">
                <a:solidFill>
                  <a:schemeClr val="accent1"/>
                </a:solidFill>
              </a:rPr>
              <a:t>Aseguramiento de la calidad –ACS-</a:t>
            </a:r>
            <a:br>
              <a:rPr lang="es-ES" sz="5400" cap="none">
                <a:solidFill>
                  <a:schemeClr val="accent1"/>
                </a:solidFill>
              </a:rPr>
            </a:br>
            <a:r>
              <a:rPr lang="es-ES" sz="5400">
                <a:solidFill>
                  <a:schemeClr val="accent1"/>
                </a:solidFill>
              </a:rPr>
              <a:t> (</a:t>
            </a:r>
            <a:r>
              <a:rPr lang="es-ES" sz="5400" i="1">
                <a:solidFill>
                  <a:schemeClr val="accent1"/>
                </a:solidFill>
              </a:rPr>
              <a:t>Software </a:t>
            </a:r>
            <a:r>
              <a:rPr lang="es-ES" sz="5400" i="1" err="1">
                <a:solidFill>
                  <a:schemeClr val="accent1"/>
                </a:solidFill>
              </a:rPr>
              <a:t>Quality</a:t>
            </a:r>
            <a:r>
              <a:rPr lang="es-ES" sz="5400" i="1">
                <a:solidFill>
                  <a:schemeClr val="accent1"/>
                </a:solidFill>
              </a:rPr>
              <a:t> </a:t>
            </a:r>
            <a:r>
              <a:rPr lang="es-ES" sz="5400" i="1" err="1">
                <a:solidFill>
                  <a:schemeClr val="accent1"/>
                </a:solidFill>
              </a:rPr>
              <a:t>Assurance</a:t>
            </a:r>
            <a:r>
              <a:rPr lang="es-ES" sz="5400" i="1">
                <a:solidFill>
                  <a:schemeClr val="accent1"/>
                </a:solidFill>
              </a:rPr>
              <a:t>, SQA) </a:t>
            </a:r>
            <a:endParaRPr lang="es-AR" sz="4000"/>
          </a:p>
        </p:txBody>
      </p:sp>
    </p:spTree>
    <p:extLst>
      <p:ext uri="{BB962C8B-B14F-4D97-AF65-F5344CB8AC3E}">
        <p14:creationId xmlns:p14="http://schemas.microsoft.com/office/powerpoint/2010/main" val="354099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txBox="1">
            <a:spLocks/>
          </p:cNvSpPr>
          <p:nvPr/>
        </p:nvSpPr>
        <p:spPr>
          <a:xfrm>
            <a:off x="932507" y="2706231"/>
            <a:ext cx="10565394" cy="2197224"/>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ES" sz="2000">
                <a:solidFill>
                  <a:schemeClr val="accent1"/>
                </a:solidFill>
              </a:rPr>
              <a:t>Definición</a:t>
            </a:r>
          </a:p>
          <a:p>
            <a:r>
              <a:rPr lang="es-ES" sz="2000">
                <a:solidFill>
                  <a:schemeClr val="accent1"/>
                </a:solidFill>
              </a:rPr>
              <a:t>Los objetivos principales de SQA.</a:t>
            </a:r>
          </a:p>
          <a:p>
            <a:r>
              <a:rPr lang="es-ES" sz="2000">
                <a:solidFill>
                  <a:schemeClr val="accent1"/>
                </a:solidFill>
              </a:rPr>
              <a:t>Grupo de SQA.</a:t>
            </a:r>
          </a:p>
          <a:p>
            <a:r>
              <a:rPr lang="es-ES" sz="2000">
                <a:solidFill>
                  <a:schemeClr val="accent1"/>
                </a:solidFill>
              </a:rPr>
              <a:t>Actividades del proceso de SQA.</a:t>
            </a:r>
          </a:p>
          <a:p>
            <a:r>
              <a:rPr lang="es-ES" sz="2000">
                <a:solidFill>
                  <a:schemeClr val="accent1"/>
                </a:solidFill>
              </a:rPr>
              <a:t>Actividades de SQA durante el ciclo de vida de un proyecto.</a:t>
            </a:r>
          </a:p>
          <a:p>
            <a:r>
              <a:rPr lang="es-ES" sz="2000">
                <a:solidFill>
                  <a:schemeClr val="accent1"/>
                </a:solidFill>
              </a:rPr>
              <a:t>Conclusiones</a:t>
            </a:r>
          </a:p>
          <a:p>
            <a:endParaRPr lang="es-ES" sz="2000">
              <a:solidFill>
                <a:schemeClr val="accent1"/>
              </a:solidFill>
            </a:endParaRPr>
          </a:p>
          <a:p>
            <a:endParaRPr lang="es-ES" sz="2000">
              <a:solidFill>
                <a:schemeClr val="accent1"/>
              </a:solidFill>
            </a:endParaRPr>
          </a:p>
        </p:txBody>
      </p:sp>
      <p:sp>
        <p:nvSpPr>
          <p:cNvPr id="5" name="CuadroTexto 4">
            <a:extLst>
              <a:ext uri="{FF2B5EF4-FFF2-40B4-BE49-F238E27FC236}">
                <a16:creationId xmlns:a16="http://schemas.microsoft.com/office/drawing/2014/main" id="{B096ACA8-390F-A8CC-F776-12E59FB76788}"/>
              </a:ext>
            </a:extLst>
          </p:cNvPr>
          <p:cNvSpPr txBox="1"/>
          <p:nvPr/>
        </p:nvSpPr>
        <p:spPr>
          <a:xfrm>
            <a:off x="685801" y="1164300"/>
            <a:ext cx="6097508" cy="646331"/>
          </a:xfrm>
          <a:prstGeom prst="rect">
            <a:avLst/>
          </a:prstGeom>
          <a:noFill/>
        </p:spPr>
        <p:txBody>
          <a:bodyPr wrap="square">
            <a:spAutoFit/>
          </a:bodyPr>
          <a:lstStyle/>
          <a:p>
            <a:r>
              <a:rPr lang="es-ES" sz="3600">
                <a:solidFill>
                  <a:schemeClr val="bg1"/>
                </a:solidFill>
              </a:rPr>
              <a:t>Agenda</a:t>
            </a:r>
            <a:endParaRPr lang="es-AR" sz="3600">
              <a:solidFill>
                <a:schemeClr val="bg1"/>
              </a:solidFill>
            </a:endParaRPr>
          </a:p>
        </p:txBody>
      </p:sp>
    </p:spTree>
    <p:extLst>
      <p:ext uri="{BB962C8B-B14F-4D97-AF65-F5344CB8AC3E}">
        <p14:creationId xmlns:p14="http://schemas.microsoft.com/office/powerpoint/2010/main" val="2692792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51026" y="692697"/>
            <a:ext cx="10827944" cy="1152127"/>
          </a:xfrm>
        </p:spPr>
        <p:txBody>
          <a:bodyPr>
            <a:normAutofit fontScale="90000"/>
          </a:bodyPr>
          <a:lstStyle/>
          <a:p>
            <a:pPr algn="ctr"/>
            <a:r>
              <a:rPr lang="es-ES" sz="4800" b="1"/>
              <a:t>Aseguramiento de la Calidad</a:t>
            </a:r>
            <a:r>
              <a:rPr lang="es-ES" sz="4000"/>
              <a:t>.</a:t>
            </a:r>
            <a:br>
              <a:rPr lang="es-ES" sz="4000"/>
            </a:br>
            <a:r>
              <a:rPr lang="es-ES" sz="4000"/>
              <a:t> </a:t>
            </a:r>
            <a:r>
              <a:rPr lang="es-ES" sz="3200"/>
              <a:t>(</a:t>
            </a:r>
            <a:r>
              <a:rPr lang="es-ES" sz="3200" i="1"/>
              <a:t>Software Quality Assurance, SQA) </a:t>
            </a:r>
            <a:endParaRPr lang="es-ES" sz="4000"/>
          </a:p>
        </p:txBody>
      </p:sp>
      <p:sp>
        <p:nvSpPr>
          <p:cNvPr id="3" name="2 Subtítulo"/>
          <p:cNvSpPr>
            <a:spLocks noGrp="1"/>
          </p:cNvSpPr>
          <p:nvPr>
            <p:ph type="subTitle" idx="1"/>
          </p:nvPr>
        </p:nvSpPr>
        <p:spPr>
          <a:xfrm>
            <a:off x="985327" y="4476264"/>
            <a:ext cx="9801320" cy="1080120"/>
          </a:xfrm>
        </p:spPr>
        <p:txBody>
          <a:bodyPr>
            <a:noAutofit/>
          </a:bodyPr>
          <a:lstStyle/>
          <a:p>
            <a:pPr algn="just"/>
            <a:r>
              <a:rPr lang="es-ES" sz="2000" i="1">
                <a:solidFill>
                  <a:srgbClr val="FFFF00"/>
                </a:solidFill>
              </a:rPr>
              <a:t>Tiene como objetivo entregar a la </a:t>
            </a:r>
            <a:r>
              <a:rPr lang="es-ES" sz="2000">
                <a:solidFill>
                  <a:srgbClr val="FFFF00"/>
                </a:solidFill>
              </a:rPr>
              <a:t>administración una visibilidad adecuada del proceso utilizado y los productos construidos mediante acciones planificadas y sistemáticas que aseguren la calidad de dichos procesos y productos </a:t>
            </a:r>
            <a:r>
              <a:rPr lang="es-ES" sz="2000" b="1" i="1">
                <a:solidFill>
                  <a:srgbClr val="FFFF00"/>
                </a:solidFill>
              </a:rPr>
              <a:t>.</a:t>
            </a:r>
            <a:endParaRPr lang="es-ES" sz="2000">
              <a:solidFill>
                <a:srgbClr val="FFFF00"/>
              </a:solidFill>
            </a:endParaRPr>
          </a:p>
        </p:txBody>
      </p:sp>
      <p:sp>
        <p:nvSpPr>
          <p:cNvPr id="4" name="3 Rectángulo"/>
          <p:cNvSpPr/>
          <p:nvPr/>
        </p:nvSpPr>
        <p:spPr>
          <a:xfrm>
            <a:off x="959667" y="3252129"/>
            <a:ext cx="9904491" cy="1015663"/>
          </a:xfrm>
          <a:prstGeom prst="rect">
            <a:avLst/>
          </a:prstGeom>
        </p:spPr>
        <p:txBody>
          <a:bodyPr wrap="square">
            <a:spAutoFit/>
          </a:bodyPr>
          <a:lstStyle/>
          <a:p>
            <a:pPr algn="just"/>
            <a:r>
              <a:rPr lang="es-ES" sz="2000">
                <a:solidFill>
                  <a:srgbClr val="FFFF00"/>
                </a:solidFill>
              </a:rPr>
              <a:t>SQA-ACS se define como un conjunto de actividades planificadas y sistemáticas, cuyo primer objetivo es evaluar la calidad de los productos de software, la aplicación de procesos, procedimientos y de estándares de desarrollo.</a:t>
            </a:r>
          </a:p>
        </p:txBody>
      </p:sp>
      <p:sp>
        <p:nvSpPr>
          <p:cNvPr id="5" name="4 Rectángulo"/>
          <p:cNvSpPr/>
          <p:nvPr/>
        </p:nvSpPr>
        <p:spPr>
          <a:xfrm>
            <a:off x="519729" y="2547728"/>
            <a:ext cx="1881501" cy="400110"/>
          </a:xfrm>
          <a:prstGeom prst="rect">
            <a:avLst/>
          </a:prstGeom>
        </p:spPr>
        <p:txBody>
          <a:bodyPr wrap="square">
            <a:spAutoFit/>
          </a:bodyPr>
          <a:lstStyle/>
          <a:p>
            <a:r>
              <a:rPr lang="es-ES" sz="2000">
                <a:solidFill>
                  <a:schemeClr val="accent1"/>
                </a:solidFill>
              </a:rPr>
              <a:t>Definición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D938A1-55F1-68BA-0D04-F8C695D99D92}"/>
              </a:ext>
            </a:extLst>
          </p:cNvPr>
          <p:cNvSpPr>
            <a:spLocks noGrp="1"/>
          </p:cNvSpPr>
          <p:nvPr>
            <p:ph type="title"/>
          </p:nvPr>
        </p:nvSpPr>
        <p:spPr/>
        <p:txBody>
          <a:bodyPr/>
          <a:lstStyle/>
          <a:p>
            <a:r>
              <a:rPr lang="es-ES">
                <a:ea typeface="+mj-lt"/>
                <a:cs typeface="+mj-lt"/>
              </a:rPr>
              <a:t>ELEMENTOS DE ASEGURAMIENTO DE LA CALIDAD DEL SOFTWARE</a:t>
            </a:r>
            <a:endParaRPr lang="es-ES"/>
          </a:p>
        </p:txBody>
      </p:sp>
      <p:sp>
        <p:nvSpPr>
          <p:cNvPr id="3" name="Marcador de contenido 2">
            <a:extLst>
              <a:ext uri="{FF2B5EF4-FFF2-40B4-BE49-F238E27FC236}">
                <a16:creationId xmlns:a16="http://schemas.microsoft.com/office/drawing/2014/main" id="{4EC4F6BE-9B5E-41E7-8CA5-F97E8557D76A}"/>
              </a:ext>
            </a:extLst>
          </p:cNvPr>
          <p:cNvSpPr>
            <a:spLocks noGrp="1"/>
          </p:cNvSpPr>
          <p:nvPr>
            <p:ph idx="1"/>
          </p:nvPr>
        </p:nvSpPr>
        <p:spPr/>
        <p:txBody>
          <a:bodyPr/>
          <a:lstStyle/>
          <a:p>
            <a:pPr marL="305435" indent="-305435"/>
            <a:r>
              <a:rPr lang="es-ES">
                <a:solidFill>
                  <a:srgbClr val="1A3260"/>
                </a:solidFill>
                <a:ea typeface="+mn-lt"/>
                <a:cs typeface="+mn-lt"/>
              </a:rPr>
              <a:t>Las actividades que se centran en la administración de la calidad del software:</a:t>
            </a:r>
          </a:p>
          <a:p>
            <a:pPr marL="305435" indent="-305435"/>
            <a:endParaRPr lang="es-ES" dirty="0">
              <a:solidFill>
                <a:srgbClr val="1A3260"/>
              </a:solidFill>
            </a:endParaRPr>
          </a:p>
        </p:txBody>
      </p:sp>
    </p:spTree>
    <p:extLst>
      <p:ext uri="{BB962C8B-B14F-4D97-AF65-F5344CB8AC3E}">
        <p14:creationId xmlns:p14="http://schemas.microsoft.com/office/powerpoint/2010/main" val="1316475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78185" y="404664"/>
            <a:ext cx="9976919" cy="1143000"/>
          </a:xfrm>
        </p:spPr>
        <p:txBody>
          <a:bodyPr>
            <a:noAutofit/>
          </a:bodyPr>
          <a:lstStyle/>
          <a:p>
            <a:pPr algn="ctr"/>
            <a:r>
              <a:rPr lang="es-ES" sz="3600" b="1">
                <a:effectLst>
                  <a:outerShdw blurRad="38100" dist="38100" dir="2700000" algn="tl">
                    <a:srgbClr val="000000">
                      <a:alpha val="43137"/>
                    </a:srgbClr>
                  </a:outerShdw>
                </a:effectLst>
              </a:rPr>
              <a:t>Los objetivos principales de </a:t>
            </a:r>
            <a:r>
              <a:rPr lang="es-ES" sz="3600" b="1" err="1">
                <a:effectLst>
                  <a:outerShdw blurRad="38100" dist="38100" dir="2700000" algn="tl">
                    <a:srgbClr val="000000">
                      <a:alpha val="43137"/>
                    </a:srgbClr>
                  </a:outerShdw>
                </a:effectLst>
              </a:rPr>
              <a:t>acs</a:t>
            </a:r>
            <a:endParaRPr lang="es-ES" sz="3600" b="1">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995881" y="1916832"/>
            <a:ext cx="10710250" cy="2304256"/>
          </a:xfrm>
        </p:spPr>
        <p:txBody>
          <a:bodyPr>
            <a:normAutofit/>
          </a:bodyPr>
          <a:lstStyle/>
          <a:p>
            <a:pPr algn="just"/>
            <a:r>
              <a:rPr lang="es-ES">
                <a:solidFill>
                  <a:schemeClr val="accent1"/>
                </a:solidFill>
              </a:rPr>
              <a:t>Planificar las actividades de ACS.</a:t>
            </a:r>
          </a:p>
          <a:p>
            <a:pPr algn="just"/>
            <a:r>
              <a:rPr lang="es-ES">
                <a:solidFill>
                  <a:schemeClr val="accent1"/>
                </a:solidFill>
              </a:rPr>
              <a:t>Verificar la adherencia de los productos de trabajo y de las actividades a los estándares, procedimientos y requerimientos establecidos.</a:t>
            </a:r>
          </a:p>
          <a:p>
            <a:pPr algn="just"/>
            <a:r>
              <a:rPr lang="es-ES">
                <a:solidFill>
                  <a:schemeClr val="accent1"/>
                </a:solidFill>
              </a:rPr>
              <a:t>Informar a los grupos e individuos afectados sobre las actividades de ACS y sus resultados.</a:t>
            </a:r>
          </a:p>
          <a:p>
            <a:pPr algn="just"/>
            <a:r>
              <a:rPr lang="es-ES">
                <a:solidFill>
                  <a:schemeClr val="accent1"/>
                </a:solidFill>
              </a:rPr>
              <a:t>Comunicar a la administración superior sobre desviaciones no resueltas dentro del proyecto</a:t>
            </a:r>
          </a:p>
        </p:txBody>
      </p:sp>
      <p:sp>
        <p:nvSpPr>
          <p:cNvPr id="4" name="3 Rectángulo"/>
          <p:cNvSpPr/>
          <p:nvPr/>
        </p:nvSpPr>
        <p:spPr>
          <a:xfrm>
            <a:off x="628023" y="4500067"/>
            <a:ext cx="11445966" cy="923330"/>
          </a:xfrm>
          <a:prstGeom prst="rect">
            <a:avLst/>
          </a:prstGeom>
        </p:spPr>
        <p:txBody>
          <a:bodyPr wrap="square">
            <a:spAutoFit/>
          </a:bodyPr>
          <a:lstStyle/>
          <a:p>
            <a:pPr algn="just"/>
            <a:r>
              <a:rPr lang="es-ES">
                <a:solidFill>
                  <a:schemeClr val="accent1"/>
                </a:solidFill>
              </a:rPr>
              <a:t>Para alcanzar estos objetivos se requiere comprender la necesidad de un grupo responsable de ACS</a:t>
            </a:r>
            <a:r>
              <a:rPr lang="es-ES" i="1">
                <a:solidFill>
                  <a:schemeClr val="accent1"/>
                </a:solidFill>
              </a:rPr>
              <a:t>, las actividades del proceso de ACS, sus tareas a lo largo del ciclo de vida de un proyecto y su </a:t>
            </a:r>
            <a:r>
              <a:rPr lang="es-ES">
                <a:solidFill>
                  <a:schemeClr val="accent1"/>
                </a:solidFill>
              </a:rPr>
              <a:t>relación con otras áreas de prácticas del desarrollo de software.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a:t>Grupo de ACS</a:t>
            </a:r>
            <a:endParaRPr lang="es-ES"/>
          </a:p>
        </p:txBody>
      </p:sp>
      <p:sp>
        <p:nvSpPr>
          <p:cNvPr id="3" name="2 Marcador de contenido"/>
          <p:cNvSpPr>
            <a:spLocks noGrp="1"/>
          </p:cNvSpPr>
          <p:nvPr>
            <p:ph idx="1"/>
          </p:nvPr>
        </p:nvSpPr>
        <p:spPr>
          <a:xfrm>
            <a:off x="581192" y="2353146"/>
            <a:ext cx="10753747" cy="1333128"/>
          </a:xfrm>
        </p:spPr>
        <p:txBody>
          <a:bodyPr>
            <a:normAutofit/>
          </a:bodyPr>
          <a:lstStyle/>
          <a:p>
            <a:pPr algn="just"/>
            <a:r>
              <a:rPr lang="es-ES" sz="1600">
                <a:solidFill>
                  <a:schemeClr val="accent1"/>
                </a:solidFill>
              </a:rPr>
              <a:t>ACS es una especialidad compleja y abundante en metodologías, por lo que es necesario la especialización de sus profesionales. De ahí, que el liderazgo de ACS deba ser asumido por uno o más ingenieros de calidad, lo que se conoce como grupo de ACS.</a:t>
            </a:r>
          </a:p>
        </p:txBody>
      </p:sp>
      <p:sp>
        <p:nvSpPr>
          <p:cNvPr id="4" name="3 Rectángulo"/>
          <p:cNvSpPr/>
          <p:nvPr/>
        </p:nvSpPr>
        <p:spPr>
          <a:xfrm>
            <a:off x="1027296" y="3686275"/>
            <a:ext cx="9811019" cy="338554"/>
          </a:xfrm>
          <a:prstGeom prst="rect">
            <a:avLst/>
          </a:prstGeom>
        </p:spPr>
        <p:txBody>
          <a:bodyPr wrap="square">
            <a:spAutoFit/>
          </a:bodyPr>
          <a:lstStyle/>
          <a:p>
            <a:pPr algn="just"/>
            <a:r>
              <a:rPr lang="es-ES" sz="1600">
                <a:solidFill>
                  <a:schemeClr val="accent1"/>
                </a:solidFill>
              </a:rPr>
              <a:t>El rol del grupo de ACS es guiar al equipo de desarrollo para alcanzar un producto de alta calidad.</a:t>
            </a:r>
          </a:p>
        </p:txBody>
      </p:sp>
      <p:sp>
        <p:nvSpPr>
          <p:cNvPr id="5" name="4 Rectángulo"/>
          <p:cNvSpPr/>
          <p:nvPr/>
        </p:nvSpPr>
        <p:spPr>
          <a:xfrm>
            <a:off x="1027296" y="4478363"/>
            <a:ext cx="9811019" cy="1077218"/>
          </a:xfrm>
          <a:prstGeom prst="rect">
            <a:avLst/>
          </a:prstGeom>
        </p:spPr>
        <p:txBody>
          <a:bodyPr wrap="square">
            <a:spAutoFit/>
          </a:bodyPr>
          <a:lstStyle/>
          <a:p>
            <a:pPr algn="just"/>
            <a:r>
              <a:rPr lang="es-ES" sz="1600">
                <a:solidFill>
                  <a:schemeClr val="accent1"/>
                </a:solidFill>
              </a:rPr>
              <a:t>La implantación de la calidad es responsabilidad de la administración superior y de los grupos de desarrollo. Es más, </a:t>
            </a:r>
            <a:r>
              <a:rPr lang="es-ES" sz="1600" i="1">
                <a:solidFill>
                  <a:schemeClr val="accent1"/>
                </a:solidFill>
              </a:rPr>
              <a:t>“la existencia de un grupo de calidad dedicado no garantiza por sí sola que los procesos sean seguidos y que la calidad se introduzca mágicamente en el producto. Debe existir un compromiso de toda la organización por orientarse hacia una cultura de calidad” </a:t>
            </a:r>
            <a:r>
              <a:rPr lang="es-ES" sz="1600" b="1" i="1">
                <a:solidFill>
                  <a:schemeClr val="accent1"/>
                </a:solidFill>
              </a:rPr>
              <a:t>.</a:t>
            </a:r>
            <a:endParaRPr lang="es-ES" sz="16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32919" y="548680"/>
            <a:ext cx="9520801" cy="1143000"/>
          </a:xfrm>
        </p:spPr>
        <p:txBody>
          <a:bodyPr>
            <a:normAutofit/>
          </a:bodyPr>
          <a:lstStyle/>
          <a:p>
            <a:r>
              <a:rPr lang="es-ES" sz="4400" b="1"/>
              <a:t>Actividades del grupo ACS</a:t>
            </a:r>
          </a:p>
        </p:txBody>
      </p:sp>
      <p:sp>
        <p:nvSpPr>
          <p:cNvPr id="3" name="2 Marcador de contenido"/>
          <p:cNvSpPr>
            <a:spLocks noGrp="1"/>
          </p:cNvSpPr>
          <p:nvPr>
            <p:ph idx="1"/>
          </p:nvPr>
        </p:nvSpPr>
        <p:spPr>
          <a:xfrm>
            <a:off x="1068309" y="2420888"/>
            <a:ext cx="10284737" cy="3528392"/>
          </a:xfrm>
        </p:spPr>
        <p:txBody>
          <a:bodyPr>
            <a:normAutofit/>
          </a:bodyPr>
          <a:lstStyle/>
          <a:p>
            <a:pPr algn="just"/>
            <a:r>
              <a:rPr lang="es-ES" sz="1600">
                <a:solidFill>
                  <a:schemeClr val="accent1"/>
                </a:solidFill>
              </a:rPr>
              <a:t>Preparar el Plan de ACS para cada proyecto.</a:t>
            </a:r>
          </a:p>
          <a:p>
            <a:pPr algn="just"/>
            <a:r>
              <a:rPr lang="es-ES" sz="1600">
                <a:solidFill>
                  <a:schemeClr val="accent1"/>
                </a:solidFill>
              </a:rPr>
              <a:t>Participar en el desarrollo de la descripción del proceso de software para un proyecto.</a:t>
            </a:r>
          </a:p>
          <a:p>
            <a:pPr algn="just"/>
            <a:r>
              <a:rPr lang="es-ES" sz="1600">
                <a:solidFill>
                  <a:schemeClr val="accent1"/>
                </a:solidFill>
              </a:rPr>
              <a:t>Revisar las actividades de ingeniería en acuerdo con el proceso definido.</a:t>
            </a:r>
          </a:p>
          <a:p>
            <a:pPr algn="just"/>
            <a:r>
              <a:rPr lang="es-ES" sz="1600">
                <a:solidFill>
                  <a:schemeClr val="accent1"/>
                </a:solidFill>
              </a:rPr>
              <a:t>Auditar los productos de trabajo designados, para verificar su adherencia con aquellos definidos en el modelo de proceso.</a:t>
            </a:r>
          </a:p>
          <a:p>
            <a:pPr algn="just"/>
            <a:r>
              <a:rPr lang="es-ES" sz="1600">
                <a:solidFill>
                  <a:schemeClr val="accent1"/>
                </a:solidFill>
              </a:rPr>
              <a:t>Asegurar que las desviaciones en el desarrollo y en los productos de trabajo sean documentadas y apoyadas por el procedimiento de documentación.</a:t>
            </a:r>
          </a:p>
          <a:p>
            <a:pPr algn="just"/>
            <a:r>
              <a:rPr lang="es-ES" sz="1600">
                <a:solidFill>
                  <a:schemeClr val="accent1"/>
                </a:solidFill>
              </a:rPr>
              <a:t>Registrar cualquier disconformidad e informar a la administración superior.</a:t>
            </a:r>
          </a:p>
          <a:p>
            <a:pPr algn="just"/>
            <a:r>
              <a:rPr lang="es-ES" sz="1600">
                <a:solidFill>
                  <a:schemeClr val="accent1"/>
                </a:solidFill>
              </a:rPr>
              <a:t>Apoyar la recolección y análisis de métricas de software.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ES" sz="4400" b="1"/>
              <a:t>Actividades del proceso de ACS</a:t>
            </a:r>
          </a:p>
        </p:txBody>
      </p:sp>
      <p:sp>
        <p:nvSpPr>
          <p:cNvPr id="3" name="2 Marcador de contenido"/>
          <p:cNvSpPr>
            <a:spLocks noGrp="1"/>
          </p:cNvSpPr>
          <p:nvPr>
            <p:ph idx="1"/>
          </p:nvPr>
        </p:nvSpPr>
        <p:spPr>
          <a:xfrm>
            <a:off x="581192" y="2068488"/>
            <a:ext cx="11124939" cy="2557264"/>
          </a:xfrm>
        </p:spPr>
        <p:txBody>
          <a:bodyPr>
            <a:normAutofit fontScale="77500" lnSpcReduction="20000"/>
          </a:bodyPr>
          <a:lstStyle/>
          <a:p>
            <a:pPr algn="just"/>
            <a:r>
              <a:rPr lang="es-ES" b="1" i="1">
                <a:solidFill>
                  <a:schemeClr val="accent1"/>
                </a:solidFill>
              </a:rPr>
              <a:t>Estándares</a:t>
            </a:r>
          </a:p>
          <a:p>
            <a:pPr algn="just">
              <a:buNone/>
            </a:pPr>
            <a:r>
              <a:rPr lang="es-ES">
                <a:solidFill>
                  <a:schemeClr val="accent1"/>
                </a:solidFill>
              </a:rPr>
              <a:t>	Los estándares son los cimientos de cualquier sistema de calidad de software, pues proveen la base para la evaluación y medición de las  actividades y de los productos de trabajo durante todo el ciclo de vida del software. Por tanto, ellos establecen el marco de trabajo para el desarrollo de </a:t>
            </a:r>
            <a:r>
              <a:rPr lang="es-ES" sz="1600">
                <a:solidFill>
                  <a:schemeClr val="accent1"/>
                </a:solidFill>
              </a:rPr>
              <a:t>software, constituyéndose en un factor crítico.  </a:t>
            </a:r>
          </a:p>
          <a:p>
            <a:pPr algn="just">
              <a:buNone/>
            </a:pPr>
            <a:r>
              <a:rPr lang="es-ES" sz="1600">
                <a:solidFill>
                  <a:schemeClr val="accent1"/>
                </a:solidFill>
              </a:rPr>
              <a:t>      Campo de acción que cubren</a:t>
            </a:r>
          </a:p>
          <a:p>
            <a:pPr lvl="2"/>
            <a:r>
              <a:rPr lang="es-ES" sz="1600">
                <a:solidFill>
                  <a:schemeClr val="accent1"/>
                </a:solidFill>
              </a:rPr>
              <a:t>Ciclo de vida del software</a:t>
            </a:r>
          </a:p>
          <a:p>
            <a:pPr lvl="2"/>
            <a:r>
              <a:rPr lang="es-ES" sz="1600">
                <a:solidFill>
                  <a:schemeClr val="accent1"/>
                </a:solidFill>
              </a:rPr>
              <a:t>Documentación</a:t>
            </a:r>
          </a:p>
          <a:p>
            <a:pPr lvl="2"/>
            <a:r>
              <a:rPr lang="es-ES" sz="1600">
                <a:solidFill>
                  <a:schemeClr val="accent1"/>
                </a:solidFill>
              </a:rPr>
              <a:t>Código fuente</a:t>
            </a:r>
          </a:p>
          <a:p>
            <a:pPr lvl="2"/>
            <a:r>
              <a:rPr lang="es-ES" sz="1600">
                <a:solidFill>
                  <a:schemeClr val="accent1"/>
                </a:solidFill>
              </a:rPr>
              <a:t>Criterios para denominar los ítems de configuración</a:t>
            </a:r>
          </a:p>
          <a:p>
            <a:pPr lvl="2"/>
            <a:r>
              <a:rPr lang="es-ES" sz="1600">
                <a:solidFill>
                  <a:schemeClr val="accent1"/>
                </a:solidFill>
              </a:rPr>
              <a:t>Procedimientos y protocolos</a:t>
            </a:r>
          </a:p>
        </p:txBody>
      </p:sp>
      <p:sp>
        <p:nvSpPr>
          <p:cNvPr id="5" name="2 Marcador de contenido"/>
          <p:cNvSpPr txBox="1">
            <a:spLocks/>
          </p:cNvSpPr>
          <p:nvPr/>
        </p:nvSpPr>
        <p:spPr>
          <a:xfrm>
            <a:off x="549232" y="4481736"/>
            <a:ext cx="11124939" cy="2376264"/>
          </a:xfrm>
          <a:prstGeom prst="rect">
            <a:avLst/>
          </a:prstGeom>
        </p:spPr>
        <p:txBody>
          <a:bodyPr>
            <a:noAutofit/>
          </a:bodyPr>
          <a:lstStyle/>
          <a:p>
            <a:pPr marL="365760" indent="-283464" algn="just">
              <a:spcBef>
                <a:spcPts val="600"/>
              </a:spcBef>
              <a:buClr>
                <a:schemeClr val="accent1"/>
              </a:buClr>
              <a:buSzPct val="80000"/>
              <a:buFont typeface="Wingdings 2"/>
              <a:buChar char=""/>
            </a:pPr>
            <a:r>
              <a:rPr lang="es-ES" sz="1400" b="1" i="1">
                <a:solidFill>
                  <a:schemeClr val="accent1"/>
                </a:solidFill>
              </a:rPr>
              <a:t>Revisiones</a:t>
            </a:r>
          </a:p>
          <a:p>
            <a:r>
              <a:rPr lang="es-ES" sz="1400">
                <a:solidFill>
                  <a:schemeClr val="accent1"/>
                </a:solidFill>
              </a:rPr>
              <a:t>Las revisiones constituyen la primera forma de monitorear y evaluar la calidad de los 	productos de trabajo, además, proveen mayor visibilidad al desarrollo.  </a:t>
            </a:r>
          </a:p>
          <a:p>
            <a:r>
              <a:rPr lang="es-ES" sz="1400">
                <a:solidFill>
                  <a:schemeClr val="accent1"/>
                </a:solidFill>
              </a:rPr>
              <a:t>Las revisiones son una metodología definida, estructurada y disciplinada para la detección e identificación de defectos en los productos de trabajo durante el ciclo de vida del software. </a:t>
            </a:r>
          </a:p>
          <a:p>
            <a:r>
              <a:rPr lang="es-ES" sz="1400">
                <a:solidFill>
                  <a:schemeClr val="accent1"/>
                </a:solidFill>
              </a:rPr>
              <a:t>Cuenta con seis etapas: planificación, orientación, preparación, inspección, 	</a:t>
            </a:r>
            <a:r>
              <a:rPr lang="es-ES" sz="1400" err="1">
                <a:solidFill>
                  <a:schemeClr val="accent1"/>
                </a:solidFill>
              </a:rPr>
              <a:t>rework</a:t>
            </a:r>
            <a:r>
              <a:rPr lang="es-ES" sz="1400">
                <a:solidFill>
                  <a:schemeClr val="accent1"/>
                </a:solidFill>
              </a:rPr>
              <a:t> (</a:t>
            </a:r>
            <a:r>
              <a:rPr lang="es-MX" sz="1400" b="0" i="0">
                <a:solidFill>
                  <a:schemeClr val="accent1"/>
                </a:solidFill>
                <a:effectLst/>
                <a:latin typeface="Google Sans"/>
              </a:rPr>
              <a:t> proceso de revisión, corrección o modificación)</a:t>
            </a:r>
            <a:r>
              <a:rPr lang="es-ES" sz="1400">
                <a:solidFill>
                  <a:schemeClr val="accent1"/>
                </a:solidFill>
              </a:rPr>
              <a:t> y seguimiento, las cuales son llevadas a cabo por un equipo con tareas y 	responsabilidades definidas, con documentación específica y por un período determinado.</a:t>
            </a:r>
          </a:p>
          <a:p>
            <a:pPr marL="365760" indent="-283464" algn="just">
              <a:spcBef>
                <a:spcPts val="600"/>
              </a:spcBef>
              <a:buClr>
                <a:schemeClr val="accent1"/>
              </a:buClr>
              <a:buSzPct val="80000"/>
            </a:pPr>
            <a:endParaRPr lang="es-ES" sz="1400" b="1" i="1">
              <a:solidFill>
                <a:schemeClr val="accent1"/>
              </a:solidFill>
            </a:endParaRPr>
          </a:p>
          <a:p>
            <a:pPr marL="365760" indent="-283464" algn="just" defTabSz="914400">
              <a:spcBef>
                <a:spcPts val="600"/>
              </a:spcBef>
              <a:buClr>
                <a:schemeClr val="accent1"/>
              </a:buClr>
              <a:buSzPct val="80000"/>
              <a:defRPr/>
            </a:pPr>
            <a:r>
              <a:rPr lang="es-ES" sz="1400">
                <a:solidFill>
                  <a:schemeClr val="accent1"/>
                </a:solidFill>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pPr algn="ctr"/>
            <a:r>
              <a:rPr lang="es-ES" sz="3600" b="1"/>
              <a:t>Actividades del proceso de ACS (</a:t>
            </a:r>
            <a:r>
              <a:rPr lang="es-ES" sz="3600" b="1" err="1"/>
              <a:t>cont</a:t>
            </a:r>
            <a:r>
              <a:rPr lang="es-ES" sz="3600" b="1"/>
              <a:t>)</a:t>
            </a:r>
            <a:endParaRPr lang="es-ES" sz="3600"/>
          </a:p>
        </p:txBody>
      </p:sp>
      <p:sp>
        <p:nvSpPr>
          <p:cNvPr id="3" name="2 Marcador de contenido"/>
          <p:cNvSpPr>
            <a:spLocks noGrp="1"/>
          </p:cNvSpPr>
          <p:nvPr>
            <p:ph idx="1"/>
          </p:nvPr>
        </p:nvSpPr>
        <p:spPr/>
        <p:txBody>
          <a:bodyPr>
            <a:normAutofit fontScale="85000" lnSpcReduction="20000"/>
          </a:bodyPr>
          <a:lstStyle/>
          <a:p>
            <a:pPr algn="just"/>
            <a:r>
              <a:rPr lang="es-ES" b="1" i="1">
                <a:solidFill>
                  <a:schemeClr val="accent1"/>
                </a:solidFill>
              </a:rPr>
              <a:t>Prueba</a:t>
            </a:r>
          </a:p>
          <a:p>
            <a:pPr algn="just">
              <a:buNone/>
            </a:pPr>
            <a:r>
              <a:rPr lang="es-ES">
                <a:solidFill>
                  <a:schemeClr val="accent1"/>
                </a:solidFill>
              </a:rPr>
              <a:t>	</a:t>
            </a:r>
            <a:r>
              <a:rPr lang="es-ES" b="1">
                <a:solidFill>
                  <a:schemeClr val="accent1"/>
                </a:solidFill>
              </a:rPr>
              <a:t>La prueba es la última actividad de evaluación del producto </a:t>
            </a:r>
            <a:r>
              <a:rPr lang="es-ES">
                <a:solidFill>
                  <a:schemeClr val="accent1"/>
                </a:solidFill>
              </a:rPr>
              <a:t>que permite detectar defectos y establecer el nivel de satisfacción de los requerimientos. Sus actividades incluyen la planificación, diseño, ejecución y reporte sobre los diferentes niveles de prueba existentes durante el proyecto. Estos niveles van desde las pruebas de unidad, pasando por la de integración, hasta las del sistema y aceptación.</a:t>
            </a:r>
          </a:p>
          <a:p>
            <a:pPr lvl="1" algn="just">
              <a:buNone/>
            </a:pPr>
            <a:endParaRPr lang="es-ES">
              <a:solidFill>
                <a:schemeClr val="accent1"/>
              </a:solidFill>
            </a:endParaRPr>
          </a:p>
          <a:p>
            <a:pPr lvl="1" algn="just">
              <a:buNone/>
            </a:pPr>
            <a:r>
              <a:rPr lang="es-ES">
                <a:solidFill>
                  <a:schemeClr val="accent1"/>
                </a:solidFill>
              </a:rPr>
              <a:t>Por lo tanto,  ACS debe garantizar que:</a:t>
            </a:r>
          </a:p>
          <a:p>
            <a:pPr lvl="1" algn="just"/>
            <a:r>
              <a:rPr lang="es-ES">
                <a:solidFill>
                  <a:schemeClr val="accent1"/>
                </a:solidFill>
              </a:rPr>
              <a:t>Los procedimientos de prueba verifican los requerimientos según el plan.</a:t>
            </a:r>
          </a:p>
          <a:p>
            <a:pPr lvl="1" algn="just"/>
            <a:r>
              <a:rPr lang="es-ES">
                <a:solidFill>
                  <a:schemeClr val="accent1"/>
                </a:solidFill>
              </a:rPr>
              <a:t>La versión del software evaluada sea la actual.</a:t>
            </a:r>
          </a:p>
          <a:p>
            <a:pPr lvl="1" algn="just"/>
            <a:r>
              <a:rPr lang="es-ES">
                <a:solidFill>
                  <a:schemeClr val="accent1"/>
                </a:solidFill>
              </a:rPr>
              <a:t>Los procedimientos sean utilizados.</a:t>
            </a:r>
          </a:p>
          <a:p>
            <a:pPr lvl="1" algn="just"/>
            <a:r>
              <a:rPr lang="es-ES">
                <a:solidFill>
                  <a:schemeClr val="accent1"/>
                </a:solidFill>
              </a:rPr>
              <a:t>Cualquier problema detectado durante esta actividad, sea registrado e informado oportunamente.</a:t>
            </a:r>
          </a:p>
          <a:p>
            <a:pPr lvl="1" algn="just"/>
            <a:r>
              <a:rPr lang="es-ES">
                <a:solidFill>
                  <a:schemeClr val="accent1"/>
                </a:solidFill>
              </a:rPr>
              <a:t>Los informes entregados correspondan a la realidad y sean completos.</a:t>
            </a:r>
          </a:p>
          <a:p>
            <a:pPr lvl="1" algn="just"/>
            <a:r>
              <a:rPr lang="es-ES">
                <a:solidFill>
                  <a:schemeClr val="accent1"/>
                </a:solidFill>
              </a:rPr>
              <a:t>La corrección de los errores sea realizada antes de la entrega del producto final.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ES" b="1"/>
              <a:t>Actividades del proceso de ACS (</a:t>
            </a:r>
            <a:r>
              <a:rPr lang="es-ES" b="1" err="1"/>
              <a:t>cont</a:t>
            </a:r>
            <a:r>
              <a:rPr lang="es-ES" b="1"/>
              <a:t>)</a:t>
            </a:r>
            <a:endParaRPr lang="es-ES"/>
          </a:p>
        </p:txBody>
      </p:sp>
      <p:sp>
        <p:nvSpPr>
          <p:cNvPr id="3" name="2 Marcador de contenido"/>
          <p:cNvSpPr>
            <a:spLocks noGrp="1"/>
          </p:cNvSpPr>
          <p:nvPr>
            <p:ph idx="1"/>
          </p:nvPr>
        </p:nvSpPr>
        <p:spPr>
          <a:xfrm>
            <a:off x="581192" y="2579482"/>
            <a:ext cx="10623980" cy="2773288"/>
          </a:xfrm>
        </p:spPr>
        <p:txBody>
          <a:bodyPr>
            <a:noAutofit/>
          </a:bodyPr>
          <a:lstStyle/>
          <a:p>
            <a:pPr algn="just"/>
            <a:r>
              <a:rPr lang="es-ES" sz="2400" b="1" i="1">
                <a:solidFill>
                  <a:schemeClr val="accent1"/>
                </a:solidFill>
              </a:rPr>
              <a:t>Análisis de defectos</a:t>
            </a:r>
          </a:p>
          <a:p>
            <a:pPr algn="just">
              <a:lnSpc>
                <a:spcPct val="150000"/>
              </a:lnSpc>
              <a:buNone/>
            </a:pPr>
            <a:r>
              <a:rPr lang="es-ES" sz="2400">
                <a:solidFill>
                  <a:schemeClr val="accent1"/>
                </a:solidFill>
              </a:rPr>
              <a:t>	Los defectos ocurren a lo largo de todo del ciclo de vida del software sin excepción. Por ello resulta natural concentrar esfuerzos en su detección y corrección. No obstante, que la corrección de defectos es importante, más lo es su prevención. Esta sólo puede alcanzarse a partir del registro y seguimiento de los defectos, puntapié inicial para un posterior análisis. Es, entonces, el análisis de defectos la actividad responsable de corregir las deficiencias actuales en el proceso y así disminuir los defectos en futuros proyectos.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ES" b="1"/>
              <a:t>Actividades del proceso de ACS (</a:t>
            </a:r>
            <a:r>
              <a:rPr lang="es-ES" b="1" err="1"/>
              <a:t>cont</a:t>
            </a:r>
            <a:r>
              <a:rPr lang="es-ES" b="1"/>
              <a:t>)</a:t>
            </a:r>
            <a:endParaRPr lang="es-ES"/>
          </a:p>
        </p:txBody>
      </p:sp>
      <p:sp>
        <p:nvSpPr>
          <p:cNvPr id="3" name="2 Marcador de contenido"/>
          <p:cNvSpPr>
            <a:spLocks noGrp="1"/>
          </p:cNvSpPr>
          <p:nvPr>
            <p:ph idx="1"/>
          </p:nvPr>
        </p:nvSpPr>
        <p:spPr>
          <a:xfrm>
            <a:off x="796705" y="1904135"/>
            <a:ext cx="10357164" cy="4800600"/>
          </a:xfrm>
        </p:spPr>
        <p:txBody>
          <a:bodyPr>
            <a:noAutofit/>
          </a:bodyPr>
          <a:lstStyle/>
          <a:p>
            <a:pPr algn="just"/>
            <a:r>
              <a:rPr lang="es-ES" sz="1600" b="1" i="1">
                <a:solidFill>
                  <a:schemeClr val="accent1"/>
                </a:solidFill>
              </a:rPr>
              <a:t>Gestión de configuración</a:t>
            </a:r>
          </a:p>
          <a:p>
            <a:pPr algn="just">
              <a:buNone/>
            </a:pPr>
            <a:r>
              <a:rPr lang="es-ES" sz="1600">
                <a:solidFill>
                  <a:schemeClr val="accent1"/>
                </a:solidFill>
              </a:rPr>
              <a:t>	El propósito de la Gestión de Configuración (</a:t>
            </a:r>
            <a:r>
              <a:rPr lang="es-ES" sz="1600" i="1">
                <a:solidFill>
                  <a:schemeClr val="accent1"/>
                </a:solidFill>
              </a:rPr>
              <a:t>Software </a:t>
            </a:r>
            <a:r>
              <a:rPr lang="es-ES" sz="1600" i="1" err="1">
                <a:solidFill>
                  <a:schemeClr val="accent1"/>
                </a:solidFill>
              </a:rPr>
              <a:t>Configuration</a:t>
            </a:r>
            <a:r>
              <a:rPr lang="es-ES" sz="1600" i="1">
                <a:solidFill>
                  <a:schemeClr val="accent1"/>
                </a:solidFill>
              </a:rPr>
              <a:t> Management, SCM)  es  </a:t>
            </a:r>
            <a:r>
              <a:rPr lang="es-ES" sz="1600">
                <a:solidFill>
                  <a:schemeClr val="accent1"/>
                </a:solidFill>
              </a:rPr>
              <a:t>establecer y mantener la integridad de los productos a través de todo el ciclo de vida del software, proveyendo un adecuado control de los cambios producidos en los diversos ítems de configuración. Para ello, SCM se compone de cuatro actividades principales: </a:t>
            </a:r>
          </a:p>
          <a:p>
            <a:pPr lvl="2" algn="just"/>
            <a:r>
              <a:rPr lang="es-ES" sz="1600" b="1">
                <a:solidFill>
                  <a:schemeClr val="accent1"/>
                </a:solidFill>
              </a:rPr>
              <a:t>La identificación de la configuración </a:t>
            </a:r>
            <a:r>
              <a:rPr lang="es-ES" sz="1600">
                <a:solidFill>
                  <a:schemeClr val="accent1"/>
                </a:solidFill>
              </a:rPr>
              <a:t>proporciona un método único y específico para identificar cada instancia</a:t>
            </a:r>
            <a:r>
              <a:rPr lang="es-ES" sz="1600" i="1">
                <a:solidFill>
                  <a:schemeClr val="accent1"/>
                </a:solidFill>
              </a:rPr>
              <a:t>, versión de un producto de software. </a:t>
            </a:r>
          </a:p>
          <a:p>
            <a:pPr lvl="2" algn="just"/>
            <a:r>
              <a:rPr lang="es-ES" sz="1600" b="1" i="1">
                <a:solidFill>
                  <a:schemeClr val="accent1"/>
                </a:solidFill>
              </a:rPr>
              <a:t>El control de cambios </a:t>
            </a:r>
            <a:r>
              <a:rPr lang="es-ES" sz="1600" i="1">
                <a:solidFill>
                  <a:schemeClr val="accent1"/>
                </a:solidFill>
              </a:rPr>
              <a:t>asegura </a:t>
            </a:r>
            <a:r>
              <a:rPr lang="es-ES" sz="1600">
                <a:solidFill>
                  <a:schemeClr val="accent1"/>
                </a:solidFill>
              </a:rPr>
              <a:t>que cada modificación sobre alguna instancia del producto sea conocida, autorizada y documentada. </a:t>
            </a:r>
          </a:p>
          <a:p>
            <a:pPr lvl="2" algn="just"/>
            <a:r>
              <a:rPr lang="es-ES" sz="1600" b="1">
                <a:solidFill>
                  <a:schemeClr val="accent1"/>
                </a:solidFill>
              </a:rPr>
              <a:t>La contabilidad de la configuración </a:t>
            </a:r>
            <a:r>
              <a:rPr lang="es-ES" sz="1600">
                <a:solidFill>
                  <a:schemeClr val="accent1"/>
                </a:solidFill>
              </a:rPr>
              <a:t>permite establecer un seguimiento e informar sobre el estado de la configuración en un tiempo dado. </a:t>
            </a:r>
          </a:p>
          <a:p>
            <a:pPr lvl="2" algn="just"/>
            <a:r>
              <a:rPr lang="es-ES" sz="1600" b="1">
                <a:solidFill>
                  <a:schemeClr val="accent1"/>
                </a:solidFill>
              </a:rPr>
              <a:t>Las auditorías </a:t>
            </a:r>
            <a:r>
              <a:rPr lang="es-ES" sz="1600">
                <a:solidFill>
                  <a:schemeClr val="accent1"/>
                </a:solidFill>
              </a:rPr>
              <a:t>establecen si el producto ha sido construido de acuerdo a los requerimientos y que el software esté realmente representado por la documentación que le acompaña.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23453" y="274638"/>
            <a:ext cx="9534235" cy="1570186"/>
          </a:xfrm>
        </p:spPr>
        <p:txBody>
          <a:bodyPr>
            <a:noAutofit/>
          </a:bodyPr>
          <a:lstStyle/>
          <a:p>
            <a:pPr algn="ctr"/>
            <a:r>
              <a:rPr lang="es-ES" sz="3600" b="1" cap="none"/>
              <a:t>Actividades de ACS</a:t>
            </a:r>
            <a:br>
              <a:rPr lang="es-ES" sz="3600" b="1" cap="none"/>
            </a:br>
            <a:r>
              <a:rPr lang="es-ES" sz="3600" b="1" cap="none"/>
              <a:t> Durante el ciclo de vida de un proyecto</a:t>
            </a:r>
            <a:endParaRPr lang="es-ES" sz="3600"/>
          </a:p>
        </p:txBody>
      </p:sp>
      <p:sp>
        <p:nvSpPr>
          <p:cNvPr id="3" name="2 Marcador de contenido"/>
          <p:cNvSpPr>
            <a:spLocks noGrp="1"/>
          </p:cNvSpPr>
          <p:nvPr>
            <p:ph idx="1"/>
          </p:nvPr>
        </p:nvSpPr>
        <p:spPr>
          <a:xfrm>
            <a:off x="534154" y="1988840"/>
            <a:ext cx="11289672" cy="2917304"/>
          </a:xfrm>
        </p:spPr>
        <p:txBody>
          <a:bodyPr>
            <a:normAutofit/>
          </a:bodyPr>
          <a:lstStyle/>
          <a:p>
            <a:r>
              <a:rPr lang="es-ES" b="1">
                <a:solidFill>
                  <a:schemeClr val="accent1"/>
                </a:solidFill>
              </a:rPr>
              <a:t>Planificación</a:t>
            </a:r>
          </a:p>
          <a:p>
            <a:pPr>
              <a:buNone/>
            </a:pPr>
            <a:r>
              <a:rPr lang="es-ES">
                <a:solidFill>
                  <a:schemeClr val="accent1"/>
                </a:solidFill>
              </a:rPr>
              <a:t>	Durante la etapa de planificación,  ACS debe participar de la elaboración del plan de proyecto.</a:t>
            </a:r>
          </a:p>
          <a:p>
            <a:r>
              <a:rPr lang="es-ES">
                <a:solidFill>
                  <a:schemeClr val="accent1"/>
                </a:solidFill>
              </a:rPr>
              <a:t>Es su responsabilidad producir el Plan de ACS y verificar que los procesos, procedimientos y estándares identificados en el plan de proyecto son apropiados, claros, específicos y auditables.</a:t>
            </a:r>
          </a:p>
          <a:p>
            <a:r>
              <a:rPr lang="es-ES">
                <a:solidFill>
                  <a:schemeClr val="accent1"/>
                </a:solidFill>
              </a:rPr>
              <a:t>El contenido del plan de ACS debe identificar: evaluaciones, auditorías y revisiones, estándares, procedimientos de seguimiento y reporte de errores, y la documentación por producir.</a:t>
            </a:r>
          </a:p>
        </p:txBody>
      </p:sp>
      <p:sp>
        <p:nvSpPr>
          <p:cNvPr id="4" name="3 Rectángulo"/>
          <p:cNvSpPr/>
          <p:nvPr/>
        </p:nvSpPr>
        <p:spPr>
          <a:xfrm>
            <a:off x="639779" y="4822214"/>
            <a:ext cx="11018067" cy="1290033"/>
          </a:xfrm>
          <a:prstGeom prst="rect">
            <a:avLst/>
          </a:prstGeom>
        </p:spPr>
        <p:txBody>
          <a:bodyPr wrap="square">
            <a:spAutoFit/>
          </a:bodyPr>
          <a:lstStyle/>
          <a:p>
            <a:pPr>
              <a:lnSpc>
                <a:spcPct val="150000"/>
              </a:lnSpc>
            </a:pPr>
            <a:r>
              <a:rPr lang="es-ES" b="1">
                <a:solidFill>
                  <a:schemeClr val="accent1"/>
                </a:solidFill>
              </a:rPr>
              <a:t>Especificación de requerimientos</a:t>
            </a:r>
          </a:p>
          <a:p>
            <a:pPr>
              <a:lnSpc>
                <a:spcPct val="150000"/>
              </a:lnSpc>
            </a:pPr>
            <a:r>
              <a:rPr lang="es-ES">
                <a:solidFill>
                  <a:schemeClr val="accent1"/>
                </a:solidFill>
              </a:rPr>
              <a:t>ACS debe corroborar que en la especificación estén expresados todos los requerimientos funcionales, técnicos, operacionales y de interfaz, de manera tal que puedan ser verificados en el producto final.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147889"/>
            <a:ext cx="11615596" cy="1786210"/>
          </a:xfrm>
        </p:spPr>
        <p:txBody>
          <a:bodyPr>
            <a:noAutofit/>
          </a:bodyPr>
          <a:lstStyle/>
          <a:p>
            <a:pPr algn="ctr"/>
            <a:r>
              <a:rPr lang="es-ES" sz="3600" b="1" cap="none"/>
              <a:t>Actividades de ACS</a:t>
            </a:r>
            <a:br>
              <a:rPr lang="es-ES" sz="3600" b="1" cap="none"/>
            </a:br>
            <a:r>
              <a:rPr lang="es-ES" sz="3600" b="1" cap="none"/>
              <a:t> durante el ciclo de vida de un proyecto(cont.)</a:t>
            </a:r>
            <a:endParaRPr lang="es-ES" sz="3600" cap="none"/>
          </a:p>
        </p:txBody>
      </p:sp>
      <p:sp>
        <p:nvSpPr>
          <p:cNvPr id="3" name="2 Marcador de contenido"/>
          <p:cNvSpPr>
            <a:spLocks noGrp="1"/>
          </p:cNvSpPr>
          <p:nvPr>
            <p:ph idx="1"/>
          </p:nvPr>
        </p:nvSpPr>
        <p:spPr>
          <a:xfrm>
            <a:off x="878186" y="1909511"/>
            <a:ext cx="10393378" cy="4800600"/>
          </a:xfrm>
        </p:spPr>
        <p:txBody>
          <a:bodyPr>
            <a:normAutofit/>
          </a:bodyPr>
          <a:lstStyle/>
          <a:p>
            <a:pPr algn="just"/>
            <a:r>
              <a:rPr lang="es-ES" sz="1600" b="1">
                <a:solidFill>
                  <a:schemeClr val="accent1"/>
                </a:solidFill>
              </a:rPr>
              <a:t>Diseño</a:t>
            </a:r>
          </a:p>
          <a:p>
            <a:pPr algn="just">
              <a:buNone/>
            </a:pPr>
            <a:r>
              <a:rPr lang="es-ES" sz="1600">
                <a:solidFill>
                  <a:schemeClr val="accent1"/>
                </a:solidFill>
              </a:rPr>
              <a:t>	En la fase de diseño, dentro de las actividades de ACS se incluyen asegurar:</a:t>
            </a:r>
          </a:p>
          <a:p>
            <a:pPr lvl="1" algn="just"/>
            <a:r>
              <a:rPr lang="es-ES">
                <a:solidFill>
                  <a:schemeClr val="accent1"/>
                </a:solidFill>
              </a:rPr>
              <a:t>La adherencia del diseño y su documentación a los estándares definidos en el plan del proyecto.</a:t>
            </a:r>
          </a:p>
          <a:p>
            <a:pPr lvl="1" algn="just"/>
            <a:r>
              <a:rPr lang="es-ES">
                <a:solidFill>
                  <a:schemeClr val="accent1"/>
                </a:solidFill>
              </a:rPr>
              <a:t>La presencia de todo módulo en el diseño.</a:t>
            </a:r>
          </a:p>
          <a:p>
            <a:pPr lvl="1" algn="just"/>
            <a:r>
              <a:rPr lang="es-ES">
                <a:solidFill>
                  <a:schemeClr val="accent1"/>
                </a:solidFill>
              </a:rPr>
              <a:t>La incorporación de los resultados de las inspecciones en el diseño.</a:t>
            </a:r>
          </a:p>
          <a:p>
            <a:pPr lvl="1" algn="just"/>
            <a:r>
              <a:rPr lang="es-ES">
                <a:solidFill>
                  <a:schemeClr val="accent1"/>
                </a:solidFill>
              </a:rPr>
              <a:t> El ingreso del diseño a la configuración del software, tras su aprobación.</a:t>
            </a:r>
          </a:p>
          <a:p>
            <a:pPr lvl="1" algn="just"/>
            <a:endParaRPr lang="es-ES">
              <a:solidFill>
                <a:schemeClr val="accent1"/>
              </a:solidFill>
            </a:endParaRPr>
          </a:p>
          <a:p>
            <a:pPr algn="just"/>
            <a:r>
              <a:rPr lang="es-ES" sz="1600" b="1">
                <a:solidFill>
                  <a:schemeClr val="accent1"/>
                </a:solidFill>
              </a:rPr>
              <a:t> Implementación</a:t>
            </a:r>
          </a:p>
          <a:p>
            <a:pPr algn="just">
              <a:buNone/>
            </a:pPr>
            <a:r>
              <a:rPr lang="es-ES" sz="1600">
                <a:solidFill>
                  <a:schemeClr val="accent1"/>
                </a:solidFill>
              </a:rPr>
              <a:t>	A ACS le corresponde auditar:</a:t>
            </a:r>
          </a:p>
          <a:p>
            <a:pPr lvl="1" algn="just"/>
            <a:r>
              <a:rPr lang="es-ES">
                <a:solidFill>
                  <a:schemeClr val="accent1"/>
                </a:solidFill>
              </a:rPr>
              <a:t> Los resultados de las actividades de diseño y codificación.</a:t>
            </a:r>
          </a:p>
          <a:p>
            <a:pPr lvl="1" algn="just"/>
            <a:r>
              <a:rPr lang="es-ES">
                <a:solidFill>
                  <a:schemeClr val="accent1"/>
                </a:solidFill>
              </a:rPr>
              <a:t> El estado de todos los entregables.</a:t>
            </a:r>
          </a:p>
          <a:p>
            <a:pPr lvl="1" algn="just"/>
            <a:r>
              <a:rPr lang="es-ES">
                <a:solidFill>
                  <a:schemeClr val="accent1"/>
                </a:solidFill>
              </a:rPr>
              <a:t> Las actividades de gestión de configuración y de la biblioteca del software.</a:t>
            </a:r>
          </a:p>
          <a:p>
            <a:pPr lvl="1" algn="just"/>
            <a:r>
              <a:rPr lang="es-ES">
                <a:solidFill>
                  <a:schemeClr val="accent1"/>
                </a:solidFill>
              </a:rPr>
              <a:t> Los informes sobre desviaciones y las acciones correctivas.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 y="557808"/>
            <a:ext cx="10972800" cy="1143000"/>
          </a:xfrm>
        </p:spPr>
        <p:txBody>
          <a:bodyPr>
            <a:noAutofit/>
          </a:bodyPr>
          <a:lstStyle/>
          <a:p>
            <a:pPr algn="ctr"/>
            <a:r>
              <a:rPr lang="es-ES" sz="3600" b="1" cap="none"/>
              <a:t>Actividades de ACS </a:t>
            </a:r>
            <a:br>
              <a:rPr lang="es-ES" sz="3600" b="1" cap="none"/>
            </a:br>
            <a:r>
              <a:rPr lang="es-ES" sz="3600" b="1" cap="none"/>
              <a:t>durante el ciclo de vida de un proyecto(</a:t>
            </a:r>
            <a:r>
              <a:rPr lang="es-ES" sz="3600" b="1" cap="none" err="1"/>
              <a:t>cont</a:t>
            </a:r>
            <a:r>
              <a:rPr lang="es-ES" sz="3600" b="1" cap="none"/>
              <a:t>)</a:t>
            </a:r>
          </a:p>
        </p:txBody>
      </p:sp>
      <p:sp>
        <p:nvSpPr>
          <p:cNvPr id="3" name="2 Marcador de contenido"/>
          <p:cNvSpPr>
            <a:spLocks noGrp="1"/>
          </p:cNvSpPr>
          <p:nvPr>
            <p:ph idx="1"/>
          </p:nvPr>
        </p:nvSpPr>
        <p:spPr>
          <a:xfrm>
            <a:off x="398352" y="1700808"/>
            <a:ext cx="11389260" cy="4800600"/>
          </a:xfrm>
        </p:spPr>
        <p:txBody>
          <a:bodyPr>
            <a:normAutofit/>
          </a:bodyPr>
          <a:lstStyle/>
          <a:p>
            <a:pPr algn="just"/>
            <a:r>
              <a:rPr lang="es-ES" sz="1600" b="1">
                <a:solidFill>
                  <a:schemeClr val="accent1"/>
                </a:solidFill>
              </a:rPr>
              <a:t> Integración y prueba</a:t>
            </a:r>
          </a:p>
          <a:p>
            <a:pPr algn="just">
              <a:buNone/>
            </a:pPr>
            <a:r>
              <a:rPr lang="es-ES" sz="1600">
                <a:solidFill>
                  <a:schemeClr val="accent1"/>
                </a:solidFill>
              </a:rPr>
              <a:t>	Con relación a la integración y a la prueba, a ACS le corresponde garantizar la concordancia de las pruebas con el plan y los procedimientos definidos, así como también que toda desviación haya sido informada y corregida. Además, debe certificar que las actividades de prueba se han completado satisfactoriamente y que el software y su documentación se encuentran listos para la entrega del producto final.</a:t>
            </a:r>
          </a:p>
          <a:p>
            <a:pPr algn="just"/>
            <a:r>
              <a:rPr lang="es-ES" sz="1600" b="1">
                <a:solidFill>
                  <a:schemeClr val="accent1"/>
                </a:solidFill>
              </a:rPr>
              <a:t>Aceptación y entrega</a:t>
            </a:r>
          </a:p>
          <a:p>
            <a:pPr algn="just">
              <a:buNone/>
            </a:pPr>
            <a:r>
              <a:rPr lang="es-ES" sz="1600">
                <a:solidFill>
                  <a:schemeClr val="accent1"/>
                </a:solidFill>
              </a:rPr>
              <a:t>	En la fase de aceptación, ACS es responsable de realizar la última auditoría de configuración del software, con el objetivo de determinar que los entregables están listos para la entrega.</a:t>
            </a:r>
          </a:p>
          <a:p>
            <a:pPr algn="just"/>
            <a:r>
              <a:rPr lang="es-ES" sz="1600" b="1">
                <a:solidFill>
                  <a:schemeClr val="accent1"/>
                </a:solidFill>
              </a:rPr>
              <a:t>Mantención</a:t>
            </a:r>
          </a:p>
          <a:p>
            <a:pPr algn="just">
              <a:buNone/>
            </a:pPr>
            <a:r>
              <a:rPr lang="es-ES" sz="1600">
                <a:solidFill>
                  <a:schemeClr val="accent1"/>
                </a:solidFill>
              </a:rPr>
              <a:t>	Durante la operación pueden presentarse correcciones o mejoras que originen pequeños “ciclos de desarrollo”. En tal caso, se repetirán las actividades de ACS descritas con anterioridad.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2244B81-B047-A352-61E5-1642202E1AE1}"/>
              </a:ext>
            </a:extLst>
          </p:cNvPr>
          <p:cNvSpPr txBox="1"/>
          <p:nvPr/>
        </p:nvSpPr>
        <p:spPr>
          <a:xfrm>
            <a:off x="698887" y="3014314"/>
            <a:ext cx="10589342" cy="1754326"/>
          </a:xfrm>
          <a:prstGeom prst="rect">
            <a:avLst/>
          </a:prstGeom>
          <a:noFill/>
        </p:spPr>
        <p:txBody>
          <a:bodyPr wrap="square">
            <a:spAutoFit/>
          </a:bodyPr>
          <a:lstStyle/>
          <a:p>
            <a:pPr algn="ctr"/>
            <a:r>
              <a:rPr lang="es-MX" sz="3600" b="0" i="0">
                <a:solidFill>
                  <a:schemeClr val="accent1"/>
                </a:solidFill>
                <a:effectLst/>
                <a:latin typeface="ff5"/>
              </a:rPr>
              <a:t>Es una actividad de protección que se aplica a lo largo de  todo el proceso del software. </a:t>
            </a:r>
          </a:p>
          <a:p>
            <a:pPr algn="ctr"/>
            <a:r>
              <a:rPr lang="es-MX" sz="3600" b="0" i="0">
                <a:solidFill>
                  <a:schemeClr val="accent1"/>
                </a:solidFill>
                <a:effectLst/>
                <a:latin typeface="ff5"/>
              </a:rPr>
              <a:t>La </a:t>
            </a:r>
            <a:r>
              <a:rPr lang="es-MX" sz="3600">
                <a:solidFill>
                  <a:schemeClr val="accent1"/>
                </a:solidFill>
                <a:latin typeface="ff6"/>
              </a:rPr>
              <a:t>ACS</a:t>
            </a:r>
            <a:r>
              <a:rPr lang="es-MX" sz="3600" b="0" i="0">
                <a:solidFill>
                  <a:schemeClr val="accent1"/>
                </a:solidFill>
                <a:effectLst/>
                <a:latin typeface="ff6"/>
              </a:rPr>
              <a:t> </a:t>
            </a:r>
            <a:r>
              <a:rPr lang="es-MX" sz="3600" b="0" i="0">
                <a:solidFill>
                  <a:schemeClr val="accent1"/>
                </a:solidFill>
                <a:effectLst/>
                <a:latin typeface="ff5"/>
              </a:rPr>
              <a:t>engloba: </a:t>
            </a:r>
          </a:p>
        </p:txBody>
      </p:sp>
      <p:sp>
        <p:nvSpPr>
          <p:cNvPr id="6" name="CuadroTexto 5">
            <a:extLst>
              <a:ext uri="{FF2B5EF4-FFF2-40B4-BE49-F238E27FC236}">
                <a16:creationId xmlns:a16="http://schemas.microsoft.com/office/drawing/2014/main" id="{5AE3BDC6-EE11-22AA-7866-BE2520F2A14F}"/>
              </a:ext>
            </a:extLst>
          </p:cNvPr>
          <p:cNvSpPr txBox="1"/>
          <p:nvPr/>
        </p:nvSpPr>
        <p:spPr>
          <a:xfrm>
            <a:off x="581192" y="746553"/>
            <a:ext cx="11173273" cy="646331"/>
          </a:xfrm>
          <a:prstGeom prst="rect">
            <a:avLst/>
          </a:prstGeom>
          <a:noFill/>
        </p:spPr>
        <p:txBody>
          <a:bodyPr wrap="square">
            <a:spAutoFit/>
          </a:bodyPr>
          <a:lstStyle/>
          <a:p>
            <a:r>
              <a:rPr lang="es-MX" sz="3600">
                <a:solidFill>
                  <a:schemeClr val="bg1"/>
                </a:solidFill>
              </a:rPr>
              <a:t>¿Qué es la aseguramiento de calidad del software? </a:t>
            </a:r>
            <a:endParaRPr lang="es-AR" sz="3600">
              <a:solidFill>
                <a:schemeClr val="bg1"/>
              </a:solidFill>
            </a:endParaRPr>
          </a:p>
        </p:txBody>
      </p:sp>
    </p:spTree>
    <p:extLst>
      <p:ext uri="{BB962C8B-B14F-4D97-AF65-F5344CB8AC3E}">
        <p14:creationId xmlns:p14="http://schemas.microsoft.com/office/powerpoint/2010/main" val="3526174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2244B81-B047-A352-61E5-1642202E1AE1}"/>
              </a:ext>
            </a:extLst>
          </p:cNvPr>
          <p:cNvSpPr txBox="1"/>
          <p:nvPr/>
        </p:nvSpPr>
        <p:spPr>
          <a:xfrm>
            <a:off x="581192" y="1944427"/>
            <a:ext cx="10589342" cy="4154984"/>
          </a:xfrm>
          <a:prstGeom prst="rect">
            <a:avLst/>
          </a:prstGeom>
          <a:noFill/>
        </p:spPr>
        <p:txBody>
          <a:bodyPr wrap="square">
            <a:spAutoFit/>
          </a:bodyPr>
          <a:lstStyle/>
          <a:p>
            <a:pPr algn="ctr"/>
            <a:r>
              <a:rPr lang="es-MX" sz="2400" b="0" i="0">
                <a:solidFill>
                  <a:schemeClr val="accent1"/>
                </a:solidFill>
                <a:effectLst/>
                <a:latin typeface="ff5"/>
              </a:rPr>
              <a:t>1. Un enfoque de gestión de calidad.</a:t>
            </a:r>
          </a:p>
          <a:p>
            <a:pPr algn="ctr"/>
            <a:r>
              <a:rPr lang="es-MX" sz="2400" b="0" i="0">
                <a:solidFill>
                  <a:schemeClr val="accent1"/>
                </a:solidFill>
                <a:effectLst/>
                <a:latin typeface="ff5"/>
              </a:rPr>
              <a:t>2. Tecnología de ingeniería del software efectiva </a:t>
            </a:r>
          </a:p>
          <a:p>
            <a:pPr algn="ctr"/>
            <a:r>
              <a:rPr lang="es-MX" sz="2400" b="0" i="0">
                <a:solidFill>
                  <a:schemeClr val="accent1"/>
                </a:solidFill>
                <a:effectLst/>
                <a:latin typeface="ff5"/>
              </a:rPr>
              <a:t>(métodos y herramientas).</a:t>
            </a:r>
          </a:p>
          <a:p>
            <a:pPr algn="ctr"/>
            <a:r>
              <a:rPr lang="es-MX" sz="2400">
                <a:solidFill>
                  <a:schemeClr val="accent1"/>
                </a:solidFill>
                <a:latin typeface="ff5"/>
              </a:rPr>
              <a:t> 3.</a:t>
            </a:r>
            <a:r>
              <a:rPr lang="es-MX" sz="2400" b="0" i="0">
                <a:solidFill>
                  <a:schemeClr val="accent1"/>
                </a:solidFill>
                <a:effectLst/>
                <a:latin typeface="ff5"/>
              </a:rPr>
              <a:t> </a:t>
            </a:r>
            <a:r>
              <a:rPr lang="es-MX" sz="2400">
                <a:solidFill>
                  <a:schemeClr val="accent1"/>
                </a:solidFill>
                <a:latin typeface="ff5"/>
              </a:rPr>
              <a:t>Revisiones técnicas formales que se aplican durante el proceso del software. </a:t>
            </a:r>
          </a:p>
          <a:p>
            <a:pPr algn="ctr"/>
            <a:r>
              <a:rPr lang="es-MX" sz="2400">
                <a:solidFill>
                  <a:schemeClr val="accent1"/>
                </a:solidFill>
                <a:latin typeface="ff5"/>
              </a:rPr>
              <a:t>4.Una estrategia de prueba </a:t>
            </a:r>
            <a:r>
              <a:rPr lang="es-MX" sz="2400" err="1">
                <a:solidFill>
                  <a:schemeClr val="accent1"/>
                </a:solidFill>
                <a:latin typeface="ff5"/>
              </a:rPr>
              <a:t>multiescalada</a:t>
            </a:r>
            <a:r>
              <a:rPr lang="es-MX" sz="2400">
                <a:solidFill>
                  <a:schemeClr val="accent1"/>
                </a:solidFill>
                <a:latin typeface="ff5"/>
              </a:rPr>
              <a:t>.</a:t>
            </a:r>
          </a:p>
          <a:p>
            <a:pPr lvl="8" algn="just"/>
            <a:r>
              <a:rPr lang="es-MX" sz="1100" b="0" i="0">
                <a:solidFill>
                  <a:schemeClr val="accent1"/>
                </a:solidFill>
                <a:effectLst/>
                <a:latin typeface="Google Sans"/>
              </a:rPr>
              <a:t>Pruebas funcionales : prueban los requisitos funcionales del software. </a:t>
            </a:r>
          </a:p>
          <a:p>
            <a:pPr lvl="8" algn="just"/>
            <a:r>
              <a:rPr lang="es-MX" sz="1100" b="0" i="0">
                <a:solidFill>
                  <a:schemeClr val="accent1"/>
                </a:solidFill>
                <a:effectLst/>
                <a:latin typeface="Google Sans"/>
              </a:rPr>
              <a:t>Pruebas no funcionales: prueban aspectos no funcionales como el rendimiento, la facilidad de uso, la seguridad y la confiabilidad. Pruebas manuales: pruebas realizadas manualmente por evaluadores humanos. Pruebas automatizadas: pruebas ejecutadas mediante herramientas y scripts de prueba automatizados.</a:t>
            </a:r>
            <a:r>
              <a:rPr lang="es-MX" sz="1100">
                <a:solidFill>
                  <a:schemeClr val="accent1"/>
                </a:solidFill>
                <a:latin typeface="ff5"/>
              </a:rPr>
              <a:t> </a:t>
            </a:r>
          </a:p>
          <a:p>
            <a:pPr algn="ctr"/>
            <a:r>
              <a:rPr lang="es-MX" sz="2800">
                <a:solidFill>
                  <a:schemeClr val="accent1"/>
                </a:solidFill>
                <a:latin typeface="ff5"/>
              </a:rPr>
              <a:t>5</a:t>
            </a:r>
            <a:r>
              <a:rPr lang="es-MX" sz="2400">
                <a:solidFill>
                  <a:schemeClr val="accent1"/>
                </a:solidFill>
                <a:latin typeface="ff5"/>
              </a:rPr>
              <a:t>. El control de la documentación del software y de los cambios realizados. </a:t>
            </a:r>
          </a:p>
          <a:p>
            <a:pPr algn="ctr"/>
            <a:r>
              <a:rPr lang="es-MX" sz="2400">
                <a:solidFill>
                  <a:schemeClr val="accent1"/>
                </a:solidFill>
                <a:latin typeface="ff5"/>
              </a:rPr>
              <a:t>6. Un procedimiento que asegure un ajuste a los estándares de desarrollo del software. </a:t>
            </a:r>
          </a:p>
          <a:p>
            <a:pPr algn="ctr"/>
            <a:r>
              <a:rPr lang="es-MX" sz="2400">
                <a:solidFill>
                  <a:schemeClr val="accent1"/>
                </a:solidFill>
                <a:latin typeface="ff5"/>
              </a:rPr>
              <a:t>7. Mecanismos de medición y de generación de informes.</a:t>
            </a:r>
          </a:p>
        </p:txBody>
      </p:sp>
      <p:sp>
        <p:nvSpPr>
          <p:cNvPr id="6" name="CuadroTexto 5">
            <a:extLst>
              <a:ext uri="{FF2B5EF4-FFF2-40B4-BE49-F238E27FC236}">
                <a16:creationId xmlns:a16="http://schemas.microsoft.com/office/drawing/2014/main" id="{5AE3BDC6-EE11-22AA-7866-BE2520F2A14F}"/>
              </a:ext>
            </a:extLst>
          </p:cNvPr>
          <p:cNvSpPr txBox="1"/>
          <p:nvPr/>
        </p:nvSpPr>
        <p:spPr>
          <a:xfrm>
            <a:off x="581192" y="746553"/>
            <a:ext cx="11173273" cy="646331"/>
          </a:xfrm>
          <a:prstGeom prst="rect">
            <a:avLst/>
          </a:prstGeom>
          <a:noFill/>
        </p:spPr>
        <p:txBody>
          <a:bodyPr wrap="square">
            <a:spAutoFit/>
          </a:bodyPr>
          <a:lstStyle/>
          <a:p>
            <a:r>
              <a:rPr lang="es-MX" sz="3600">
                <a:solidFill>
                  <a:schemeClr val="bg1"/>
                </a:solidFill>
              </a:rPr>
              <a:t>¿Qué es el Aseguramiento de calidad del software? </a:t>
            </a:r>
            <a:endParaRPr lang="es-AR" sz="3600">
              <a:solidFill>
                <a:schemeClr val="bg1"/>
              </a:solidFill>
            </a:endParaRPr>
          </a:p>
        </p:txBody>
      </p:sp>
    </p:spTree>
    <p:extLst>
      <p:ext uri="{BB962C8B-B14F-4D97-AF65-F5344CB8AC3E}">
        <p14:creationId xmlns:p14="http://schemas.microsoft.com/office/powerpoint/2010/main" val="1167998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2244B81-B047-A352-61E5-1642202E1AE1}"/>
              </a:ext>
            </a:extLst>
          </p:cNvPr>
          <p:cNvSpPr txBox="1"/>
          <p:nvPr/>
        </p:nvSpPr>
        <p:spPr>
          <a:xfrm>
            <a:off x="372961" y="2269431"/>
            <a:ext cx="11381503" cy="4308872"/>
          </a:xfrm>
          <a:prstGeom prst="rect">
            <a:avLst/>
          </a:prstGeom>
          <a:noFill/>
        </p:spPr>
        <p:txBody>
          <a:bodyPr wrap="square">
            <a:spAutoFit/>
          </a:bodyPr>
          <a:lstStyle/>
          <a:p>
            <a:pPr algn="just"/>
            <a:r>
              <a:rPr lang="es-MX" sz="2600">
                <a:solidFill>
                  <a:schemeClr val="accent1"/>
                </a:solidFill>
              </a:rPr>
              <a:t>Durante esta etapa el  ACS debe participar de la elaboración del plan de proyecto. Es su responsabilidad producir el Plan de ACS y verificar que los procesos, procedimientos y estándares identificados en el plan de proyecto son apropiados, claros, específicos y auditables. El contenido del plan de ACS debe identificar: </a:t>
            </a:r>
          </a:p>
          <a:p>
            <a:pPr algn="just"/>
            <a:endParaRPr lang="es-MX" sz="2600">
              <a:solidFill>
                <a:schemeClr val="accent1"/>
              </a:solidFill>
            </a:endParaRPr>
          </a:p>
          <a:p>
            <a:pPr marL="3657600" lvl="7" indent="-457200">
              <a:buFont typeface="Arial" panose="020B0604020202020204" pitchFamily="34" charset="0"/>
              <a:buChar char="•"/>
            </a:pPr>
            <a:r>
              <a:rPr lang="es-MX" sz="2400">
                <a:solidFill>
                  <a:schemeClr val="accent1"/>
                </a:solidFill>
              </a:rPr>
              <a:t>Evaluaciones. </a:t>
            </a:r>
          </a:p>
          <a:p>
            <a:pPr marL="3657600" lvl="7" indent="-457200">
              <a:buFont typeface="Arial" panose="020B0604020202020204" pitchFamily="34" charset="0"/>
              <a:buChar char="•"/>
            </a:pPr>
            <a:r>
              <a:rPr lang="es-MX" sz="2400">
                <a:solidFill>
                  <a:schemeClr val="accent1"/>
                </a:solidFill>
              </a:rPr>
              <a:t>Auditorías.</a:t>
            </a:r>
          </a:p>
          <a:p>
            <a:pPr marL="3657600" lvl="7" indent="-457200">
              <a:buFont typeface="Arial" panose="020B0604020202020204" pitchFamily="34" charset="0"/>
              <a:buChar char="•"/>
            </a:pPr>
            <a:r>
              <a:rPr lang="es-MX" sz="2400">
                <a:solidFill>
                  <a:schemeClr val="accent1"/>
                </a:solidFill>
              </a:rPr>
              <a:t>Revisiones. </a:t>
            </a:r>
          </a:p>
          <a:p>
            <a:pPr marL="3657600" lvl="7" indent="-457200">
              <a:buFont typeface="Arial" panose="020B0604020202020204" pitchFamily="34" charset="0"/>
              <a:buChar char="•"/>
            </a:pPr>
            <a:r>
              <a:rPr lang="es-MX" sz="2400">
                <a:solidFill>
                  <a:schemeClr val="accent1"/>
                </a:solidFill>
              </a:rPr>
              <a:t>Estándares. </a:t>
            </a:r>
          </a:p>
          <a:p>
            <a:pPr marL="3657600" lvl="7" indent="-457200">
              <a:buFont typeface="Arial" panose="020B0604020202020204" pitchFamily="34" charset="0"/>
              <a:buChar char="•"/>
            </a:pPr>
            <a:r>
              <a:rPr lang="es-MX" sz="2400">
                <a:solidFill>
                  <a:schemeClr val="accent1"/>
                </a:solidFill>
              </a:rPr>
              <a:t>Procedimientos de seguimiento y reporte de errores. </a:t>
            </a:r>
          </a:p>
          <a:p>
            <a:pPr marL="3657600" lvl="7" indent="-457200">
              <a:buFont typeface="Arial" panose="020B0604020202020204" pitchFamily="34" charset="0"/>
              <a:buChar char="•"/>
            </a:pPr>
            <a:r>
              <a:rPr lang="es-MX" sz="2400">
                <a:solidFill>
                  <a:schemeClr val="accent1"/>
                </a:solidFill>
              </a:rPr>
              <a:t>Documentación por producir</a:t>
            </a:r>
            <a:endParaRPr lang="es-MX" sz="2400">
              <a:solidFill>
                <a:schemeClr val="accent1"/>
              </a:solidFill>
              <a:latin typeface="ff5"/>
            </a:endParaRPr>
          </a:p>
        </p:txBody>
      </p:sp>
      <p:sp>
        <p:nvSpPr>
          <p:cNvPr id="6" name="CuadroTexto 5">
            <a:extLst>
              <a:ext uri="{FF2B5EF4-FFF2-40B4-BE49-F238E27FC236}">
                <a16:creationId xmlns:a16="http://schemas.microsoft.com/office/drawing/2014/main" id="{5AE3BDC6-EE11-22AA-7866-BE2520F2A14F}"/>
              </a:ext>
            </a:extLst>
          </p:cNvPr>
          <p:cNvSpPr txBox="1"/>
          <p:nvPr/>
        </p:nvSpPr>
        <p:spPr>
          <a:xfrm>
            <a:off x="581192" y="746553"/>
            <a:ext cx="11173273" cy="646331"/>
          </a:xfrm>
          <a:prstGeom prst="rect">
            <a:avLst/>
          </a:prstGeom>
          <a:noFill/>
        </p:spPr>
        <p:txBody>
          <a:bodyPr wrap="square">
            <a:spAutoFit/>
          </a:bodyPr>
          <a:lstStyle/>
          <a:p>
            <a:r>
              <a:rPr lang="es-MX" sz="3600">
                <a:solidFill>
                  <a:schemeClr val="bg1"/>
                </a:solidFill>
              </a:rPr>
              <a:t>¿Qué es el Aseguramiento de calidad del software? </a:t>
            </a:r>
            <a:endParaRPr lang="es-AR" sz="3600">
              <a:solidFill>
                <a:schemeClr val="bg1"/>
              </a:solidFill>
            </a:endParaRPr>
          </a:p>
        </p:txBody>
      </p:sp>
      <p:sp>
        <p:nvSpPr>
          <p:cNvPr id="3" name="CuadroTexto 2">
            <a:extLst>
              <a:ext uri="{FF2B5EF4-FFF2-40B4-BE49-F238E27FC236}">
                <a16:creationId xmlns:a16="http://schemas.microsoft.com/office/drawing/2014/main" id="{F1F38A99-30D4-7FA7-A9B4-3307ED0530D1}"/>
              </a:ext>
            </a:extLst>
          </p:cNvPr>
          <p:cNvSpPr txBox="1"/>
          <p:nvPr/>
        </p:nvSpPr>
        <p:spPr>
          <a:xfrm>
            <a:off x="372962" y="1838566"/>
            <a:ext cx="6101254" cy="584775"/>
          </a:xfrm>
          <a:prstGeom prst="rect">
            <a:avLst/>
          </a:prstGeom>
          <a:noFill/>
        </p:spPr>
        <p:txBody>
          <a:bodyPr wrap="square">
            <a:spAutoFit/>
          </a:bodyPr>
          <a:lstStyle/>
          <a:p>
            <a:r>
              <a:rPr lang="es-AR" sz="3200">
                <a:solidFill>
                  <a:schemeClr val="accent1"/>
                </a:solidFill>
              </a:rPr>
              <a:t>Planificación</a:t>
            </a:r>
          </a:p>
        </p:txBody>
      </p:sp>
    </p:spTree>
    <p:extLst>
      <p:ext uri="{BB962C8B-B14F-4D97-AF65-F5344CB8AC3E}">
        <p14:creationId xmlns:p14="http://schemas.microsoft.com/office/powerpoint/2010/main" val="2241346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7994F27-3AB3-4E38-AE7B-8EBF69984C19}"/>
              </a:ext>
            </a:extLst>
          </p:cNvPr>
          <p:cNvSpPr txBox="1"/>
          <p:nvPr/>
        </p:nvSpPr>
        <p:spPr>
          <a:xfrm>
            <a:off x="651851" y="2421221"/>
            <a:ext cx="10541666" cy="3108543"/>
          </a:xfrm>
          <a:prstGeom prst="rect">
            <a:avLst/>
          </a:prstGeom>
          <a:noFill/>
        </p:spPr>
        <p:txBody>
          <a:bodyPr wrap="square">
            <a:spAutoFit/>
          </a:bodyPr>
          <a:lstStyle/>
          <a:p>
            <a:r>
              <a:rPr lang="es-MX" sz="2800">
                <a:solidFill>
                  <a:schemeClr val="accent1"/>
                </a:solidFill>
              </a:rPr>
              <a:t>En la fase de diseño, dentro de las actividades de ACS se incluyen asegurar: </a:t>
            </a:r>
          </a:p>
          <a:p>
            <a:r>
              <a:rPr lang="es-MX" sz="2800">
                <a:solidFill>
                  <a:schemeClr val="accent1"/>
                </a:solidFill>
              </a:rPr>
              <a:t>•Su documentación a los estándares definidos en el plan del proyecto. </a:t>
            </a:r>
          </a:p>
          <a:p>
            <a:r>
              <a:rPr lang="es-MX" sz="2800">
                <a:solidFill>
                  <a:schemeClr val="accent1"/>
                </a:solidFill>
              </a:rPr>
              <a:t>• La presencia de todo módulo en el diseño. </a:t>
            </a:r>
          </a:p>
          <a:p>
            <a:r>
              <a:rPr lang="es-MX" sz="2800">
                <a:solidFill>
                  <a:schemeClr val="accent1"/>
                </a:solidFill>
              </a:rPr>
              <a:t>• La incorporación de los resultados de las inspecciones en el diseño. </a:t>
            </a:r>
          </a:p>
          <a:p>
            <a:r>
              <a:rPr lang="es-MX" sz="2800">
                <a:solidFill>
                  <a:schemeClr val="accent1"/>
                </a:solidFill>
              </a:rPr>
              <a:t>• El ingreso del diseño a la configuración del software, tras su aprobación.</a:t>
            </a:r>
            <a:endParaRPr lang="es-AR" sz="2800">
              <a:solidFill>
                <a:schemeClr val="accent1"/>
              </a:solidFill>
            </a:endParaRPr>
          </a:p>
        </p:txBody>
      </p:sp>
      <p:sp>
        <p:nvSpPr>
          <p:cNvPr id="6" name="CuadroTexto 5">
            <a:extLst>
              <a:ext uri="{FF2B5EF4-FFF2-40B4-BE49-F238E27FC236}">
                <a16:creationId xmlns:a16="http://schemas.microsoft.com/office/drawing/2014/main" id="{AF3F0367-D218-80CF-BD40-2202E3A8B148}"/>
              </a:ext>
            </a:extLst>
          </p:cNvPr>
          <p:cNvSpPr txBox="1"/>
          <p:nvPr/>
        </p:nvSpPr>
        <p:spPr>
          <a:xfrm>
            <a:off x="575894" y="1836446"/>
            <a:ext cx="6101254" cy="584775"/>
          </a:xfrm>
          <a:prstGeom prst="rect">
            <a:avLst/>
          </a:prstGeom>
          <a:noFill/>
        </p:spPr>
        <p:txBody>
          <a:bodyPr wrap="square">
            <a:spAutoFit/>
          </a:bodyPr>
          <a:lstStyle>
            <a:defPPr>
              <a:defRPr lang="en-US"/>
            </a:defPPr>
            <a:lvl1pPr>
              <a:defRPr sz="3200">
                <a:solidFill>
                  <a:schemeClr val="accent1"/>
                </a:solidFill>
              </a:defRPr>
            </a:lvl1pPr>
          </a:lstStyle>
          <a:p>
            <a:r>
              <a:rPr lang="es-AR"/>
              <a:t>Diseño</a:t>
            </a:r>
          </a:p>
        </p:txBody>
      </p:sp>
      <p:sp>
        <p:nvSpPr>
          <p:cNvPr id="7" name="Título 6">
            <a:extLst>
              <a:ext uri="{FF2B5EF4-FFF2-40B4-BE49-F238E27FC236}">
                <a16:creationId xmlns:a16="http://schemas.microsoft.com/office/drawing/2014/main" id="{C9FA45F6-907B-501A-D485-F96972259DD8}"/>
              </a:ext>
            </a:extLst>
          </p:cNvPr>
          <p:cNvSpPr txBox="1">
            <a:spLocks noGrp="1"/>
          </p:cNvSpPr>
          <p:nvPr>
            <p:ph type="title"/>
          </p:nvPr>
        </p:nvSpPr>
        <p:spPr>
          <a:xfrm>
            <a:off x="576263" y="1071344"/>
            <a:ext cx="11029950" cy="646331"/>
          </a:xfrm>
          <a:prstGeom prst="rect">
            <a:avLst/>
          </a:prstGeom>
          <a:noFill/>
        </p:spPr>
        <p:txBody>
          <a:bodyPr wrap="square">
            <a:spAutoFit/>
          </a:bodyPr>
          <a:lstStyle/>
          <a:p>
            <a:r>
              <a:rPr lang="es-MX" sz="3600">
                <a:solidFill>
                  <a:schemeClr val="bg1"/>
                </a:solidFill>
              </a:rPr>
              <a:t>¿</a:t>
            </a:r>
            <a:r>
              <a:rPr lang="es-MX" sz="3600" cap="none">
                <a:solidFill>
                  <a:schemeClr val="bg1"/>
                </a:solidFill>
              </a:rPr>
              <a:t>Qué es el aseguramiento de calidad del software? </a:t>
            </a:r>
            <a:endParaRPr lang="es-AR" sz="3600">
              <a:solidFill>
                <a:schemeClr val="bg1"/>
              </a:solidFill>
            </a:endParaRPr>
          </a:p>
        </p:txBody>
      </p:sp>
    </p:spTree>
    <p:extLst>
      <p:ext uri="{BB962C8B-B14F-4D97-AF65-F5344CB8AC3E}">
        <p14:creationId xmlns:p14="http://schemas.microsoft.com/office/powerpoint/2010/main" val="853617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DA5A7-FE2E-710D-7C42-C2CE83D5AAEC}"/>
              </a:ext>
            </a:extLst>
          </p:cNvPr>
          <p:cNvSpPr>
            <a:spLocks noGrp="1"/>
          </p:cNvSpPr>
          <p:nvPr>
            <p:ph type="title"/>
          </p:nvPr>
        </p:nvSpPr>
        <p:spPr/>
        <p:txBody>
          <a:bodyPr/>
          <a:lstStyle/>
          <a:p>
            <a:r>
              <a:rPr lang="es-MX" sz="2800">
                <a:solidFill>
                  <a:schemeClr val="bg1"/>
                </a:solidFill>
              </a:rPr>
              <a:t>¿</a:t>
            </a:r>
            <a:r>
              <a:rPr lang="es-MX" sz="2800" cap="none">
                <a:solidFill>
                  <a:schemeClr val="bg1"/>
                </a:solidFill>
              </a:rPr>
              <a:t>Qué es el aseguramiento de calidad del software? </a:t>
            </a:r>
            <a:endParaRPr lang="es-AR"/>
          </a:p>
        </p:txBody>
      </p:sp>
      <p:sp>
        <p:nvSpPr>
          <p:cNvPr id="4" name="CuadroTexto 3">
            <a:extLst>
              <a:ext uri="{FF2B5EF4-FFF2-40B4-BE49-F238E27FC236}">
                <a16:creationId xmlns:a16="http://schemas.microsoft.com/office/drawing/2014/main" id="{D693BF29-B4EF-273A-1CC4-DC32CFDA3202}"/>
              </a:ext>
            </a:extLst>
          </p:cNvPr>
          <p:cNvSpPr txBox="1"/>
          <p:nvPr/>
        </p:nvSpPr>
        <p:spPr>
          <a:xfrm>
            <a:off x="575894" y="2698219"/>
            <a:ext cx="11029616" cy="3046988"/>
          </a:xfrm>
          <a:prstGeom prst="rect">
            <a:avLst/>
          </a:prstGeom>
          <a:noFill/>
        </p:spPr>
        <p:txBody>
          <a:bodyPr wrap="square">
            <a:spAutoFit/>
          </a:bodyPr>
          <a:lstStyle/>
          <a:p>
            <a:r>
              <a:rPr lang="es-MX" sz="3200">
                <a:solidFill>
                  <a:schemeClr val="accent1"/>
                </a:solidFill>
              </a:rPr>
              <a:t>A  ACS le corresponde auditar: </a:t>
            </a:r>
          </a:p>
          <a:p>
            <a:pPr marL="457200" indent="-457200">
              <a:buFont typeface="Arial" panose="020B0604020202020204" pitchFamily="34" charset="0"/>
              <a:buChar char="•"/>
            </a:pPr>
            <a:r>
              <a:rPr lang="es-MX" sz="3200">
                <a:solidFill>
                  <a:schemeClr val="accent1"/>
                </a:solidFill>
              </a:rPr>
              <a:t> Los resultados de las actividades de diseño y codificación. </a:t>
            </a:r>
          </a:p>
          <a:p>
            <a:pPr marL="457200" indent="-457200">
              <a:buFont typeface="Arial" panose="020B0604020202020204" pitchFamily="34" charset="0"/>
              <a:buChar char="•"/>
            </a:pPr>
            <a:r>
              <a:rPr lang="es-MX" sz="3200">
                <a:solidFill>
                  <a:schemeClr val="accent1"/>
                </a:solidFill>
              </a:rPr>
              <a:t>El estado de todos los entregables.  </a:t>
            </a:r>
          </a:p>
          <a:p>
            <a:pPr marL="457200" indent="-457200">
              <a:buFont typeface="Arial" panose="020B0604020202020204" pitchFamily="34" charset="0"/>
              <a:buChar char="•"/>
            </a:pPr>
            <a:r>
              <a:rPr lang="es-MX" sz="3200">
                <a:solidFill>
                  <a:schemeClr val="accent1"/>
                </a:solidFill>
              </a:rPr>
              <a:t>Las actividades de gestión de configuración y de la biblioteca del software. </a:t>
            </a:r>
          </a:p>
          <a:p>
            <a:pPr marL="457200" indent="-457200">
              <a:buFont typeface="Arial" panose="020B0604020202020204" pitchFamily="34" charset="0"/>
              <a:buChar char="•"/>
            </a:pPr>
            <a:r>
              <a:rPr lang="es-MX" sz="3200">
                <a:solidFill>
                  <a:schemeClr val="accent1"/>
                </a:solidFill>
              </a:rPr>
              <a:t>Los informes sobre desviaciones y las acciones correctivas.</a:t>
            </a:r>
            <a:endParaRPr lang="es-AR" sz="3200">
              <a:solidFill>
                <a:schemeClr val="accent1"/>
              </a:solidFill>
            </a:endParaRPr>
          </a:p>
        </p:txBody>
      </p:sp>
      <p:sp>
        <p:nvSpPr>
          <p:cNvPr id="5" name="CuadroTexto 4">
            <a:extLst>
              <a:ext uri="{FF2B5EF4-FFF2-40B4-BE49-F238E27FC236}">
                <a16:creationId xmlns:a16="http://schemas.microsoft.com/office/drawing/2014/main" id="{FB39808A-F86F-7040-9ACD-49470B866175}"/>
              </a:ext>
            </a:extLst>
          </p:cNvPr>
          <p:cNvSpPr txBox="1"/>
          <p:nvPr/>
        </p:nvSpPr>
        <p:spPr>
          <a:xfrm>
            <a:off x="575894" y="1836446"/>
            <a:ext cx="6101254" cy="584775"/>
          </a:xfrm>
          <a:prstGeom prst="rect">
            <a:avLst/>
          </a:prstGeom>
          <a:noFill/>
        </p:spPr>
        <p:txBody>
          <a:bodyPr wrap="square">
            <a:spAutoFit/>
          </a:bodyPr>
          <a:lstStyle>
            <a:defPPr>
              <a:defRPr lang="en-US"/>
            </a:defPPr>
            <a:lvl1pPr>
              <a:defRPr sz="3200">
                <a:solidFill>
                  <a:schemeClr val="accent1"/>
                </a:solidFill>
              </a:defRPr>
            </a:lvl1pPr>
          </a:lstStyle>
          <a:p>
            <a:r>
              <a:rPr lang="es-AR"/>
              <a:t>Implementación</a:t>
            </a:r>
          </a:p>
        </p:txBody>
      </p:sp>
    </p:spTree>
    <p:extLst>
      <p:ext uri="{BB962C8B-B14F-4D97-AF65-F5344CB8AC3E}">
        <p14:creationId xmlns:p14="http://schemas.microsoft.com/office/powerpoint/2010/main" val="2356794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DA5A7-FE2E-710D-7C42-C2CE83D5AAEC}"/>
              </a:ext>
            </a:extLst>
          </p:cNvPr>
          <p:cNvSpPr>
            <a:spLocks noGrp="1"/>
          </p:cNvSpPr>
          <p:nvPr>
            <p:ph type="title"/>
          </p:nvPr>
        </p:nvSpPr>
        <p:spPr/>
        <p:txBody>
          <a:bodyPr/>
          <a:lstStyle/>
          <a:p>
            <a:r>
              <a:rPr lang="es-MX" sz="2800">
                <a:solidFill>
                  <a:schemeClr val="bg1"/>
                </a:solidFill>
              </a:rPr>
              <a:t>¿</a:t>
            </a:r>
            <a:r>
              <a:rPr lang="es-MX" sz="2800" cap="none">
                <a:solidFill>
                  <a:schemeClr val="bg1"/>
                </a:solidFill>
              </a:rPr>
              <a:t>Qué es el aseguramiento de calidad del software? </a:t>
            </a:r>
            <a:endParaRPr lang="es-AR"/>
          </a:p>
        </p:txBody>
      </p:sp>
      <p:sp>
        <p:nvSpPr>
          <p:cNvPr id="4" name="CuadroTexto 3">
            <a:extLst>
              <a:ext uri="{FF2B5EF4-FFF2-40B4-BE49-F238E27FC236}">
                <a16:creationId xmlns:a16="http://schemas.microsoft.com/office/drawing/2014/main" id="{D693BF29-B4EF-273A-1CC4-DC32CFDA3202}"/>
              </a:ext>
            </a:extLst>
          </p:cNvPr>
          <p:cNvSpPr txBox="1"/>
          <p:nvPr/>
        </p:nvSpPr>
        <p:spPr>
          <a:xfrm>
            <a:off x="575894" y="2698219"/>
            <a:ext cx="11029616" cy="3108543"/>
          </a:xfrm>
          <a:prstGeom prst="rect">
            <a:avLst/>
          </a:prstGeom>
          <a:noFill/>
        </p:spPr>
        <p:txBody>
          <a:bodyPr wrap="square">
            <a:spAutoFit/>
          </a:bodyPr>
          <a:lstStyle/>
          <a:p>
            <a:pPr marL="457200" indent="-457200">
              <a:buFont typeface="Arial" panose="020B0604020202020204" pitchFamily="34" charset="0"/>
              <a:buChar char="•"/>
            </a:pPr>
            <a:r>
              <a:rPr lang="es-MX" sz="2800">
                <a:solidFill>
                  <a:schemeClr val="accent1"/>
                </a:solidFill>
              </a:rPr>
              <a:t>Con relación a la integración y a la prueba, a ACS le corresponde garantizar la concordancia de las pruebas con el plan y los procedimientos definidos, así como también que toda desviación haya sido informada y corregida. </a:t>
            </a:r>
          </a:p>
          <a:p>
            <a:pPr marL="457200" indent="-457200">
              <a:buFont typeface="Arial" panose="020B0604020202020204" pitchFamily="34" charset="0"/>
              <a:buChar char="•"/>
            </a:pPr>
            <a:r>
              <a:rPr lang="es-MX" sz="2800">
                <a:solidFill>
                  <a:schemeClr val="accent1"/>
                </a:solidFill>
              </a:rPr>
              <a:t>Además, debe certificar que las actividades de prueba se han completado satisfactoriamente y que el software y su documentación se encuentran listos para la entrega del producto final.</a:t>
            </a:r>
            <a:endParaRPr lang="es-AR" sz="2800">
              <a:solidFill>
                <a:schemeClr val="accent1"/>
              </a:solidFill>
            </a:endParaRPr>
          </a:p>
        </p:txBody>
      </p:sp>
      <p:sp>
        <p:nvSpPr>
          <p:cNvPr id="5" name="CuadroTexto 4">
            <a:extLst>
              <a:ext uri="{FF2B5EF4-FFF2-40B4-BE49-F238E27FC236}">
                <a16:creationId xmlns:a16="http://schemas.microsoft.com/office/drawing/2014/main" id="{FB39808A-F86F-7040-9ACD-49470B866175}"/>
              </a:ext>
            </a:extLst>
          </p:cNvPr>
          <p:cNvSpPr txBox="1"/>
          <p:nvPr/>
        </p:nvSpPr>
        <p:spPr>
          <a:xfrm>
            <a:off x="575894" y="1836446"/>
            <a:ext cx="6101254" cy="584775"/>
          </a:xfrm>
          <a:prstGeom prst="rect">
            <a:avLst/>
          </a:prstGeom>
          <a:noFill/>
        </p:spPr>
        <p:txBody>
          <a:bodyPr wrap="square">
            <a:spAutoFit/>
          </a:bodyPr>
          <a:lstStyle>
            <a:defPPr>
              <a:defRPr lang="en-US"/>
            </a:defPPr>
            <a:lvl1pPr>
              <a:defRPr sz="3200">
                <a:solidFill>
                  <a:schemeClr val="accent1"/>
                </a:solidFill>
              </a:defRPr>
            </a:lvl1pPr>
          </a:lstStyle>
          <a:p>
            <a:r>
              <a:rPr lang="es-AR"/>
              <a:t>Integración y prueba</a:t>
            </a:r>
          </a:p>
        </p:txBody>
      </p:sp>
    </p:spTree>
    <p:extLst>
      <p:ext uri="{BB962C8B-B14F-4D97-AF65-F5344CB8AC3E}">
        <p14:creationId xmlns:p14="http://schemas.microsoft.com/office/powerpoint/2010/main" val="1388298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DA5A7-FE2E-710D-7C42-C2CE83D5AAEC}"/>
              </a:ext>
            </a:extLst>
          </p:cNvPr>
          <p:cNvSpPr>
            <a:spLocks noGrp="1"/>
          </p:cNvSpPr>
          <p:nvPr>
            <p:ph type="title"/>
          </p:nvPr>
        </p:nvSpPr>
        <p:spPr/>
        <p:txBody>
          <a:bodyPr/>
          <a:lstStyle/>
          <a:p>
            <a:r>
              <a:rPr lang="es-MX" sz="2800">
                <a:solidFill>
                  <a:schemeClr val="bg1"/>
                </a:solidFill>
              </a:rPr>
              <a:t>¿</a:t>
            </a:r>
            <a:r>
              <a:rPr lang="es-MX" sz="2800" cap="none">
                <a:solidFill>
                  <a:schemeClr val="bg1"/>
                </a:solidFill>
              </a:rPr>
              <a:t>Qué es el aseguramiento de calidad del software? </a:t>
            </a:r>
            <a:endParaRPr lang="es-AR"/>
          </a:p>
        </p:txBody>
      </p:sp>
      <p:sp>
        <p:nvSpPr>
          <p:cNvPr id="4" name="CuadroTexto 3">
            <a:extLst>
              <a:ext uri="{FF2B5EF4-FFF2-40B4-BE49-F238E27FC236}">
                <a16:creationId xmlns:a16="http://schemas.microsoft.com/office/drawing/2014/main" id="{D693BF29-B4EF-273A-1CC4-DC32CFDA3202}"/>
              </a:ext>
            </a:extLst>
          </p:cNvPr>
          <p:cNvSpPr txBox="1"/>
          <p:nvPr/>
        </p:nvSpPr>
        <p:spPr>
          <a:xfrm>
            <a:off x="575894" y="2698219"/>
            <a:ext cx="11029616" cy="2221506"/>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s-MX" sz="3200">
                <a:solidFill>
                  <a:schemeClr val="accent1"/>
                </a:solidFill>
              </a:rPr>
              <a:t>En la fase de aceptación, ACS es responsable de realizar la última auditoría de configuración del software, con el objetivo de determinar que los entregables están listos.</a:t>
            </a:r>
            <a:endParaRPr lang="es-AR" sz="3200">
              <a:solidFill>
                <a:schemeClr val="accent1"/>
              </a:solidFill>
            </a:endParaRPr>
          </a:p>
        </p:txBody>
      </p:sp>
      <p:sp>
        <p:nvSpPr>
          <p:cNvPr id="5" name="CuadroTexto 4">
            <a:extLst>
              <a:ext uri="{FF2B5EF4-FFF2-40B4-BE49-F238E27FC236}">
                <a16:creationId xmlns:a16="http://schemas.microsoft.com/office/drawing/2014/main" id="{FB39808A-F86F-7040-9ACD-49470B866175}"/>
              </a:ext>
            </a:extLst>
          </p:cNvPr>
          <p:cNvSpPr txBox="1"/>
          <p:nvPr/>
        </p:nvSpPr>
        <p:spPr>
          <a:xfrm>
            <a:off x="575894" y="1836446"/>
            <a:ext cx="6101254" cy="584775"/>
          </a:xfrm>
          <a:prstGeom prst="rect">
            <a:avLst/>
          </a:prstGeom>
          <a:noFill/>
        </p:spPr>
        <p:txBody>
          <a:bodyPr wrap="square">
            <a:spAutoFit/>
          </a:bodyPr>
          <a:lstStyle>
            <a:defPPr>
              <a:defRPr lang="en-US"/>
            </a:defPPr>
            <a:lvl1pPr>
              <a:defRPr sz="3200">
                <a:solidFill>
                  <a:schemeClr val="accent1"/>
                </a:solidFill>
              </a:defRPr>
            </a:lvl1pPr>
          </a:lstStyle>
          <a:p>
            <a:r>
              <a:rPr lang="es-AR"/>
              <a:t>Aceptación y entrega</a:t>
            </a:r>
          </a:p>
        </p:txBody>
      </p:sp>
    </p:spTree>
    <p:extLst>
      <p:ext uri="{BB962C8B-B14F-4D97-AF65-F5344CB8AC3E}">
        <p14:creationId xmlns:p14="http://schemas.microsoft.com/office/powerpoint/2010/main" val="3005589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DA5A7-FE2E-710D-7C42-C2CE83D5AAEC}"/>
              </a:ext>
            </a:extLst>
          </p:cNvPr>
          <p:cNvSpPr>
            <a:spLocks noGrp="1"/>
          </p:cNvSpPr>
          <p:nvPr>
            <p:ph type="title"/>
          </p:nvPr>
        </p:nvSpPr>
        <p:spPr/>
        <p:txBody>
          <a:bodyPr/>
          <a:lstStyle/>
          <a:p>
            <a:r>
              <a:rPr lang="es-MX" sz="2800">
                <a:solidFill>
                  <a:schemeClr val="bg1"/>
                </a:solidFill>
              </a:rPr>
              <a:t>¿</a:t>
            </a:r>
            <a:r>
              <a:rPr lang="es-MX" sz="2800" cap="none">
                <a:solidFill>
                  <a:schemeClr val="bg1"/>
                </a:solidFill>
              </a:rPr>
              <a:t>Qué es el aseguramiento de calidad del software? </a:t>
            </a:r>
            <a:endParaRPr lang="es-AR"/>
          </a:p>
        </p:txBody>
      </p:sp>
      <p:sp>
        <p:nvSpPr>
          <p:cNvPr id="4" name="CuadroTexto 3">
            <a:extLst>
              <a:ext uri="{FF2B5EF4-FFF2-40B4-BE49-F238E27FC236}">
                <a16:creationId xmlns:a16="http://schemas.microsoft.com/office/drawing/2014/main" id="{D693BF29-B4EF-273A-1CC4-DC32CFDA3202}"/>
              </a:ext>
            </a:extLst>
          </p:cNvPr>
          <p:cNvSpPr txBox="1"/>
          <p:nvPr/>
        </p:nvSpPr>
        <p:spPr>
          <a:xfrm>
            <a:off x="575894" y="2698219"/>
            <a:ext cx="11029616" cy="2960169"/>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s-MX" sz="3200">
                <a:solidFill>
                  <a:schemeClr val="accent1"/>
                </a:solidFill>
              </a:rPr>
              <a:t>Durante la operación pueden presentarse correcciones o mejoras que originen pequeños “ciclos de desarrollo”. En tal caso, se repetirán las actividades de ACS descriptas con anterioridad.</a:t>
            </a:r>
            <a:endParaRPr lang="es-AR" sz="3200">
              <a:solidFill>
                <a:schemeClr val="accent1"/>
              </a:solidFill>
            </a:endParaRPr>
          </a:p>
        </p:txBody>
      </p:sp>
      <p:sp>
        <p:nvSpPr>
          <p:cNvPr id="5" name="CuadroTexto 4">
            <a:extLst>
              <a:ext uri="{FF2B5EF4-FFF2-40B4-BE49-F238E27FC236}">
                <a16:creationId xmlns:a16="http://schemas.microsoft.com/office/drawing/2014/main" id="{FB39808A-F86F-7040-9ACD-49470B866175}"/>
              </a:ext>
            </a:extLst>
          </p:cNvPr>
          <p:cNvSpPr txBox="1"/>
          <p:nvPr/>
        </p:nvSpPr>
        <p:spPr>
          <a:xfrm>
            <a:off x="575894" y="1836446"/>
            <a:ext cx="6101254" cy="584775"/>
          </a:xfrm>
          <a:prstGeom prst="rect">
            <a:avLst/>
          </a:prstGeom>
          <a:noFill/>
        </p:spPr>
        <p:txBody>
          <a:bodyPr wrap="square">
            <a:spAutoFit/>
          </a:bodyPr>
          <a:lstStyle>
            <a:defPPr>
              <a:defRPr lang="en-US"/>
            </a:defPPr>
            <a:lvl1pPr>
              <a:defRPr sz="3200">
                <a:solidFill>
                  <a:schemeClr val="accent1"/>
                </a:solidFill>
              </a:defRPr>
            </a:lvl1pPr>
          </a:lstStyle>
          <a:p>
            <a:r>
              <a:rPr lang="es-AR"/>
              <a:t>Mantenimiento</a:t>
            </a:r>
          </a:p>
        </p:txBody>
      </p:sp>
    </p:spTree>
    <p:extLst>
      <p:ext uri="{BB962C8B-B14F-4D97-AF65-F5344CB8AC3E}">
        <p14:creationId xmlns:p14="http://schemas.microsoft.com/office/powerpoint/2010/main" val="2249058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DA5A7-FE2E-710D-7C42-C2CE83D5AAEC}"/>
              </a:ext>
            </a:extLst>
          </p:cNvPr>
          <p:cNvSpPr>
            <a:spLocks noGrp="1"/>
          </p:cNvSpPr>
          <p:nvPr>
            <p:ph type="title"/>
          </p:nvPr>
        </p:nvSpPr>
        <p:spPr/>
        <p:txBody>
          <a:bodyPr/>
          <a:lstStyle/>
          <a:p>
            <a:r>
              <a:rPr lang="es-MX" sz="2800">
                <a:solidFill>
                  <a:schemeClr val="bg1"/>
                </a:solidFill>
              </a:rPr>
              <a:t>¿</a:t>
            </a:r>
            <a:r>
              <a:rPr lang="es-MX" sz="2800" cap="none">
                <a:solidFill>
                  <a:schemeClr val="bg1"/>
                </a:solidFill>
              </a:rPr>
              <a:t>Qué es el aseguramiento de calidad del software? </a:t>
            </a:r>
            <a:endParaRPr lang="es-AR"/>
          </a:p>
        </p:txBody>
      </p:sp>
      <p:sp>
        <p:nvSpPr>
          <p:cNvPr id="4" name="CuadroTexto 3">
            <a:extLst>
              <a:ext uri="{FF2B5EF4-FFF2-40B4-BE49-F238E27FC236}">
                <a16:creationId xmlns:a16="http://schemas.microsoft.com/office/drawing/2014/main" id="{D693BF29-B4EF-273A-1CC4-DC32CFDA3202}"/>
              </a:ext>
            </a:extLst>
          </p:cNvPr>
          <p:cNvSpPr txBox="1"/>
          <p:nvPr/>
        </p:nvSpPr>
        <p:spPr>
          <a:xfrm>
            <a:off x="575894" y="2698219"/>
            <a:ext cx="11029616" cy="3539430"/>
          </a:xfrm>
          <a:prstGeom prst="rect">
            <a:avLst/>
          </a:prstGeom>
          <a:noFill/>
        </p:spPr>
        <p:txBody>
          <a:bodyPr wrap="square">
            <a:spAutoFit/>
          </a:bodyPr>
          <a:lstStyle/>
          <a:p>
            <a:pPr marL="457200" indent="-457200" algn="just">
              <a:buFont typeface="Arial" panose="020B0604020202020204" pitchFamily="34" charset="0"/>
              <a:buChar char="•"/>
            </a:pPr>
            <a:r>
              <a:rPr lang="es-MX" sz="2800">
                <a:solidFill>
                  <a:schemeClr val="accent1"/>
                </a:solidFill>
              </a:rPr>
              <a:t>“El grupo de SQA es únicamente el facilitador de los procesos de calidad y el responsable por aplicar los principios de calidad a lo largo de la organización. La responsabilidad por la implantación de la calidad recae en la administración superior y en los grupos de desarrollo. La existencia de un grupo de SQA dedicado no garantiza por sí solo que los procesos sean seguidos y que la calidad se introduzca mágicamente en el producto. Debe existir un compromiso de toda la organización por orientar hacia una cultura de la calidad” [Roj96</a:t>
            </a:r>
            <a:endParaRPr lang="es-AR" sz="2800">
              <a:solidFill>
                <a:schemeClr val="accent1"/>
              </a:solidFill>
            </a:endParaRPr>
          </a:p>
        </p:txBody>
      </p:sp>
      <p:sp>
        <p:nvSpPr>
          <p:cNvPr id="5" name="CuadroTexto 4">
            <a:extLst>
              <a:ext uri="{FF2B5EF4-FFF2-40B4-BE49-F238E27FC236}">
                <a16:creationId xmlns:a16="http://schemas.microsoft.com/office/drawing/2014/main" id="{FB39808A-F86F-7040-9ACD-49470B866175}"/>
              </a:ext>
            </a:extLst>
          </p:cNvPr>
          <p:cNvSpPr txBox="1"/>
          <p:nvPr/>
        </p:nvSpPr>
        <p:spPr>
          <a:xfrm>
            <a:off x="575894" y="1836446"/>
            <a:ext cx="7354942" cy="584775"/>
          </a:xfrm>
          <a:prstGeom prst="rect">
            <a:avLst/>
          </a:prstGeom>
          <a:noFill/>
        </p:spPr>
        <p:txBody>
          <a:bodyPr wrap="square">
            <a:spAutoFit/>
          </a:bodyPr>
          <a:lstStyle>
            <a:defPPr>
              <a:defRPr lang="en-US"/>
            </a:defPPr>
            <a:lvl1pPr>
              <a:defRPr sz="3200">
                <a:solidFill>
                  <a:schemeClr val="accent1"/>
                </a:solidFill>
              </a:defRPr>
            </a:lvl1pPr>
          </a:lstStyle>
          <a:p>
            <a:r>
              <a:rPr lang="es-MX"/>
              <a:t>Relación con otras áreas de práctica</a:t>
            </a:r>
            <a:endParaRPr lang="es-AR"/>
          </a:p>
        </p:txBody>
      </p:sp>
    </p:spTree>
    <p:extLst>
      <p:ext uri="{BB962C8B-B14F-4D97-AF65-F5344CB8AC3E}">
        <p14:creationId xmlns:p14="http://schemas.microsoft.com/office/powerpoint/2010/main" val="832629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a:r>
              <a:rPr lang="es-ES" b="1"/>
              <a:t>Conclusiones</a:t>
            </a:r>
          </a:p>
        </p:txBody>
      </p:sp>
      <p:sp>
        <p:nvSpPr>
          <p:cNvPr id="3" name="2 Marcador de contenido"/>
          <p:cNvSpPr>
            <a:spLocks noGrp="1"/>
          </p:cNvSpPr>
          <p:nvPr>
            <p:ph idx="1"/>
          </p:nvPr>
        </p:nvSpPr>
        <p:spPr/>
        <p:txBody>
          <a:bodyPr>
            <a:normAutofit fontScale="70000" lnSpcReduction="20000"/>
          </a:bodyPr>
          <a:lstStyle/>
          <a:p>
            <a:pPr algn="just"/>
            <a:r>
              <a:rPr lang="es-ES" i="1">
                <a:solidFill>
                  <a:schemeClr val="accent1"/>
                </a:solidFill>
              </a:rPr>
              <a:t>“El grupo de ACS es únicamente el facilitador de los procesos de calidad y el responsable por aplicar los principios de calidad a lo largo de la organización. La responsabilidad por la implantación de la calidad recae en la administración superior y en los grupos de desarrollo. La existencia de un grupo de ACS dedicado no garantiza por sí solo que los procesos sean seguidos y que la calidad se introduzca mágicamente en el producto. Debe existir un compromiso de toda la organización por orientar hacia una cultura de la calidad” </a:t>
            </a:r>
            <a:endParaRPr lang="es-ES" b="1" i="1">
              <a:solidFill>
                <a:schemeClr val="accent1"/>
              </a:solidFill>
            </a:endParaRPr>
          </a:p>
          <a:p>
            <a:pPr algn="just"/>
            <a:endParaRPr lang="es-ES" b="1" i="1">
              <a:solidFill>
                <a:schemeClr val="accent1"/>
              </a:solidFill>
            </a:endParaRPr>
          </a:p>
          <a:p>
            <a:pPr algn="just"/>
            <a:r>
              <a:rPr lang="es-ES">
                <a:solidFill>
                  <a:schemeClr val="accent1"/>
                </a:solidFill>
              </a:rPr>
              <a:t>El concepto de ACS se basa en la premisa de que la calidad de un producto de software está fundamentalmente determinada por los procesos utilizados en su desarrollo y mantención. Es decir, a través de la incorporación de prácticas de ingeniería de software y del monitoreo de la adherencia a ellas, se logrará perfeccionar el proceso de desarrollo y, por consecuencia, mejorar la calidad del producto. Sin embargo, es necesario comprender que la calidad no puede ser una función exclusiva de una persona o de un grupo dentro de una organización. Muy por el contrario es responsabilidad de cada persona involucrada en el desarrollo del producto.</a:t>
            </a:r>
          </a:p>
          <a:p>
            <a:pPr algn="just">
              <a:buNone/>
            </a:pPr>
            <a:endParaRPr lang="es-ES">
              <a:solidFill>
                <a:schemeClr val="accent1"/>
              </a:solidFill>
            </a:endParaRPr>
          </a:p>
          <a:p>
            <a:pPr algn="just"/>
            <a:r>
              <a:rPr lang="es-ES">
                <a:solidFill>
                  <a:schemeClr val="accent1"/>
                </a:solidFill>
              </a:rPr>
              <a:t>La labor de ACS se limita a difundir y motivar a los miembros de la organización en el mejoramiento de la calidad, participar en la evaluación del producto y en el monitoreo de procesos para garantizar su  adherencia a los estándares y procedimientos establecidos y guiar a la administración en la innovación, integración y optimización del proceso de desarrollo. </a:t>
            </a:r>
          </a:p>
          <a:p>
            <a:pPr algn="just"/>
            <a:endParaRPr lang="es-ES">
              <a:solidFill>
                <a:schemeClr val="accent1"/>
              </a:solidFill>
            </a:endParaRPr>
          </a:p>
          <a:p>
            <a:pPr algn="just"/>
            <a:r>
              <a:rPr lang="es-ES">
                <a:solidFill>
                  <a:schemeClr val="accent1"/>
                </a:solidFill>
              </a:rPr>
              <a:t>ACS es, por lo tanto, un staff de apoyo en la toma de decisiones para el nivel de gestión, un fiscalizador durante todo el ciclo de vida de un proyecto y el principal promotor de las prácticas de calidad dentro de todos los niveles organizacionales.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92204F2-F18D-4FE2-99EF-6A75005A5769}">
  <ds:schemaRefs>
    <ds:schemaRef ds:uri="http://schemas.microsoft.com/sharepoint/v3/contenttype/forms"/>
  </ds:schemaRefs>
</ds:datastoreItem>
</file>

<file path=customXml/itemProps2.xml><?xml version="1.0" encoding="utf-8"?>
<ds:datastoreItem xmlns:ds="http://schemas.openxmlformats.org/officeDocument/2006/customXml" ds:itemID="{71990C88-2FBE-426B-B23E-3617D70E03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d8070d-56ff-4b43-b705-64ae6a3948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3A46B0-2638-414D-BA63-7BD503C1F4D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Panorámica</PresentationFormat>
  <Slides>26</Slides>
  <Notes>2</Notes>
  <HiddenSlides>0</HiddenSlides>
  <ScaleCrop>false</ScaleCrop>
  <HeadingPairs>
    <vt:vector size="4" baseType="variant">
      <vt:variant>
        <vt:lpstr>Tema</vt:lpstr>
      </vt:variant>
      <vt:variant>
        <vt:i4>1</vt:i4>
      </vt:variant>
      <vt:variant>
        <vt:lpstr>Títulos de diapositiva</vt:lpstr>
      </vt:variant>
      <vt:variant>
        <vt:i4>26</vt:i4>
      </vt:variant>
    </vt:vector>
  </HeadingPairs>
  <TitlesOfParts>
    <vt:vector size="27" baseType="lpstr">
      <vt:lpstr>Dividend</vt:lpstr>
      <vt:lpstr>Presentación de PowerPoint</vt:lpstr>
      <vt:lpstr>Presentación de PowerPoint</vt:lpstr>
      <vt:lpstr>Presentación de PowerPoint</vt:lpstr>
      <vt:lpstr>Aseguramiento de la Calidad.  (Software Quality Assurance, SQA) </vt:lpstr>
      <vt:lpstr>ELEMENTOS DE ASEGURAMIENTO DE LA CALIDAD DEL SOFTWARE</vt:lpstr>
      <vt:lpstr>Los objetivos principales de acs</vt:lpstr>
      <vt:lpstr>Grupo de ACS</vt:lpstr>
      <vt:lpstr>Actividades del grupo ACS</vt:lpstr>
      <vt:lpstr>Actividades del proceso de ACS</vt:lpstr>
      <vt:lpstr>Actividades del proceso de ACS (cont)</vt:lpstr>
      <vt:lpstr>Actividades del proceso de ACS (cont)</vt:lpstr>
      <vt:lpstr>Actividades del proceso de ACS (cont)</vt:lpstr>
      <vt:lpstr>Actividades de ACS  Durante el ciclo de vida de un proyecto</vt:lpstr>
      <vt:lpstr>Actividades de ACS  durante el ciclo de vida de un proyecto(cont.)</vt:lpstr>
      <vt:lpstr>Actividades de ACS  durante el ciclo de vida de un proyecto(cont)</vt:lpstr>
      <vt:lpstr>Presentación de PowerPoint</vt:lpstr>
      <vt:lpstr>Presentación de PowerPoint</vt:lpstr>
      <vt:lpstr>Presentación de PowerPoint</vt:lpstr>
      <vt:lpstr>¿Qué es el aseguramiento de calidad del software? </vt:lpstr>
      <vt:lpstr>¿Qué es el aseguramiento de calidad del software? </vt:lpstr>
      <vt:lpstr>¿Qué es el aseguramiento de calidad del software? </vt:lpstr>
      <vt:lpstr>¿Qué es el aseguramiento de calidad del software? </vt:lpstr>
      <vt:lpstr>¿Qué es el aseguramiento de calidad del software? </vt:lpstr>
      <vt:lpstr>¿Qué es el aseguramiento de calidad del software? </vt:lpstr>
      <vt:lpstr>Conclusiones</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FERNANDEZ MARY AUXILIADORA</dc:creator>
  <cp:revision>9</cp:revision>
  <dcterms:created xsi:type="dcterms:W3CDTF">2024-02-12T22:14:11Z</dcterms:created>
  <dcterms:modified xsi:type="dcterms:W3CDTF">2026-08-25T13:49:36Z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