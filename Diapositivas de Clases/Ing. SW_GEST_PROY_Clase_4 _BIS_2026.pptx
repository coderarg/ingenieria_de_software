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</p:sldMasterIdLst>
  <p:notesMasterIdLst>
    <p:notesMasterId r:id="rId15"/>
  </p:notesMasterIdLst>
  <p:handoutMasterIdLst>
    <p:handoutMasterId r:id="rId16"/>
  </p:handoutMasterIdLst>
  <p:sldIdLst>
    <p:sldId id="344" r:id="rId6"/>
    <p:sldId id="326" r:id="rId7"/>
    <p:sldId id="347" r:id="rId8"/>
    <p:sldId id="357" r:id="rId9"/>
    <p:sldId id="349" r:id="rId10"/>
    <p:sldId id="348" r:id="rId11"/>
    <p:sldId id="350" r:id="rId12"/>
    <p:sldId id="345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2D13B5-B237-C53D-7F34-CD6BA9ABD350}" name="ACHAVAL NELSON DAVID" initials="NA" userId="S::nachaval@uade.edu.ar::f513a11b-1dc4-44fd-a54c-ddb3411dd566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08-31T15:27:42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3309" autoAdjust="0"/>
    <p:restoredTop sz="94061" autoAdjust="0"/>
  </p:normalViewPr>
  <p:slideViewPr>
    <p:cSldViewPr snapToGrid="0">
      <p:cViewPr varScale="1">
        <p:scale>
          <a:sx n="99" d="100"/>
          <a:sy n="99" d="100"/>
        </p:scale>
        <p:origin x="10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3.xml" Id="rId8" /><Relationship Type="http://schemas.openxmlformats.org/officeDocument/2006/relationships/slide" Target="slides/slide8.xml" Id="rId13" /><Relationship Type="http://schemas.openxmlformats.org/officeDocument/2006/relationships/viewProps" Target="viewProps.xml" Id="rId18" /><Relationship Type="http://schemas.openxmlformats.org/officeDocument/2006/relationships/customXml" Target="../customXml/item3.xml" Id="rId3" /><Relationship Type="http://schemas.openxmlformats.org/officeDocument/2006/relationships/slide" Target="slides/slide2.xml" Id="rId7" /><Relationship Type="http://schemas.openxmlformats.org/officeDocument/2006/relationships/slide" Target="slides/slide7.xml" Id="rId12" /><Relationship Type="http://schemas.openxmlformats.org/officeDocument/2006/relationships/presProps" Target="presProps.xml" Id="rId17" /><Relationship Type="http://schemas.openxmlformats.org/officeDocument/2006/relationships/customXml" Target="../customXml/item2.xml" Id="rId2" /><Relationship Type="http://schemas.openxmlformats.org/officeDocument/2006/relationships/handoutMaster" Target="handoutMasters/handoutMaster1.xml" Id="rId16" /><Relationship Type="http://schemas.openxmlformats.org/officeDocument/2006/relationships/tableStyles" Target="tableStyles.xml" Id="rId20" /><Relationship Type="http://schemas.openxmlformats.org/officeDocument/2006/relationships/customXml" Target="../customXml/item1.xml" Id="rId1" /><Relationship Type="http://schemas.openxmlformats.org/officeDocument/2006/relationships/slide" Target="slides/slide1.xml" Id="rId6" /><Relationship Type="http://schemas.openxmlformats.org/officeDocument/2006/relationships/slide" Target="slides/slide6.xml" Id="rId11" /><Relationship Type="http://schemas.openxmlformats.org/officeDocument/2006/relationships/slideMaster" Target="slideMasters/slideMaster2.xml" Id="rId5" /><Relationship Type="http://schemas.openxmlformats.org/officeDocument/2006/relationships/notesMaster" Target="notesMasters/notesMaster1.xml" Id="rId15" /><Relationship Type="http://schemas.microsoft.com/office/2018/10/relationships/authors" Target="authors.xml" Id="rId23" /><Relationship Type="http://schemas.openxmlformats.org/officeDocument/2006/relationships/slide" Target="slides/slide5.xml" Id="rId10" /><Relationship Type="http://schemas.openxmlformats.org/officeDocument/2006/relationships/theme" Target="theme/theme1.xml" Id="rId19" /><Relationship Type="http://schemas.openxmlformats.org/officeDocument/2006/relationships/slideMaster" Target="slideMasters/slideMaster1.xml" Id="rId4" /><Relationship Type="http://schemas.openxmlformats.org/officeDocument/2006/relationships/slide" Target="slides/slide4.xml" Id="rId9" /><Relationship Type="http://schemas.openxmlformats.org/officeDocument/2006/relationships/slide" Target="slides/slide9.xml" Id="rId14" /><Relationship Type="http://schemas.microsoft.com/office/2015/10/relationships/revisionInfo" Target="revisionInfo.xml" Id="rId22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5696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6672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</a:t>
            </a:r>
            <a:r>
              <a:rPr lang="es-MX" sz="1200" b="1" dirty="0">
                <a:latin typeface="Bahnschrift Light" panose="020B0502040204020203" pitchFamily="34" charset="0"/>
              </a:rPr>
              <a:t>inicia</a:t>
            </a:r>
            <a:r>
              <a:rPr lang="es-MX" sz="1200" dirty="0">
                <a:latin typeface="Bahnschrift Light" panose="020B0502040204020203" pitchFamily="34" charset="0"/>
              </a:rPr>
              <a:t> un proyecto o una fase.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desarrolla el </a:t>
            </a:r>
            <a:r>
              <a:rPr lang="es-MX" sz="1200" b="1" dirty="0">
                <a:latin typeface="Bahnschrift Light" panose="020B0502040204020203" pitchFamily="34" charset="0"/>
              </a:rPr>
              <a:t>acta</a:t>
            </a:r>
            <a:r>
              <a:rPr lang="es-MX" sz="1200" dirty="0">
                <a:latin typeface="Bahnschrift Light" panose="020B0502040204020203" pitchFamily="34" charset="0"/>
              </a:rPr>
              <a:t> de </a:t>
            </a:r>
            <a:r>
              <a:rPr lang="es-MX" sz="1200" b="1" dirty="0">
                <a:latin typeface="Bahnschrift Light" panose="020B0502040204020203" pitchFamily="34" charset="0"/>
              </a:rPr>
              <a:t>constitución</a:t>
            </a:r>
            <a:r>
              <a:rPr lang="es-MX" sz="1200" dirty="0">
                <a:latin typeface="Bahnschrift Light" panose="020B0502040204020203" pitchFamily="34" charset="0"/>
              </a:rPr>
              <a:t> del proyecto.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identifican y analizan las </a:t>
            </a:r>
            <a:r>
              <a:rPr lang="es-MX" sz="1200" b="1" dirty="0">
                <a:latin typeface="Bahnschrift Light" panose="020B0502040204020203" pitchFamily="34" charset="0"/>
              </a:rPr>
              <a:t>partes</a:t>
            </a:r>
            <a:r>
              <a:rPr lang="es-MX" sz="1200" dirty="0">
                <a:latin typeface="Bahnschrift Light" panose="020B0502040204020203" pitchFamily="34" charset="0"/>
              </a:rPr>
              <a:t> </a:t>
            </a:r>
            <a:r>
              <a:rPr lang="es-MX" sz="1200" b="1" dirty="0">
                <a:latin typeface="Bahnschrift Light" panose="020B0502040204020203" pitchFamily="34" charset="0"/>
              </a:rPr>
              <a:t>interesadas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define la </a:t>
            </a:r>
            <a:r>
              <a:rPr lang="es-MX" sz="1200" b="1" dirty="0">
                <a:latin typeface="Bahnschrift Light" panose="020B0502040204020203" pitchFamily="34" charset="0"/>
              </a:rPr>
              <a:t>visión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</a:t>
            </a:r>
            <a:r>
              <a:rPr lang="es-MX" sz="1200" b="1" dirty="0">
                <a:latin typeface="Bahnschrift Light" panose="020B0502040204020203" pitchFamily="34" charset="0"/>
              </a:rPr>
              <a:t>autoriza</a:t>
            </a:r>
            <a:r>
              <a:rPr lang="es-MX" sz="1200" dirty="0">
                <a:latin typeface="Bahnschrift Light" panose="020B0502040204020203" pitchFamily="34" charset="0"/>
              </a:rPr>
              <a:t> el proyecto.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</a:t>
            </a:r>
            <a:r>
              <a:rPr lang="es-MX" sz="1200" b="1" dirty="0">
                <a:latin typeface="Bahnschrift Light" panose="020B0502040204020203" pitchFamily="34" charset="0"/>
              </a:rPr>
              <a:t>asigna</a:t>
            </a:r>
            <a:r>
              <a:rPr lang="es-MX" sz="1200" dirty="0">
                <a:latin typeface="Bahnschrift Light" panose="020B0502040204020203" pitchFamily="34" charset="0"/>
              </a:rPr>
              <a:t> el </a:t>
            </a:r>
            <a:r>
              <a:rPr lang="es-MX" sz="1200" b="1" dirty="0">
                <a:latin typeface="Bahnschrift Light" panose="020B0502040204020203" pitchFamily="34" charset="0"/>
              </a:rPr>
              <a:t>director</a:t>
            </a:r>
            <a:r>
              <a:rPr lang="es-MX" sz="1200" dirty="0">
                <a:latin typeface="Bahnschrift Light" panose="020B0502040204020203" pitchFamily="34" charset="0"/>
              </a:rPr>
              <a:t> del proyecto.</a:t>
            </a:r>
          </a:p>
          <a:p>
            <a:endParaRPr lang="es-AR" dirty="0"/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Para definir la </a:t>
            </a:r>
            <a:r>
              <a:rPr lang="es-MX" sz="1200" b="1" dirty="0">
                <a:latin typeface="Bahnschrift Light" panose="020B0502040204020203" pitchFamily="34" charset="0"/>
              </a:rPr>
              <a:t>forma</a:t>
            </a:r>
            <a:r>
              <a:rPr lang="es-MX" sz="1200" dirty="0">
                <a:latin typeface="Bahnschrift Light" panose="020B0502040204020203" pitchFamily="34" charset="0"/>
              </a:rPr>
              <a:t> de </a:t>
            </a:r>
            <a:r>
              <a:rPr lang="es-MX" sz="1200" b="1" dirty="0">
                <a:latin typeface="Bahnschrift Light" panose="020B0502040204020203" pitchFamily="34" charset="0"/>
              </a:rPr>
              <a:t>hacer</a:t>
            </a:r>
            <a:r>
              <a:rPr lang="es-MX" sz="1200" dirty="0">
                <a:latin typeface="Bahnschrift Light" panose="020B0502040204020203" pitchFamily="34" charset="0"/>
              </a:rPr>
              <a:t> lo que se estableció en la fase anterior.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Para </a:t>
            </a:r>
            <a:r>
              <a:rPr lang="es-MX" sz="1200" b="1" dirty="0">
                <a:latin typeface="Bahnschrift Light" panose="020B0502040204020203" pitchFamily="34" charset="0"/>
              </a:rPr>
              <a:t>ahorrar</a:t>
            </a:r>
            <a:r>
              <a:rPr lang="es-MX" sz="1200" dirty="0">
                <a:latin typeface="Bahnschrift Light" panose="020B0502040204020203" pitchFamily="34" charset="0"/>
              </a:rPr>
              <a:t> recursos, tiempo y dinero.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Para aumentar la </a:t>
            </a:r>
            <a:r>
              <a:rPr lang="es-MX" sz="1200" b="1" dirty="0">
                <a:latin typeface="Bahnschrift Light" panose="020B0502040204020203" pitchFamily="34" charset="0"/>
              </a:rPr>
              <a:t>aceptación</a:t>
            </a:r>
            <a:r>
              <a:rPr lang="es-MX" sz="1200" dirty="0">
                <a:latin typeface="Bahnschrift Light" panose="020B0502040204020203" pitchFamily="34" charset="0"/>
              </a:rPr>
              <a:t> y el </a:t>
            </a:r>
            <a:r>
              <a:rPr lang="es-MX" sz="1200" b="1" dirty="0">
                <a:latin typeface="Bahnschrift Light" panose="020B0502040204020203" pitchFamily="34" charset="0"/>
              </a:rPr>
              <a:t>compromiso</a:t>
            </a:r>
            <a:r>
              <a:rPr lang="es-MX" sz="1200" dirty="0">
                <a:latin typeface="Bahnschrift Light" panose="020B0502040204020203" pitchFamily="34" charset="0"/>
              </a:rPr>
              <a:t> de los </a:t>
            </a:r>
            <a:r>
              <a:rPr lang="es-MX" sz="1200" b="1" dirty="0">
                <a:latin typeface="Bahnschrift Light" panose="020B0502040204020203" pitchFamily="34" charset="0"/>
              </a:rPr>
              <a:t>interesados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defTabSz="627063">
              <a:spcBef>
                <a:spcPts val="24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Para analizar si los </a:t>
            </a:r>
            <a:r>
              <a:rPr lang="es-MX" sz="1200" b="1" dirty="0">
                <a:latin typeface="Bahnschrift Light" panose="020B0502040204020203" pitchFamily="34" charset="0"/>
              </a:rPr>
              <a:t>objetivos</a:t>
            </a:r>
            <a:r>
              <a:rPr lang="es-MX" sz="1200" dirty="0">
                <a:latin typeface="Bahnschrift Light" panose="020B0502040204020203" pitchFamily="34" charset="0"/>
              </a:rPr>
              <a:t> se </a:t>
            </a:r>
            <a:r>
              <a:rPr lang="es-MX" sz="1200" b="1" dirty="0">
                <a:latin typeface="Bahnschrift Light" panose="020B0502040204020203" pitchFamily="34" charset="0"/>
              </a:rPr>
              <a:t>pueden</a:t>
            </a:r>
            <a:r>
              <a:rPr lang="es-MX" sz="1200" dirty="0">
                <a:latin typeface="Bahnschrift Light" panose="020B0502040204020203" pitchFamily="34" charset="0"/>
              </a:rPr>
              <a:t> </a:t>
            </a:r>
            <a:r>
              <a:rPr lang="es-MX" sz="1200" b="1" dirty="0">
                <a:latin typeface="Bahnschrift Light" panose="020B0502040204020203" pitchFamily="34" charset="0"/>
              </a:rPr>
              <a:t>alcanzar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endParaRPr lang="es-AR" dirty="0"/>
          </a:p>
          <a:p>
            <a:endParaRPr lang="es-AR" dirty="0"/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De </a:t>
            </a:r>
            <a:r>
              <a:rPr lang="es-MX" sz="1200" b="1" dirty="0">
                <a:latin typeface="Bahnschrift Light" panose="020B0502040204020203" pitchFamily="34" charset="0"/>
              </a:rPr>
              <a:t>completar</a:t>
            </a:r>
            <a:r>
              <a:rPr lang="es-MX" sz="1200" dirty="0">
                <a:latin typeface="Bahnschrift Light" panose="020B0502040204020203" pitchFamily="34" charset="0"/>
              </a:rPr>
              <a:t> el proyecto como se </a:t>
            </a:r>
            <a:r>
              <a:rPr lang="es-MX" sz="1200" b="1" dirty="0">
                <a:latin typeface="Bahnschrift Light" panose="020B0502040204020203" pitchFamily="34" charset="0"/>
              </a:rPr>
              <a:t>define</a:t>
            </a:r>
            <a:r>
              <a:rPr lang="es-MX" sz="1200" dirty="0">
                <a:latin typeface="Bahnschrift Light" panose="020B0502040204020203" pitchFamily="34" charset="0"/>
              </a:rPr>
              <a:t> en el </a:t>
            </a:r>
            <a:r>
              <a:rPr lang="es-MX" sz="1200" b="1" dirty="0">
                <a:latin typeface="Bahnschrift Light" panose="020B0502040204020203" pitchFamily="34" charset="0"/>
              </a:rPr>
              <a:t>plan</a:t>
            </a:r>
            <a:r>
              <a:rPr lang="es-MX" sz="1200" dirty="0">
                <a:latin typeface="Bahnschrift Light" panose="020B0502040204020203" pitchFamily="34" charset="0"/>
              </a:rPr>
              <a:t> para la dirección del proyecto.</a:t>
            </a:r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De </a:t>
            </a:r>
            <a:r>
              <a:rPr lang="es-MX" sz="1200" b="1" dirty="0">
                <a:latin typeface="Bahnschrift Light" panose="020B0502040204020203" pitchFamily="34" charset="0"/>
              </a:rPr>
              <a:t>cumplir</a:t>
            </a:r>
            <a:r>
              <a:rPr lang="es-MX" sz="1200" dirty="0">
                <a:latin typeface="Bahnschrift Light" panose="020B0502040204020203" pitchFamily="34" charset="0"/>
              </a:rPr>
              <a:t> con los </a:t>
            </a:r>
            <a:r>
              <a:rPr lang="es-MX" sz="1200" b="1" dirty="0">
                <a:latin typeface="Bahnschrift Light" panose="020B0502040204020203" pitchFamily="34" charset="0"/>
              </a:rPr>
              <a:t>objetivos</a:t>
            </a:r>
            <a:r>
              <a:rPr lang="es-MX" sz="1200" dirty="0">
                <a:latin typeface="Bahnschrift Light" panose="020B0502040204020203" pitchFamily="34" charset="0"/>
              </a:rPr>
              <a:t> del proyecto dentro del </a:t>
            </a:r>
            <a:r>
              <a:rPr lang="es-MX" sz="1200" b="1" dirty="0">
                <a:latin typeface="Bahnschrift Light" panose="020B0502040204020203" pitchFamily="34" charset="0"/>
              </a:rPr>
              <a:t>presupuesto</a:t>
            </a:r>
            <a:r>
              <a:rPr lang="es-MX" sz="1200" dirty="0">
                <a:latin typeface="Bahnschrift Light" panose="020B0502040204020203" pitchFamily="34" charset="0"/>
              </a:rPr>
              <a:t> y del </a:t>
            </a:r>
            <a:r>
              <a:rPr lang="es-MX" sz="1200" b="1" dirty="0">
                <a:latin typeface="Bahnschrift Light" panose="020B0502040204020203" pitchFamily="34" charset="0"/>
              </a:rPr>
              <a:t>cronograma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De </a:t>
            </a:r>
            <a:r>
              <a:rPr lang="es-MX" sz="1200" b="1" dirty="0">
                <a:latin typeface="Bahnschrift Light" panose="020B0502040204020203" pitchFamily="34" charset="0"/>
              </a:rPr>
              <a:t>gestionar</a:t>
            </a:r>
            <a:r>
              <a:rPr lang="es-MX" sz="1200" dirty="0">
                <a:latin typeface="Bahnschrift Light" panose="020B0502040204020203" pitchFamily="34" charset="0"/>
              </a:rPr>
              <a:t> a la </a:t>
            </a:r>
            <a:r>
              <a:rPr lang="es-MX" sz="1200" b="1" dirty="0">
                <a:latin typeface="Bahnschrift Light" panose="020B0502040204020203" pitchFamily="34" charset="0"/>
              </a:rPr>
              <a:t>gente</a:t>
            </a:r>
            <a:r>
              <a:rPr lang="es-MX" sz="1200" dirty="0">
                <a:latin typeface="Bahnschrift Light" panose="020B0502040204020203" pitchFamily="34" charset="0"/>
              </a:rPr>
              <a:t> y las </a:t>
            </a:r>
            <a:r>
              <a:rPr lang="es-MX" sz="1200" b="1" dirty="0">
                <a:latin typeface="Bahnschrift Light" panose="020B0502040204020203" pitchFamily="34" charset="0"/>
              </a:rPr>
              <a:t>comunicaciones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endParaRPr lang="es-AR" dirty="0"/>
          </a:p>
          <a:p>
            <a:endParaRPr lang="es-AR" dirty="0"/>
          </a:p>
          <a:p>
            <a:pPr marL="363538" lvl="1" indent="-363538" algn="just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El </a:t>
            </a:r>
            <a:r>
              <a:rPr lang="es-MX" sz="1200" b="1" dirty="0">
                <a:latin typeface="Bahnschrift Light" panose="020B0502040204020203" pitchFamily="34" charset="0"/>
              </a:rPr>
              <a:t>desempeño</a:t>
            </a:r>
            <a:r>
              <a:rPr lang="es-MX" sz="1200" dirty="0">
                <a:latin typeface="Bahnschrift Light" panose="020B0502040204020203" pitchFamily="34" charset="0"/>
              </a:rPr>
              <a:t> se </a:t>
            </a:r>
            <a:r>
              <a:rPr lang="es-MX" sz="1200" b="1" dirty="0">
                <a:latin typeface="Bahnschrift Light" panose="020B0502040204020203" pitchFamily="34" charset="0"/>
              </a:rPr>
              <a:t>mide</a:t>
            </a:r>
            <a:r>
              <a:rPr lang="es-MX" sz="1200" dirty="0">
                <a:latin typeface="Bahnschrift Light" panose="020B0502040204020203" pitchFamily="34" charset="0"/>
              </a:rPr>
              <a:t> y se analiza regularmente.</a:t>
            </a:r>
          </a:p>
          <a:p>
            <a:pPr marL="363538" lvl="1" indent="-363538" algn="just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identifican las </a:t>
            </a:r>
            <a:r>
              <a:rPr lang="es-MX" sz="1200" b="1" dirty="0">
                <a:latin typeface="Bahnschrift Light" panose="020B0502040204020203" pitchFamily="34" charset="0"/>
              </a:rPr>
              <a:t>variaciones</a:t>
            </a:r>
            <a:r>
              <a:rPr lang="es-MX" sz="1200" dirty="0">
                <a:latin typeface="Bahnschrift Light" panose="020B0502040204020203" pitchFamily="34" charset="0"/>
              </a:rPr>
              <a:t> del </a:t>
            </a:r>
            <a:r>
              <a:rPr lang="es-MX" sz="1200" b="1" dirty="0">
                <a:latin typeface="Bahnschrift Light" panose="020B0502040204020203" pitchFamily="34" charset="0"/>
              </a:rPr>
              <a:t>plan</a:t>
            </a:r>
            <a:r>
              <a:rPr lang="es-MX" sz="1200" dirty="0">
                <a:latin typeface="Bahnschrift Light" panose="020B0502040204020203" pitchFamily="34" charset="0"/>
              </a:rPr>
              <a:t> para la dirección del proyecto.</a:t>
            </a:r>
          </a:p>
          <a:p>
            <a:pPr marL="363538" lvl="1" indent="-363538" algn="just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controlan los </a:t>
            </a:r>
            <a:r>
              <a:rPr lang="es-MX" sz="1200" b="1" dirty="0">
                <a:latin typeface="Bahnschrift Light" panose="020B0502040204020203" pitchFamily="34" charset="0"/>
              </a:rPr>
              <a:t>cambios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algn="just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Se proporciona visibilidad de la </a:t>
            </a:r>
            <a:r>
              <a:rPr lang="es-MX" sz="1200" b="1" dirty="0">
                <a:latin typeface="Bahnschrift Light" panose="020B0502040204020203" pitchFamily="34" charset="0"/>
              </a:rPr>
              <a:t>salud</a:t>
            </a:r>
            <a:r>
              <a:rPr lang="es-MX" sz="1200" dirty="0">
                <a:latin typeface="Bahnschrift Light" panose="020B0502040204020203" pitchFamily="34" charset="0"/>
              </a:rPr>
              <a:t> del </a:t>
            </a:r>
            <a:r>
              <a:rPr lang="es-MX" sz="1200" b="1" dirty="0">
                <a:latin typeface="Bahnschrift Light" panose="020B0502040204020203" pitchFamily="34" charset="0"/>
              </a:rPr>
              <a:t>proyecto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endParaRPr lang="es-AR" dirty="0"/>
          </a:p>
          <a:p>
            <a:endParaRPr lang="es-AR" dirty="0"/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Obtener la </a:t>
            </a:r>
            <a:r>
              <a:rPr lang="es-MX" sz="1200" b="1" dirty="0">
                <a:latin typeface="Bahnschrift Light" panose="020B0502040204020203" pitchFamily="34" charset="0"/>
              </a:rPr>
              <a:t>aceptación</a:t>
            </a:r>
            <a:r>
              <a:rPr lang="es-MX" sz="1200" dirty="0">
                <a:latin typeface="Bahnschrift Light" panose="020B0502040204020203" pitchFamily="34" charset="0"/>
              </a:rPr>
              <a:t> del </a:t>
            </a:r>
            <a:r>
              <a:rPr lang="es-MX" sz="1200" b="1" dirty="0">
                <a:latin typeface="Bahnschrift Light" panose="020B0502040204020203" pitchFamily="34" charset="0"/>
              </a:rPr>
              <a:t>cliente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Hacer </a:t>
            </a:r>
            <a:r>
              <a:rPr lang="es-MX" sz="1200" b="1" dirty="0">
                <a:latin typeface="Bahnschrift Light" panose="020B0502040204020203" pitchFamily="34" charset="0"/>
              </a:rPr>
              <a:t>revisiones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Registrar las </a:t>
            </a:r>
            <a:r>
              <a:rPr lang="es-MX" sz="1200" b="1" dirty="0">
                <a:latin typeface="Bahnschrift Light" panose="020B0502040204020203" pitchFamily="34" charset="0"/>
              </a:rPr>
              <a:t>lecciones</a:t>
            </a:r>
            <a:r>
              <a:rPr lang="es-MX" sz="1200" dirty="0">
                <a:latin typeface="Bahnschrift Light" panose="020B0502040204020203" pitchFamily="34" charset="0"/>
              </a:rPr>
              <a:t> </a:t>
            </a:r>
            <a:r>
              <a:rPr lang="es-MX" sz="1200" b="1" dirty="0">
                <a:latin typeface="Bahnschrift Light" panose="020B0502040204020203" pitchFamily="34" charset="0"/>
              </a:rPr>
              <a:t>aprendidas</a:t>
            </a:r>
            <a:r>
              <a:rPr lang="es-MX" sz="1200" dirty="0">
                <a:latin typeface="Bahnschrift Light" panose="020B0502040204020203" pitchFamily="34" charset="0"/>
              </a:rPr>
              <a:t> y archivar todos los </a:t>
            </a:r>
            <a:r>
              <a:rPr lang="es-MX" sz="1200" b="1" dirty="0">
                <a:latin typeface="Bahnschrift Light" panose="020B0502040204020203" pitchFamily="34" charset="0"/>
              </a:rPr>
              <a:t>documentos</a:t>
            </a:r>
            <a:r>
              <a:rPr lang="es-MX" sz="1200" dirty="0">
                <a:latin typeface="Bahnschrift Light" panose="020B0502040204020203" pitchFamily="34" charset="0"/>
              </a:rPr>
              <a:t> del proyecto.</a:t>
            </a:r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dirty="0">
                <a:latin typeface="Bahnschrift Light" panose="020B0502040204020203" pitchFamily="34" charset="0"/>
              </a:rPr>
              <a:t>Actualizar los </a:t>
            </a:r>
            <a:r>
              <a:rPr lang="es-MX" sz="1200" b="1" dirty="0">
                <a:latin typeface="Bahnschrift Light" panose="020B0502040204020203" pitchFamily="34" charset="0"/>
              </a:rPr>
              <a:t>activos</a:t>
            </a:r>
            <a:r>
              <a:rPr lang="es-MX" sz="1200" dirty="0">
                <a:latin typeface="Bahnschrift Light" panose="020B0502040204020203" pitchFamily="34" charset="0"/>
              </a:rPr>
              <a:t> de los </a:t>
            </a:r>
            <a:r>
              <a:rPr lang="es-MX" sz="1200" b="1" dirty="0">
                <a:latin typeface="Bahnschrift Light" panose="020B0502040204020203" pitchFamily="34" charset="0"/>
              </a:rPr>
              <a:t>procesos</a:t>
            </a:r>
            <a:r>
              <a:rPr lang="es-MX" sz="1200" dirty="0">
                <a:latin typeface="Bahnschrift Light" panose="020B0502040204020203" pitchFamily="34" charset="0"/>
              </a:rPr>
              <a:t> de la organización.</a:t>
            </a:r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b="1" dirty="0">
                <a:latin typeface="Bahnschrift Light" panose="020B0502040204020203" pitchFamily="34" charset="0"/>
              </a:rPr>
              <a:t>Terminar</a:t>
            </a:r>
            <a:r>
              <a:rPr lang="es-MX" sz="1200" dirty="0">
                <a:latin typeface="Bahnschrift Light" panose="020B0502040204020203" pitchFamily="34" charset="0"/>
              </a:rPr>
              <a:t> cualquier </a:t>
            </a:r>
            <a:r>
              <a:rPr lang="es-MX" sz="1200" b="1" dirty="0">
                <a:latin typeface="Bahnschrift Light" panose="020B0502040204020203" pitchFamily="34" charset="0"/>
              </a:rPr>
              <a:t>acuerdo</a:t>
            </a:r>
            <a:r>
              <a:rPr lang="es-MX" sz="1200" dirty="0">
                <a:latin typeface="Bahnschrift Light" panose="020B0502040204020203" pitchFamily="34" charset="0"/>
              </a:rPr>
              <a:t> </a:t>
            </a:r>
            <a:r>
              <a:rPr lang="es-MX" sz="1200" b="1" dirty="0">
                <a:latin typeface="Bahnschrift Light" panose="020B0502040204020203" pitchFamily="34" charset="0"/>
              </a:rPr>
              <a:t>relevante</a:t>
            </a:r>
            <a:r>
              <a:rPr lang="es-MX" sz="1200" dirty="0">
                <a:latin typeface="Bahnschrift Light" panose="020B0502040204020203" pitchFamily="34" charset="0"/>
              </a:rPr>
              <a:t>.</a:t>
            </a:r>
          </a:p>
          <a:p>
            <a:pPr marL="363538" lvl="1" indent="-363538" defTabSz="627063">
              <a:spcBef>
                <a:spcPts val="3000"/>
              </a:spcBef>
              <a:buClr>
                <a:srgbClr val="000000"/>
              </a:buClr>
              <a:buSzPct val="100000"/>
              <a:buFont typeface="Arial" charset="0"/>
              <a:buChar char="●"/>
            </a:pPr>
            <a:r>
              <a:rPr lang="es-MX" sz="1200" b="1" dirty="0">
                <a:latin typeface="Bahnschrift Light" panose="020B0502040204020203" pitchFamily="34" charset="0"/>
              </a:rPr>
              <a:t>Valorar</a:t>
            </a:r>
            <a:r>
              <a:rPr lang="es-MX" sz="1200" dirty="0">
                <a:latin typeface="Bahnschrift Light" panose="020B0502040204020203" pitchFamily="34" charset="0"/>
              </a:rPr>
              <a:t> a los </a:t>
            </a:r>
            <a:r>
              <a:rPr lang="es-MX" sz="1200" b="1" dirty="0">
                <a:latin typeface="Bahnschrift Light" panose="020B0502040204020203" pitchFamily="34" charset="0"/>
              </a:rPr>
              <a:t>miembros</a:t>
            </a:r>
            <a:r>
              <a:rPr lang="es-MX" sz="1200" dirty="0">
                <a:latin typeface="Bahnschrift Light" panose="020B0502040204020203" pitchFamily="34" charset="0"/>
              </a:rPr>
              <a:t> del equipo y </a:t>
            </a:r>
            <a:r>
              <a:rPr lang="es-MX" sz="1200" b="1" dirty="0">
                <a:latin typeface="Bahnschrift Light" panose="020B0502040204020203" pitchFamily="34" charset="0"/>
              </a:rPr>
              <a:t>liberar</a:t>
            </a:r>
            <a:r>
              <a:rPr lang="es-MX" sz="1200" dirty="0">
                <a:latin typeface="Bahnschrift Light" panose="020B0502040204020203" pitchFamily="34" charset="0"/>
              </a:rPr>
              <a:t> los </a:t>
            </a:r>
            <a:r>
              <a:rPr lang="es-MX" sz="1200" b="1" dirty="0">
                <a:latin typeface="Bahnschrift Light" panose="020B0502040204020203" pitchFamily="34" charset="0"/>
              </a:rPr>
              <a:t>recursos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95362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Gestión de </a:t>
            </a:r>
            <a:r>
              <a:rPr lang="es-AR" sz="6600" b="1" dirty="0">
                <a:solidFill>
                  <a:prstClr val="white"/>
                </a:solidFill>
              </a:rPr>
              <a:t>proyectos</a:t>
            </a:r>
            <a:endParaRPr kumimoji="0" lang="es-AR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8F0B92-3082-0AEA-3804-B4940F68E6A6}"/>
              </a:ext>
            </a:extLst>
          </p:cNvPr>
          <p:cNvSpPr txBox="1">
            <a:spLocks/>
          </p:cNvSpPr>
          <p:nvPr/>
        </p:nvSpPr>
        <p:spPr>
          <a:xfrm>
            <a:off x="457200" y="595614"/>
            <a:ext cx="8722659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Gestión de proyectos</a:t>
            </a:r>
          </a:p>
        </p:txBody>
      </p:sp>
      <p:sp>
        <p:nvSpPr>
          <p:cNvPr id="4" name="Google Shape;139;g2b231880ae5_0_102">
            <a:extLst>
              <a:ext uri="{FF2B5EF4-FFF2-40B4-BE49-F238E27FC236}">
                <a16:creationId xmlns:a16="http://schemas.microsoft.com/office/drawing/2014/main" id="{F70CC852-3399-2F78-6DD1-958E252E7956}"/>
              </a:ext>
            </a:extLst>
          </p:cNvPr>
          <p:cNvSpPr txBox="1"/>
          <p:nvPr/>
        </p:nvSpPr>
        <p:spPr>
          <a:xfrm>
            <a:off x="457200" y="1726772"/>
            <a:ext cx="8613058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"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</a:pPr>
            <a:r>
              <a:rPr lang="es-AR" sz="2600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 proyecto es un esfuerzo temporal que se lleva a cabo para crear un </a:t>
            </a:r>
            <a:r>
              <a:rPr lang="es-AR" sz="2600" b="1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producto, servicio o resultado único</a:t>
            </a:r>
            <a:r>
              <a:rPr lang="es-AR" sz="2600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57150"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</a:pPr>
            <a:endParaRPr lang="es-AR" sz="2600" dirty="0">
              <a:solidFill>
                <a:schemeClr val="tx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"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</a:pPr>
            <a:r>
              <a:rPr lang="es-AR" sz="2600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 dirección de proyectos es la </a:t>
            </a:r>
            <a:r>
              <a:rPr lang="es-AR" sz="2600" b="1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aplicación del conocimiento, habilidades, técnicas y herramientas para ejecutar los proyectos </a:t>
            </a:r>
            <a:r>
              <a:rPr lang="es-AR" sz="2600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en forma eficiente y efectiva.</a:t>
            </a:r>
          </a:p>
          <a:p>
            <a:pPr marL="57150"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</a:pPr>
            <a:endParaRPr lang="es-AR" sz="2600" dirty="0">
              <a:solidFill>
                <a:schemeClr val="tx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"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</a:pPr>
            <a:r>
              <a:rPr lang="es-AR" sz="2600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El director de proyecto es el responsable de que </a:t>
            </a:r>
            <a:r>
              <a:rPr lang="es-AR" sz="2600" b="1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el proyecto alcance los objetivos para los que fue creado</a:t>
            </a:r>
            <a:r>
              <a:rPr lang="es-AR" sz="2600" dirty="0">
                <a:solidFill>
                  <a:schemeClr val="tx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. Es el vínculo entre la estrategia de la organización y el equipo de proyecto.</a:t>
            </a:r>
          </a:p>
        </p:txBody>
      </p:sp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La teoría de la triple restricción de los proyectos | Smartsheet">
            <a:extLst>
              <a:ext uri="{FF2B5EF4-FFF2-40B4-BE49-F238E27FC236}">
                <a16:creationId xmlns:a16="http://schemas.microsoft.com/office/drawing/2014/main" id="{92223041-BF59-5378-12AA-38CC2B313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81"/>
          <a:stretch/>
        </p:blipFill>
        <p:spPr bwMode="auto">
          <a:xfrm>
            <a:off x="4887853" y="1907403"/>
            <a:ext cx="4528130" cy="4354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8F0B92-3082-0AEA-3804-B4940F68E6A6}"/>
              </a:ext>
            </a:extLst>
          </p:cNvPr>
          <p:cNvSpPr txBox="1">
            <a:spLocks/>
          </p:cNvSpPr>
          <p:nvPr/>
        </p:nvSpPr>
        <p:spPr>
          <a:xfrm>
            <a:off x="424925" y="653670"/>
            <a:ext cx="8722659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Restricciones</a:t>
            </a:r>
          </a:p>
        </p:txBody>
      </p:sp>
      <p:pic>
        <p:nvPicPr>
          <p:cNvPr id="2050" name="Picture 2" descr="La teoría de la triple restricción de los proyectos | Smartsheet">
            <a:extLst>
              <a:ext uri="{FF2B5EF4-FFF2-40B4-BE49-F238E27FC236}">
                <a16:creationId xmlns:a16="http://schemas.microsoft.com/office/drawing/2014/main" id="{2CF8139F-96BB-F801-577B-62A3FEC04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6"/>
          <a:stretch/>
        </p:blipFill>
        <p:spPr bwMode="auto">
          <a:xfrm>
            <a:off x="213629" y="1907403"/>
            <a:ext cx="4907061" cy="409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04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74B102-202E-BE19-BFB6-7280D3C9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8" y="1732805"/>
            <a:ext cx="8327858" cy="4633362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B479FAD-7062-B215-B0B6-95D2A9003890}"/>
              </a:ext>
            </a:extLst>
          </p:cNvPr>
          <p:cNvSpPr txBox="1">
            <a:spLocks/>
          </p:cNvSpPr>
          <p:nvPr/>
        </p:nvSpPr>
        <p:spPr>
          <a:xfrm>
            <a:off x="426927" y="639157"/>
            <a:ext cx="8722659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Áreas de conocimiento</a:t>
            </a:r>
          </a:p>
        </p:txBody>
      </p:sp>
    </p:spTree>
    <p:extLst>
      <p:ext uri="{BB962C8B-B14F-4D97-AF65-F5344CB8AC3E}">
        <p14:creationId xmlns:p14="http://schemas.microsoft.com/office/powerpoint/2010/main" val="278306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2A72804-3110-5845-87BA-913D23C3ADC1}"/>
              </a:ext>
            </a:extLst>
          </p:cNvPr>
          <p:cNvSpPr txBox="1">
            <a:spLocks/>
          </p:cNvSpPr>
          <p:nvPr/>
        </p:nvSpPr>
        <p:spPr>
          <a:xfrm>
            <a:off x="457200" y="595614"/>
            <a:ext cx="8722659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Ciclo de vida de un proyecto</a:t>
            </a:r>
          </a:p>
        </p:txBody>
      </p:sp>
      <p:pic>
        <p:nvPicPr>
          <p:cNvPr id="1026" name="Picture 2" descr="Ciclo de vida del proyecto - TodoPMP : TodoPMP">
            <a:extLst>
              <a:ext uri="{FF2B5EF4-FFF2-40B4-BE49-F238E27FC236}">
                <a16:creationId xmlns:a16="http://schemas.microsoft.com/office/drawing/2014/main" id="{1EDC5077-920D-0997-A3A9-A3EDE138A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88" y="1977024"/>
            <a:ext cx="7684994" cy="404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FED382-D56C-F003-D96A-686D4EEBC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7" y="1894114"/>
            <a:ext cx="8573046" cy="4354563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499D75B-E12E-037F-D821-8E5C93BBED96}"/>
              </a:ext>
            </a:extLst>
          </p:cNvPr>
          <p:cNvSpPr txBox="1">
            <a:spLocks/>
          </p:cNvSpPr>
          <p:nvPr/>
        </p:nvSpPr>
        <p:spPr>
          <a:xfrm>
            <a:off x="457200" y="595614"/>
            <a:ext cx="9296400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Etapas de la administración de proyectos</a:t>
            </a:r>
          </a:p>
        </p:txBody>
      </p:sp>
    </p:spTree>
    <p:extLst>
      <p:ext uri="{BB962C8B-B14F-4D97-AF65-F5344CB8AC3E}">
        <p14:creationId xmlns:p14="http://schemas.microsoft.com/office/powerpoint/2010/main" val="4036460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4619BA-3AAD-ED40-A60E-D91A22153C0E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¿Preguntas?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84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299BB7DBAB604CBF92CED6F341956D" ma:contentTypeVersion="3" ma:contentTypeDescription="Crear nuevo documento." ma:contentTypeScope="" ma:versionID="9afc5c629d1fa4daa758eae5c0ffce08">
  <xsd:schema xmlns:xsd="http://www.w3.org/2001/XMLSchema" xmlns:xs="http://www.w3.org/2001/XMLSchema" xmlns:p="http://schemas.microsoft.com/office/2006/metadata/properties" xmlns:ns2="0fd8070d-56ff-4b43-b705-64ae6a394890" targetNamespace="http://schemas.microsoft.com/office/2006/metadata/properties" ma:root="true" ma:fieldsID="e452753519e258a995a8d5047b5119ca" ns2:_="">
    <xsd:import namespace="0fd8070d-56ff-4b43-b705-64ae6a394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070d-56ff-4b43-b705-64ae6a394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B7BA65-A9F6-4E22-9E0F-E67E809EC6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d8070d-56ff-4b43-b705-64ae6a3948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1803CA-FEBB-4A0D-BD4D-E9503F1B167C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b5f0631a-2ac1-434a-9e75-b23938e5739a"/>
    <ds:schemaRef ds:uri="http://schemas.microsoft.com/office/2006/documentManagement/types"/>
    <ds:schemaRef ds:uri="http://purl.org/dc/dcmitype/"/>
    <ds:schemaRef ds:uri="232756c5-2869-4da6-aa3d-6ef32daae75e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96</TotalTime>
  <Words>410</Words>
  <Application>Microsoft Office PowerPoint</Application>
  <PresentationFormat>Widescreen</PresentationFormat>
  <Paragraphs>50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Tema de Office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Daldin Susana</cp:lastModifiedBy>
  <cp:revision>23</cp:revision>
  <dcterms:created xsi:type="dcterms:W3CDTF">2022-08-30T18:57:15Z</dcterms:created>
  <dcterms:modified xsi:type="dcterms:W3CDTF">2026-08-31T15:27:48Z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0x01010019299BB7DBAB604CBF92CED6F341956D</vt:lpwstr>
  </property>
  <property fmtid="{D5CDD505-2E9C-101B-9397-08002B2CF9AE}" pid="3" name="MediaServiceImageTags">
    <vt:lpwstr/>
  </property>
</Properties>
</file>