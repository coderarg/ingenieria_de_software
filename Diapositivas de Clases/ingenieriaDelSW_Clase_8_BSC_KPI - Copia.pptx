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8"/>
  </p:notesMasterIdLst>
  <p:sldIdLst>
    <p:sldId id="522" r:id="rId5"/>
    <p:sldId id="527" r:id="rId6"/>
    <p:sldId id="523" r:id="rId7"/>
    <p:sldId id="258" r:id="rId8"/>
    <p:sldId id="528" r:id="rId9"/>
    <p:sldId id="521" r:id="rId10"/>
    <p:sldId id="529" r:id="rId11"/>
    <p:sldId id="532" r:id="rId12"/>
    <p:sldId id="533" r:id="rId13"/>
    <p:sldId id="534" r:id="rId14"/>
    <p:sldId id="535" r:id="rId15"/>
    <p:sldId id="536" r:id="rId16"/>
    <p:sldId id="537" r:id="rId17"/>
    <p:sldId id="260" r:id="rId18"/>
    <p:sldId id="530" r:id="rId19"/>
    <p:sldId id="398" r:id="rId20"/>
    <p:sldId id="399" r:id="rId21"/>
    <p:sldId id="531" r:id="rId22"/>
    <p:sldId id="524" r:id="rId23"/>
    <p:sldId id="525" r:id="rId24"/>
    <p:sldId id="538" r:id="rId25"/>
    <p:sldId id="526" r:id="rId26"/>
    <p:sldId id="268" r:id="rId27"/>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2BFD95-94C7-267C-F758-35D05A38E46D}" v="16" dt="2026-09-22T10:00:53.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9.xml" Id="rId13" /><Relationship Type="http://schemas.openxmlformats.org/officeDocument/2006/relationships/slide" Target="slides/slide14.xml" Id="rId18" /><Relationship Type="http://schemas.openxmlformats.org/officeDocument/2006/relationships/slide" Target="slides/slide22.xml" Id="rId26" /><Relationship Type="http://schemas.openxmlformats.org/officeDocument/2006/relationships/customXml" Target="../customXml/item3.xml" Id="rId3" /><Relationship Type="http://schemas.openxmlformats.org/officeDocument/2006/relationships/slide" Target="slides/slide17.xml" Id="rId21" /><Relationship Type="http://schemas.microsoft.com/office/2015/10/relationships/revisionInfo" Target="revisionInfo.xml" Id="rId34" /><Relationship Type="http://schemas.openxmlformats.org/officeDocument/2006/relationships/slide" Target="slides/slide3.xml" Id="rId7" /><Relationship Type="http://schemas.openxmlformats.org/officeDocument/2006/relationships/slide" Target="slides/slide8.xml" Id="rId12" /><Relationship Type="http://schemas.openxmlformats.org/officeDocument/2006/relationships/slide" Target="slides/slide13.xml" Id="rId17" /><Relationship Type="http://schemas.openxmlformats.org/officeDocument/2006/relationships/slide" Target="slides/slide21.xml" Id="rId25" /><Relationship Type="http://schemas.openxmlformats.org/officeDocument/2006/relationships/customXml" Target="../customXml/item2.xml" Id="rId2" /><Relationship Type="http://schemas.openxmlformats.org/officeDocument/2006/relationships/slide" Target="slides/slide12.xml" Id="rId16" /><Relationship Type="http://schemas.openxmlformats.org/officeDocument/2006/relationships/slide" Target="slides/slide16.xml" Id="rId20" /><Relationship Type="http://schemas.openxmlformats.org/officeDocument/2006/relationships/presProps" Target="presProps.xml" Id="rId29" /><Relationship Type="http://schemas.openxmlformats.org/officeDocument/2006/relationships/customXml" Target="../customXml/item1.xml" Id="rId1" /><Relationship Type="http://schemas.openxmlformats.org/officeDocument/2006/relationships/slide" Target="slides/slide2.xml" Id="rId6" /><Relationship Type="http://schemas.openxmlformats.org/officeDocument/2006/relationships/slide" Target="slides/slide7.xml" Id="rId11" /><Relationship Type="http://schemas.openxmlformats.org/officeDocument/2006/relationships/slide" Target="slides/slide20.xml" Id="rId24" /><Relationship Type="http://schemas.openxmlformats.org/officeDocument/2006/relationships/tableStyles" Target="tableStyles.xml" Id="rId32" /><Relationship Type="http://schemas.openxmlformats.org/officeDocument/2006/relationships/slide" Target="slides/slide1.xml" Id="rId5" /><Relationship Type="http://schemas.openxmlformats.org/officeDocument/2006/relationships/slide" Target="slides/slide11.xml" Id="rId15" /><Relationship Type="http://schemas.openxmlformats.org/officeDocument/2006/relationships/slide" Target="slides/slide19.xml" Id="rId23" /><Relationship Type="http://schemas.openxmlformats.org/officeDocument/2006/relationships/notesMaster" Target="notesMasters/notesMaster1.xml" Id="rId28" /><Relationship Type="http://schemas.openxmlformats.org/officeDocument/2006/relationships/slide" Target="slides/slide6.xml" Id="rId10" /><Relationship Type="http://schemas.openxmlformats.org/officeDocument/2006/relationships/slide" Target="slides/slide15.xml" Id="rId19" /><Relationship Type="http://schemas.openxmlformats.org/officeDocument/2006/relationships/theme" Target="theme/theme1.xml" Id="rId31" /><Relationship Type="http://schemas.openxmlformats.org/officeDocument/2006/relationships/slideMaster" Target="slideMasters/slideMaster1.xml" Id="rId4" /><Relationship Type="http://schemas.openxmlformats.org/officeDocument/2006/relationships/slide" Target="slides/slide5.xml" Id="rId9" /><Relationship Type="http://schemas.openxmlformats.org/officeDocument/2006/relationships/slide" Target="slides/slide10.xml" Id="rId14" /><Relationship Type="http://schemas.openxmlformats.org/officeDocument/2006/relationships/slide" Target="slides/slide18.xml" Id="rId22" /><Relationship Type="http://schemas.openxmlformats.org/officeDocument/2006/relationships/slide" Target="slides/slide23.xml" Id="rId27" /><Relationship Type="http://schemas.openxmlformats.org/officeDocument/2006/relationships/viewProps" Target="viewProps.xml" Id="rId30" /><Relationship Type="http://schemas.openxmlformats.org/officeDocument/2006/relationships/slide" Target="slides/slide4.xml" Id="rId8"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6A6A6-18DA-453A-8628-52A7AAA53854}" type="datetimeFigureOut">
              <a:rPr lang="es-AR" smtClean="0"/>
              <a:t>22/9/2026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BC5E8F-412D-4A04-B5FB-B19E77C5801B}" type="slidenum">
              <a:rPr lang="es-AR" smtClean="0"/>
              <a:t>‹#›</a:t>
            </a:fld>
            <a:endParaRPr lang="es-AR"/>
          </a:p>
        </p:txBody>
      </p:sp>
    </p:spTree>
    <p:extLst>
      <p:ext uri="{BB962C8B-B14F-4D97-AF65-F5344CB8AC3E}">
        <p14:creationId xmlns:p14="http://schemas.microsoft.com/office/powerpoint/2010/main" val="182243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8599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23</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D363CCD-918D-49D9-A937-B66382725C69}" type="datetime1">
              <a:rPr lang="en-US" smtClean="0"/>
              <a:t>9/22/2026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3414223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572E9-8284-4DAB-B083-C976209CD501}"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3259635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3CE069F7-A2B0-46C6-9942-1E01DF727345}" type="datetime1">
              <a:rPr lang="en-US" smtClean="0"/>
              <a:t>9/22/2026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2435782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35648D-1AAC-442A-BE08-A753ACC942C9}"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06461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8E1BD0-9FC0-4223-8250-C9357358B652}" type="datetime1">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301622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472FAC8-CF24-4691-8AEF-B791BAF20B65}" type="datetime1">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4230989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83714C-9436-463F-B69C-3F03620765A9}" type="datetime1">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85444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14DE434-17CB-4DD2-8A89-714DED8DE3E4}" type="datetime1">
              <a:rPr lang="en-US" smtClean="0"/>
              <a:t>9/22/2026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402097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F3974C-725F-4E4F-AEC2-C61E32F4FDE7}"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26508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788B39-AE94-48A7-925A-C172BA6D4FE4}"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23002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57558A8-5D11-49CE-8A5E-D823744F692B}" type="datetime1">
              <a:rPr lang="en-US" smtClean="0"/>
              <a:t>9/22/2026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295814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0AB17B0-E524-4FAF-9902-5ADDA4C032C1}" type="datetime1">
              <a:rPr lang="en-US" smtClean="0"/>
              <a:t>9/22/2026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095562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Marcador de número de diapositiva 1">
            <a:extLst>
              <a:ext uri="{FF2B5EF4-FFF2-40B4-BE49-F238E27FC236}">
                <a16:creationId xmlns:a16="http://schemas.microsoft.com/office/drawing/2014/main" id="{A95C534B-3FD4-FB77-D350-AE5CFF392771}"/>
              </a:ext>
            </a:extLst>
          </p:cNvPr>
          <p:cNvSpPr>
            <a:spLocks noGrp="1"/>
          </p:cNvSpPr>
          <p:nvPr>
            <p:ph type="sldNum" sz="quarter" idx="12"/>
          </p:nvPr>
        </p:nvSpPr>
        <p:spPr/>
        <p:txBody>
          <a:bodyPr/>
          <a:lstStyle/>
          <a:p>
            <a:fld id="{0E40E506-8910-4A1D-9597-9E72BD293B97}" type="slidenum">
              <a:rPr lang="en-US" smtClean="0"/>
              <a:t>1</a:t>
            </a:fld>
            <a:endParaRPr lang="en-US"/>
          </a:p>
        </p:txBody>
      </p:sp>
    </p:spTree>
    <p:extLst>
      <p:ext uri="{BB962C8B-B14F-4D97-AF65-F5344CB8AC3E}">
        <p14:creationId xmlns:p14="http://schemas.microsoft.com/office/powerpoint/2010/main" val="241353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D9352CA1-58B9-4DB8-CC1D-3DF4375ACB71}"/>
              </a:ext>
            </a:extLst>
          </p:cNvPr>
          <p:cNvSpPr txBox="1"/>
          <p:nvPr/>
        </p:nvSpPr>
        <p:spPr>
          <a:xfrm>
            <a:off x="658640" y="5360428"/>
            <a:ext cx="6097508" cy="769441"/>
          </a:xfrm>
          <a:prstGeom prst="rect">
            <a:avLst/>
          </a:prstGeom>
          <a:noFill/>
        </p:spPr>
        <p:txBody>
          <a:bodyPr wrap="square">
            <a:spAutoFit/>
          </a:bodyPr>
          <a:lstStyle/>
          <a:p>
            <a:r>
              <a:rPr lang="es-AR" sz="4400">
                <a:solidFill>
                  <a:schemeClr val="bg1"/>
                </a:solidFill>
              </a:rPr>
              <a:t>Principios</a:t>
            </a:r>
            <a:r>
              <a:rPr lang="es-AR" sz="4400" spc="-95">
                <a:solidFill>
                  <a:schemeClr val="bg1"/>
                </a:solidFill>
              </a:rPr>
              <a:t> </a:t>
            </a:r>
            <a:r>
              <a:rPr lang="es-AR" sz="4400">
                <a:solidFill>
                  <a:schemeClr val="bg1"/>
                </a:solidFill>
              </a:rPr>
              <a:t>del</a:t>
            </a:r>
            <a:r>
              <a:rPr lang="es-AR" sz="4400" spc="-90">
                <a:solidFill>
                  <a:schemeClr val="bg1"/>
                </a:solidFill>
              </a:rPr>
              <a:t> </a:t>
            </a:r>
            <a:r>
              <a:rPr lang="es-AR" sz="4400" spc="-25">
                <a:solidFill>
                  <a:schemeClr val="bg1"/>
                </a:solidFill>
              </a:rPr>
              <a:t>BSC</a:t>
            </a:r>
            <a:endParaRPr lang="es-AR" sz="4400">
              <a:solidFill>
                <a:schemeClr val="bg1"/>
              </a:solidFill>
            </a:endParaRPr>
          </a:p>
        </p:txBody>
      </p:sp>
      <p:sp>
        <p:nvSpPr>
          <p:cNvPr id="2" name="Marcador de número de diapositiva 1">
            <a:extLst>
              <a:ext uri="{FF2B5EF4-FFF2-40B4-BE49-F238E27FC236}">
                <a16:creationId xmlns:a16="http://schemas.microsoft.com/office/drawing/2014/main" id="{2FD82A6A-AF81-EB9C-E525-3D9843FE3D5F}"/>
              </a:ext>
            </a:extLst>
          </p:cNvPr>
          <p:cNvSpPr>
            <a:spLocks noGrp="1"/>
          </p:cNvSpPr>
          <p:nvPr>
            <p:ph type="sldNum" sz="quarter" idx="12"/>
          </p:nvPr>
        </p:nvSpPr>
        <p:spPr/>
        <p:txBody>
          <a:bodyPr/>
          <a:lstStyle/>
          <a:p>
            <a:fld id="{0E40E506-8910-4A1D-9597-9E72BD293B97}" type="slidenum">
              <a:rPr lang="en-US" smtClean="0"/>
              <a:t>2</a:t>
            </a:fld>
            <a:endParaRPr lang="en-US"/>
          </a:p>
        </p:txBody>
      </p:sp>
    </p:spTree>
    <p:extLst>
      <p:ext uri="{BB962C8B-B14F-4D97-AF65-F5344CB8AC3E}">
        <p14:creationId xmlns:p14="http://schemas.microsoft.com/office/powerpoint/2010/main" val="4227023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2435FC-D1C3-5C36-8D69-3E8C06DBAB41}"/>
              </a:ext>
            </a:extLst>
          </p:cNvPr>
          <p:cNvSpPr>
            <a:spLocks noGrp="1"/>
          </p:cNvSpPr>
          <p:nvPr>
            <p:ph idx="1"/>
          </p:nvPr>
        </p:nvSpPr>
        <p:spPr/>
        <p:txBody>
          <a:bodyPr/>
          <a:lstStyle/>
          <a:p>
            <a:pPr algn="just"/>
            <a:r>
              <a:rPr lang="es-MX" b="0" i="0">
                <a:solidFill>
                  <a:schemeClr val="accent1"/>
                </a:solidFill>
                <a:effectLst/>
                <a:latin typeface="TWK Lausanne"/>
              </a:rPr>
              <a:t>El cuadro de mando integral (CMI) o también conocido como </a:t>
            </a:r>
            <a:r>
              <a:rPr lang="es-MX" b="0" i="0" err="1">
                <a:solidFill>
                  <a:schemeClr val="accent1"/>
                </a:solidFill>
                <a:effectLst/>
                <a:latin typeface="TWK Lausanne"/>
              </a:rPr>
              <a:t>balanced</a:t>
            </a:r>
            <a:r>
              <a:rPr lang="es-MX" b="0" i="0">
                <a:solidFill>
                  <a:schemeClr val="accent1"/>
                </a:solidFill>
                <a:effectLst/>
                <a:latin typeface="TWK Lausanne"/>
              </a:rPr>
              <a:t> </a:t>
            </a:r>
            <a:r>
              <a:rPr lang="es-MX" b="0" i="0" err="1">
                <a:solidFill>
                  <a:schemeClr val="accent1"/>
                </a:solidFill>
                <a:effectLst/>
                <a:latin typeface="TWK Lausanne"/>
              </a:rPr>
              <a:t>scorecard</a:t>
            </a:r>
            <a:r>
              <a:rPr lang="es-MX" b="0" i="0">
                <a:solidFill>
                  <a:schemeClr val="accent1"/>
                </a:solidFill>
                <a:effectLst/>
                <a:latin typeface="TWK Lausanne"/>
              </a:rPr>
              <a:t> (BSC), es un modelo de gestión que simplifica la estrategia empresarial en una serie de objetivos relacionados entre ellos. </a:t>
            </a:r>
          </a:p>
          <a:p>
            <a:pPr algn="just"/>
            <a:r>
              <a:rPr lang="es-MX" b="0" i="0">
                <a:solidFill>
                  <a:schemeClr val="accent1"/>
                </a:solidFill>
                <a:effectLst/>
                <a:latin typeface="TWK Lausanne"/>
              </a:rPr>
              <a:t>Estos objetivos se miden mediante diversos indicadores y están a su vez vinculados a planes de acción concretos. </a:t>
            </a:r>
          </a:p>
          <a:p>
            <a:pPr algn="just"/>
            <a:r>
              <a:rPr lang="es-MX">
                <a:solidFill>
                  <a:schemeClr val="accent1"/>
                </a:solidFill>
                <a:latin typeface="TWK Lausanne"/>
              </a:rPr>
              <a:t>Un</a:t>
            </a:r>
            <a:r>
              <a:rPr lang="es-MX" b="0" i="0">
                <a:solidFill>
                  <a:schemeClr val="accent1"/>
                </a:solidFill>
                <a:effectLst/>
                <a:latin typeface="TWK Lausanne"/>
              </a:rPr>
              <a:t> cuadro de mandos integral o BSC, es una herramienta de gestión estratégica que va más allá de la medición del rendimiento empresarial. Se trata de un sistema que proporciona una visión clara y equilibrada de las áreas más importantes de una empresa.</a:t>
            </a:r>
            <a:endParaRPr lang="es-AR">
              <a:solidFill>
                <a:schemeClr val="accent1"/>
              </a:solidFill>
            </a:endParaRPr>
          </a:p>
        </p:txBody>
      </p:sp>
      <p:sp>
        <p:nvSpPr>
          <p:cNvPr id="2" name="Marcador de número de diapositiva 1">
            <a:extLst>
              <a:ext uri="{FF2B5EF4-FFF2-40B4-BE49-F238E27FC236}">
                <a16:creationId xmlns:a16="http://schemas.microsoft.com/office/drawing/2014/main" id="{1EE43B3B-A09F-74F7-A2EC-97851F0F072A}"/>
              </a:ext>
            </a:extLst>
          </p:cNvPr>
          <p:cNvSpPr>
            <a:spLocks noGrp="1"/>
          </p:cNvSpPr>
          <p:nvPr>
            <p:ph type="sldNum" sz="quarter" idx="12"/>
          </p:nvPr>
        </p:nvSpPr>
        <p:spPr/>
        <p:txBody>
          <a:bodyPr/>
          <a:lstStyle/>
          <a:p>
            <a:fld id="{0E40E506-8910-4A1D-9597-9E72BD293B97}" type="slidenum">
              <a:rPr lang="en-US" smtClean="0"/>
              <a:t>3</a:t>
            </a:fld>
            <a:endParaRPr lang="en-US"/>
          </a:p>
        </p:txBody>
      </p:sp>
    </p:spTree>
    <p:extLst>
      <p:ext uri="{BB962C8B-B14F-4D97-AF65-F5344CB8AC3E}">
        <p14:creationId xmlns:p14="http://schemas.microsoft.com/office/powerpoint/2010/main" val="85500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81192" y="1903033"/>
            <a:ext cx="10527410" cy="289823"/>
          </a:xfrm>
          <a:prstGeom prst="rect">
            <a:avLst/>
          </a:prstGeom>
        </p:spPr>
        <p:txBody>
          <a:bodyPr vert="horz" wrap="square" lIns="0" tIns="12700" rIns="0" bIns="0" rtlCol="0">
            <a:spAutoFit/>
          </a:bodyPr>
          <a:lstStyle/>
          <a:p>
            <a:pPr marL="240665" marR="5080" indent="-228600">
              <a:spcBef>
                <a:spcPts val="100"/>
              </a:spcBef>
              <a:buFont typeface="Arial"/>
              <a:buChar char="•"/>
              <a:tabLst>
                <a:tab pos="240665" algn="l"/>
              </a:tabLst>
            </a:pPr>
            <a:r>
              <a:rPr b="1">
                <a:solidFill>
                  <a:schemeClr val="accent1"/>
                </a:solidFill>
                <a:latin typeface="Arial"/>
                <a:cs typeface="Arial"/>
              </a:rPr>
              <a:t>Un</a:t>
            </a:r>
            <a:r>
              <a:rPr b="1" spc="-20">
                <a:solidFill>
                  <a:schemeClr val="accent1"/>
                </a:solidFill>
                <a:latin typeface="Arial"/>
                <a:cs typeface="Arial"/>
              </a:rPr>
              <a:t> </a:t>
            </a:r>
            <a:r>
              <a:rPr b="1">
                <a:solidFill>
                  <a:schemeClr val="accent1"/>
                </a:solidFill>
                <a:latin typeface="Arial"/>
                <a:cs typeface="Arial"/>
              </a:rPr>
              <a:t>Balanced</a:t>
            </a:r>
            <a:r>
              <a:rPr b="1" spc="-15">
                <a:solidFill>
                  <a:schemeClr val="accent1"/>
                </a:solidFill>
                <a:latin typeface="Arial"/>
                <a:cs typeface="Arial"/>
              </a:rPr>
              <a:t> </a:t>
            </a:r>
            <a:r>
              <a:rPr b="1">
                <a:solidFill>
                  <a:schemeClr val="accent1"/>
                </a:solidFill>
                <a:latin typeface="Arial"/>
                <a:cs typeface="Arial"/>
              </a:rPr>
              <a:t>Scorecard</a:t>
            </a:r>
            <a:r>
              <a:rPr b="1" spc="-15">
                <a:solidFill>
                  <a:schemeClr val="accent1"/>
                </a:solidFill>
                <a:latin typeface="Arial"/>
                <a:cs typeface="Arial"/>
              </a:rPr>
              <a:t> </a:t>
            </a:r>
            <a:r>
              <a:rPr b="1">
                <a:solidFill>
                  <a:schemeClr val="accent1"/>
                </a:solidFill>
                <a:latin typeface="Arial"/>
                <a:cs typeface="Arial"/>
              </a:rPr>
              <a:t>presenta</a:t>
            </a:r>
            <a:r>
              <a:rPr b="1" spc="-25">
                <a:solidFill>
                  <a:schemeClr val="accent1"/>
                </a:solidFill>
                <a:latin typeface="Arial"/>
                <a:cs typeface="Arial"/>
              </a:rPr>
              <a:t> </a:t>
            </a:r>
            <a:r>
              <a:rPr b="1">
                <a:solidFill>
                  <a:schemeClr val="accent1"/>
                </a:solidFill>
                <a:latin typeface="Arial"/>
                <a:cs typeface="Arial"/>
              </a:rPr>
              <a:t>el</a:t>
            </a:r>
            <a:r>
              <a:rPr b="1" spc="-10">
                <a:solidFill>
                  <a:schemeClr val="accent1"/>
                </a:solidFill>
                <a:latin typeface="Arial"/>
                <a:cs typeface="Arial"/>
              </a:rPr>
              <a:t> </a:t>
            </a:r>
            <a:r>
              <a:rPr b="1">
                <a:solidFill>
                  <a:schemeClr val="accent1"/>
                </a:solidFill>
                <a:latin typeface="Arial"/>
                <a:cs typeface="Arial"/>
              </a:rPr>
              <a:t>desempeño</a:t>
            </a:r>
            <a:r>
              <a:rPr b="1" spc="-15">
                <a:solidFill>
                  <a:schemeClr val="accent1"/>
                </a:solidFill>
                <a:latin typeface="Arial"/>
                <a:cs typeface="Arial"/>
              </a:rPr>
              <a:t> </a:t>
            </a:r>
            <a:r>
              <a:rPr b="1">
                <a:solidFill>
                  <a:schemeClr val="accent1"/>
                </a:solidFill>
                <a:latin typeface="Arial"/>
                <a:cs typeface="Arial"/>
              </a:rPr>
              <a:t>desde</a:t>
            </a:r>
            <a:r>
              <a:rPr b="1" spc="-20">
                <a:solidFill>
                  <a:schemeClr val="accent1"/>
                </a:solidFill>
                <a:latin typeface="Arial"/>
                <a:cs typeface="Arial"/>
              </a:rPr>
              <a:t> </a:t>
            </a:r>
            <a:r>
              <a:rPr b="1" spc="-10">
                <a:solidFill>
                  <a:schemeClr val="accent1"/>
                </a:solidFill>
                <a:latin typeface="Arial"/>
                <a:cs typeface="Arial"/>
              </a:rPr>
              <a:t>cuatro perspectivas:</a:t>
            </a:r>
            <a:endParaRPr>
              <a:solidFill>
                <a:schemeClr val="accent1"/>
              </a:solidFill>
              <a:latin typeface="Arial"/>
              <a:cs typeface="Arial"/>
            </a:endParaRPr>
          </a:p>
        </p:txBody>
      </p:sp>
      <p:sp>
        <p:nvSpPr>
          <p:cNvPr id="4" name="object 4"/>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Principios</a:t>
            </a:r>
            <a:r>
              <a:rPr spc="-95"/>
              <a:t> </a:t>
            </a:r>
            <a:r>
              <a:t>del</a:t>
            </a:r>
            <a:r>
              <a:rPr spc="-90"/>
              <a:t> </a:t>
            </a:r>
            <a:r>
              <a:rPr spc="-25"/>
              <a:t>BSC</a:t>
            </a:r>
          </a:p>
        </p:txBody>
      </p:sp>
      <p:grpSp>
        <p:nvGrpSpPr>
          <p:cNvPr id="32" name="Grupo 31">
            <a:extLst>
              <a:ext uri="{FF2B5EF4-FFF2-40B4-BE49-F238E27FC236}">
                <a16:creationId xmlns:a16="http://schemas.microsoft.com/office/drawing/2014/main" id="{561C70BC-4C73-637E-D52F-A06DAB1EED23}"/>
              </a:ext>
            </a:extLst>
          </p:cNvPr>
          <p:cNvGrpSpPr/>
          <p:nvPr/>
        </p:nvGrpSpPr>
        <p:grpSpPr>
          <a:xfrm>
            <a:off x="2096868" y="2430687"/>
            <a:ext cx="7998263" cy="3549444"/>
            <a:chOff x="1525035" y="1711198"/>
            <a:chExt cx="9144000" cy="4098036"/>
          </a:xfrm>
        </p:grpSpPr>
        <p:grpSp>
          <p:nvGrpSpPr>
            <p:cNvPr id="5" name="object 5"/>
            <p:cNvGrpSpPr/>
            <p:nvPr/>
          </p:nvGrpSpPr>
          <p:grpSpPr>
            <a:xfrm>
              <a:off x="1525035" y="1711198"/>
              <a:ext cx="9144000" cy="1714500"/>
              <a:chOff x="1035" y="1711198"/>
              <a:chExt cx="9144000" cy="1714500"/>
            </a:xfrm>
          </p:grpSpPr>
          <p:sp>
            <p:nvSpPr>
              <p:cNvPr id="6" name="object 6"/>
              <p:cNvSpPr/>
              <p:nvPr/>
            </p:nvSpPr>
            <p:spPr>
              <a:xfrm>
                <a:off x="1028" y="1711210"/>
                <a:ext cx="9144000" cy="857250"/>
              </a:xfrm>
              <a:custGeom>
                <a:avLst/>
                <a:gdLst/>
                <a:ahLst/>
                <a:cxnLst/>
                <a:rect l="l" t="t" r="r" b="b"/>
                <a:pathLst>
                  <a:path w="9144000" h="857250">
                    <a:moveTo>
                      <a:pt x="9144000" y="0"/>
                    </a:moveTo>
                    <a:lnTo>
                      <a:pt x="0" y="0"/>
                    </a:lnTo>
                    <a:lnTo>
                      <a:pt x="0" y="857250"/>
                    </a:lnTo>
                    <a:lnTo>
                      <a:pt x="3709047" y="857250"/>
                    </a:lnTo>
                    <a:lnTo>
                      <a:pt x="5181206" y="857250"/>
                    </a:lnTo>
                    <a:lnTo>
                      <a:pt x="9144000" y="857250"/>
                    </a:lnTo>
                    <a:lnTo>
                      <a:pt x="9144000" y="0"/>
                    </a:lnTo>
                    <a:close/>
                  </a:path>
                </a:pathLst>
              </a:custGeom>
              <a:solidFill>
                <a:srgbClr val="FFFFFF"/>
              </a:solidFill>
            </p:spPr>
            <p:txBody>
              <a:bodyPr wrap="square" lIns="0" tIns="0" rIns="0" bIns="0" rtlCol="0"/>
              <a:lstStyle/>
              <a:p>
                <a:endParaRPr/>
              </a:p>
            </p:txBody>
          </p:sp>
          <p:sp>
            <p:nvSpPr>
              <p:cNvPr id="7" name="object 7"/>
              <p:cNvSpPr/>
              <p:nvPr/>
            </p:nvSpPr>
            <p:spPr>
              <a:xfrm>
                <a:off x="2915170" y="1907044"/>
                <a:ext cx="3016250" cy="661670"/>
              </a:xfrm>
              <a:custGeom>
                <a:avLst/>
                <a:gdLst/>
                <a:ahLst/>
                <a:cxnLst/>
                <a:rect l="l" t="t" r="r" b="b"/>
                <a:pathLst>
                  <a:path w="3016250" h="661669">
                    <a:moveTo>
                      <a:pt x="37477" y="661416"/>
                    </a:moveTo>
                    <a:lnTo>
                      <a:pt x="37084" y="657606"/>
                    </a:lnTo>
                    <a:lnTo>
                      <a:pt x="33058" y="651090"/>
                    </a:lnTo>
                    <a:lnTo>
                      <a:pt x="27178" y="646645"/>
                    </a:lnTo>
                    <a:lnTo>
                      <a:pt x="20154" y="644639"/>
                    </a:lnTo>
                    <a:lnTo>
                      <a:pt x="12700" y="645414"/>
                    </a:lnTo>
                    <a:lnTo>
                      <a:pt x="6184" y="649427"/>
                    </a:lnTo>
                    <a:lnTo>
                      <a:pt x="1752" y="655320"/>
                    </a:lnTo>
                    <a:lnTo>
                      <a:pt x="0" y="661416"/>
                    </a:lnTo>
                    <a:lnTo>
                      <a:pt x="37477" y="661416"/>
                    </a:lnTo>
                    <a:close/>
                  </a:path>
                  <a:path w="3016250" h="661669">
                    <a:moveTo>
                      <a:pt x="110236" y="642937"/>
                    </a:moveTo>
                    <a:lnTo>
                      <a:pt x="109474" y="635508"/>
                    </a:lnTo>
                    <a:lnTo>
                      <a:pt x="105892" y="628548"/>
                    </a:lnTo>
                    <a:lnTo>
                      <a:pt x="100241" y="623887"/>
                    </a:lnTo>
                    <a:lnTo>
                      <a:pt x="93294" y="621792"/>
                    </a:lnTo>
                    <a:lnTo>
                      <a:pt x="85852" y="622554"/>
                    </a:lnTo>
                    <a:lnTo>
                      <a:pt x="79222" y="626135"/>
                    </a:lnTo>
                    <a:lnTo>
                      <a:pt x="74523" y="631786"/>
                    </a:lnTo>
                    <a:lnTo>
                      <a:pt x="72237" y="638733"/>
                    </a:lnTo>
                    <a:lnTo>
                      <a:pt x="72898" y="646176"/>
                    </a:lnTo>
                    <a:lnTo>
                      <a:pt x="76479" y="652805"/>
                    </a:lnTo>
                    <a:lnTo>
                      <a:pt x="82143" y="657504"/>
                    </a:lnTo>
                    <a:lnTo>
                      <a:pt x="89077" y="659777"/>
                    </a:lnTo>
                    <a:lnTo>
                      <a:pt x="96520" y="659130"/>
                    </a:lnTo>
                    <a:lnTo>
                      <a:pt x="103479" y="655535"/>
                    </a:lnTo>
                    <a:lnTo>
                      <a:pt x="108140" y="649884"/>
                    </a:lnTo>
                    <a:lnTo>
                      <a:pt x="110236" y="642937"/>
                    </a:lnTo>
                    <a:close/>
                  </a:path>
                  <a:path w="3016250" h="661669">
                    <a:moveTo>
                      <a:pt x="183603" y="622693"/>
                    </a:moveTo>
                    <a:lnTo>
                      <a:pt x="183388" y="614934"/>
                    </a:lnTo>
                    <a:lnTo>
                      <a:pt x="179806" y="608291"/>
                    </a:lnTo>
                    <a:lnTo>
                      <a:pt x="174155" y="603592"/>
                    </a:lnTo>
                    <a:lnTo>
                      <a:pt x="167208" y="601319"/>
                    </a:lnTo>
                    <a:lnTo>
                      <a:pt x="159766" y="601980"/>
                    </a:lnTo>
                    <a:lnTo>
                      <a:pt x="153123" y="605116"/>
                    </a:lnTo>
                    <a:lnTo>
                      <a:pt x="148336" y="610552"/>
                    </a:lnTo>
                    <a:lnTo>
                      <a:pt x="145834" y="617410"/>
                    </a:lnTo>
                    <a:lnTo>
                      <a:pt x="146050" y="624840"/>
                    </a:lnTo>
                    <a:lnTo>
                      <a:pt x="149631" y="631901"/>
                    </a:lnTo>
                    <a:lnTo>
                      <a:pt x="155295" y="636841"/>
                    </a:lnTo>
                    <a:lnTo>
                      <a:pt x="162229" y="639191"/>
                    </a:lnTo>
                    <a:lnTo>
                      <a:pt x="169672" y="638556"/>
                    </a:lnTo>
                    <a:lnTo>
                      <a:pt x="176314" y="635076"/>
                    </a:lnTo>
                    <a:lnTo>
                      <a:pt x="181102" y="629602"/>
                    </a:lnTo>
                    <a:lnTo>
                      <a:pt x="183603" y="622693"/>
                    </a:lnTo>
                    <a:close/>
                  </a:path>
                  <a:path w="3016250" h="661669">
                    <a:moveTo>
                      <a:pt x="257505" y="605917"/>
                    </a:moveTo>
                    <a:lnTo>
                      <a:pt x="257302" y="598170"/>
                    </a:lnTo>
                    <a:lnTo>
                      <a:pt x="254266" y="591400"/>
                    </a:lnTo>
                    <a:lnTo>
                      <a:pt x="249021" y="586359"/>
                    </a:lnTo>
                    <a:lnTo>
                      <a:pt x="242189" y="583590"/>
                    </a:lnTo>
                    <a:lnTo>
                      <a:pt x="234442" y="583692"/>
                    </a:lnTo>
                    <a:lnTo>
                      <a:pt x="227685" y="586828"/>
                    </a:lnTo>
                    <a:lnTo>
                      <a:pt x="222631" y="592264"/>
                    </a:lnTo>
                    <a:lnTo>
                      <a:pt x="219875" y="599122"/>
                    </a:lnTo>
                    <a:lnTo>
                      <a:pt x="219875" y="606336"/>
                    </a:lnTo>
                    <a:lnTo>
                      <a:pt x="223113" y="613625"/>
                    </a:lnTo>
                    <a:lnTo>
                      <a:pt x="228536" y="618642"/>
                    </a:lnTo>
                    <a:lnTo>
                      <a:pt x="235394" y="621220"/>
                    </a:lnTo>
                    <a:lnTo>
                      <a:pt x="242189" y="621042"/>
                    </a:lnTo>
                    <a:lnTo>
                      <a:pt x="242824" y="621030"/>
                    </a:lnTo>
                    <a:lnTo>
                      <a:pt x="249910" y="617982"/>
                    </a:lnTo>
                    <a:lnTo>
                      <a:pt x="254927" y="612736"/>
                    </a:lnTo>
                    <a:lnTo>
                      <a:pt x="257505" y="605917"/>
                    </a:lnTo>
                    <a:close/>
                  </a:path>
                  <a:path w="3016250" h="661669">
                    <a:moveTo>
                      <a:pt x="331978" y="583692"/>
                    </a:moveTo>
                    <a:lnTo>
                      <a:pt x="329311" y="576516"/>
                    </a:lnTo>
                    <a:lnTo>
                      <a:pt x="324269" y="571449"/>
                    </a:lnTo>
                    <a:lnTo>
                      <a:pt x="317500" y="568680"/>
                    </a:lnTo>
                    <a:lnTo>
                      <a:pt x="309880" y="568452"/>
                    </a:lnTo>
                    <a:lnTo>
                      <a:pt x="303110" y="571487"/>
                    </a:lnTo>
                    <a:lnTo>
                      <a:pt x="297980" y="576732"/>
                    </a:lnTo>
                    <a:lnTo>
                      <a:pt x="294982" y="583552"/>
                    </a:lnTo>
                    <a:lnTo>
                      <a:pt x="294640" y="591312"/>
                    </a:lnTo>
                    <a:lnTo>
                      <a:pt x="297675" y="598068"/>
                    </a:lnTo>
                    <a:lnTo>
                      <a:pt x="302933" y="603123"/>
                    </a:lnTo>
                    <a:lnTo>
                      <a:pt x="309753" y="605878"/>
                    </a:lnTo>
                    <a:lnTo>
                      <a:pt x="317500" y="605790"/>
                    </a:lnTo>
                    <a:lnTo>
                      <a:pt x="324269" y="603186"/>
                    </a:lnTo>
                    <a:lnTo>
                      <a:pt x="329311" y="598170"/>
                    </a:lnTo>
                    <a:lnTo>
                      <a:pt x="331978" y="591654"/>
                    </a:lnTo>
                    <a:lnTo>
                      <a:pt x="331978" y="583692"/>
                    </a:lnTo>
                    <a:close/>
                  </a:path>
                  <a:path w="3016250" h="661669">
                    <a:moveTo>
                      <a:pt x="407416" y="572262"/>
                    </a:moveTo>
                    <a:lnTo>
                      <a:pt x="404939" y="564921"/>
                    </a:lnTo>
                    <a:lnTo>
                      <a:pt x="400177" y="559308"/>
                    </a:lnTo>
                    <a:lnTo>
                      <a:pt x="393700" y="555967"/>
                    </a:lnTo>
                    <a:lnTo>
                      <a:pt x="386080" y="555498"/>
                    </a:lnTo>
                    <a:lnTo>
                      <a:pt x="378866" y="558088"/>
                    </a:lnTo>
                    <a:lnTo>
                      <a:pt x="373507" y="563118"/>
                    </a:lnTo>
                    <a:lnTo>
                      <a:pt x="370433" y="569849"/>
                    </a:lnTo>
                    <a:lnTo>
                      <a:pt x="370078" y="577596"/>
                    </a:lnTo>
                    <a:lnTo>
                      <a:pt x="372554" y="584479"/>
                    </a:lnTo>
                    <a:lnTo>
                      <a:pt x="377317" y="589876"/>
                    </a:lnTo>
                    <a:lnTo>
                      <a:pt x="383794" y="593128"/>
                    </a:lnTo>
                    <a:lnTo>
                      <a:pt x="391414" y="593598"/>
                    </a:lnTo>
                    <a:lnTo>
                      <a:pt x="398627" y="591007"/>
                    </a:lnTo>
                    <a:lnTo>
                      <a:pt x="403987" y="586066"/>
                    </a:lnTo>
                    <a:lnTo>
                      <a:pt x="407060" y="579551"/>
                    </a:lnTo>
                    <a:lnTo>
                      <a:pt x="407416" y="572262"/>
                    </a:lnTo>
                    <a:close/>
                  </a:path>
                  <a:path w="3016250" h="661669">
                    <a:moveTo>
                      <a:pt x="483616" y="562356"/>
                    </a:moveTo>
                    <a:lnTo>
                      <a:pt x="481037" y="555015"/>
                    </a:lnTo>
                    <a:lnTo>
                      <a:pt x="476097" y="549402"/>
                    </a:lnTo>
                    <a:lnTo>
                      <a:pt x="469582" y="546061"/>
                    </a:lnTo>
                    <a:lnTo>
                      <a:pt x="462280" y="545592"/>
                    </a:lnTo>
                    <a:lnTo>
                      <a:pt x="454952" y="548068"/>
                    </a:lnTo>
                    <a:lnTo>
                      <a:pt x="449326" y="552831"/>
                    </a:lnTo>
                    <a:lnTo>
                      <a:pt x="445998" y="559308"/>
                    </a:lnTo>
                    <a:lnTo>
                      <a:pt x="445516" y="566928"/>
                    </a:lnTo>
                    <a:lnTo>
                      <a:pt x="447675" y="574154"/>
                    </a:lnTo>
                    <a:lnTo>
                      <a:pt x="452475" y="579589"/>
                    </a:lnTo>
                    <a:lnTo>
                      <a:pt x="459130" y="582891"/>
                    </a:lnTo>
                    <a:lnTo>
                      <a:pt x="466852" y="583692"/>
                    </a:lnTo>
                    <a:lnTo>
                      <a:pt x="473760" y="581215"/>
                    </a:lnTo>
                    <a:lnTo>
                      <a:pt x="479234" y="576453"/>
                    </a:lnTo>
                    <a:lnTo>
                      <a:pt x="482714" y="569976"/>
                    </a:lnTo>
                    <a:lnTo>
                      <a:pt x="483616" y="562356"/>
                    </a:lnTo>
                    <a:close/>
                  </a:path>
                  <a:path w="3016250" h="661669">
                    <a:moveTo>
                      <a:pt x="559054" y="554736"/>
                    </a:moveTo>
                    <a:lnTo>
                      <a:pt x="557022" y="547827"/>
                    </a:lnTo>
                    <a:lnTo>
                      <a:pt x="552488" y="542353"/>
                    </a:lnTo>
                    <a:lnTo>
                      <a:pt x="546087" y="538873"/>
                    </a:lnTo>
                    <a:lnTo>
                      <a:pt x="538480" y="537972"/>
                    </a:lnTo>
                    <a:lnTo>
                      <a:pt x="531139" y="540105"/>
                    </a:lnTo>
                    <a:lnTo>
                      <a:pt x="525437" y="544830"/>
                    </a:lnTo>
                    <a:lnTo>
                      <a:pt x="521868" y="551256"/>
                    </a:lnTo>
                    <a:lnTo>
                      <a:pt x="520954" y="558546"/>
                    </a:lnTo>
                    <a:lnTo>
                      <a:pt x="523430" y="565886"/>
                    </a:lnTo>
                    <a:lnTo>
                      <a:pt x="528193" y="571588"/>
                    </a:lnTo>
                    <a:lnTo>
                      <a:pt x="534670" y="575144"/>
                    </a:lnTo>
                    <a:lnTo>
                      <a:pt x="542290" y="576072"/>
                    </a:lnTo>
                    <a:lnTo>
                      <a:pt x="549300" y="573595"/>
                    </a:lnTo>
                    <a:lnTo>
                      <a:pt x="554964" y="568833"/>
                    </a:lnTo>
                    <a:lnTo>
                      <a:pt x="558469" y="562356"/>
                    </a:lnTo>
                    <a:lnTo>
                      <a:pt x="559054" y="554736"/>
                    </a:lnTo>
                    <a:close/>
                  </a:path>
                  <a:path w="3016250" h="661669">
                    <a:moveTo>
                      <a:pt x="721360" y="549402"/>
                    </a:moveTo>
                    <a:lnTo>
                      <a:pt x="605536" y="495300"/>
                    </a:lnTo>
                    <a:lnTo>
                      <a:pt x="606615" y="535635"/>
                    </a:lnTo>
                    <a:lnTo>
                      <a:pt x="602297" y="538822"/>
                    </a:lnTo>
                    <a:lnTo>
                      <a:pt x="598512" y="544957"/>
                    </a:lnTo>
                    <a:lnTo>
                      <a:pt x="597154" y="552450"/>
                    </a:lnTo>
                    <a:lnTo>
                      <a:pt x="599071" y="559904"/>
                    </a:lnTo>
                    <a:lnTo>
                      <a:pt x="603351" y="565873"/>
                    </a:lnTo>
                    <a:lnTo>
                      <a:pt x="607491" y="568452"/>
                    </a:lnTo>
                    <a:lnTo>
                      <a:pt x="608584" y="609600"/>
                    </a:lnTo>
                    <a:lnTo>
                      <a:pt x="635254" y="595363"/>
                    </a:lnTo>
                    <a:lnTo>
                      <a:pt x="721360" y="549402"/>
                    </a:lnTo>
                    <a:close/>
                  </a:path>
                  <a:path w="3016250" h="661669">
                    <a:moveTo>
                      <a:pt x="2350516" y="457200"/>
                    </a:moveTo>
                    <a:lnTo>
                      <a:pt x="2348534" y="458127"/>
                    </a:lnTo>
                    <a:lnTo>
                      <a:pt x="2348534" y="512533"/>
                    </a:lnTo>
                    <a:lnTo>
                      <a:pt x="2347633" y="507492"/>
                    </a:lnTo>
                    <a:lnTo>
                      <a:pt x="2348534" y="512533"/>
                    </a:lnTo>
                    <a:lnTo>
                      <a:pt x="2348534" y="458127"/>
                    </a:lnTo>
                    <a:lnTo>
                      <a:pt x="2250148" y="504088"/>
                    </a:lnTo>
                    <a:lnTo>
                      <a:pt x="2244560" y="484022"/>
                    </a:lnTo>
                    <a:lnTo>
                      <a:pt x="2229002" y="440842"/>
                    </a:lnTo>
                    <a:lnTo>
                      <a:pt x="2210409" y="399084"/>
                    </a:lnTo>
                    <a:lnTo>
                      <a:pt x="2188972" y="358990"/>
                    </a:lnTo>
                    <a:lnTo>
                      <a:pt x="2164842" y="320636"/>
                    </a:lnTo>
                    <a:lnTo>
                      <a:pt x="2138159" y="284073"/>
                    </a:lnTo>
                    <a:lnTo>
                      <a:pt x="2109089" y="249389"/>
                    </a:lnTo>
                    <a:lnTo>
                      <a:pt x="2077758" y="216649"/>
                    </a:lnTo>
                    <a:lnTo>
                      <a:pt x="2044230" y="185864"/>
                    </a:lnTo>
                    <a:lnTo>
                      <a:pt x="2008898" y="157289"/>
                    </a:lnTo>
                    <a:lnTo>
                      <a:pt x="1971662" y="130797"/>
                    </a:lnTo>
                    <a:lnTo>
                      <a:pt x="1932762" y="106540"/>
                    </a:lnTo>
                    <a:lnTo>
                      <a:pt x="1892338" y="84582"/>
                    </a:lnTo>
                    <a:lnTo>
                      <a:pt x="1850517" y="64973"/>
                    </a:lnTo>
                    <a:lnTo>
                      <a:pt x="1807476" y="47815"/>
                    </a:lnTo>
                    <a:lnTo>
                      <a:pt x="1763331" y="33172"/>
                    </a:lnTo>
                    <a:lnTo>
                      <a:pt x="1718246" y="21094"/>
                    </a:lnTo>
                    <a:lnTo>
                      <a:pt x="1672361" y="11671"/>
                    </a:lnTo>
                    <a:lnTo>
                      <a:pt x="1625828" y="4965"/>
                    </a:lnTo>
                    <a:lnTo>
                      <a:pt x="1578775" y="1054"/>
                    </a:lnTo>
                    <a:lnTo>
                      <a:pt x="1538224" y="152"/>
                    </a:lnTo>
                    <a:lnTo>
                      <a:pt x="1534414" y="63"/>
                    </a:lnTo>
                    <a:lnTo>
                      <a:pt x="1534414" y="762"/>
                    </a:lnTo>
                    <a:lnTo>
                      <a:pt x="1533652" y="762"/>
                    </a:lnTo>
                    <a:lnTo>
                      <a:pt x="1533398" y="508"/>
                    </a:lnTo>
                    <a:lnTo>
                      <a:pt x="1534414" y="762"/>
                    </a:lnTo>
                    <a:lnTo>
                      <a:pt x="1534414" y="63"/>
                    </a:lnTo>
                    <a:lnTo>
                      <a:pt x="1532890" y="25"/>
                    </a:lnTo>
                    <a:lnTo>
                      <a:pt x="1531366" y="0"/>
                    </a:lnTo>
                    <a:lnTo>
                      <a:pt x="1532064" y="177"/>
                    </a:lnTo>
                    <a:lnTo>
                      <a:pt x="1524508" y="139"/>
                    </a:lnTo>
                    <a:lnTo>
                      <a:pt x="1484668" y="965"/>
                    </a:lnTo>
                    <a:lnTo>
                      <a:pt x="1483969" y="977"/>
                    </a:lnTo>
                    <a:lnTo>
                      <a:pt x="1438351" y="4724"/>
                    </a:lnTo>
                    <a:lnTo>
                      <a:pt x="1390370" y="11518"/>
                    </a:lnTo>
                    <a:lnTo>
                      <a:pt x="1344472" y="20929"/>
                    </a:lnTo>
                    <a:lnTo>
                      <a:pt x="1299362" y="32994"/>
                    </a:lnTo>
                    <a:lnTo>
                      <a:pt x="1255191" y="47650"/>
                    </a:lnTo>
                    <a:lnTo>
                      <a:pt x="1212113" y="64820"/>
                    </a:lnTo>
                    <a:lnTo>
                      <a:pt x="1170279" y="84429"/>
                    </a:lnTo>
                    <a:lnTo>
                      <a:pt x="1129817" y="106413"/>
                    </a:lnTo>
                    <a:lnTo>
                      <a:pt x="1090879" y="130708"/>
                    </a:lnTo>
                    <a:lnTo>
                      <a:pt x="1053617" y="157213"/>
                    </a:lnTo>
                    <a:lnTo>
                      <a:pt x="1018184" y="185889"/>
                    </a:lnTo>
                    <a:lnTo>
                      <a:pt x="984707" y="216649"/>
                    </a:lnTo>
                    <a:lnTo>
                      <a:pt x="953350" y="249415"/>
                    </a:lnTo>
                    <a:lnTo>
                      <a:pt x="924255" y="284124"/>
                    </a:lnTo>
                    <a:lnTo>
                      <a:pt x="897572" y="320700"/>
                    </a:lnTo>
                    <a:lnTo>
                      <a:pt x="873442" y="359079"/>
                    </a:lnTo>
                    <a:lnTo>
                      <a:pt x="852004" y="399186"/>
                    </a:lnTo>
                    <a:lnTo>
                      <a:pt x="833424" y="440944"/>
                    </a:lnTo>
                    <a:lnTo>
                      <a:pt x="817841" y="484301"/>
                    </a:lnTo>
                    <a:lnTo>
                      <a:pt x="805395" y="529158"/>
                    </a:lnTo>
                    <a:lnTo>
                      <a:pt x="796251" y="575449"/>
                    </a:lnTo>
                    <a:lnTo>
                      <a:pt x="790536" y="623112"/>
                    </a:lnTo>
                    <a:lnTo>
                      <a:pt x="788873" y="661416"/>
                    </a:lnTo>
                    <a:lnTo>
                      <a:pt x="801128" y="661416"/>
                    </a:lnTo>
                    <a:lnTo>
                      <a:pt x="802919" y="624827"/>
                    </a:lnTo>
                    <a:lnTo>
                      <a:pt x="802919" y="624179"/>
                    </a:lnTo>
                    <a:lnTo>
                      <a:pt x="808723" y="577545"/>
                    </a:lnTo>
                    <a:lnTo>
                      <a:pt x="808723" y="577253"/>
                    </a:lnTo>
                    <a:lnTo>
                      <a:pt x="817841" y="531901"/>
                    </a:lnTo>
                    <a:lnTo>
                      <a:pt x="817841" y="531710"/>
                    </a:lnTo>
                    <a:lnTo>
                      <a:pt x="830338" y="487095"/>
                    </a:lnTo>
                    <a:lnTo>
                      <a:pt x="845743" y="444512"/>
                    </a:lnTo>
                    <a:lnTo>
                      <a:pt x="864057" y="403529"/>
                    </a:lnTo>
                    <a:lnTo>
                      <a:pt x="885151" y="364197"/>
                    </a:lnTo>
                    <a:lnTo>
                      <a:pt x="908862" y="326593"/>
                    </a:lnTo>
                    <a:lnTo>
                      <a:pt x="935075" y="290766"/>
                    </a:lnTo>
                    <a:lnTo>
                      <a:pt x="963625" y="256806"/>
                    </a:lnTo>
                    <a:lnTo>
                      <a:pt x="994384" y="224764"/>
                    </a:lnTo>
                    <a:lnTo>
                      <a:pt x="1027074" y="194830"/>
                    </a:lnTo>
                    <a:lnTo>
                      <a:pt x="1061847" y="166776"/>
                    </a:lnTo>
                    <a:lnTo>
                      <a:pt x="1098410" y="140855"/>
                    </a:lnTo>
                    <a:lnTo>
                      <a:pt x="1136624" y="117106"/>
                    </a:lnTo>
                    <a:lnTo>
                      <a:pt x="1176337" y="95605"/>
                    </a:lnTo>
                    <a:lnTo>
                      <a:pt x="1217422" y="76415"/>
                    </a:lnTo>
                    <a:lnTo>
                      <a:pt x="1259725" y="59601"/>
                    </a:lnTo>
                    <a:lnTo>
                      <a:pt x="1303108" y="45224"/>
                    </a:lnTo>
                    <a:lnTo>
                      <a:pt x="1347444" y="33350"/>
                    </a:lnTo>
                    <a:lnTo>
                      <a:pt x="1392567" y="24053"/>
                    </a:lnTo>
                    <a:lnTo>
                      <a:pt x="1438351" y="17373"/>
                    </a:lnTo>
                    <a:lnTo>
                      <a:pt x="1483969" y="13462"/>
                    </a:lnTo>
                    <a:lnTo>
                      <a:pt x="1484668" y="13398"/>
                    </a:lnTo>
                    <a:lnTo>
                      <a:pt x="1524508" y="12369"/>
                    </a:lnTo>
                    <a:lnTo>
                      <a:pt x="1528318" y="12268"/>
                    </a:lnTo>
                    <a:lnTo>
                      <a:pt x="1530997" y="12192"/>
                    </a:lnTo>
                    <a:lnTo>
                      <a:pt x="1530604" y="12001"/>
                    </a:lnTo>
                    <a:lnTo>
                      <a:pt x="1530997" y="12090"/>
                    </a:lnTo>
                    <a:lnTo>
                      <a:pt x="1532128" y="12204"/>
                    </a:lnTo>
                    <a:lnTo>
                      <a:pt x="1534414" y="12268"/>
                    </a:lnTo>
                    <a:lnTo>
                      <a:pt x="1577149" y="13385"/>
                    </a:lnTo>
                    <a:lnTo>
                      <a:pt x="1578775" y="13474"/>
                    </a:lnTo>
                    <a:lnTo>
                      <a:pt x="1623364" y="17322"/>
                    </a:lnTo>
                    <a:lnTo>
                      <a:pt x="1669986" y="24091"/>
                    </a:lnTo>
                    <a:lnTo>
                      <a:pt x="1715096" y="33426"/>
                    </a:lnTo>
                    <a:lnTo>
                      <a:pt x="1759419" y="45313"/>
                    </a:lnTo>
                    <a:lnTo>
                      <a:pt x="1802815" y="59715"/>
                    </a:lnTo>
                    <a:lnTo>
                      <a:pt x="1845132" y="76555"/>
                    </a:lnTo>
                    <a:lnTo>
                      <a:pt x="1886229" y="95770"/>
                    </a:lnTo>
                    <a:lnTo>
                      <a:pt x="1925967" y="117284"/>
                    </a:lnTo>
                    <a:lnTo>
                      <a:pt x="1964194" y="141046"/>
                    </a:lnTo>
                    <a:lnTo>
                      <a:pt x="2000783" y="166979"/>
                    </a:lnTo>
                    <a:lnTo>
                      <a:pt x="2035581" y="195021"/>
                    </a:lnTo>
                    <a:lnTo>
                      <a:pt x="2068449" y="225107"/>
                    </a:lnTo>
                    <a:lnTo>
                      <a:pt x="2099233" y="257162"/>
                    </a:lnTo>
                    <a:lnTo>
                      <a:pt x="2127808" y="291134"/>
                    </a:lnTo>
                    <a:lnTo>
                      <a:pt x="2154009" y="326961"/>
                    </a:lnTo>
                    <a:lnTo>
                      <a:pt x="2177580" y="364363"/>
                    </a:lnTo>
                    <a:lnTo>
                      <a:pt x="2198687" y="403745"/>
                    </a:lnTo>
                    <a:lnTo>
                      <a:pt x="2216988" y="444792"/>
                    </a:lnTo>
                    <a:lnTo>
                      <a:pt x="2232317" y="487387"/>
                    </a:lnTo>
                    <a:lnTo>
                      <a:pt x="2238464" y="509536"/>
                    </a:lnTo>
                    <a:lnTo>
                      <a:pt x="2234692" y="511302"/>
                    </a:lnTo>
                    <a:lnTo>
                      <a:pt x="2239708" y="514007"/>
                    </a:lnTo>
                    <a:lnTo>
                      <a:pt x="2244560" y="531444"/>
                    </a:lnTo>
                    <a:lnTo>
                      <a:pt x="2253577" y="576961"/>
                    </a:lnTo>
                    <a:lnTo>
                      <a:pt x="2259228" y="623862"/>
                    </a:lnTo>
                    <a:lnTo>
                      <a:pt x="2260892" y="661416"/>
                    </a:lnTo>
                    <a:lnTo>
                      <a:pt x="2273833" y="661416"/>
                    </a:lnTo>
                    <a:lnTo>
                      <a:pt x="2272093" y="623074"/>
                    </a:lnTo>
                    <a:lnTo>
                      <a:pt x="2266315" y="575373"/>
                    </a:lnTo>
                    <a:lnTo>
                      <a:pt x="2257107" y="529056"/>
                    </a:lnTo>
                    <a:lnTo>
                      <a:pt x="2255228" y="522351"/>
                    </a:lnTo>
                    <a:lnTo>
                      <a:pt x="2310892" y="552246"/>
                    </a:lnTo>
                    <a:lnTo>
                      <a:pt x="2346706" y="571500"/>
                    </a:lnTo>
                    <a:lnTo>
                      <a:pt x="2348522" y="516699"/>
                    </a:lnTo>
                    <a:lnTo>
                      <a:pt x="2348992" y="515112"/>
                    </a:lnTo>
                    <a:lnTo>
                      <a:pt x="2348649" y="513207"/>
                    </a:lnTo>
                    <a:lnTo>
                      <a:pt x="2350516" y="457200"/>
                    </a:lnTo>
                    <a:close/>
                  </a:path>
                  <a:path w="3016250" h="661669">
                    <a:moveTo>
                      <a:pt x="2424430" y="520446"/>
                    </a:moveTo>
                    <a:lnTo>
                      <a:pt x="2423960" y="512826"/>
                    </a:lnTo>
                    <a:lnTo>
                      <a:pt x="2420620" y="506349"/>
                    </a:lnTo>
                    <a:lnTo>
                      <a:pt x="2415006" y="501586"/>
                    </a:lnTo>
                    <a:lnTo>
                      <a:pt x="2407666" y="499110"/>
                    </a:lnTo>
                    <a:lnTo>
                      <a:pt x="2400058" y="500024"/>
                    </a:lnTo>
                    <a:lnTo>
                      <a:pt x="2393670" y="503580"/>
                    </a:lnTo>
                    <a:lnTo>
                      <a:pt x="2389124" y="509282"/>
                    </a:lnTo>
                    <a:lnTo>
                      <a:pt x="2387092" y="516636"/>
                    </a:lnTo>
                    <a:lnTo>
                      <a:pt x="2387574" y="524243"/>
                    </a:lnTo>
                    <a:lnTo>
                      <a:pt x="2390902" y="530631"/>
                    </a:lnTo>
                    <a:lnTo>
                      <a:pt x="2396528" y="535165"/>
                    </a:lnTo>
                    <a:lnTo>
                      <a:pt x="2403856" y="537210"/>
                    </a:lnTo>
                    <a:lnTo>
                      <a:pt x="2411463" y="536727"/>
                    </a:lnTo>
                    <a:lnTo>
                      <a:pt x="2417864" y="533400"/>
                    </a:lnTo>
                    <a:lnTo>
                      <a:pt x="2422398" y="527773"/>
                    </a:lnTo>
                    <a:lnTo>
                      <a:pt x="2424430" y="520446"/>
                    </a:lnTo>
                    <a:close/>
                  </a:path>
                  <a:path w="3016250" h="661669">
                    <a:moveTo>
                      <a:pt x="2500630" y="528828"/>
                    </a:moveTo>
                    <a:lnTo>
                      <a:pt x="2500160" y="521208"/>
                    </a:lnTo>
                    <a:lnTo>
                      <a:pt x="2496820" y="514731"/>
                    </a:lnTo>
                    <a:lnTo>
                      <a:pt x="2491206" y="509968"/>
                    </a:lnTo>
                    <a:lnTo>
                      <a:pt x="2483866" y="507492"/>
                    </a:lnTo>
                    <a:lnTo>
                      <a:pt x="2476246" y="507961"/>
                    </a:lnTo>
                    <a:lnTo>
                      <a:pt x="2469769" y="511302"/>
                    </a:lnTo>
                    <a:lnTo>
                      <a:pt x="2465006" y="516915"/>
                    </a:lnTo>
                    <a:lnTo>
                      <a:pt x="2462530" y="524256"/>
                    </a:lnTo>
                    <a:lnTo>
                      <a:pt x="2463012" y="531876"/>
                    </a:lnTo>
                    <a:lnTo>
                      <a:pt x="2466340" y="538353"/>
                    </a:lnTo>
                    <a:lnTo>
                      <a:pt x="2471966" y="543115"/>
                    </a:lnTo>
                    <a:lnTo>
                      <a:pt x="2479294" y="545592"/>
                    </a:lnTo>
                    <a:lnTo>
                      <a:pt x="2486914" y="544791"/>
                    </a:lnTo>
                    <a:lnTo>
                      <a:pt x="2493391" y="541489"/>
                    </a:lnTo>
                    <a:lnTo>
                      <a:pt x="2498153" y="536054"/>
                    </a:lnTo>
                    <a:lnTo>
                      <a:pt x="2500630" y="528828"/>
                    </a:lnTo>
                    <a:close/>
                  </a:path>
                  <a:path w="3016250" h="661669">
                    <a:moveTo>
                      <a:pt x="2576055" y="540258"/>
                    </a:moveTo>
                    <a:lnTo>
                      <a:pt x="2575699" y="532511"/>
                    </a:lnTo>
                    <a:lnTo>
                      <a:pt x="2572639" y="525780"/>
                    </a:lnTo>
                    <a:lnTo>
                      <a:pt x="2567279" y="520750"/>
                    </a:lnTo>
                    <a:lnTo>
                      <a:pt x="2560066" y="518160"/>
                    </a:lnTo>
                    <a:lnTo>
                      <a:pt x="2553970" y="518439"/>
                    </a:lnTo>
                    <a:lnTo>
                      <a:pt x="2552331" y="518515"/>
                    </a:lnTo>
                    <a:lnTo>
                      <a:pt x="2545588" y="521589"/>
                    </a:lnTo>
                    <a:lnTo>
                      <a:pt x="2540558" y="526935"/>
                    </a:lnTo>
                    <a:lnTo>
                      <a:pt x="2537968" y="534162"/>
                    </a:lnTo>
                    <a:lnTo>
                      <a:pt x="2538438" y="541896"/>
                    </a:lnTo>
                    <a:lnTo>
                      <a:pt x="2541689" y="548640"/>
                    </a:lnTo>
                    <a:lnTo>
                      <a:pt x="2547074" y="553656"/>
                    </a:lnTo>
                    <a:lnTo>
                      <a:pt x="2553970" y="556260"/>
                    </a:lnTo>
                    <a:lnTo>
                      <a:pt x="2560066" y="555891"/>
                    </a:lnTo>
                    <a:lnTo>
                      <a:pt x="2561704" y="555790"/>
                    </a:lnTo>
                    <a:lnTo>
                      <a:pt x="2568435" y="552538"/>
                    </a:lnTo>
                    <a:lnTo>
                      <a:pt x="2573464" y="547141"/>
                    </a:lnTo>
                    <a:lnTo>
                      <a:pt x="2576055" y="540258"/>
                    </a:lnTo>
                    <a:close/>
                  </a:path>
                  <a:path w="3016250" h="661669">
                    <a:moveTo>
                      <a:pt x="2650731" y="546430"/>
                    </a:moveTo>
                    <a:lnTo>
                      <a:pt x="2648077" y="540067"/>
                    </a:lnTo>
                    <a:lnTo>
                      <a:pt x="2643022" y="534898"/>
                    </a:lnTo>
                    <a:lnTo>
                      <a:pt x="2636266" y="531876"/>
                    </a:lnTo>
                    <a:lnTo>
                      <a:pt x="2628519" y="531774"/>
                    </a:lnTo>
                    <a:lnTo>
                      <a:pt x="2621686" y="534543"/>
                    </a:lnTo>
                    <a:lnTo>
                      <a:pt x="2616441" y="539584"/>
                    </a:lnTo>
                    <a:lnTo>
                      <a:pt x="2613317" y="546531"/>
                    </a:lnTo>
                    <a:lnTo>
                      <a:pt x="2613317" y="554101"/>
                    </a:lnTo>
                    <a:lnTo>
                      <a:pt x="2616162" y="560920"/>
                    </a:lnTo>
                    <a:lnTo>
                      <a:pt x="2621445" y="566166"/>
                    </a:lnTo>
                    <a:lnTo>
                      <a:pt x="2628519" y="569150"/>
                    </a:lnTo>
                    <a:lnTo>
                      <a:pt x="2628646" y="569214"/>
                    </a:lnTo>
                    <a:lnTo>
                      <a:pt x="2635948" y="569290"/>
                    </a:lnTo>
                    <a:lnTo>
                      <a:pt x="2642539" y="566445"/>
                    </a:lnTo>
                    <a:lnTo>
                      <a:pt x="2647708" y="561174"/>
                    </a:lnTo>
                    <a:lnTo>
                      <a:pt x="2650731" y="553974"/>
                    </a:lnTo>
                    <a:lnTo>
                      <a:pt x="2650731" y="546430"/>
                    </a:lnTo>
                    <a:close/>
                  </a:path>
                  <a:path w="3016250" h="661669">
                    <a:moveTo>
                      <a:pt x="2725407" y="563054"/>
                    </a:moveTo>
                    <a:lnTo>
                      <a:pt x="2722753" y="556450"/>
                    </a:lnTo>
                    <a:lnTo>
                      <a:pt x="2717698" y="551014"/>
                    </a:lnTo>
                    <a:lnTo>
                      <a:pt x="2710942" y="547878"/>
                    </a:lnTo>
                    <a:lnTo>
                      <a:pt x="2703512" y="547674"/>
                    </a:lnTo>
                    <a:lnTo>
                      <a:pt x="2696654" y="550252"/>
                    </a:lnTo>
                    <a:lnTo>
                      <a:pt x="2691219" y="555269"/>
                    </a:lnTo>
                    <a:lnTo>
                      <a:pt x="2688069" y="562356"/>
                    </a:lnTo>
                    <a:lnTo>
                      <a:pt x="2687878" y="569785"/>
                    </a:lnTo>
                    <a:lnTo>
                      <a:pt x="2690457" y="576643"/>
                    </a:lnTo>
                    <a:lnTo>
                      <a:pt x="2695473" y="582066"/>
                    </a:lnTo>
                    <a:lnTo>
                      <a:pt x="2702560" y="585216"/>
                    </a:lnTo>
                    <a:lnTo>
                      <a:pt x="2709989" y="585406"/>
                    </a:lnTo>
                    <a:lnTo>
                      <a:pt x="2716847" y="582828"/>
                    </a:lnTo>
                    <a:lnTo>
                      <a:pt x="2722270" y="577811"/>
                    </a:lnTo>
                    <a:lnTo>
                      <a:pt x="2725407" y="570738"/>
                    </a:lnTo>
                    <a:lnTo>
                      <a:pt x="2725407" y="563054"/>
                    </a:lnTo>
                    <a:close/>
                  </a:path>
                  <a:path w="3016250" h="661669">
                    <a:moveTo>
                      <a:pt x="2799537" y="582358"/>
                    </a:moveTo>
                    <a:lnTo>
                      <a:pt x="2797048" y="575500"/>
                    </a:lnTo>
                    <a:lnTo>
                      <a:pt x="2792260" y="570064"/>
                    </a:lnTo>
                    <a:lnTo>
                      <a:pt x="2785605" y="566928"/>
                    </a:lnTo>
                    <a:lnTo>
                      <a:pt x="2777845" y="566280"/>
                    </a:lnTo>
                    <a:lnTo>
                      <a:pt x="2770949" y="568642"/>
                    </a:lnTo>
                    <a:lnTo>
                      <a:pt x="2765463" y="573570"/>
                    </a:lnTo>
                    <a:lnTo>
                      <a:pt x="2761996" y="580644"/>
                    </a:lnTo>
                    <a:lnTo>
                      <a:pt x="2761780" y="588073"/>
                    </a:lnTo>
                    <a:lnTo>
                      <a:pt x="2764282" y="594931"/>
                    </a:lnTo>
                    <a:lnTo>
                      <a:pt x="2769057" y="600354"/>
                    </a:lnTo>
                    <a:lnTo>
                      <a:pt x="2775712" y="603504"/>
                    </a:lnTo>
                    <a:lnTo>
                      <a:pt x="2783154" y="604139"/>
                    </a:lnTo>
                    <a:lnTo>
                      <a:pt x="2790088" y="601789"/>
                    </a:lnTo>
                    <a:lnTo>
                      <a:pt x="2795752" y="596849"/>
                    </a:lnTo>
                    <a:lnTo>
                      <a:pt x="2799334" y="589788"/>
                    </a:lnTo>
                    <a:lnTo>
                      <a:pt x="2799537" y="582358"/>
                    </a:lnTo>
                    <a:close/>
                  </a:path>
                  <a:path w="3016250" h="661669">
                    <a:moveTo>
                      <a:pt x="2872498" y="605205"/>
                    </a:moveTo>
                    <a:lnTo>
                      <a:pt x="2870479" y="598258"/>
                    </a:lnTo>
                    <a:lnTo>
                      <a:pt x="2866034" y="592607"/>
                    </a:lnTo>
                    <a:lnTo>
                      <a:pt x="2859519" y="589026"/>
                    </a:lnTo>
                    <a:lnTo>
                      <a:pt x="2852077" y="587921"/>
                    </a:lnTo>
                    <a:lnTo>
                      <a:pt x="2845054" y="589978"/>
                    </a:lnTo>
                    <a:lnTo>
                      <a:pt x="2839161" y="594588"/>
                    </a:lnTo>
                    <a:lnTo>
                      <a:pt x="2835148" y="601218"/>
                    </a:lnTo>
                    <a:lnTo>
                      <a:pt x="2834487" y="608647"/>
                    </a:lnTo>
                    <a:lnTo>
                      <a:pt x="2836761" y="615594"/>
                    </a:lnTo>
                    <a:lnTo>
                      <a:pt x="2841460" y="621245"/>
                    </a:lnTo>
                    <a:lnTo>
                      <a:pt x="2848089" y="624840"/>
                    </a:lnTo>
                    <a:lnTo>
                      <a:pt x="2855531" y="625602"/>
                    </a:lnTo>
                    <a:lnTo>
                      <a:pt x="2862478" y="623595"/>
                    </a:lnTo>
                    <a:lnTo>
                      <a:pt x="2868142" y="619150"/>
                    </a:lnTo>
                    <a:lnTo>
                      <a:pt x="2871724" y="612648"/>
                    </a:lnTo>
                    <a:lnTo>
                      <a:pt x="2872498" y="605205"/>
                    </a:lnTo>
                    <a:close/>
                  </a:path>
                  <a:path w="3016250" h="661669">
                    <a:moveTo>
                      <a:pt x="2944888" y="630224"/>
                    </a:moveTo>
                    <a:lnTo>
                      <a:pt x="2942869" y="623023"/>
                    </a:lnTo>
                    <a:lnTo>
                      <a:pt x="2938424" y="617105"/>
                    </a:lnTo>
                    <a:lnTo>
                      <a:pt x="2931922" y="613410"/>
                    </a:lnTo>
                    <a:lnTo>
                      <a:pt x="2924467" y="612190"/>
                    </a:lnTo>
                    <a:lnTo>
                      <a:pt x="2917444" y="613981"/>
                    </a:lnTo>
                    <a:lnTo>
                      <a:pt x="2911564" y="618337"/>
                    </a:lnTo>
                    <a:lnTo>
                      <a:pt x="2907538" y="624840"/>
                    </a:lnTo>
                    <a:lnTo>
                      <a:pt x="2906763" y="632282"/>
                    </a:lnTo>
                    <a:lnTo>
                      <a:pt x="2908770" y="639318"/>
                    </a:lnTo>
                    <a:lnTo>
                      <a:pt x="2913215" y="645198"/>
                    </a:lnTo>
                    <a:lnTo>
                      <a:pt x="2919717" y="649224"/>
                    </a:lnTo>
                    <a:lnTo>
                      <a:pt x="2927172" y="650430"/>
                    </a:lnTo>
                    <a:lnTo>
                      <a:pt x="2934208" y="648652"/>
                    </a:lnTo>
                    <a:lnTo>
                      <a:pt x="2940088" y="644283"/>
                    </a:lnTo>
                    <a:lnTo>
                      <a:pt x="2944114" y="637794"/>
                    </a:lnTo>
                    <a:lnTo>
                      <a:pt x="2944888" y="630224"/>
                    </a:lnTo>
                    <a:close/>
                  </a:path>
                  <a:path w="3016250" h="661669">
                    <a:moveTo>
                      <a:pt x="3015983" y="658520"/>
                    </a:moveTo>
                    <a:lnTo>
                      <a:pt x="3014688" y="651408"/>
                    </a:lnTo>
                    <a:lnTo>
                      <a:pt x="3010674" y="645299"/>
                    </a:lnTo>
                    <a:lnTo>
                      <a:pt x="3004312" y="640842"/>
                    </a:lnTo>
                    <a:lnTo>
                      <a:pt x="2996844" y="639508"/>
                    </a:lnTo>
                    <a:lnTo>
                      <a:pt x="2989732" y="641032"/>
                    </a:lnTo>
                    <a:lnTo>
                      <a:pt x="2983623" y="645121"/>
                    </a:lnTo>
                    <a:lnTo>
                      <a:pt x="2979153" y="651510"/>
                    </a:lnTo>
                    <a:lnTo>
                      <a:pt x="2977819" y="658964"/>
                    </a:lnTo>
                    <a:lnTo>
                      <a:pt x="2978340" y="661416"/>
                    </a:lnTo>
                    <a:lnTo>
                      <a:pt x="3015297" y="661416"/>
                    </a:lnTo>
                    <a:lnTo>
                      <a:pt x="3015983" y="658520"/>
                    </a:lnTo>
                    <a:close/>
                  </a:path>
                </a:pathLst>
              </a:custGeom>
              <a:solidFill>
                <a:srgbClr val="000000"/>
              </a:solidFill>
            </p:spPr>
            <p:txBody>
              <a:bodyPr wrap="square" lIns="0" tIns="0" rIns="0" bIns="0" rtlCol="0"/>
              <a:lstStyle/>
              <a:p>
                <a:endParaRPr/>
              </a:p>
            </p:txBody>
          </p:sp>
          <p:sp>
            <p:nvSpPr>
              <p:cNvPr id="8" name="object 8"/>
              <p:cNvSpPr/>
              <p:nvPr/>
            </p:nvSpPr>
            <p:spPr>
              <a:xfrm>
                <a:off x="1028" y="2568460"/>
                <a:ext cx="9144000" cy="857250"/>
              </a:xfrm>
              <a:custGeom>
                <a:avLst/>
                <a:gdLst/>
                <a:ahLst/>
                <a:cxnLst/>
                <a:rect l="l" t="t" r="r" b="b"/>
                <a:pathLst>
                  <a:path w="9144000" h="857250">
                    <a:moveTo>
                      <a:pt x="9144000" y="0"/>
                    </a:moveTo>
                    <a:lnTo>
                      <a:pt x="0" y="0"/>
                    </a:lnTo>
                    <a:lnTo>
                      <a:pt x="0" y="857250"/>
                    </a:lnTo>
                    <a:lnTo>
                      <a:pt x="1787398" y="857250"/>
                    </a:lnTo>
                    <a:lnTo>
                      <a:pt x="2929559" y="857250"/>
                    </a:lnTo>
                    <a:lnTo>
                      <a:pt x="9144000" y="857250"/>
                    </a:lnTo>
                    <a:lnTo>
                      <a:pt x="9144000" y="0"/>
                    </a:lnTo>
                    <a:close/>
                  </a:path>
                </a:pathLst>
              </a:custGeom>
              <a:solidFill>
                <a:srgbClr val="FFFFFF"/>
              </a:solidFill>
            </p:spPr>
            <p:txBody>
              <a:bodyPr wrap="square" lIns="0" tIns="0" rIns="0" bIns="0" rtlCol="0"/>
              <a:lstStyle/>
              <a:p>
                <a:endParaRPr/>
              </a:p>
            </p:txBody>
          </p:sp>
          <p:sp>
            <p:nvSpPr>
              <p:cNvPr id="9" name="object 9"/>
              <p:cNvSpPr/>
              <p:nvPr/>
            </p:nvSpPr>
            <p:spPr>
              <a:xfrm>
                <a:off x="1781298" y="3095752"/>
                <a:ext cx="1156970" cy="330200"/>
              </a:xfrm>
              <a:custGeom>
                <a:avLst/>
                <a:gdLst/>
                <a:ahLst/>
                <a:cxnLst/>
                <a:rect l="l" t="t" r="r" b="b"/>
                <a:pathLst>
                  <a:path w="1156970" h="330200">
                    <a:moveTo>
                      <a:pt x="583461" y="13126"/>
                    </a:moveTo>
                    <a:lnTo>
                      <a:pt x="583461" y="2286"/>
                    </a:lnTo>
                    <a:lnTo>
                      <a:pt x="578127" y="0"/>
                    </a:lnTo>
                    <a:lnTo>
                      <a:pt x="531047" y="1653"/>
                    </a:lnTo>
                    <a:lnTo>
                      <a:pt x="483122" y="6671"/>
                    </a:lnTo>
                    <a:lnTo>
                      <a:pt x="437089" y="14846"/>
                    </a:lnTo>
                    <a:lnTo>
                      <a:pt x="392187" y="26096"/>
                    </a:lnTo>
                    <a:lnTo>
                      <a:pt x="348530" y="40305"/>
                    </a:lnTo>
                    <a:lnTo>
                      <a:pt x="306234" y="57361"/>
                    </a:lnTo>
                    <a:lnTo>
                      <a:pt x="265413" y="77148"/>
                    </a:lnTo>
                    <a:lnTo>
                      <a:pt x="226179" y="99553"/>
                    </a:lnTo>
                    <a:lnTo>
                      <a:pt x="188649" y="124461"/>
                    </a:lnTo>
                    <a:lnTo>
                      <a:pt x="152937" y="151758"/>
                    </a:lnTo>
                    <a:lnTo>
                      <a:pt x="119155" y="181330"/>
                    </a:lnTo>
                    <a:lnTo>
                      <a:pt x="87420" y="213063"/>
                    </a:lnTo>
                    <a:lnTo>
                      <a:pt x="57844" y="246843"/>
                    </a:lnTo>
                    <a:lnTo>
                      <a:pt x="30544" y="282555"/>
                    </a:lnTo>
                    <a:lnTo>
                      <a:pt x="5631" y="320085"/>
                    </a:lnTo>
                    <a:lnTo>
                      <a:pt x="0" y="329946"/>
                    </a:lnTo>
                    <a:lnTo>
                      <a:pt x="14545" y="329946"/>
                    </a:lnTo>
                    <a:lnTo>
                      <a:pt x="16021" y="327355"/>
                    </a:lnTo>
                    <a:lnTo>
                      <a:pt x="40491" y="290373"/>
                    </a:lnTo>
                    <a:lnTo>
                      <a:pt x="67319" y="255192"/>
                    </a:lnTo>
                    <a:lnTo>
                      <a:pt x="96346" y="221976"/>
                    </a:lnTo>
                    <a:lnTo>
                      <a:pt x="127490" y="190782"/>
                    </a:lnTo>
                    <a:lnTo>
                      <a:pt x="160648" y="161714"/>
                    </a:lnTo>
                    <a:lnTo>
                      <a:pt x="195708" y="134885"/>
                    </a:lnTo>
                    <a:lnTo>
                      <a:pt x="232555" y="110409"/>
                    </a:lnTo>
                    <a:lnTo>
                      <a:pt x="271076" y="88400"/>
                    </a:lnTo>
                    <a:lnTo>
                      <a:pt x="311160" y="68971"/>
                    </a:lnTo>
                    <a:lnTo>
                      <a:pt x="352692" y="52236"/>
                    </a:lnTo>
                    <a:lnTo>
                      <a:pt x="395560" y="38309"/>
                    </a:lnTo>
                    <a:lnTo>
                      <a:pt x="439650" y="27303"/>
                    </a:lnTo>
                    <a:lnTo>
                      <a:pt x="484850" y="19333"/>
                    </a:lnTo>
                    <a:lnTo>
                      <a:pt x="530075" y="14613"/>
                    </a:lnTo>
                    <a:lnTo>
                      <a:pt x="571269" y="13180"/>
                    </a:lnTo>
                    <a:lnTo>
                      <a:pt x="572793" y="13130"/>
                    </a:lnTo>
                    <a:lnTo>
                      <a:pt x="572793" y="9905"/>
                    </a:lnTo>
                    <a:lnTo>
                      <a:pt x="573555" y="9905"/>
                    </a:lnTo>
                    <a:lnTo>
                      <a:pt x="573734" y="10443"/>
                    </a:lnTo>
                    <a:lnTo>
                      <a:pt x="578127" y="12953"/>
                    </a:lnTo>
                    <a:lnTo>
                      <a:pt x="581937" y="13077"/>
                    </a:lnTo>
                    <a:lnTo>
                      <a:pt x="583461" y="13126"/>
                    </a:lnTo>
                    <a:close/>
                  </a:path>
                  <a:path w="1156970" h="330200">
                    <a:moveTo>
                      <a:pt x="576605" y="12960"/>
                    </a:moveTo>
                    <a:lnTo>
                      <a:pt x="574317" y="12191"/>
                    </a:lnTo>
                    <a:lnTo>
                      <a:pt x="573734" y="10443"/>
                    </a:lnTo>
                    <a:lnTo>
                      <a:pt x="572793" y="9905"/>
                    </a:lnTo>
                    <a:lnTo>
                      <a:pt x="572793" y="13130"/>
                    </a:lnTo>
                    <a:lnTo>
                      <a:pt x="575224" y="13021"/>
                    </a:lnTo>
                    <a:lnTo>
                      <a:pt x="576605" y="12960"/>
                    </a:lnTo>
                    <a:close/>
                  </a:path>
                  <a:path w="1156970" h="330200">
                    <a:moveTo>
                      <a:pt x="578127" y="12953"/>
                    </a:moveTo>
                    <a:lnTo>
                      <a:pt x="573734" y="10443"/>
                    </a:lnTo>
                    <a:lnTo>
                      <a:pt x="574317" y="12191"/>
                    </a:lnTo>
                    <a:lnTo>
                      <a:pt x="575224" y="12494"/>
                    </a:lnTo>
                    <a:lnTo>
                      <a:pt x="576605" y="13004"/>
                    </a:lnTo>
                    <a:lnTo>
                      <a:pt x="578127" y="12953"/>
                    </a:lnTo>
                    <a:close/>
                  </a:path>
                  <a:path w="1156970" h="330200">
                    <a:moveTo>
                      <a:pt x="583461" y="2286"/>
                    </a:moveTo>
                    <a:lnTo>
                      <a:pt x="581937" y="762"/>
                    </a:lnTo>
                    <a:lnTo>
                      <a:pt x="580593" y="90"/>
                    </a:lnTo>
                    <a:lnTo>
                      <a:pt x="578127" y="0"/>
                    </a:lnTo>
                    <a:lnTo>
                      <a:pt x="583461" y="2286"/>
                    </a:lnTo>
                    <a:close/>
                  </a:path>
                  <a:path w="1156970" h="330200">
                    <a:moveTo>
                      <a:pt x="1156646" y="329946"/>
                    </a:moveTo>
                    <a:lnTo>
                      <a:pt x="1125884" y="282194"/>
                    </a:lnTo>
                    <a:lnTo>
                      <a:pt x="1098606" y="246532"/>
                    </a:lnTo>
                    <a:lnTo>
                      <a:pt x="1069060" y="212809"/>
                    </a:lnTo>
                    <a:lnTo>
                      <a:pt x="1037358" y="181138"/>
                    </a:lnTo>
                    <a:lnTo>
                      <a:pt x="1003611" y="151629"/>
                    </a:lnTo>
                    <a:lnTo>
                      <a:pt x="967930" y="124395"/>
                    </a:lnTo>
                    <a:lnTo>
                      <a:pt x="930426" y="99546"/>
                    </a:lnTo>
                    <a:lnTo>
                      <a:pt x="891210" y="77194"/>
                    </a:lnTo>
                    <a:lnTo>
                      <a:pt x="850395" y="57450"/>
                    </a:lnTo>
                    <a:lnTo>
                      <a:pt x="808349" y="40530"/>
                    </a:lnTo>
                    <a:lnTo>
                      <a:pt x="764646" y="26311"/>
                    </a:lnTo>
                    <a:lnTo>
                      <a:pt x="764408" y="26233"/>
                    </a:lnTo>
                    <a:lnTo>
                      <a:pt x="719663" y="15034"/>
                    </a:lnTo>
                    <a:lnTo>
                      <a:pt x="673509" y="6813"/>
                    </a:lnTo>
                    <a:lnTo>
                      <a:pt x="626207" y="1754"/>
                    </a:lnTo>
                    <a:lnTo>
                      <a:pt x="584985" y="250"/>
                    </a:lnTo>
                    <a:lnTo>
                      <a:pt x="583461" y="194"/>
                    </a:lnTo>
                    <a:lnTo>
                      <a:pt x="580593" y="90"/>
                    </a:lnTo>
                    <a:lnTo>
                      <a:pt x="581937" y="762"/>
                    </a:lnTo>
                    <a:lnTo>
                      <a:pt x="583461" y="2286"/>
                    </a:lnTo>
                    <a:lnTo>
                      <a:pt x="583461" y="13126"/>
                    </a:lnTo>
                    <a:lnTo>
                      <a:pt x="625153" y="14476"/>
                    </a:lnTo>
                    <a:lnTo>
                      <a:pt x="671308" y="19271"/>
                    </a:lnTo>
                    <a:lnTo>
                      <a:pt x="716480" y="27225"/>
                    </a:lnTo>
                    <a:lnTo>
                      <a:pt x="760554" y="38221"/>
                    </a:lnTo>
                    <a:lnTo>
                      <a:pt x="803416" y="52147"/>
                    </a:lnTo>
                    <a:lnTo>
                      <a:pt x="844953" y="68887"/>
                    </a:lnTo>
                    <a:lnTo>
                      <a:pt x="885050" y="88326"/>
                    </a:lnTo>
                    <a:lnTo>
                      <a:pt x="923595" y="110350"/>
                    </a:lnTo>
                    <a:lnTo>
                      <a:pt x="960473" y="134843"/>
                    </a:lnTo>
                    <a:lnTo>
                      <a:pt x="995570" y="161692"/>
                    </a:lnTo>
                    <a:lnTo>
                      <a:pt x="1028773" y="190781"/>
                    </a:lnTo>
                    <a:lnTo>
                      <a:pt x="1059967" y="221996"/>
                    </a:lnTo>
                    <a:lnTo>
                      <a:pt x="1089040" y="255222"/>
                    </a:lnTo>
                    <a:lnTo>
                      <a:pt x="1115877" y="290344"/>
                    </a:lnTo>
                    <a:lnTo>
                      <a:pt x="1140346" y="327221"/>
                    </a:lnTo>
                    <a:lnTo>
                      <a:pt x="1141902" y="329946"/>
                    </a:lnTo>
                    <a:lnTo>
                      <a:pt x="1156646" y="329946"/>
                    </a:lnTo>
                    <a:close/>
                  </a:path>
                </a:pathLst>
              </a:custGeom>
              <a:solidFill>
                <a:srgbClr val="000000"/>
              </a:solidFill>
            </p:spPr>
            <p:txBody>
              <a:bodyPr wrap="square" lIns="0" tIns="0" rIns="0" bIns="0" rtlCol="0"/>
              <a:lstStyle/>
              <a:p>
                <a:endParaRPr/>
              </a:p>
            </p:txBody>
          </p:sp>
          <p:sp>
            <p:nvSpPr>
              <p:cNvPr id="10" name="object 10"/>
              <p:cNvSpPr/>
              <p:nvPr/>
            </p:nvSpPr>
            <p:spPr>
              <a:xfrm>
                <a:off x="5747605" y="3101848"/>
                <a:ext cx="1142365" cy="323850"/>
              </a:xfrm>
              <a:custGeom>
                <a:avLst/>
                <a:gdLst/>
                <a:ahLst/>
                <a:cxnLst/>
                <a:rect l="l" t="t" r="r" b="b"/>
                <a:pathLst>
                  <a:path w="1142365" h="323850">
                    <a:moveTo>
                      <a:pt x="1142341" y="323850"/>
                    </a:moveTo>
                    <a:lnTo>
                      <a:pt x="1113949" y="280119"/>
                    </a:lnTo>
                    <a:lnTo>
                      <a:pt x="1086920" y="244727"/>
                    </a:lnTo>
                    <a:lnTo>
                      <a:pt x="1057636" y="211249"/>
                    </a:lnTo>
                    <a:lnTo>
                      <a:pt x="1026208" y="179796"/>
                    </a:lnTo>
                    <a:lnTo>
                      <a:pt x="992749" y="150483"/>
                    </a:lnTo>
                    <a:lnTo>
                      <a:pt x="957372" y="123423"/>
                    </a:lnTo>
                    <a:lnTo>
                      <a:pt x="920188" y="98730"/>
                    </a:lnTo>
                    <a:lnTo>
                      <a:pt x="881310" y="76517"/>
                    </a:lnTo>
                    <a:lnTo>
                      <a:pt x="840850" y="56897"/>
                    </a:lnTo>
                    <a:lnTo>
                      <a:pt x="798922" y="39985"/>
                    </a:lnTo>
                    <a:lnTo>
                      <a:pt x="755636" y="25893"/>
                    </a:lnTo>
                    <a:lnTo>
                      <a:pt x="711106" y="14735"/>
                    </a:lnTo>
                    <a:lnTo>
                      <a:pt x="665444" y="6624"/>
                    </a:lnTo>
                    <a:lnTo>
                      <a:pt x="618761" y="1675"/>
                    </a:lnTo>
                    <a:lnTo>
                      <a:pt x="571172" y="0"/>
                    </a:lnTo>
                    <a:lnTo>
                      <a:pt x="523580" y="1675"/>
                    </a:lnTo>
                    <a:lnTo>
                      <a:pt x="476897" y="6624"/>
                    </a:lnTo>
                    <a:lnTo>
                      <a:pt x="431234" y="14735"/>
                    </a:lnTo>
                    <a:lnTo>
                      <a:pt x="386703" y="25893"/>
                    </a:lnTo>
                    <a:lnTo>
                      <a:pt x="343416" y="39985"/>
                    </a:lnTo>
                    <a:lnTo>
                      <a:pt x="301487" y="56897"/>
                    </a:lnTo>
                    <a:lnTo>
                      <a:pt x="261028" y="76517"/>
                    </a:lnTo>
                    <a:lnTo>
                      <a:pt x="222150" y="98730"/>
                    </a:lnTo>
                    <a:lnTo>
                      <a:pt x="184966" y="123423"/>
                    </a:lnTo>
                    <a:lnTo>
                      <a:pt x="149589" y="150483"/>
                    </a:lnTo>
                    <a:lnTo>
                      <a:pt x="116130" y="179796"/>
                    </a:lnTo>
                    <a:lnTo>
                      <a:pt x="84703" y="211249"/>
                    </a:lnTo>
                    <a:lnTo>
                      <a:pt x="55419" y="244727"/>
                    </a:lnTo>
                    <a:lnTo>
                      <a:pt x="28391" y="280119"/>
                    </a:lnTo>
                    <a:lnTo>
                      <a:pt x="3731" y="317310"/>
                    </a:lnTo>
                    <a:lnTo>
                      <a:pt x="0" y="323849"/>
                    </a:lnTo>
                    <a:lnTo>
                      <a:pt x="1142341" y="323850"/>
                    </a:lnTo>
                    <a:close/>
                  </a:path>
                </a:pathLst>
              </a:custGeom>
              <a:solidFill>
                <a:srgbClr val="FFFFFF"/>
              </a:solidFill>
            </p:spPr>
            <p:txBody>
              <a:bodyPr wrap="square" lIns="0" tIns="0" rIns="0" bIns="0" rtlCol="0"/>
              <a:lstStyle/>
              <a:p>
                <a:endParaRPr/>
              </a:p>
            </p:txBody>
          </p:sp>
          <p:sp>
            <p:nvSpPr>
              <p:cNvPr id="11" name="object 11"/>
              <p:cNvSpPr/>
              <p:nvPr/>
            </p:nvSpPr>
            <p:spPr>
              <a:xfrm>
                <a:off x="5740513" y="3095752"/>
                <a:ext cx="1156970" cy="330200"/>
              </a:xfrm>
              <a:custGeom>
                <a:avLst/>
                <a:gdLst/>
                <a:ahLst/>
                <a:cxnLst/>
                <a:rect l="l" t="t" r="r" b="b"/>
                <a:pathLst>
                  <a:path w="1156970" h="330200">
                    <a:moveTo>
                      <a:pt x="584359" y="13155"/>
                    </a:moveTo>
                    <a:lnTo>
                      <a:pt x="584359" y="6096"/>
                    </a:lnTo>
                    <a:lnTo>
                      <a:pt x="578263" y="0"/>
                    </a:lnTo>
                    <a:lnTo>
                      <a:pt x="531064" y="1620"/>
                    </a:lnTo>
                    <a:lnTo>
                      <a:pt x="483369" y="6603"/>
                    </a:lnTo>
                    <a:lnTo>
                      <a:pt x="437363" y="14762"/>
                    </a:lnTo>
                    <a:lnTo>
                      <a:pt x="392472" y="26005"/>
                    </a:lnTo>
                    <a:lnTo>
                      <a:pt x="348813" y="40217"/>
                    </a:lnTo>
                    <a:lnTo>
                      <a:pt x="306501" y="57282"/>
                    </a:lnTo>
                    <a:lnTo>
                      <a:pt x="265655" y="77084"/>
                    </a:lnTo>
                    <a:lnTo>
                      <a:pt x="226388" y="99509"/>
                    </a:lnTo>
                    <a:lnTo>
                      <a:pt x="188819" y="124441"/>
                    </a:lnTo>
                    <a:lnTo>
                      <a:pt x="153064" y="151764"/>
                    </a:lnTo>
                    <a:lnTo>
                      <a:pt x="119238" y="181364"/>
                    </a:lnTo>
                    <a:lnTo>
                      <a:pt x="87458" y="213124"/>
                    </a:lnTo>
                    <a:lnTo>
                      <a:pt x="57840" y="246930"/>
                    </a:lnTo>
                    <a:lnTo>
                      <a:pt x="30501" y="282665"/>
                    </a:lnTo>
                    <a:lnTo>
                      <a:pt x="5556" y="320215"/>
                    </a:lnTo>
                    <a:lnTo>
                      <a:pt x="0" y="329945"/>
                    </a:lnTo>
                    <a:lnTo>
                      <a:pt x="14621" y="329945"/>
                    </a:lnTo>
                    <a:lnTo>
                      <a:pt x="16361" y="326891"/>
                    </a:lnTo>
                    <a:lnTo>
                      <a:pt x="40769" y="290037"/>
                    </a:lnTo>
                    <a:lnTo>
                      <a:pt x="67515" y="254974"/>
                    </a:lnTo>
                    <a:lnTo>
                      <a:pt x="96490" y="221814"/>
                    </a:lnTo>
                    <a:lnTo>
                      <a:pt x="127584" y="190669"/>
                    </a:lnTo>
                    <a:lnTo>
                      <a:pt x="160689" y="161650"/>
                    </a:lnTo>
                    <a:lnTo>
                      <a:pt x="195694" y="134869"/>
                    </a:lnTo>
                    <a:lnTo>
                      <a:pt x="232491" y="110438"/>
                    </a:lnTo>
                    <a:lnTo>
                      <a:pt x="270970" y="88468"/>
                    </a:lnTo>
                    <a:lnTo>
                      <a:pt x="311023" y="69070"/>
                    </a:lnTo>
                    <a:lnTo>
                      <a:pt x="352540" y="52356"/>
                    </a:lnTo>
                    <a:lnTo>
                      <a:pt x="395412" y="38438"/>
                    </a:lnTo>
                    <a:lnTo>
                      <a:pt x="439529" y="27427"/>
                    </a:lnTo>
                    <a:lnTo>
                      <a:pt x="484783" y="19435"/>
                    </a:lnTo>
                    <a:lnTo>
                      <a:pt x="530204" y="14664"/>
                    </a:lnTo>
                    <a:lnTo>
                      <a:pt x="571392" y="13189"/>
                    </a:lnTo>
                    <a:lnTo>
                      <a:pt x="572154" y="13163"/>
                    </a:lnTo>
                    <a:lnTo>
                      <a:pt x="572154" y="6096"/>
                    </a:lnTo>
                    <a:lnTo>
                      <a:pt x="578263" y="12953"/>
                    </a:lnTo>
                    <a:lnTo>
                      <a:pt x="582073" y="13079"/>
                    </a:lnTo>
                    <a:lnTo>
                      <a:pt x="584359" y="13155"/>
                    </a:lnTo>
                    <a:close/>
                  </a:path>
                  <a:path w="1156970" h="330200">
                    <a:moveTo>
                      <a:pt x="578263" y="12953"/>
                    </a:moveTo>
                    <a:lnTo>
                      <a:pt x="572154" y="6096"/>
                    </a:lnTo>
                    <a:lnTo>
                      <a:pt x="572154" y="9905"/>
                    </a:lnTo>
                    <a:lnTo>
                      <a:pt x="574453" y="12953"/>
                    </a:lnTo>
                    <a:lnTo>
                      <a:pt x="578263" y="12953"/>
                    </a:lnTo>
                    <a:close/>
                  </a:path>
                  <a:path w="1156970" h="330200">
                    <a:moveTo>
                      <a:pt x="575206" y="13058"/>
                    </a:moveTo>
                    <a:lnTo>
                      <a:pt x="574453" y="12953"/>
                    </a:lnTo>
                    <a:lnTo>
                      <a:pt x="572154" y="9905"/>
                    </a:lnTo>
                    <a:lnTo>
                      <a:pt x="572154" y="13163"/>
                    </a:lnTo>
                    <a:lnTo>
                      <a:pt x="575206" y="13058"/>
                    </a:lnTo>
                    <a:close/>
                  </a:path>
                  <a:path w="1156970" h="330200">
                    <a:moveTo>
                      <a:pt x="584359" y="6096"/>
                    </a:moveTo>
                    <a:lnTo>
                      <a:pt x="584359" y="3048"/>
                    </a:lnTo>
                    <a:lnTo>
                      <a:pt x="582835" y="1524"/>
                    </a:lnTo>
                    <a:lnTo>
                      <a:pt x="581492" y="852"/>
                    </a:lnTo>
                    <a:lnTo>
                      <a:pt x="579787" y="53"/>
                    </a:lnTo>
                    <a:lnTo>
                      <a:pt x="578263" y="0"/>
                    </a:lnTo>
                    <a:lnTo>
                      <a:pt x="584359" y="6096"/>
                    </a:lnTo>
                    <a:close/>
                  </a:path>
                  <a:path w="1156970" h="330200">
                    <a:moveTo>
                      <a:pt x="1156719" y="329946"/>
                    </a:moveTo>
                    <a:lnTo>
                      <a:pt x="1126173" y="282573"/>
                    </a:lnTo>
                    <a:lnTo>
                      <a:pt x="1098853" y="246860"/>
                    </a:lnTo>
                    <a:lnTo>
                      <a:pt x="1069252" y="213078"/>
                    </a:lnTo>
                    <a:lnTo>
                      <a:pt x="1037486" y="181343"/>
                    </a:lnTo>
                    <a:lnTo>
                      <a:pt x="1003670" y="151769"/>
                    </a:lnTo>
                    <a:lnTo>
                      <a:pt x="967922" y="124469"/>
                    </a:lnTo>
                    <a:lnTo>
                      <a:pt x="930355" y="99559"/>
                    </a:lnTo>
                    <a:lnTo>
                      <a:pt x="891287" y="77267"/>
                    </a:lnTo>
                    <a:lnTo>
                      <a:pt x="891086" y="77152"/>
                    </a:lnTo>
                    <a:lnTo>
                      <a:pt x="850426" y="57458"/>
                    </a:lnTo>
                    <a:lnTo>
                      <a:pt x="850231" y="57363"/>
                    </a:lnTo>
                    <a:lnTo>
                      <a:pt x="808089" y="40380"/>
                    </a:lnTo>
                    <a:lnTo>
                      <a:pt x="764389" y="26149"/>
                    </a:lnTo>
                    <a:lnTo>
                      <a:pt x="719441" y="14879"/>
                    </a:lnTo>
                    <a:lnTo>
                      <a:pt x="673260" y="6669"/>
                    </a:lnTo>
                    <a:lnTo>
                      <a:pt x="626208" y="1683"/>
                    </a:lnTo>
                    <a:lnTo>
                      <a:pt x="585108" y="240"/>
                    </a:lnTo>
                    <a:lnTo>
                      <a:pt x="579787" y="53"/>
                    </a:lnTo>
                    <a:lnTo>
                      <a:pt x="581311" y="767"/>
                    </a:lnTo>
                    <a:lnTo>
                      <a:pt x="582835" y="1524"/>
                    </a:lnTo>
                    <a:lnTo>
                      <a:pt x="584359" y="3048"/>
                    </a:lnTo>
                    <a:lnTo>
                      <a:pt x="584359" y="13155"/>
                    </a:lnTo>
                    <a:lnTo>
                      <a:pt x="625338" y="14507"/>
                    </a:lnTo>
                    <a:lnTo>
                      <a:pt x="671526" y="19325"/>
                    </a:lnTo>
                    <a:lnTo>
                      <a:pt x="716715" y="27292"/>
                    </a:lnTo>
                    <a:lnTo>
                      <a:pt x="760793" y="38295"/>
                    </a:lnTo>
                    <a:lnTo>
                      <a:pt x="803648" y="52221"/>
                    </a:lnTo>
                    <a:lnTo>
                      <a:pt x="845168" y="68955"/>
                    </a:lnTo>
                    <a:lnTo>
                      <a:pt x="885240" y="88383"/>
                    </a:lnTo>
                    <a:lnTo>
                      <a:pt x="923754" y="110393"/>
                    </a:lnTo>
                    <a:lnTo>
                      <a:pt x="960596" y="134869"/>
                    </a:lnTo>
                    <a:lnTo>
                      <a:pt x="995655" y="161699"/>
                    </a:lnTo>
                    <a:lnTo>
                      <a:pt x="1028819" y="190767"/>
                    </a:lnTo>
                    <a:lnTo>
                      <a:pt x="1059975" y="221962"/>
                    </a:lnTo>
                    <a:lnTo>
                      <a:pt x="1089011" y="255169"/>
                    </a:lnTo>
                    <a:lnTo>
                      <a:pt x="1115817" y="290273"/>
                    </a:lnTo>
                    <a:lnTo>
                      <a:pt x="1140278" y="327162"/>
                    </a:lnTo>
                    <a:lnTo>
                      <a:pt x="1141867" y="329946"/>
                    </a:lnTo>
                    <a:lnTo>
                      <a:pt x="1156719" y="329946"/>
                    </a:lnTo>
                    <a:close/>
                  </a:path>
                </a:pathLst>
              </a:custGeom>
              <a:solidFill>
                <a:srgbClr val="000000"/>
              </a:solidFill>
            </p:spPr>
            <p:txBody>
              <a:bodyPr wrap="square" lIns="0" tIns="0" rIns="0" bIns="0" rtlCol="0"/>
              <a:lstStyle/>
              <a:p>
                <a:endParaRPr/>
              </a:p>
            </p:txBody>
          </p:sp>
          <p:sp>
            <p:nvSpPr>
              <p:cNvPr id="12" name="object 12"/>
              <p:cNvSpPr/>
              <p:nvPr/>
            </p:nvSpPr>
            <p:spPr>
              <a:xfrm>
                <a:off x="3709689" y="2568448"/>
                <a:ext cx="1473200" cy="676910"/>
              </a:xfrm>
              <a:custGeom>
                <a:avLst/>
                <a:gdLst/>
                <a:ahLst/>
                <a:cxnLst/>
                <a:rect l="l" t="t" r="r" b="b"/>
                <a:pathLst>
                  <a:path w="1473200" h="676910">
                    <a:moveTo>
                      <a:pt x="1472946" y="10668"/>
                    </a:moveTo>
                    <a:lnTo>
                      <a:pt x="1472549" y="0"/>
                    </a:lnTo>
                    <a:lnTo>
                      <a:pt x="397" y="0"/>
                    </a:lnTo>
                    <a:lnTo>
                      <a:pt x="0" y="10668"/>
                    </a:lnTo>
                    <a:lnTo>
                      <a:pt x="1700" y="56292"/>
                    </a:lnTo>
                    <a:lnTo>
                      <a:pt x="6727" y="101087"/>
                    </a:lnTo>
                    <a:lnTo>
                      <a:pt x="14972" y="144954"/>
                    </a:lnTo>
                    <a:lnTo>
                      <a:pt x="26324" y="187794"/>
                    </a:lnTo>
                    <a:lnTo>
                      <a:pt x="40674" y="229508"/>
                    </a:lnTo>
                    <a:lnTo>
                      <a:pt x="57912" y="269998"/>
                    </a:lnTo>
                    <a:lnTo>
                      <a:pt x="77927" y="309164"/>
                    </a:lnTo>
                    <a:lnTo>
                      <a:pt x="100612" y="346907"/>
                    </a:lnTo>
                    <a:lnTo>
                      <a:pt x="125855" y="383129"/>
                    </a:lnTo>
                    <a:lnTo>
                      <a:pt x="153546" y="417731"/>
                    </a:lnTo>
                    <a:lnTo>
                      <a:pt x="183576" y="450614"/>
                    </a:lnTo>
                    <a:lnTo>
                      <a:pt x="215836" y="481679"/>
                    </a:lnTo>
                    <a:lnTo>
                      <a:pt x="250215" y="510827"/>
                    </a:lnTo>
                    <a:lnTo>
                      <a:pt x="286603" y="537959"/>
                    </a:lnTo>
                    <a:lnTo>
                      <a:pt x="324891" y="562976"/>
                    </a:lnTo>
                    <a:lnTo>
                      <a:pt x="364969" y="585780"/>
                    </a:lnTo>
                    <a:lnTo>
                      <a:pt x="406727" y="606271"/>
                    </a:lnTo>
                    <a:lnTo>
                      <a:pt x="450056" y="624351"/>
                    </a:lnTo>
                    <a:lnTo>
                      <a:pt x="494845" y="639921"/>
                    </a:lnTo>
                    <a:lnTo>
                      <a:pt x="540984" y="652882"/>
                    </a:lnTo>
                    <a:lnTo>
                      <a:pt x="588365" y="663134"/>
                    </a:lnTo>
                    <a:lnTo>
                      <a:pt x="636876" y="670580"/>
                    </a:lnTo>
                    <a:lnTo>
                      <a:pt x="686409" y="675120"/>
                    </a:lnTo>
                    <a:lnTo>
                      <a:pt x="736853" y="676656"/>
                    </a:lnTo>
                    <a:lnTo>
                      <a:pt x="787294" y="675120"/>
                    </a:lnTo>
                    <a:lnTo>
                      <a:pt x="836816" y="670580"/>
                    </a:lnTo>
                    <a:lnTo>
                      <a:pt x="885310" y="663134"/>
                    </a:lnTo>
                    <a:lnTo>
                      <a:pt x="932666" y="652882"/>
                    </a:lnTo>
                    <a:lnTo>
                      <a:pt x="978777" y="639921"/>
                    </a:lnTo>
                    <a:lnTo>
                      <a:pt x="1023532" y="624351"/>
                    </a:lnTo>
                    <a:lnTo>
                      <a:pt x="1066823" y="606271"/>
                    </a:lnTo>
                    <a:lnTo>
                      <a:pt x="1108540" y="585780"/>
                    </a:lnTo>
                    <a:lnTo>
                      <a:pt x="1148575" y="562976"/>
                    </a:lnTo>
                    <a:lnTo>
                      <a:pt x="1186817" y="537959"/>
                    </a:lnTo>
                    <a:lnTo>
                      <a:pt x="1223159" y="510827"/>
                    </a:lnTo>
                    <a:lnTo>
                      <a:pt x="1257490" y="481679"/>
                    </a:lnTo>
                    <a:lnTo>
                      <a:pt x="1289702" y="450614"/>
                    </a:lnTo>
                    <a:lnTo>
                      <a:pt x="1319686" y="417731"/>
                    </a:lnTo>
                    <a:lnTo>
                      <a:pt x="1347332" y="383129"/>
                    </a:lnTo>
                    <a:lnTo>
                      <a:pt x="1372531" y="346907"/>
                    </a:lnTo>
                    <a:lnTo>
                      <a:pt x="1395174" y="309164"/>
                    </a:lnTo>
                    <a:lnTo>
                      <a:pt x="1415153" y="269998"/>
                    </a:lnTo>
                    <a:lnTo>
                      <a:pt x="1432357" y="229508"/>
                    </a:lnTo>
                    <a:lnTo>
                      <a:pt x="1446678" y="187794"/>
                    </a:lnTo>
                    <a:lnTo>
                      <a:pt x="1458006" y="144954"/>
                    </a:lnTo>
                    <a:lnTo>
                      <a:pt x="1466233" y="101087"/>
                    </a:lnTo>
                    <a:lnTo>
                      <a:pt x="1471249" y="56292"/>
                    </a:lnTo>
                    <a:lnTo>
                      <a:pt x="1472946" y="10668"/>
                    </a:lnTo>
                    <a:close/>
                  </a:path>
                </a:pathLst>
              </a:custGeom>
              <a:solidFill>
                <a:srgbClr val="FFFFFF"/>
              </a:solidFill>
            </p:spPr>
            <p:txBody>
              <a:bodyPr wrap="square" lIns="0" tIns="0" rIns="0" bIns="0" rtlCol="0"/>
              <a:lstStyle/>
              <a:p>
                <a:endParaRPr/>
              </a:p>
            </p:txBody>
          </p:sp>
          <p:sp>
            <p:nvSpPr>
              <p:cNvPr id="13" name="object 13"/>
              <p:cNvSpPr/>
              <p:nvPr/>
            </p:nvSpPr>
            <p:spPr>
              <a:xfrm>
                <a:off x="3703593" y="2568448"/>
                <a:ext cx="1485900" cy="683260"/>
              </a:xfrm>
              <a:custGeom>
                <a:avLst/>
                <a:gdLst/>
                <a:ahLst/>
                <a:cxnLst/>
                <a:rect l="l" t="t" r="r" b="b"/>
                <a:pathLst>
                  <a:path w="1485900" h="683260">
                    <a:moveTo>
                      <a:pt x="12714" y="0"/>
                    </a:moveTo>
                    <a:lnTo>
                      <a:pt x="462" y="0"/>
                    </a:lnTo>
                    <a:lnTo>
                      <a:pt x="0" y="10668"/>
                    </a:lnTo>
                    <a:lnTo>
                      <a:pt x="0" y="7620"/>
                    </a:lnTo>
                    <a:lnTo>
                      <a:pt x="2286" y="4572"/>
                    </a:lnTo>
                    <a:lnTo>
                      <a:pt x="5334" y="4572"/>
                    </a:lnTo>
                    <a:lnTo>
                      <a:pt x="8382" y="3810"/>
                    </a:lnTo>
                    <a:lnTo>
                      <a:pt x="11430" y="6096"/>
                    </a:lnTo>
                    <a:lnTo>
                      <a:pt x="12192" y="9144"/>
                    </a:lnTo>
                    <a:lnTo>
                      <a:pt x="12192" y="10668"/>
                    </a:lnTo>
                    <a:lnTo>
                      <a:pt x="12714" y="0"/>
                    </a:lnTo>
                    <a:close/>
                  </a:path>
                  <a:path w="1485900" h="683260">
                    <a:moveTo>
                      <a:pt x="12192" y="9143"/>
                    </a:moveTo>
                    <a:lnTo>
                      <a:pt x="11430" y="6096"/>
                    </a:lnTo>
                    <a:lnTo>
                      <a:pt x="8382" y="3810"/>
                    </a:lnTo>
                    <a:lnTo>
                      <a:pt x="5334" y="4572"/>
                    </a:lnTo>
                    <a:lnTo>
                      <a:pt x="2286" y="4572"/>
                    </a:lnTo>
                    <a:lnTo>
                      <a:pt x="0" y="7620"/>
                    </a:lnTo>
                    <a:lnTo>
                      <a:pt x="0" y="10668"/>
                    </a:lnTo>
                    <a:lnTo>
                      <a:pt x="11430" y="9239"/>
                    </a:lnTo>
                    <a:lnTo>
                      <a:pt x="12192" y="9143"/>
                    </a:lnTo>
                    <a:close/>
                  </a:path>
                  <a:path w="1485900" h="683260">
                    <a:moveTo>
                      <a:pt x="12192" y="10668"/>
                    </a:moveTo>
                    <a:lnTo>
                      <a:pt x="12192" y="9143"/>
                    </a:lnTo>
                    <a:lnTo>
                      <a:pt x="762" y="10572"/>
                    </a:lnTo>
                    <a:lnTo>
                      <a:pt x="0" y="10668"/>
                    </a:lnTo>
                    <a:lnTo>
                      <a:pt x="0" y="12192"/>
                    </a:lnTo>
                    <a:lnTo>
                      <a:pt x="11430" y="10763"/>
                    </a:lnTo>
                    <a:lnTo>
                      <a:pt x="12192" y="10668"/>
                    </a:lnTo>
                    <a:close/>
                  </a:path>
                  <a:path w="1485900" h="683260">
                    <a:moveTo>
                      <a:pt x="739142" y="670463"/>
                    </a:moveTo>
                    <a:lnTo>
                      <a:pt x="696252" y="669369"/>
                    </a:lnTo>
                    <a:lnTo>
                      <a:pt x="649939" y="665406"/>
                    </a:lnTo>
                    <a:lnTo>
                      <a:pt x="604150" y="658738"/>
                    </a:lnTo>
                    <a:lnTo>
                      <a:pt x="559025" y="649430"/>
                    </a:lnTo>
                    <a:lnTo>
                      <a:pt x="514695" y="637546"/>
                    </a:lnTo>
                    <a:lnTo>
                      <a:pt x="471306" y="623155"/>
                    </a:lnTo>
                    <a:lnTo>
                      <a:pt x="429001" y="606321"/>
                    </a:lnTo>
                    <a:lnTo>
                      <a:pt x="387920" y="587112"/>
                    </a:lnTo>
                    <a:lnTo>
                      <a:pt x="348204" y="565593"/>
                    </a:lnTo>
                    <a:lnTo>
                      <a:pt x="309994" y="541831"/>
                    </a:lnTo>
                    <a:lnTo>
                      <a:pt x="273432" y="515892"/>
                    </a:lnTo>
                    <a:lnTo>
                      <a:pt x="238796" y="487953"/>
                    </a:lnTo>
                    <a:lnTo>
                      <a:pt x="205813" y="457746"/>
                    </a:lnTo>
                    <a:lnTo>
                      <a:pt x="175039" y="425672"/>
                    </a:lnTo>
                    <a:lnTo>
                      <a:pt x="146476" y="391686"/>
                    </a:lnTo>
                    <a:lnTo>
                      <a:pt x="120266" y="355854"/>
                    </a:lnTo>
                    <a:lnTo>
                      <a:pt x="96549" y="318241"/>
                    </a:lnTo>
                    <a:lnTo>
                      <a:pt x="75466" y="278914"/>
                    </a:lnTo>
                    <a:lnTo>
                      <a:pt x="57159" y="237940"/>
                    </a:lnTo>
                    <a:lnTo>
                      <a:pt x="41768" y="195384"/>
                    </a:lnTo>
                    <a:lnTo>
                      <a:pt x="29424" y="151255"/>
                    </a:lnTo>
                    <a:lnTo>
                      <a:pt x="20301" y="105792"/>
                    </a:lnTo>
                    <a:lnTo>
                      <a:pt x="14506" y="58888"/>
                    </a:lnTo>
                    <a:lnTo>
                      <a:pt x="12192" y="10668"/>
                    </a:lnTo>
                    <a:lnTo>
                      <a:pt x="762" y="12096"/>
                    </a:lnTo>
                    <a:lnTo>
                      <a:pt x="0" y="12192"/>
                    </a:lnTo>
                    <a:lnTo>
                      <a:pt x="762" y="15240"/>
                    </a:lnTo>
                    <a:lnTo>
                      <a:pt x="3810" y="17526"/>
                    </a:lnTo>
                    <a:lnTo>
                      <a:pt x="6858" y="16764"/>
                    </a:lnTo>
                    <a:lnTo>
                      <a:pt x="9906" y="16764"/>
                    </a:lnTo>
                    <a:lnTo>
                      <a:pt x="12192" y="13716"/>
                    </a:lnTo>
                    <a:lnTo>
                      <a:pt x="12192" y="129313"/>
                    </a:lnTo>
                    <a:lnTo>
                      <a:pt x="16983" y="153561"/>
                    </a:lnTo>
                    <a:lnTo>
                      <a:pt x="29424" y="198450"/>
                    </a:lnTo>
                    <a:lnTo>
                      <a:pt x="45009" y="241821"/>
                    </a:lnTo>
                    <a:lnTo>
                      <a:pt x="63591" y="283603"/>
                    </a:lnTo>
                    <a:lnTo>
                      <a:pt x="85024" y="323726"/>
                    </a:lnTo>
                    <a:lnTo>
                      <a:pt x="109157" y="362113"/>
                    </a:lnTo>
                    <a:lnTo>
                      <a:pt x="135842" y="398694"/>
                    </a:lnTo>
                    <a:lnTo>
                      <a:pt x="164936" y="433402"/>
                    </a:lnTo>
                    <a:lnTo>
                      <a:pt x="196291" y="466168"/>
                    </a:lnTo>
                    <a:lnTo>
                      <a:pt x="229762" y="496919"/>
                    </a:lnTo>
                    <a:lnTo>
                      <a:pt x="265200" y="525583"/>
                    </a:lnTo>
                    <a:lnTo>
                      <a:pt x="302460" y="552090"/>
                    </a:lnTo>
                    <a:lnTo>
                      <a:pt x="341395" y="576368"/>
                    </a:lnTo>
                    <a:lnTo>
                      <a:pt x="381857" y="598344"/>
                    </a:lnTo>
                    <a:lnTo>
                      <a:pt x="423701" y="617949"/>
                    </a:lnTo>
                    <a:lnTo>
                      <a:pt x="466779" y="635110"/>
                    </a:lnTo>
                    <a:lnTo>
                      <a:pt x="510945" y="649755"/>
                    </a:lnTo>
                    <a:lnTo>
                      <a:pt x="556051" y="661814"/>
                    </a:lnTo>
                    <a:lnTo>
                      <a:pt x="601952" y="671215"/>
                    </a:lnTo>
                    <a:lnTo>
                      <a:pt x="648500" y="677885"/>
                    </a:lnTo>
                    <a:lnTo>
                      <a:pt x="695548" y="681755"/>
                    </a:lnTo>
                    <a:lnTo>
                      <a:pt x="736092" y="682607"/>
                    </a:lnTo>
                    <a:lnTo>
                      <a:pt x="736092" y="675894"/>
                    </a:lnTo>
                    <a:lnTo>
                      <a:pt x="736854" y="672846"/>
                    </a:lnTo>
                    <a:lnTo>
                      <a:pt x="739142" y="670463"/>
                    </a:lnTo>
                    <a:close/>
                  </a:path>
                  <a:path w="1485900" h="683260">
                    <a:moveTo>
                      <a:pt x="12192" y="129313"/>
                    </a:moveTo>
                    <a:lnTo>
                      <a:pt x="12192" y="13716"/>
                    </a:lnTo>
                    <a:lnTo>
                      <a:pt x="9906" y="16764"/>
                    </a:lnTo>
                    <a:lnTo>
                      <a:pt x="6858" y="16764"/>
                    </a:lnTo>
                    <a:lnTo>
                      <a:pt x="3810" y="17526"/>
                    </a:lnTo>
                    <a:lnTo>
                      <a:pt x="762" y="15240"/>
                    </a:lnTo>
                    <a:lnTo>
                      <a:pt x="0" y="12192"/>
                    </a:lnTo>
                    <a:lnTo>
                      <a:pt x="0" y="10667"/>
                    </a:lnTo>
                    <a:lnTo>
                      <a:pt x="2124" y="59466"/>
                    </a:lnTo>
                    <a:lnTo>
                      <a:pt x="7834" y="107221"/>
                    </a:lnTo>
                    <a:lnTo>
                      <a:pt x="12192" y="129313"/>
                    </a:lnTo>
                    <a:close/>
                  </a:path>
                  <a:path w="1485900" h="683260">
                    <a:moveTo>
                      <a:pt x="742950" y="670560"/>
                    </a:moveTo>
                    <a:lnTo>
                      <a:pt x="739142" y="670463"/>
                    </a:lnTo>
                    <a:lnTo>
                      <a:pt x="736854" y="672846"/>
                    </a:lnTo>
                    <a:lnTo>
                      <a:pt x="736092" y="675894"/>
                    </a:lnTo>
                    <a:lnTo>
                      <a:pt x="736092" y="678942"/>
                    </a:lnTo>
                    <a:lnTo>
                      <a:pt x="738377" y="681990"/>
                    </a:lnTo>
                    <a:lnTo>
                      <a:pt x="741286" y="682717"/>
                    </a:lnTo>
                    <a:lnTo>
                      <a:pt x="741426" y="682719"/>
                    </a:lnTo>
                    <a:lnTo>
                      <a:pt x="742950" y="670560"/>
                    </a:lnTo>
                    <a:close/>
                  </a:path>
                  <a:path w="1485900" h="683260">
                    <a:moveTo>
                      <a:pt x="741286" y="682717"/>
                    </a:moveTo>
                    <a:lnTo>
                      <a:pt x="738377" y="681990"/>
                    </a:lnTo>
                    <a:lnTo>
                      <a:pt x="736092" y="678942"/>
                    </a:lnTo>
                    <a:lnTo>
                      <a:pt x="736092" y="682607"/>
                    </a:lnTo>
                    <a:lnTo>
                      <a:pt x="741286" y="682717"/>
                    </a:lnTo>
                    <a:close/>
                  </a:path>
                  <a:path w="1485900" h="683260">
                    <a:moveTo>
                      <a:pt x="743711" y="670522"/>
                    </a:moveTo>
                    <a:lnTo>
                      <a:pt x="742950" y="670560"/>
                    </a:lnTo>
                    <a:lnTo>
                      <a:pt x="741426" y="682752"/>
                    </a:lnTo>
                    <a:lnTo>
                      <a:pt x="742950" y="682752"/>
                    </a:lnTo>
                    <a:lnTo>
                      <a:pt x="743711" y="670522"/>
                    </a:lnTo>
                    <a:close/>
                  </a:path>
                  <a:path w="1485900" h="683260">
                    <a:moveTo>
                      <a:pt x="749808" y="674370"/>
                    </a:moveTo>
                    <a:lnTo>
                      <a:pt x="747522" y="671322"/>
                    </a:lnTo>
                    <a:lnTo>
                      <a:pt x="745236" y="670864"/>
                    </a:lnTo>
                    <a:lnTo>
                      <a:pt x="744982" y="670814"/>
                    </a:lnTo>
                    <a:lnTo>
                      <a:pt x="744474" y="670712"/>
                    </a:lnTo>
                    <a:lnTo>
                      <a:pt x="743711" y="670522"/>
                    </a:lnTo>
                    <a:lnTo>
                      <a:pt x="742950" y="682752"/>
                    </a:lnTo>
                    <a:lnTo>
                      <a:pt x="745998" y="682689"/>
                    </a:lnTo>
                    <a:lnTo>
                      <a:pt x="747522" y="681609"/>
                    </a:lnTo>
                    <a:lnTo>
                      <a:pt x="749046" y="680466"/>
                    </a:lnTo>
                    <a:lnTo>
                      <a:pt x="749046" y="677418"/>
                    </a:lnTo>
                    <a:lnTo>
                      <a:pt x="749808" y="674370"/>
                    </a:lnTo>
                    <a:close/>
                  </a:path>
                  <a:path w="1485900" h="683260">
                    <a:moveTo>
                      <a:pt x="1473708" y="129592"/>
                    </a:moveTo>
                    <a:lnTo>
                      <a:pt x="1473708" y="12954"/>
                    </a:lnTo>
                    <a:lnTo>
                      <a:pt x="1473454" y="12192"/>
                    </a:lnTo>
                    <a:lnTo>
                      <a:pt x="1472879" y="12192"/>
                    </a:lnTo>
                    <a:lnTo>
                      <a:pt x="1470755" y="60747"/>
                    </a:lnTo>
                    <a:lnTo>
                      <a:pt x="1470755" y="59730"/>
                    </a:lnTo>
                    <a:lnTo>
                      <a:pt x="1465133" y="106369"/>
                    </a:lnTo>
                    <a:lnTo>
                      <a:pt x="1465133" y="106156"/>
                    </a:lnTo>
                    <a:lnTo>
                      <a:pt x="1456143" y="151487"/>
                    </a:lnTo>
                    <a:lnTo>
                      <a:pt x="1443906" y="195492"/>
                    </a:lnTo>
                    <a:lnTo>
                      <a:pt x="1428566" y="238036"/>
                    </a:lnTo>
                    <a:lnTo>
                      <a:pt x="1410266" y="279032"/>
                    </a:lnTo>
                    <a:lnTo>
                      <a:pt x="1389163" y="318380"/>
                    </a:lnTo>
                    <a:lnTo>
                      <a:pt x="1365402" y="356014"/>
                    </a:lnTo>
                    <a:lnTo>
                      <a:pt x="1339129" y="391867"/>
                    </a:lnTo>
                    <a:lnTo>
                      <a:pt x="1310488" y="425872"/>
                    </a:lnTo>
                    <a:lnTo>
                      <a:pt x="1279624" y="457961"/>
                    </a:lnTo>
                    <a:lnTo>
                      <a:pt x="1246684" y="488070"/>
                    </a:lnTo>
                    <a:lnTo>
                      <a:pt x="1211811" y="516131"/>
                    </a:lnTo>
                    <a:lnTo>
                      <a:pt x="1175151" y="542077"/>
                    </a:lnTo>
                    <a:lnTo>
                      <a:pt x="1136850" y="565841"/>
                    </a:lnTo>
                    <a:lnTo>
                      <a:pt x="1097051" y="587358"/>
                    </a:lnTo>
                    <a:lnTo>
                      <a:pt x="1055900" y="606559"/>
                    </a:lnTo>
                    <a:lnTo>
                      <a:pt x="1013543" y="623380"/>
                    </a:lnTo>
                    <a:lnTo>
                      <a:pt x="970125" y="637752"/>
                    </a:lnTo>
                    <a:lnTo>
                      <a:pt x="925790" y="649610"/>
                    </a:lnTo>
                    <a:lnTo>
                      <a:pt x="880683" y="658886"/>
                    </a:lnTo>
                    <a:lnTo>
                      <a:pt x="835817" y="665389"/>
                    </a:lnTo>
                    <a:lnTo>
                      <a:pt x="834951" y="665514"/>
                    </a:lnTo>
                    <a:lnTo>
                      <a:pt x="790359" y="669290"/>
                    </a:lnTo>
                    <a:lnTo>
                      <a:pt x="790196" y="669304"/>
                    </a:lnTo>
                    <a:lnTo>
                      <a:pt x="788737" y="669428"/>
                    </a:lnTo>
                    <a:lnTo>
                      <a:pt x="749808" y="670374"/>
                    </a:lnTo>
                    <a:lnTo>
                      <a:pt x="747522" y="670430"/>
                    </a:lnTo>
                    <a:lnTo>
                      <a:pt x="743711" y="670522"/>
                    </a:lnTo>
                    <a:lnTo>
                      <a:pt x="744474" y="670712"/>
                    </a:lnTo>
                    <a:lnTo>
                      <a:pt x="747522" y="671322"/>
                    </a:lnTo>
                    <a:lnTo>
                      <a:pt x="749808" y="674370"/>
                    </a:lnTo>
                    <a:lnTo>
                      <a:pt x="749808" y="682612"/>
                    </a:lnTo>
                    <a:lnTo>
                      <a:pt x="788737" y="681819"/>
                    </a:lnTo>
                    <a:lnTo>
                      <a:pt x="790359" y="681776"/>
                    </a:lnTo>
                    <a:lnTo>
                      <a:pt x="834951" y="678120"/>
                    </a:lnTo>
                    <a:lnTo>
                      <a:pt x="835817" y="678049"/>
                    </a:lnTo>
                    <a:lnTo>
                      <a:pt x="883574" y="671283"/>
                    </a:lnTo>
                    <a:lnTo>
                      <a:pt x="929407" y="661884"/>
                    </a:lnTo>
                    <a:lnTo>
                      <a:pt x="974469" y="649818"/>
                    </a:lnTo>
                    <a:lnTo>
                      <a:pt x="1018613" y="635158"/>
                    </a:lnTo>
                    <a:lnTo>
                      <a:pt x="1061687" y="617977"/>
                    </a:lnTo>
                    <a:lnTo>
                      <a:pt x="1103545" y="598347"/>
                    </a:lnTo>
                    <a:lnTo>
                      <a:pt x="1144035" y="576342"/>
                    </a:lnTo>
                    <a:lnTo>
                      <a:pt x="1183010" y="552034"/>
                    </a:lnTo>
                    <a:lnTo>
                      <a:pt x="1220319" y="525495"/>
                    </a:lnTo>
                    <a:lnTo>
                      <a:pt x="1255814" y="496800"/>
                    </a:lnTo>
                    <a:lnTo>
                      <a:pt x="1289335" y="466028"/>
                    </a:lnTo>
                    <a:lnTo>
                      <a:pt x="1320670" y="433324"/>
                    </a:lnTo>
                    <a:lnTo>
                      <a:pt x="1349918" y="398496"/>
                    </a:lnTo>
                    <a:lnTo>
                      <a:pt x="1376663" y="361899"/>
                    </a:lnTo>
                    <a:lnTo>
                      <a:pt x="1400846" y="323508"/>
                    </a:lnTo>
                    <a:lnTo>
                      <a:pt x="1422320" y="283396"/>
                    </a:lnTo>
                    <a:lnTo>
                      <a:pt x="1440935" y="241637"/>
                    </a:lnTo>
                    <a:lnTo>
                      <a:pt x="1456541" y="198302"/>
                    </a:lnTo>
                    <a:lnTo>
                      <a:pt x="1468990" y="153465"/>
                    </a:lnTo>
                    <a:lnTo>
                      <a:pt x="1473708" y="129592"/>
                    </a:lnTo>
                    <a:close/>
                  </a:path>
                  <a:path w="1485900" h="683260">
                    <a:moveTo>
                      <a:pt x="749808" y="682612"/>
                    </a:moveTo>
                    <a:lnTo>
                      <a:pt x="749808" y="674370"/>
                    </a:lnTo>
                    <a:lnTo>
                      <a:pt x="749046" y="677418"/>
                    </a:lnTo>
                    <a:lnTo>
                      <a:pt x="749046" y="680466"/>
                    </a:lnTo>
                    <a:lnTo>
                      <a:pt x="745998" y="682752"/>
                    </a:lnTo>
                    <a:lnTo>
                      <a:pt x="749046" y="682627"/>
                    </a:lnTo>
                    <a:lnTo>
                      <a:pt x="749808" y="682612"/>
                    </a:lnTo>
                    <a:close/>
                  </a:path>
                  <a:path w="1485900" h="683260">
                    <a:moveTo>
                      <a:pt x="1485827" y="9071"/>
                    </a:moveTo>
                    <a:lnTo>
                      <a:pt x="1485416" y="0"/>
                    </a:lnTo>
                    <a:lnTo>
                      <a:pt x="1472472" y="0"/>
                    </a:lnTo>
                    <a:lnTo>
                      <a:pt x="1472879" y="9165"/>
                    </a:lnTo>
                    <a:lnTo>
                      <a:pt x="1472879" y="10468"/>
                    </a:lnTo>
                    <a:lnTo>
                      <a:pt x="1473454" y="12192"/>
                    </a:lnTo>
                    <a:lnTo>
                      <a:pt x="1473708" y="12192"/>
                    </a:lnTo>
                    <a:lnTo>
                      <a:pt x="1473708" y="129592"/>
                    </a:lnTo>
                    <a:lnTo>
                      <a:pt x="1478132" y="107198"/>
                    </a:lnTo>
                    <a:lnTo>
                      <a:pt x="1483819" y="59575"/>
                    </a:lnTo>
                    <a:lnTo>
                      <a:pt x="1485138" y="28576"/>
                    </a:lnTo>
                    <a:lnTo>
                      <a:pt x="1485138" y="8382"/>
                    </a:lnTo>
                    <a:lnTo>
                      <a:pt x="1485827" y="9071"/>
                    </a:lnTo>
                    <a:close/>
                  </a:path>
                  <a:path w="1485900" h="683260">
                    <a:moveTo>
                      <a:pt x="1473454" y="12192"/>
                    </a:moveTo>
                    <a:lnTo>
                      <a:pt x="1472879" y="10468"/>
                    </a:lnTo>
                    <a:lnTo>
                      <a:pt x="1472879" y="12192"/>
                    </a:lnTo>
                    <a:lnTo>
                      <a:pt x="1473454" y="12192"/>
                    </a:lnTo>
                    <a:close/>
                  </a:path>
                  <a:path w="1485900" h="683260">
                    <a:moveTo>
                      <a:pt x="1485827" y="10451"/>
                    </a:moveTo>
                    <a:lnTo>
                      <a:pt x="1485827" y="9071"/>
                    </a:lnTo>
                    <a:lnTo>
                      <a:pt x="1485138" y="8382"/>
                    </a:lnTo>
                    <a:lnTo>
                      <a:pt x="1485827" y="10451"/>
                    </a:lnTo>
                    <a:close/>
                  </a:path>
                  <a:path w="1485900" h="683260">
                    <a:moveTo>
                      <a:pt x="1485827" y="12367"/>
                    </a:moveTo>
                    <a:lnTo>
                      <a:pt x="1485827" y="10451"/>
                    </a:lnTo>
                    <a:lnTo>
                      <a:pt x="1485138" y="8382"/>
                    </a:lnTo>
                    <a:lnTo>
                      <a:pt x="1485138" y="28576"/>
                    </a:lnTo>
                    <a:lnTo>
                      <a:pt x="1485827" y="12367"/>
                    </a:lnTo>
                    <a:close/>
                  </a:path>
                </a:pathLst>
              </a:custGeom>
              <a:solidFill>
                <a:srgbClr val="000000"/>
              </a:solidFill>
            </p:spPr>
            <p:txBody>
              <a:bodyPr wrap="square" lIns="0" tIns="0" rIns="0" bIns="0" rtlCol="0"/>
              <a:lstStyle/>
              <a:p>
                <a:endParaRPr/>
              </a:p>
            </p:txBody>
          </p:sp>
        </p:grpSp>
        <p:sp>
          <p:nvSpPr>
            <p:cNvPr id="14" name="object 14"/>
            <p:cNvSpPr txBox="1"/>
            <p:nvPr/>
          </p:nvSpPr>
          <p:spPr>
            <a:xfrm>
              <a:off x="5313183" y="2162556"/>
              <a:ext cx="1207770" cy="672196"/>
            </a:xfrm>
            <a:prstGeom prst="rect">
              <a:avLst/>
            </a:prstGeom>
          </p:spPr>
          <p:txBody>
            <a:bodyPr vert="horz" wrap="square" lIns="0" tIns="12700" rIns="0" bIns="0" rtlCol="0">
              <a:spAutoFit/>
            </a:bodyPr>
            <a:lstStyle/>
            <a:p>
              <a:pPr algn="ctr">
                <a:spcBef>
                  <a:spcPts val="100"/>
                </a:spcBef>
              </a:pPr>
              <a:r>
                <a:rPr sz="1000" b="1" spc="-10">
                  <a:latin typeface="Verdana"/>
                  <a:cs typeface="Verdana"/>
                </a:rPr>
                <a:t>Financiera</a:t>
              </a:r>
              <a:endParaRPr sz="1000">
                <a:latin typeface="Verdana"/>
                <a:cs typeface="Verdana"/>
              </a:endParaRPr>
            </a:p>
            <a:p>
              <a:pPr marL="12065" marR="5080" indent="-635" algn="ctr"/>
              <a:r>
                <a:rPr sz="900">
                  <a:latin typeface="Verdana"/>
                  <a:cs typeface="Verdana"/>
                </a:rPr>
                <a:t>Qué</a:t>
              </a:r>
              <a:r>
                <a:rPr sz="900" spc="-30">
                  <a:latin typeface="Verdana"/>
                  <a:cs typeface="Verdana"/>
                </a:rPr>
                <a:t> </a:t>
              </a:r>
              <a:r>
                <a:rPr sz="900" spc="-10">
                  <a:latin typeface="Verdana"/>
                  <a:cs typeface="Verdana"/>
                </a:rPr>
                <a:t>objetivos </a:t>
              </a:r>
              <a:r>
                <a:rPr sz="900">
                  <a:latin typeface="Verdana"/>
                  <a:cs typeface="Verdana"/>
                </a:rPr>
                <a:t>financieros</a:t>
              </a:r>
              <a:r>
                <a:rPr sz="900" spc="-65">
                  <a:latin typeface="Verdana"/>
                  <a:cs typeface="Verdana"/>
                </a:rPr>
                <a:t> </a:t>
              </a:r>
              <a:r>
                <a:rPr sz="900" spc="-10">
                  <a:latin typeface="Verdana"/>
                  <a:cs typeface="Verdana"/>
                </a:rPr>
                <a:t>debemos alcanzar</a:t>
              </a:r>
              <a:endParaRPr sz="900">
                <a:latin typeface="Verdana"/>
                <a:cs typeface="Verdana"/>
              </a:endParaRPr>
            </a:p>
          </p:txBody>
        </p:sp>
        <p:grpSp>
          <p:nvGrpSpPr>
            <p:cNvPr id="15" name="object 15"/>
            <p:cNvGrpSpPr/>
            <p:nvPr/>
          </p:nvGrpSpPr>
          <p:grpSpPr>
            <a:xfrm>
              <a:off x="3211341" y="2568448"/>
              <a:ext cx="5302250" cy="1714500"/>
              <a:chOff x="1687341" y="2568448"/>
              <a:chExt cx="5302250" cy="1714500"/>
            </a:xfrm>
          </p:grpSpPr>
          <p:pic>
            <p:nvPicPr>
              <p:cNvPr id="16" name="object 16"/>
              <p:cNvPicPr/>
              <p:nvPr/>
            </p:nvPicPr>
            <p:blipFill>
              <a:blip r:embed="rId2" cstate="print"/>
              <a:stretch>
                <a:fillRect/>
              </a:stretch>
            </p:blipFill>
            <p:spPr>
              <a:xfrm>
                <a:off x="4300239" y="3283204"/>
                <a:ext cx="114300" cy="114300"/>
              </a:xfrm>
              <a:prstGeom prst="rect">
                <a:avLst/>
              </a:prstGeom>
            </p:spPr>
          </p:pic>
          <p:sp>
            <p:nvSpPr>
              <p:cNvPr id="17" name="object 17"/>
              <p:cNvSpPr/>
              <p:nvPr/>
            </p:nvSpPr>
            <p:spPr>
              <a:xfrm>
                <a:off x="1687334" y="2568460"/>
                <a:ext cx="5302250" cy="1714500"/>
              </a:xfrm>
              <a:custGeom>
                <a:avLst/>
                <a:gdLst/>
                <a:ahLst/>
                <a:cxnLst/>
                <a:rect l="l" t="t" r="r" b="b"/>
                <a:pathLst>
                  <a:path w="5302250" h="1714500">
                    <a:moveTo>
                      <a:pt x="260261" y="1714500"/>
                    </a:moveTo>
                    <a:lnTo>
                      <a:pt x="221449" y="1681086"/>
                    </a:lnTo>
                    <a:lnTo>
                      <a:pt x="190296" y="1649907"/>
                    </a:lnTo>
                    <a:lnTo>
                      <a:pt x="161277" y="1616735"/>
                    </a:lnTo>
                    <a:lnTo>
                      <a:pt x="134442" y="1581619"/>
                    </a:lnTo>
                    <a:lnTo>
                      <a:pt x="109982" y="1544726"/>
                    </a:lnTo>
                    <a:lnTo>
                      <a:pt x="87985" y="1506169"/>
                    </a:lnTo>
                    <a:lnTo>
                      <a:pt x="68567" y="1466062"/>
                    </a:lnTo>
                    <a:lnTo>
                      <a:pt x="51866" y="1424533"/>
                    </a:lnTo>
                    <a:lnTo>
                      <a:pt x="37985" y="1381671"/>
                    </a:lnTo>
                    <a:lnTo>
                      <a:pt x="27038" y="1337614"/>
                    </a:lnTo>
                    <a:lnTo>
                      <a:pt x="19138" y="1292479"/>
                    </a:lnTo>
                    <a:lnTo>
                      <a:pt x="14401" y="1246352"/>
                    </a:lnTo>
                    <a:lnTo>
                      <a:pt x="12954" y="1199781"/>
                    </a:lnTo>
                    <a:lnTo>
                      <a:pt x="12954" y="1202563"/>
                    </a:lnTo>
                    <a:lnTo>
                      <a:pt x="12954" y="1202690"/>
                    </a:lnTo>
                    <a:lnTo>
                      <a:pt x="11430" y="1204722"/>
                    </a:lnTo>
                    <a:lnTo>
                      <a:pt x="12954" y="1202563"/>
                    </a:lnTo>
                    <a:lnTo>
                      <a:pt x="12954" y="1199781"/>
                    </a:lnTo>
                    <a:lnTo>
                      <a:pt x="14401" y="1155585"/>
                    </a:lnTo>
                    <a:lnTo>
                      <a:pt x="14401" y="1153858"/>
                    </a:lnTo>
                    <a:lnTo>
                      <a:pt x="19278" y="1106893"/>
                    </a:lnTo>
                    <a:lnTo>
                      <a:pt x="27203" y="1061681"/>
                    </a:lnTo>
                    <a:lnTo>
                      <a:pt x="38176" y="1017587"/>
                    </a:lnTo>
                    <a:lnTo>
                      <a:pt x="52057" y="974699"/>
                    </a:lnTo>
                    <a:lnTo>
                      <a:pt x="68745" y="933145"/>
                    </a:lnTo>
                    <a:lnTo>
                      <a:pt x="88125" y="893025"/>
                    </a:lnTo>
                    <a:lnTo>
                      <a:pt x="108508" y="857250"/>
                    </a:lnTo>
                    <a:lnTo>
                      <a:pt x="93954" y="857250"/>
                    </a:lnTo>
                    <a:lnTo>
                      <a:pt x="57391" y="927442"/>
                    </a:lnTo>
                    <a:lnTo>
                      <a:pt x="40322" y="969746"/>
                    </a:lnTo>
                    <a:lnTo>
                      <a:pt x="26111" y="1013409"/>
                    </a:lnTo>
                    <a:lnTo>
                      <a:pt x="14770" y="1058684"/>
                    </a:lnTo>
                    <a:lnTo>
                      <a:pt x="14770" y="1058837"/>
                    </a:lnTo>
                    <a:lnTo>
                      <a:pt x="12954" y="1069060"/>
                    </a:lnTo>
                    <a:lnTo>
                      <a:pt x="12954" y="1199388"/>
                    </a:lnTo>
                    <a:lnTo>
                      <a:pt x="1549" y="1203998"/>
                    </a:lnTo>
                    <a:lnTo>
                      <a:pt x="10668" y="1200302"/>
                    </a:lnTo>
                    <a:lnTo>
                      <a:pt x="12954" y="1199388"/>
                    </a:lnTo>
                    <a:lnTo>
                      <a:pt x="12954" y="1069060"/>
                    </a:lnTo>
                    <a:lnTo>
                      <a:pt x="6616" y="1104684"/>
                    </a:lnTo>
                    <a:lnTo>
                      <a:pt x="6616" y="1104900"/>
                    </a:lnTo>
                    <a:lnTo>
                      <a:pt x="1524" y="1152956"/>
                    </a:lnTo>
                    <a:lnTo>
                      <a:pt x="1524" y="1156081"/>
                    </a:lnTo>
                    <a:lnTo>
                      <a:pt x="76" y="1196975"/>
                    </a:lnTo>
                    <a:lnTo>
                      <a:pt x="0" y="1199388"/>
                    </a:lnTo>
                    <a:lnTo>
                      <a:pt x="1524" y="1243469"/>
                    </a:lnTo>
                    <a:lnTo>
                      <a:pt x="1524" y="1246124"/>
                    </a:lnTo>
                    <a:lnTo>
                      <a:pt x="6616" y="1294549"/>
                    </a:lnTo>
                    <a:lnTo>
                      <a:pt x="14770" y="1340650"/>
                    </a:lnTo>
                    <a:lnTo>
                      <a:pt x="25984" y="1385595"/>
                    </a:lnTo>
                    <a:lnTo>
                      <a:pt x="40157" y="1429283"/>
                    </a:lnTo>
                    <a:lnTo>
                      <a:pt x="57188" y="1471612"/>
                    </a:lnTo>
                    <a:lnTo>
                      <a:pt x="76936" y="1512443"/>
                    </a:lnTo>
                    <a:lnTo>
                      <a:pt x="99314" y="1551686"/>
                    </a:lnTo>
                    <a:lnTo>
                      <a:pt x="124193" y="1589227"/>
                    </a:lnTo>
                    <a:lnTo>
                      <a:pt x="151460" y="1624939"/>
                    </a:lnTo>
                    <a:lnTo>
                      <a:pt x="181013" y="1658721"/>
                    </a:lnTo>
                    <a:lnTo>
                      <a:pt x="212725" y="1690446"/>
                    </a:lnTo>
                    <a:lnTo>
                      <a:pt x="240182" y="1714500"/>
                    </a:lnTo>
                    <a:lnTo>
                      <a:pt x="260261" y="1714500"/>
                    </a:lnTo>
                    <a:close/>
                  </a:path>
                  <a:path w="5302250" h="1714500">
                    <a:moveTo>
                      <a:pt x="760857" y="317398"/>
                    </a:moveTo>
                    <a:lnTo>
                      <a:pt x="758952" y="316230"/>
                    </a:lnTo>
                    <a:lnTo>
                      <a:pt x="755827" y="315899"/>
                    </a:lnTo>
                    <a:lnTo>
                      <a:pt x="760857" y="317398"/>
                    </a:lnTo>
                    <a:close/>
                  </a:path>
                  <a:path w="5302250" h="1714500">
                    <a:moveTo>
                      <a:pt x="810768" y="268312"/>
                    </a:moveTo>
                    <a:lnTo>
                      <a:pt x="808774" y="261251"/>
                    </a:lnTo>
                    <a:lnTo>
                      <a:pt x="803910" y="255270"/>
                    </a:lnTo>
                    <a:lnTo>
                      <a:pt x="797496" y="251548"/>
                    </a:lnTo>
                    <a:lnTo>
                      <a:pt x="790295" y="250698"/>
                    </a:lnTo>
                    <a:lnTo>
                      <a:pt x="783234" y="252691"/>
                    </a:lnTo>
                    <a:lnTo>
                      <a:pt x="777240" y="257556"/>
                    </a:lnTo>
                    <a:lnTo>
                      <a:pt x="773531" y="263969"/>
                    </a:lnTo>
                    <a:lnTo>
                      <a:pt x="772668" y="271170"/>
                    </a:lnTo>
                    <a:lnTo>
                      <a:pt x="774674" y="278231"/>
                    </a:lnTo>
                    <a:lnTo>
                      <a:pt x="779526" y="284226"/>
                    </a:lnTo>
                    <a:lnTo>
                      <a:pt x="785939" y="287934"/>
                    </a:lnTo>
                    <a:lnTo>
                      <a:pt x="793153" y="288798"/>
                    </a:lnTo>
                    <a:lnTo>
                      <a:pt x="800201" y="286791"/>
                    </a:lnTo>
                    <a:lnTo>
                      <a:pt x="806196" y="281940"/>
                    </a:lnTo>
                    <a:lnTo>
                      <a:pt x="809917" y="275513"/>
                    </a:lnTo>
                    <a:lnTo>
                      <a:pt x="810768" y="268312"/>
                    </a:lnTo>
                    <a:close/>
                  </a:path>
                  <a:path w="5302250" h="1714500">
                    <a:moveTo>
                      <a:pt x="813054" y="332994"/>
                    </a:moveTo>
                    <a:lnTo>
                      <a:pt x="761238" y="317512"/>
                    </a:lnTo>
                    <a:lnTo>
                      <a:pt x="755827" y="315899"/>
                    </a:lnTo>
                    <a:lnTo>
                      <a:pt x="703326" y="300228"/>
                    </a:lnTo>
                    <a:lnTo>
                      <a:pt x="725424" y="425958"/>
                    </a:lnTo>
                    <a:lnTo>
                      <a:pt x="733793" y="417068"/>
                    </a:lnTo>
                    <a:lnTo>
                      <a:pt x="771918" y="376631"/>
                    </a:lnTo>
                    <a:lnTo>
                      <a:pt x="813054" y="332994"/>
                    </a:lnTo>
                    <a:close/>
                  </a:path>
                  <a:path w="5302250" h="1714500">
                    <a:moveTo>
                      <a:pt x="864108" y="216306"/>
                    </a:moveTo>
                    <a:lnTo>
                      <a:pt x="862939" y="209105"/>
                    </a:lnTo>
                    <a:lnTo>
                      <a:pt x="858774" y="202692"/>
                    </a:lnTo>
                    <a:lnTo>
                      <a:pt x="852779" y="198272"/>
                    </a:lnTo>
                    <a:lnTo>
                      <a:pt x="845731" y="196494"/>
                    </a:lnTo>
                    <a:lnTo>
                      <a:pt x="838517" y="197434"/>
                    </a:lnTo>
                    <a:lnTo>
                      <a:pt x="832104" y="201168"/>
                    </a:lnTo>
                    <a:lnTo>
                      <a:pt x="827684" y="207479"/>
                    </a:lnTo>
                    <a:lnTo>
                      <a:pt x="825919" y="214591"/>
                    </a:lnTo>
                    <a:lnTo>
                      <a:pt x="826858" y="221843"/>
                    </a:lnTo>
                    <a:lnTo>
                      <a:pt x="830580" y="228600"/>
                    </a:lnTo>
                    <a:lnTo>
                      <a:pt x="836904" y="232994"/>
                    </a:lnTo>
                    <a:lnTo>
                      <a:pt x="844016" y="234696"/>
                    </a:lnTo>
                    <a:lnTo>
                      <a:pt x="851255" y="233527"/>
                    </a:lnTo>
                    <a:lnTo>
                      <a:pt x="858012" y="229362"/>
                    </a:lnTo>
                    <a:lnTo>
                      <a:pt x="862418" y="223367"/>
                    </a:lnTo>
                    <a:lnTo>
                      <a:pt x="864108" y="216306"/>
                    </a:lnTo>
                    <a:close/>
                  </a:path>
                  <a:path w="5302250" h="1714500">
                    <a:moveTo>
                      <a:pt x="923531" y="164134"/>
                    </a:moveTo>
                    <a:lnTo>
                      <a:pt x="920496" y="156972"/>
                    </a:lnTo>
                    <a:lnTo>
                      <a:pt x="914933" y="151980"/>
                    </a:lnTo>
                    <a:lnTo>
                      <a:pt x="908024" y="149631"/>
                    </a:lnTo>
                    <a:lnTo>
                      <a:pt x="901738" y="149948"/>
                    </a:lnTo>
                    <a:lnTo>
                      <a:pt x="900671" y="149999"/>
                    </a:lnTo>
                    <a:lnTo>
                      <a:pt x="893826" y="153162"/>
                    </a:lnTo>
                    <a:lnTo>
                      <a:pt x="888720" y="158610"/>
                    </a:lnTo>
                    <a:lnTo>
                      <a:pt x="886117" y="165354"/>
                    </a:lnTo>
                    <a:lnTo>
                      <a:pt x="886117" y="172402"/>
                    </a:lnTo>
                    <a:lnTo>
                      <a:pt x="889254" y="179832"/>
                    </a:lnTo>
                    <a:lnTo>
                      <a:pt x="894816" y="184810"/>
                    </a:lnTo>
                    <a:lnTo>
                      <a:pt x="901738" y="187159"/>
                    </a:lnTo>
                    <a:lnTo>
                      <a:pt x="908024" y="186842"/>
                    </a:lnTo>
                    <a:lnTo>
                      <a:pt x="909078" y="186791"/>
                    </a:lnTo>
                    <a:lnTo>
                      <a:pt x="915924" y="183642"/>
                    </a:lnTo>
                    <a:lnTo>
                      <a:pt x="921029" y="178181"/>
                    </a:lnTo>
                    <a:lnTo>
                      <a:pt x="923531" y="171716"/>
                    </a:lnTo>
                    <a:lnTo>
                      <a:pt x="923531" y="164134"/>
                    </a:lnTo>
                    <a:close/>
                  </a:path>
                  <a:path w="5302250" h="1714500">
                    <a:moveTo>
                      <a:pt x="987729" y="124498"/>
                    </a:moveTo>
                    <a:lnTo>
                      <a:pt x="985266" y="117348"/>
                    </a:lnTo>
                    <a:lnTo>
                      <a:pt x="980147" y="111658"/>
                    </a:lnTo>
                    <a:lnTo>
                      <a:pt x="973455" y="108483"/>
                    </a:lnTo>
                    <a:lnTo>
                      <a:pt x="966190" y="108013"/>
                    </a:lnTo>
                    <a:lnTo>
                      <a:pt x="959358" y="110490"/>
                    </a:lnTo>
                    <a:lnTo>
                      <a:pt x="953681" y="115608"/>
                    </a:lnTo>
                    <a:lnTo>
                      <a:pt x="950506" y="122301"/>
                    </a:lnTo>
                    <a:lnTo>
                      <a:pt x="950036" y="129552"/>
                    </a:lnTo>
                    <a:lnTo>
                      <a:pt x="952500" y="136398"/>
                    </a:lnTo>
                    <a:lnTo>
                      <a:pt x="957516" y="142074"/>
                    </a:lnTo>
                    <a:lnTo>
                      <a:pt x="964031" y="145249"/>
                    </a:lnTo>
                    <a:lnTo>
                      <a:pt x="971257" y="145719"/>
                    </a:lnTo>
                    <a:lnTo>
                      <a:pt x="978408" y="143256"/>
                    </a:lnTo>
                    <a:lnTo>
                      <a:pt x="984084" y="138239"/>
                    </a:lnTo>
                    <a:lnTo>
                      <a:pt x="987272" y="131724"/>
                    </a:lnTo>
                    <a:lnTo>
                      <a:pt x="987729" y="124498"/>
                    </a:lnTo>
                    <a:close/>
                  </a:path>
                  <a:path w="5302250" h="1714500">
                    <a:moveTo>
                      <a:pt x="1054658" y="88785"/>
                    </a:moveTo>
                    <a:lnTo>
                      <a:pt x="1052322" y="81534"/>
                    </a:lnTo>
                    <a:lnTo>
                      <a:pt x="1047750" y="75717"/>
                    </a:lnTo>
                    <a:lnTo>
                      <a:pt x="1041463" y="72199"/>
                    </a:lnTo>
                    <a:lnTo>
                      <a:pt x="1034326" y="71247"/>
                    </a:lnTo>
                    <a:lnTo>
                      <a:pt x="1027176" y="73152"/>
                    </a:lnTo>
                    <a:lnTo>
                      <a:pt x="1020940" y="77724"/>
                    </a:lnTo>
                    <a:lnTo>
                      <a:pt x="1017270" y="84099"/>
                    </a:lnTo>
                    <a:lnTo>
                      <a:pt x="1016457" y="91465"/>
                    </a:lnTo>
                    <a:lnTo>
                      <a:pt x="1018794" y="99060"/>
                    </a:lnTo>
                    <a:lnTo>
                      <a:pt x="1023366" y="104863"/>
                    </a:lnTo>
                    <a:lnTo>
                      <a:pt x="1029652" y="108394"/>
                    </a:lnTo>
                    <a:lnTo>
                      <a:pt x="1036802" y="109347"/>
                    </a:lnTo>
                    <a:lnTo>
                      <a:pt x="1043940" y="107442"/>
                    </a:lnTo>
                    <a:lnTo>
                      <a:pt x="1050175" y="102743"/>
                    </a:lnTo>
                    <a:lnTo>
                      <a:pt x="1053846" y="96202"/>
                    </a:lnTo>
                    <a:lnTo>
                      <a:pt x="1054658" y="88785"/>
                    </a:lnTo>
                    <a:close/>
                  </a:path>
                  <a:path w="5302250" h="1714500">
                    <a:moveTo>
                      <a:pt x="1123454" y="56667"/>
                    </a:moveTo>
                    <a:lnTo>
                      <a:pt x="1121664" y="49530"/>
                    </a:lnTo>
                    <a:lnTo>
                      <a:pt x="1117092" y="43268"/>
                    </a:lnTo>
                    <a:lnTo>
                      <a:pt x="1110805" y="39522"/>
                    </a:lnTo>
                    <a:lnTo>
                      <a:pt x="1103668" y="38481"/>
                    </a:lnTo>
                    <a:lnTo>
                      <a:pt x="1096518" y="40386"/>
                    </a:lnTo>
                    <a:lnTo>
                      <a:pt x="1090269" y="44843"/>
                    </a:lnTo>
                    <a:lnTo>
                      <a:pt x="1086523" y="50952"/>
                    </a:lnTo>
                    <a:lnTo>
                      <a:pt x="1085481" y="58064"/>
                    </a:lnTo>
                    <a:lnTo>
                      <a:pt x="1087374" y="65532"/>
                    </a:lnTo>
                    <a:lnTo>
                      <a:pt x="1091514" y="71450"/>
                    </a:lnTo>
                    <a:lnTo>
                      <a:pt x="1097661" y="75247"/>
                    </a:lnTo>
                    <a:lnTo>
                      <a:pt x="1104950" y="76454"/>
                    </a:lnTo>
                    <a:lnTo>
                      <a:pt x="1112520" y="74676"/>
                    </a:lnTo>
                    <a:lnTo>
                      <a:pt x="1118450" y="70104"/>
                    </a:lnTo>
                    <a:lnTo>
                      <a:pt x="1122235" y="63817"/>
                    </a:lnTo>
                    <a:lnTo>
                      <a:pt x="1123454" y="56667"/>
                    </a:lnTo>
                    <a:close/>
                  </a:path>
                  <a:path w="5302250" h="1714500">
                    <a:moveTo>
                      <a:pt x="1193863" y="28790"/>
                    </a:moveTo>
                    <a:lnTo>
                      <a:pt x="1192530" y="21336"/>
                    </a:lnTo>
                    <a:lnTo>
                      <a:pt x="1188504" y="14947"/>
                    </a:lnTo>
                    <a:lnTo>
                      <a:pt x="1182624" y="10858"/>
                    </a:lnTo>
                    <a:lnTo>
                      <a:pt x="1175600" y="9334"/>
                    </a:lnTo>
                    <a:lnTo>
                      <a:pt x="1168146" y="10668"/>
                    </a:lnTo>
                    <a:lnTo>
                      <a:pt x="1161656" y="14795"/>
                    </a:lnTo>
                    <a:lnTo>
                      <a:pt x="1157389" y="20853"/>
                    </a:lnTo>
                    <a:lnTo>
                      <a:pt x="1155827" y="27914"/>
                    </a:lnTo>
                    <a:lnTo>
                      <a:pt x="1157389" y="34632"/>
                    </a:lnTo>
                    <a:lnTo>
                      <a:pt x="1157389" y="34886"/>
                    </a:lnTo>
                    <a:lnTo>
                      <a:pt x="1161503" y="41541"/>
                    </a:lnTo>
                    <a:lnTo>
                      <a:pt x="1167384" y="45910"/>
                    </a:lnTo>
                    <a:lnTo>
                      <a:pt x="1174407" y="47688"/>
                    </a:lnTo>
                    <a:lnTo>
                      <a:pt x="1181862" y="46482"/>
                    </a:lnTo>
                    <a:lnTo>
                      <a:pt x="1188250" y="42011"/>
                    </a:lnTo>
                    <a:lnTo>
                      <a:pt x="1192339" y="35902"/>
                    </a:lnTo>
                    <a:lnTo>
                      <a:pt x="1193863" y="28790"/>
                    </a:lnTo>
                    <a:close/>
                  </a:path>
                  <a:path w="5302250" h="1714500">
                    <a:moveTo>
                      <a:pt x="1265694" y="3632"/>
                    </a:moveTo>
                    <a:lnTo>
                      <a:pt x="1265313" y="0"/>
                    </a:lnTo>
                    <a:lnTo>
                      <a:pt x="1227836" y="0"/>
                    </a:lnTo>
                    <a:lnTo>
                      <a:pt x="1227569" y="927"/>
                    </a:lnTo>
                    <a:lnTo>
                      <a:pt x="1228344" y="8382"/>
                    </a:lnTo>
                    <a:lnTo>
                      <a:pt x="1232052" y="14884"/>
                    </a:lnTo>
                    <a:lnTo>
                      <a:pt x="1237970" y="19329"/>
                    </a:lnTo>
                    <a:lnTo>
                      <a:pt x="1245171" y="21336"/>
                    </a:lnTo>
                    <a:lnTo>
                      <a:pt x="1252728" y="20574"/>
                    </a:lnTo>
                    <a:lnTo>
                      <a:pt x="1259243" y="16548"/>
                    </a:lnTo>
                    <a:lnTo>
                      <a:pt x="1263688" y="10668"/>
                    </a:lnTo>
                    <a:lnTo>
                      <a:pt x="1265694" y="3632"/>
                    </a:lnTo>
                    <a:close/>
                  </a:path>
                  <a:path w="5302250" h="1714500">
                    <a:moveTo>
                      <a:pt x="1344866" y="1197724"/>
                    </a:moveTo>
                    <a:lnTo>
                      <a:pt x="1343037" y="1150391"/>
                    </a:lnTo>
                    <a:lnTo>
                      <a:pt x="1343037" y="1150759"/>
                    </a:lnTo>
                    <a:lnTo>
                      <a:pt x="1343037" y="1195603"/>
                    </a:lnTo>
                    <a:lnTo>
                      <a:pt x="1343037" y="1195768"/>
                    </a:lnTo>
                    <a:lnTo>
                      <a:pt x="1342644" y="1195578"/>
                    </a:lnTo>
                    <a:lnTo>
                      <a:pt x="1342644" y="1194816"/>
                    </a:lnTo>
                    <a:lnTo>
                      <a:pt x="1343037" y="1195603"/>
                    </a:lnTo>
                    <a:lnTo>
                      <a:pt x="1343037" y="1150759"/>
                    </a:lnTo>
                    <a:lnTo>
                      <a:pt x="1337856" y="1103287"/>
                    </a:lnTo>
                    <a:lnTo>
                      <a:pt x="1337856" y="1103604"/>
                    </a:lnTo>
                    <a:lnTo>
                      <a:pt x="1329588" y="1057732"/>
                    </a:lnTo>
                    <a:lnTo>
                      <a:pt x="1318260" y="1012837"/>
                    </a:lnTo>
                    <a:lnTo>
                      <a:pt x="1303997" y="969200"/>
                    </a:lnTo>
                    <a:lnTo>
                      <a:pt x="1286929" y="926960"/>
                    </a:lnTo>
                    <a:lnTo>
                      <a:pt x="1267142" y="886193"/>
                    </a:lnTo>
                    <a:lnTo>
                      <a:pt x="1250607" y="857250"/>
                    </a:lnTo>
                    <a:lnTo>
                      <a:pt x="1235862" y="857250"/>
                    </a:lnTo>
                    <a:lnTo>
                      <a:pt x="1256284" y="893013"/>
                    </a:lnTo>
                    <a:lnTo>
                      <a:pt x="1275702" y="933056"/>
                    </a:lnTo>
                    <a:lnTo>
                      <a:pt x="1292440" y="974534"/>
                    </a:lnTo>
                    <a:lnTo>
                      <a:pt x="1306385" y="1017320"/>
                    </a:lnTo>
                    <a:lnTo>
                      <a:pt x="1317371" y="1061135"/>
                    </a:lnTo>
                    <a:lnTo>
                      <a:pt x="1317371" y="1060881"/>
                    </a:lnTo>
                    <a:lnTo>
                      <a:pt x="1325435" y="1106424"/>
                    </a:lnTo>
                    <a:lnTo>
                      <a:pt x="1325435" y="1106055"/>
                    </a:lnTo>
                    <a:lnTo>
                      <a:pt x="1330325" y="1152575"/>
                    </a:lnTo>
                    <a:lnTo>
                      <a:pt x="1330325" y="1154709"/>
                    </a:lnTo>
                    <a:lnTo>
                      <a:pt x="1331899" y="1197787"/>
                    </a:lnTo>
                    <a:lnTo>
                      <a:pt x="1331899" y="1199146"/>
                    </a:lnTo>
                    <a:lnTo>
                      <a:pt x="1331899" y="1201508"/>
                    </a:lnTo>
                    <a:lnTo>
                      <a:pt x="1330325" y="1246517"/>
                    </a:lnTo>
                    <a:lnTo>
                      <a:pt x="1325435" y="1292758"/>
                    </a:lnTo>
                    <a:lnTo>
                      <a:pt x="1317371" y="1338173"/>
                    </a:lnTo>
                    <a:lnTo>
                      <a:pt x="1306385" y="1382115"/>
                    </a:lnTo>
                    <a:lnTo>
                      <a:pt x="1292440" y="1424990"/>
                    </a:lnTo>
                    <a:lnTo>
                      <a:pt x="1275702" y="1466532"/>
                    </a:lnTo>
                    <a:lnTo>
                      <a:pt x="1256284" y="1506613"/>
                    </a:lnTo>
                    <a:lnTo>
                      <a:pt x="1234300" y="1545132"/>
                    </a:lnTo>
                    <a:lnTo>
                      <a:pt x="1209840" y="1582000"/>
                    </a:lnTo>
                    <a:lnTo>
                      <a:pt x="1182992" y="1617103"/>
                    </a:lnTo>
                    <a:lnTo>
                      <a:pt x="1153922" y="1650288"/>
                    </a:lnTo>
                    <a:lnTo>
                      <a:pt x="1122895" y="1681314"/>
                    </a:lnTo>
                    <a:lnTo>
                      <a:pt x="1089736" y="1710334"/>
                    </a:lnTo>
                    <a:lnTo>
                      <a:pt x="1084287" y="1714500"/>
                    </a:lnTo>
                    <a:lnTo>
                      <a:pt x="1104468" y="1714500"/>
                    </a:lnTo>
                    <a:lnTo>
                      <a:pt x="1163154" y="1659242"/>
                    </a:lnTo>
                    <a:lnTo>
                      <a:pt x="1192568" y="1625688"/>
                    </a:lnTo>
                    <a:lnTo>
                      <a:pt x="1219835" y="1590040"/>
                    </a:lnTo>
                    <a:lnTo>
                      <a:pt x="1244739" y="1552549"/>
                    </a:lnTo>
                    <a:lnTo>
                      <a:pt x="1267142" y="1513332"/>
                    </a:lnTo>
                    <a:lnTo>
                      <a:pt x="1286929" y="1472552"/>
                    </a:lnTo>
                    <a:lnTo>
                      <a:pt x="1303997" y="1430261"/>
                    </a:lnTo>
                    <a:lnTo>
                      <a:pt x="1318260" y="1386586"/>
                    </a:lnTo>
                    <a:lnTo>
                      <a:pt x="1329588" y="1341628"/>
                    </a:lnTo>
                    <a:lnTo>
                      <a:pt x="1333500" y="1319885"/>
                    </a:lnTo>
                    <a:lnTo>
                      <a:pt x="1337856" y="1295679"/>
                    </a:lnTo>
                    <a:lnTo>
                      <a:pt x="1342644" y="1251889"/>
                    </a:lnTo>
                    <a:lnTo>
                      <a:pt x="1343037" y="1248295"/>
                    </a:lnTo>
                    <a:lnTo>
                      <a:pt x="1344866" y="1201762"/>
                    </a:lnTo>
                    <a:lnTo>
                      <a:pt x="1344866" y="1199248"/>
                    </a:lnTo>
                    <a:lnTo>
                      <a:pt x="1344866" y="1197724"/>
                    </a:lnTo>
                    <a:close/>
                  </a:path>
                  <a:path w="5302250" h="1714500">
                    <a:moveTo>
                      <a:pt x="4219397" y="1714500"/>
                    </a:moveTo>
                    <a:lnTo>
                      <a:pt x="4180967" y="1681403"/>
                    </a:lnTo>
                    <a:lnTo>
                      <a:pt x="4149826" y="1650238"/>
                    </a:lnTo>
                    <a:lnTo>
                      <a:pt x="4120692" y="1616925"/>
                    </a:lnTo>
                    <a:lnTo>
                      <a:pt x="4093946" y="1581899"/>
                    </a:lnTo>
                    <a:lnTo>
                      <a:pt x="4069537" y="1545094"/>
                    </a:lnTo>
                    <a:lnTo>
                      <a:pt x="4047540" y="1506575"/>
                    </a:lnTo>
                    <a:lnTo>
                      <a:pt x="4028097" y="1466481"/>
                    </a:lnTo>
                    <a:lnTo>
                      <a:pt x="4011333" y="1424927"/>
                    </a:lnTo>
                    <a:lnTo>
                      <a:pt x="3997363" y="1382039"/>
                    </a:lnTo>
                    <a:lnTo>
                      <a:pt x="3986276" y="1337932"/>
                    </a:lnTo>
                    <a:lnTo>
                      <a:pt x="3978198" y="1292707"/>
                    </a:lnTo>
                    <a:lnTo>
                      <a:pt x="3973258" y="1246492"/>
                    </a:lnTo>
                    <a:lnTo>
                      <a:pt x="3971544" y="1199781"/>
                    </a:lnTo>
                    <a:lnTo>
                      <a:pt x="3973258" y="1154404"/>
                    </a:lnTo>
                    <a:lnTo>
                      <a:pt x="3973258" y="1153464"/>
                    </a:lnTo>
                    <a:lnTo>
                      <a:pt x="3978198" y="1107503"/>
                    </a:lnTo>
                    <a:lnTo>
                      <a:pt x="3978198" y="1107186"/>
                    </a:lnTo>
                    <a:lnTo>
                      <a:pt x="3986276" y="1062012"/>
                    </a:lnTo>
                    <a:lnTo>
                      <a:pt x="3986276" y="1061847"/>
                    </a:lnTo>
                    <a:lnTo>
                      <a:pt x="3997363" y="1017701"/>
                    </a:lnTo>
                    <a:lnTo>
                      <a:pt x="4011333" y="974661"/>
                    </a:lnTo>
                    <a:lnTo>
                      <a:pt x="4028097" y="932992"/>
                    </a:lnTo>
                    <a:lnTo>
                      <a:pt x="4047540" y="892784"/>
                    </a:lnTo>
                    <a:lnTo>
                      <a:pt x="4067797" y="857250"/>
                    </a:lnTo>
                    <a:lnTo>
                      <a:pt x="4053167" y="857250"/>
                    </a:lnTo>
                    <a:lnTo>
                      <a:pt x="4016438" y="927722"/>
                    </a:lnTo>
                    <a:lnTo>
                      <a:pt x="3999420" y="969911"/>
                    </a:lnTo>
                    <a:lnTo>
                      <a:pt x="3985234" y="1013548"/>
                    </a:lnTo>
                    <a:lnTo>
                      <a:pt x="3974007" y="1058443"/>
                    </a:lnTo>
                    <a:lnTo>
                      <a:pt x="3965867" y="1104455"/>
                    </a:lnTo>
                    <a:lnTo>
                      <a:pt x="3960952" y="1151470"/>
                    </a:lnTo>
                    <a:lnTo>
                      <a:pt x="3959453" y="1196238"/>
                    </a:lnTo>
                    <a:lnTo>
                      <a:pt x="3959352" y="1199388"/>
                    </a:lnTo>
                    <a:lnTo>
                      <a:pt x="3971531" y="1199375"/>
                    </a:lnTo>
                    <a:lnTo>
                      <a:pt x="3959352" y="1199388"/>
                    </a:lnTo>
                    <a:lnTo>
                      <a:pt x="3959479" y="1203337"/>
                    </a:lnTo>
                    <a:lnTo>
                      <a:pt x="3960952" y="1246289"/>
                    </a:lnTo>
                    <a:lnTo>
                      <a:pt x="3960952" y="1247063"/>
                    </a:lnTo>
                    <a:lnTo>
                      <a:pt x="3965867" y="1294041"/>
                    </a:lnTo>
                    <a:lnTo>
                      <a:pt x="3965867" y="1294257"/>
                    </a:lnTo>
                    <a:lnTo>
                      <a:pt x="3971531" y="1326362"/>
                    </a:lnTo>
                    <a:lnTo>
                      <a:pt x="3985234" y="1385506"/>
                    </a:lnTo>
                    <a:lnTo>
                      <a:pt x="3999420" y="1429334"/>
                    </a:lnTo>
                    <a:lnTo>
                      <a:pt x="4016438" y="1471650"/>
                    </a:lnTo>
                    <a:lnTo>
                      <a:pt x="4036187" y="1512493"/>
                    </a:lnTo>
                    <a:lnTo>
                      <a:pt x="4058564" y="1551736"/>
                    </a:lnTo>
                    <a:lnTo>
                      <a:pt x="4083443" y="1589265"/>
                    </a:lnTo>
                    <a:lnTo>
                      <a:pt x="4110710" y="1624977"/>
                    </a:lnTo>
                    <a:lnTo>
                      <a:pt x="4140263" y="1658747"/>
                    </a:lnTo>
                    <a:lnTo>
                      <a:pt x="4171988" y="1690484"/>
                    </a:lnTo>
                    <a:lnTo>
                      <a:pt x="4199420" y="1714500"/>
                    </a:lnTo>
                    <a:lnTo>
                      <a:pt x="4219397" y="1714500"/>
                    </a:lnTo>
                    <a:close/>
                  </a:path>
                  <a:path w="5302250" h="1714500">
                    <a:moveTo>
                      <a:pt x="4243133" y="0"/>
                    </a:moveTo>
                    <a:lnTo>
                      <a:pt x="4206176" y="0"/>
                    </a:lnTo>
                    <a:lnTo>
                      <a:pt x="4207179" y="4660"/>
                    </a:lnTo>
                    <a:lnTo>
                      <a:pt x="4211282" y="10769"/>
                    </a:lnTo>
                    <a:lnTo>
                      <a:pt x="4217670" y="15240"/>
                    </a:lnTo>
                    <a:lnTo>
                      <a:pt x="4225125" y="16573"/>
                    </a:lnTo>
                    <a:lnTo>
                      <a:pt x="4232148" y="15049"/>
                    </a:lnTo>
                    <a:lnTo>
                      <a:pt x="4238015" y="10947"/>
                    </a:lnTo>
                    <a:lnTo>
                      <a:pt x="4242041" y="4572"/>
                    </a:lnTo>
                    <a:lnTo>
                      <a:pt x="4243133" y="0"/>
                    </a:lnTo>
                    <a:close/>
                  </a:path>
                  <a:path w="5302250" h="1714500">
                    <a:moveTo>
                      <a:pt x="4313606" y="28663"/>
                    </a:moveTo>
                    <a:lnTo>
                      <a:pt x="4312348" y="21526"/>
                    </a:lnTo>
                    <a:lnTo>
                      <a:pt x="4308513" y="15240"/>
                    </a:lnTo>
                    <a:lnTo>
                      <a:pt x="4302239" y="10668"/>
                    </a:lnTo>
                    <a:lnTo>
                      <a:pt x="4295102" y="8877"/>
                    </a:lnTo>
                    <a:lnTo>
                      <a:pt x="4287952" y="10096"/>
                    </a:lnTo>
                    <a:lnTo>
                      <a:pt x="4281665" y="13881"/>
                    </a:lnTo>
                    <a:lnTo>
                      <a:pt x="4277093" y="19812"/>
                    </a:lnTo>
                    <a:lnTo>
                      <a:pt x="4275328" y="27381"/>
                    </a:lnTo>
                    <a:lnTo>
                      <a:pt x="4276623" y="34671"/>
                    </a:lnTo>
                    <a:lnTo>
                      <a:pt x="4280636" y="40805"/>
                    </a:lnTo>
                    <a:lnTo>
                      <a:pt x="4287012" y="44958"/>
                    </a:lnTo>
                    <a:lnTo>
                      <a:pt x="4294149" y="46850"/>
                    </a:lnTo>
                    <a:lnTo>
                      <a:pt x="4301299" y="45808"/>
                    </a:lnTo>
                    <a:lnTo>
                      <a:pt x="4307586" y="42062"/>
                    </a:lnTo>
                    <a:lnTo>
                      <a:pt x="4312158" y="35814"/>
                    </a:lnTo>
                    <a:lnTo>
                      <a:pt x="4313606" y="28663"/>
                    </a:lnTo>
                    <a:close/>
                  </a:path>
                  <a:path w="5302250" h="1714500">
                    <a:moveTo>
                      <a:pt x="4381551" y="64363"/>
                    </a:moveTo>
                    <a:lnTo>
                      <a:pt x="4380827" y="56959"/>
                    </a:lnTo>
                    <a:lnTo>
                      <a:pt x="4377385" y="50406"/>
                    </a:lnTo>
                    <a:lnTo>
                      <a:pt x="4371581" y="45720"/>
                    </a:lnTo>
                    <a:lnTo>
                      <a:pt x="4364431" y="43370"/>
                    </a:lnTo>
                    <a:lnTo>
                      <a:pt x="4357205" y="44094"/>
                    </a:lnTo>
                    <a:lnTo>
                      <a:pt x="4350702" y="47536"/>
                    </a:lnTo>
                    <a:lnTo>
                      <a:pt x="4345686" y="53340"/>
                    </a:lnTo>
                    <a:lnTo>
                      <a:pt x="4343654" y="60490"/>
                    </a:lnTo>
                    <a:lnTo>
                      <a:pt x="4344352" y="67716"/>
                    </a:lnTo>
                    <a:lnTo>
                      <a:pt x="4347603" y="74231"/>
                    </a:lnTo>
                    <a:lnTo>
                      <a:pt x="4353293" y="79248"/>
                    </a:lnTo>
                    <a:lnTo>
                      <a:pt x="4360888" y="81267"/>
                    </a:lnTo>
                    <a:lnTo>
                      <a:pt x="4368254" y="80581"/>
                    </a:lnTo>
                    <a:lnTo>
                      <a:pt x="4374616" y="77317"/>
                    </a:lnTo>
                    <a:lnTo>
                      <a:pt x="4379201" y="71628"/>
                    </a:lnTo>
                    <a:lnTo>
                      <a:pt x="4381551" y="64363"/>
                    </a:lnTo>
                    <a:close/>
                  </a:path>
                  <a:path w="5302250" h="1714500">
                    <a:moveTo>
                      <a:pt x="4447324" y="104076"/>
                    </a:moveTo>
                    <a:lnTo>
                      <a:pt x="4447121" y="96774"/>
                    </a:lnTo>
                    <a:lnTo>
                      <a:pt x="4444200" y="90030"/>
                    </a:lnTo>
                    <a:lnTo>
                      <a:pt x="4438650" y="84582"/>
                    </a:lnTo>
                    <a:lnTo>
                      <a:pt x="4431487" y="81991"/>
                    </a:lnTo>
                    <a:lnTo>
                      <a:pt x="4425239" y="82169"/>
                    </a:lnTo>
                    <a:lnTo>
                      <a:pt x="4424261" y="82194"/>
                    </a:lnTo>
                    <a:lnTo>
                      <a:pt x="4417746" y="85115"/>
                    </a:lnTo>
                    <a:lnTo>
                      <a:pt x="4412729" y="90678"/>
                    </a:lnTo>
                    <a:lnTo>
                      <a:pt x="4409821" y="97828"/>
                    </a:lnTo>
                    <a:lnTo>
                      <a:pt x="4409973" y="105054"/>
                    </a:lnTo>
                    <a:lnTo>
                      <a:pt x="4412729" y="111302"/>
                    </a:lnTo>
                    <a:lnTo>
                      <a:pt x="4412729" y="111455"/>
                    </a:lnTo>
                    <a:lnTo>
                      <a:pt x="4418076" y="116586"/>
                    </a:lnTo>
                    <a:lnTo>
                      <a:pt x="4425239" y="119494"/>
                    </a:lnTo>
                    <a:lnTo>
                      <a:pt x="4431487" y="119367"/>
                    </a:lnTo>
                    <a:lnTo>
                      <a:pt x="4432554" y="119341"/>
                    </a:lnTo>
                    <a:lnTo>
                      <a:pt x="4439297" y="116471"/>
                    </a:lnTo>
                    <a:lnTo>
                      <a:pt x="4444746" y="111252"/>
                    </a:lnTo>
                    <a:lnTo>
                      <a:pt x="4447324" y="104076"/>
                    </a:lnTo>
                    <a:close/>
                  </a:path>
                  <a:path w="5302250" h="1714500">
                    <a:moveTo>
                      <a:pt x="4510367" y="141249"/>
                    </a:moveTo>
                    <a:lnTo>
                      <a:pt x="4508068" y="134327"/>
                    </a:lnTo>
                    <a:lnTo>
                      <a:pt x="4503420" y="128778"/>
                    </a:lnTo>
                    <a:lnTo>
                      <a:pt x="4502658" y="128778"/>
                    </a:lnTo>
                    <a:lnTo>
                      <a:pt x="4496232" y="125171"/>
                    </a:lnTo>
                    <a:lnTo>
                      <a:pt x="4472457" y="146011"/>
                    </a:lnTo>
                    <a:lnTo>
                      <a:pt x="4474807" y="152933"/>
                    </a:lnTo>
                    <a:lnTo>
                      <a:pt x="4479798" y="158496"/>
                    </a:lnTo>
                    <a:lnTo>
                      <a:pt x="4486643" y="162090"/>
                    </a:lnTo>
                    <a:lnTo>
                      <a:pt x="4493984" y="162687"/>
                    </a:lnTo>
                    <a:lnTo>
                      <a:pt x="4500905" y="160413"/>
                    </a:lnTo>
                    <a:lnTo>
                      <a:pt x="4506455" y="155448"/>
                    </a:lnTo>
                    <a:lnTo>
                      <a:pt x="4509948" y="148590"/>
                    </a:lnTo>
                    <a:lnTo>
                      <a:pt x="4510367" y="141249"/>
                    </a:lnTo>
                    <a:close/>
                  </a:path>
                  <a:path w="5302250" h="1714500">
                    <a:moveTo>
                      <a:pt x="4569422" y="191643"/>
                    </a:moveTo>
                    <a:lnTo>
                      <a:pt x="4549902" y="172974"/>
                    </a:lnTo>
                    <a:lnTo>
                      <a:pt x="4542612" y="174663"/>
                    </a:lnTo>
                    <a:lnTo>
                      <a:pt x="4536186" y="179070"/>
                    </a:lnTo>
                    <a:lnTo>
                      <a:pt x="4532338" y="185483"/>
                    </a:lnTo>
                    <a:lnTo>
                      <a:pt x="4531131" y="192684"/>
                    </a:lnTo>
                    <a:lnTo>
                      <a:pt x="4532642" y="199745"/>
                    </a:lnTo>
                    <a:lnTo>
                      <a:pt x="4536948" y="205740"/>
                    </a:lnTo>
                    <a:lnTo>
                      <a:pt x="4543374" y="209905"/>
                    </a:lnTo>
                    <a:lnTo>
                      <a:pt x="4549902" y="210947"/>
                    </a:lnTo>
                    <a:lnTo>
                      <a:pt x="4550664" y="211074"/>
                    </a:lnTo>
                    <a:lnTo>
                      <a:pt x="4557941" y="209372"/>
                    </a:lnTo>
                    <a:lnTo>
                      <a:pt x="4564367" y="204978"/>
                    </a:lnTo>
                    <a:lnTo>
                      <a:pt x="4568215" y="198666"/>
                    </a:lnTo>
                    <a:lnTo>
                      <a:pt x="4569422" y="191643"/>
                    </a:lnTo>
                    <a:close/>
                  </a:path>
                  <a:path w="5302250" h="1714500">
                    <a:moveTo>
                      <a:pt x="4621898" y="249364"/>
                    </a:moveTo>
                    <a:lnTo>
                      <a:pt x="4621314" y="242189"/>
                    </a:lnTo>
                    <a:lnTo>
                      <a:pt x="4617720" y="235458"/>
                    </a:lnTo>
                    <a:lnTo>
                      <a:pt x="4611840" y="230479"/>
                    </a:lnTo>
                    <a:lnTo>
                      <a:pt x="4604956" y="228219"/>
                    </a:lnTo>
                    <a:lnTo>
                      <a:pt x="4597793" y="228803"/>
                    </a:lnTo>
                    <a:lnTo>
                      <a:pt x="4591050" y="232410"/>
                    </a:lnTo>
                    <a:lnTo>
                      <a:pt x="4586071" y="238290"/>
                    </a:lnTo>
                    <a:lnTo>
                      <a:pt x="4583798" y="245173"/>
                    </a:lnTo>
                    <a:lnTo>
                      <a:pt x="4584395" y="252336"/>
                    </a:lnTo>
                    <a:lnTo>
                      <a:pt x="4588002" y="259080"/>
                    </a:lnTo>
                    <a:lnTo>
                      <a:pt x="4593882" y="264045"/>
                    </a:lnTo>
                    <a:lnTo>
                      <a:pt x="4600765" y="266319"/>
                    </a:lnTo>
                    <a:lnTo>
                      <a:pt x="4607928" y="265722"/>
                    </a:lnTo>
                    <a:lnTo>
                      <a:pt x="4614672" y="262128"/>
                    </a:lnTo>
                    <a:lnTo>
                      <a:pt x="4619637" y="256235"/>
                    </a:lnTo>
                    <a:lnTo>
                      <a:pt x="4621898" y="249364"/>
                    </a:lnTo>
                    <a:close/>
                  </a:path>
                  <a:path w="5302250" h="1714500">
                    <a:moveTo>
                      <a:pt x="4703051" y="299466"/>
                    </a:moveTo>
                    <a:lnTo>
                      <a:pt x="4663884" y="309727"/>
                    </a:lnTo>
                    <a:lnTo>
                      <a:pt x="4663592" y="309803"/>
                    </a:lnTo>
                    <a:lnTo>
                      <a:pt x="4662665" y="304038"/>
                    </a:lnTo>
                    <a:lnTo>
                      <a:pt x="4658969" y="297535"/>
                    </a:lnTo>
                    <a:lnTo>
                      <a:pt x="4653051" y="293179"/>
                    </a:lnTo>
                    <a:lnTo>
                      <a:pt x="4645850" y="291388"/>
                    </a:lnTo>
                    <a:lnTo>
                      <a:pt x="4638281" y="292608"/>
                    </a:lnTo>
                    <a:lnTo>
                      <a:pt x="4631779" y="296303"/>
                    </a:lnTo>
                    <a:lnTo>
                      <a:pt x="4627423" y="302221"/>
                    </a:lnTo>
                    <a:lnTo>
                      <a:pt x="4625632" y="309422"/>
                    </a:lnTo>
                    <a:lnTo>
                      <a:pt x="4626851" y="316992"/>
                    </a:lnTo>
                    <a:lnTo>
                      <a:pt x="4628159" y="319087"/>
                    </a:lnTo>
                    <a:lnTo>
                      <a:pt x="4592574" y="328422"/>
                    </a:lnTo>
                    <a:lnTo>
                      <a:pt x="4663884" y="410108"/>
                    </a:lnTo>
                    <a:lnTo>
                      <a:pt x="4676381" y="424434"/>
                    </a:lnTo>
                    <a:lnTo>
                      <a:pt x="4703051" y="299466"/>
                    </a:lnTo>
                    <a:close/>
                  </a:path>
                  <a:path w="5302250" h="1714500">
                    <a:moveTo>
                      <a:pt x="5301932" y="1151407"/>
                    </a:moveTo>
                    <a:lnTo>
                      <a:pt x="5297017" y="1104366"/>
                    </a:lnTo>
                    <a:lnTo>
                      <a:pt x="5288902" y="1058329"/>
                    </a:lnTo>
                    <a:lnTo>
                      <a:pt x="5277688" y="1013421"/>
                    </a:lnTo>
                    <a:lnTo>
                      <a:pt x="5263515" y="969759"/>
                    </a:lnTo>
                    <a:lnTo>
                      <a:pt x="5246471" y="927455"/>
                    </a:lnTo>
                    <a:lnTo>
                      <a:pt x="5226685" y="886637"/>
                    </a:lnTo>
                    <a:lnTo>
                      <a:pt x="5209895" y="857250"/>
                    </a:lnTo>
                    <a:lnTo>
                      <a:pt x="5195036" y="857250"/>
                    </a:lnTo>
                    <a:lnTo>
                      <a:pt x="5215445" y="893000"/>
                    </a:lnTo>
                    <a:lnTo>
                      <a:pt x="5234851" y="933030"/>
                    </a:lnTo>
                    <a:lnTo>
                      <a:pt x="5251577" y="974496"/>
                    </a:lnTo>
                    <a:lnTo>
                      <a:pt x="5265521" y="1017282"/>
                    </a:lnTo>
                    <a:lnTo>
                      <a:pt x="5276545" y="1061135"/>
                    </a:lnTo>
                    <a:lnTo>
                      <a:pt x="5276545" y="1060919"/>
                    </a:lnTo>
                    <a:lnTo>
                      <a:pt x="5284584" y="1106093"/>
                    </a:lnTo>
                    <a:lnTo>
                      <a:pt x="5284584" y="1105560"/>
                    </a:lnTo>
                    <a:lnTo>
                      <a:pt x="5289601" y="1152575"/>
                    </a:lnTo>
                    <a:lnTo>
                      <a:pt x="5289601" y="1154353"/>
                    </a:lnTo>
                    <a:lnTo>
                      <a:pt x="5291239" y="1197787"/>
                    </a:lnTo>
                    <a:lnTo>
                      <a:pt x="5291239" y="1199134"/>
                    </a:lnTo>
                    <a:lnTo>
                      <a:pt x="5291239" y="1201496"/>
                    </a:lnTo>
                    <a:lnTo>
                      <a:pt x="5289601" y="1246555"/>
                    </a:lnTo>
                    <a:lnTo>
                      <a:pt x="5284584" y="1293342"/>
                    </a:lnTo>
                    <a:lnTo>
                      <a:pt x="5284584" y="1293139"/>
                    </a:lnTo>
                    <a:lnTo>
                      <a:pt x="5276545" y="1338237"/>
                    </a:lnTo>
                    <a:lnTo>
                      <a:pt x="5265521" y="1382204"/>
                    </a:lnTo>
                    <a:lnTo>
                      <a:pt x="5251577" y="1425079"/>
                    </a:lnTo>
                    <a:lnTo>
                      <a:pt x="5234851" y="1466608"/>
                    </a:lnTo>
                    <a:lnTo>
                      <a:pt x="5215445" y="1506689"/>
                    </a:lnTo>
                    <a:lnTo>
                      <a:pt x="5193449" y="1545247"/>
                    </a:lnTo>
                    <a:lnTo>
                      <a:pt x="5168989" y="1582127"/>
                    </a:lnTo>
                    <a:lnTo>
                      <a:pt x="5142319" y="1617040"/>
                    </a:lnTo>
                    <a:lnTo>
                      <a:pt x="5113337" y="1650174"/>
                    </a:lnTo>
                    <a:lnTo>
                      <a:pt x="5082235" y="1681289"/>
                    </a:lnTo>
                    <a:lnTo>
                      <a:pt x="5049113" y="1710283"/>
                    </a:lnTo>
                    <a:lnTo>
                      <a:pt x="5043614" y="1714500"/>
                    </a:lnTo>
                    <a:lnTo>
                      <a:pt x="5063515" y="1714500"/>
                    </a:lnTo>
                    <a:lnTo>
                      <a:pt x="5122583" y="1658924"/>
                    </a:lnTo>
                    <a:lnTo>
                      <a:pt x="5152161" y="1625193"/>
                    </a:lnTo>
                    <a:lnTo>
                      <a:pt x="5179352" y="1589671"/>
                    </a:lnTo>
                    <a:lnTo>
                      <a:pt x="5204269" y="1552168"/>
                    </a:lnTo>
                    <a:lnTo>
                      <a:pt x="5226685" y="1512963"/>
                    </a:lnTo>
                    <a:lnTo>
                      <a:pt x="5246471" y="1472158"/>
                    </a:lnTo>
                    <a:lnTo>
                      <a:pt x="5263515" y="1429867"/>
                    </a:lnTo>
                    <a:lnTo>
                      <a:pt x="5277688" y="1386205"/>
                    </a:lnTo>
                    <a:lnTo>
                      <a:pt x="5288902" y="1341285"/>
                    </a:lnTo>
                    <a:lnTo>
                      <a:pt x="5297017" y="1295209"/>
                    </a:lnTo>
                    <a:lnTo>
                      <a:pt x="5301932" y="1248130"/>
                    </a:lnTo>
                    <a:lnTo>
                      <a:pt x="5301932" y="1151407"/>
                    </a:lnTo>
                    <a:close/>
                  </a:path>
                </a:pathLst>
              </a:custGeom>
              <a:solidFill>
                <a:srgbClr val="000000"/>
              </a:solidFill>
            </p:spPr>
            <p:txBody>
              <a:bodyPr wrap="square" lIns="0" tIns="0" rIns="0" bIns="0" rtlCol="0"/>
              <a:lstStyle/>
              <a:p>
                <a:endParaRPr/>
              </a:p>
            </p:txBody>
          </p:sp>
        </p:grpSp>
        <p:sp>
          <p:nvSpPr>
            <p:cNvPr id="18" name="object 18"/>
            <p:cNvSpPr txBox="1"/>
            <p:nvPr/>
          </p:nvSpPr>
          <p:spPr>
            <a:xfrm>
              <a:off x="3297692" y="3386328"/>
              <a:ext cx="1171574" cy="832101"/>
            </a:xfrm>
            <a:prstGeom prst="rect">
              <a:avLst/>
            </a:prstGeom>
          </p:spPr>
          <p:txBody>
            <a:bodyPr vert="horz" wrap="square" lIns="0" tIns="12700" rIns="0" bIns="0" rtlCol="0">
              <a:spAutoFit/>
            </a:bodyPr>
            <a:lstStyle/>
            <a:p>
              <a:pPr marL="269240">
                <a:spcBef>
                  <a:spcPts val="100"/>
                </a:spcBef>
              </a:pPr>
              <a:r>
                <a:rPr sz="1000" b="1" spc="-10">
                  <a:latin typeface="Verdana"/>
                  <a:cs typeface="Verdana"/>
                </a:rPr>
                <a:t>Cliente</a:t>
              </a:r>
              <a:endParaRPr sz="1000">
                <a:latin typeface="Verdana"/>
                <a:cs typeface="Verdana"/>
              </a:endParaRPr>
            </a:p>
            <a:p>
              <a:pPr marL="12700" marR="5080" indent="69215"/>
              <a:r>
                <a:rPr sz="900">
                  <a:latin typeface="Verdana"/>
                  <a:cs typeface="Verdana"/>
                </a:rPr>
                <a:t>Qué</a:t>
              </a:r>
              <a:r>
                <a:rPr sz="900" spc="-30">
                  <a:latin typeface="Verdana"/>
                  <a:cs typeface="Verdana"/>
                </a:rPr>
                <a:t> </a:t>
              </a:r>
              <a:r>
                <a:rPr sz="900" spc="-10">
                  <a:latin typeface="Verdana"/>
                  <a:cs typeface="Verdana"/>
                </a:rPr>
                <a:t>necesidades </a:t>
              </a:r>
              <a:r>
                <a:rPr sz="900">
                  <a:latin typeface="Verdana"/>
                  <a:cs typeface="Verdana"/>
                </a:rPr>
                <a:t>del</a:t>
              </a:r>
              <a:r>
                <a:rPr sz="900" spc="-35">
                  <a:latin typeface="Verdana"/>
                  <a:cs typeface="Verdana"/>
                </a:rPr>
                <a:t> </a:t>
              </a:r>
              <a:r>
                <a:rPr sz="900">
                  <a:latin typeface="Verdana"/>
                  <a:cs typeface="Verdana"/>
                </a:rPr>
                <a:t>cliente</a:t>
              </a:r>
              <a:r>
                <a:rPr sz="900" spc="-30">
                  <a:latin typeface="Verdana"/>
                  <a:cs typeface="Verdana"/>
                </a:rPr>
                <a:t> </a:t>
              </a:r>
              <a:r>
                <a:rPr sz="900" spc="-10">
                  <a:latin typeface="Verdana"/>
                  <a:cs typeface="Verdana"/>
                </a:rPr>
                <a:t>debemos</a:t>
              </a:r>
              <a:endParaRPr sz="900">
                <a:latin typeface="Verdana"/>
                <a:cs typeface="Verdana"/>
              </a:endParaRPr>
            </a:p>
            <a:p>
              <a:pPr marL="403860"/>
              <a:r>
                <a:rPr sz="900" spc="-10">
                  <a:latin typeface="Verdana"/>
                  <a:cs typeface="Verdana"/>
                </a:rPr>
                <a:t>servir</a:t>
              </a:r>
              <a:endParaRPr sz="900">
                <a:latin typeface="Verdana"/>
                <a:cs typeface="Verdana"/>
              </a:endParaRPr>
            </a:p>
          </p:txBody>
        </p:sp>
        <p:sp>
          <p:nvSpPr>
            <p:cNvPr id="19" name="object 19"/>
            <p:cNvSpPr txBox="1"/>
            <p:nvPr/>
          </p:nvSpPr>
          <p:spPr>
            <a:xfrm>
              <a:off x="7550418" y="3351276"/>
              <a:ext cx="672465" cy="197490"/>
            </a:xfrm>
            <a:prstGeom prst="rect">
              <a:avLst/>
            </a:prstGeom>
          </p:spPr>
          <p:txBody>
            <a:bodyPr vert="horz" wrap="square" lIns="0" tIns="12700" rIns="0" bIns="0" rtlCol="0">
              <a:spAutoFit/>
            </a:bodyPr>
            <a:lstStyle/>
            <a:p>
              <a:pPr marL="12700">
                <a:spcBef>
                  <a:spcPts val="100"/>
                </a:spcBef>
              </a:pPr>
              <a:r>
                <a:rPr sz="1000" b="1" spc="-10">
                  <a:latin typeface="Verdana"/>
                  <a:cs typeface="Verdana"/>
                </a:rPr>
                <a:t>Interna</a:t>
              </a:r>
              <a:endParaRPr sz="1000">
                <a:latin typeface="Verdana"/>
                <a:cs typeface="Verdana"/>
              </a:endParaRPr>
            </a:p>
          </p:txBody>
        </p:sp>
        <p:sp>
          <p:nvSpPr>
            <p:cNvPr id="20" name="object 20"/>
            <p:cNvSpPr txBox="1"/>
            <p:nvPr/>
          </p:nvSpPr>
          <p:spPr>
            <a:xfrm>
              <a:off x="7225808" y="3534156"/>
              <a:ext cx="1323340" cy="436880"/>
            </a:xfrm>
            <a:prstGeom prst="rect">
              <a:avLst/>
            </a:prstGeom>
          </p:spPr>
          <p:txBody>
            <a:bodyPr vert="horz" wrap="square" lIns="0" tIns="12700" rIns="0" bIns="0" rtlCol="0">
              <a:spAutoFit/>
            </a:bodyPr>
            <a:lstStyle/>
            <a:p>
              <a:pPr marL="12065" marR="5080" algn="ctr">
                <a:spcBef>
                  <a:spcPts val="100"/>
                </a:spcBef>
              </a:pPr>
              <a:r>
                <a:rPr sz="900">
                  <a:latin typeface="Verdana"/>
                  <a:cs typeface="Verdana"/>
                </a:rPr>
                <a:t>En</a:t>
              </a:r>
              <a:r>
                <a:rPr sz="900" spc="-35">
                  <a:latin typeface="Verdana"/>
                  <a:cs typeface="Verdana"/>
                </a:rPr>
                <a:t> </a:t>
              </a:r>
              <a:r>
                <a:rPr sz="900">
                  <a:latin typeface="Verdana"/>
                  <a:cs typeface="Verdana"/>
                </a:rPr>
                <a:t>qué</a:t>
              </a:r>
              <a:r>
                <a:rPr sz="900" spc="-30">
                  <a:latin typeface="Verdana"/>
                  <a:cs typeface="Verdana"/>
                </a:rPr>
                <a:t> </a:t>
              </a:r>
              <a:r>
                <a:rPr sz="900">
                  <a:latin typeface="Verdana"/>
                  <a:cs typeface="Verdana"/>
                </a:rPr>
                <a:t>procesos</a:t>
              </a:r>
              <a:r>
                <a:rPr sz="900" spc="-20">
                  <a:latin typeface="Verdana"/>
                  <a:cs typeface="Verdana"/>
                </a:rPr>
                <a:t> </a:t>
              </a:r>
              <a:r>
                <a:rPr sz="900" spc="-25">
                  <a:latin typeface="Verdana"/>
                  <a:cs typeface="Verdana"/>
                </a:rPr>
                <a:t>de </a:t>
              </a:r>
              <a:r>
                <a:rPr sz="900">
                  <a:latin typeface="Verdana"/>
                  <a:cs typeface="Verdana"/>
                </a:rPr>
                <a:t>negocios</a:t>
              </a:r>
              <a:r>
                <a:rPr sz="900" spc="-45">
                  <a:latin typeface="Verdana"/>
                  <a:cs typeface="Verdana"/>
                </a:rPr>
                <a:t> </a:t>
              </a:r>
              <a:r>
                <a:rPr sz="900" spc="-10">
                  <a:latin typeface="Verdana"/>
                  <a:cs typeface="Verdana"/>
                </a:rPr>
                <a:t>internos </a:t>
              </a:r>
              <a:r>
                <a:rPr sz="900">
                  <a:latin typeface="Verdana"/>
                  <a:cs typeface="Verdana"/>
                </a:rPr>
                <a:t>debemos</a:t>
              </a:r>
              <a:r>
                <a:rPr sz="900" spc="-65">
                  <a:latin typeface="Verdana"/>
                  <a:cs typeface="Verdana"/>
                </a:rPr>
                <a:t> </a:t>
              </a:r>
              <a:r>
                <a:rPr sz="900" spc="-10">
                  <a:latin typeface="Verdana"/>
                  <a:cs typeface="Verdana"/>
                </a:rPr>
                <a:t>distinguirnos</a:t>
              </a:r>
              <a:endParaRPr sz="900">
                <a:latin typeface="Verdana"/>
                <a:cs typeface="Verdana"/>
              </a:endParaRPr>
            </a:p>
          </p:txBody>
        </p:sp>
        <p:grpSp>
          <p:nvGrpSpPr>
            <p:cNvPr id="21" name="object 21"/>
            <p:cNvGrpSpPr/>
            <p:nvPr/>
          </p:nvGrpSpPr>
          <p:grpSpPr>
            <a:xfrm>
              <a:off x="3451521" y="3435604"/>
              <a:ext cx="4823460" cy="2373630"/>
              <a:chOff x="1927521" y="3435604"/>
              <a:chExt cx="4823460" cy="2373630"/>
            </a:xfrm>
          </p:grpSpPr>
          <p:sp>
            <p:nvSpPr>
              <p:cNvPr id="22" name="object 22"/>
              <p:cNvSpPr/>
              <p:nvPr/>
            </p:nvSpPr>
            <p:spPr>
              <a:xfrm>
                <a:off x="1927517" y="3435616"/>
                <a:ext cx="4823460" cy="1704975"/>
              </a:xfrm>
              <a:custGeom>
                <a:avLst/>
                <a:gdLst/>
                <a:ahLst/>
                <a:cxnLst/>
                <a:rect l="l" t="t" r="r" b="b"/>
                <a:pathLst>
                  <a:path w="4823459" h="1704975">
                    <a:moveTo>
                      <a:pt x="505053" y="1222248"/>
                    </a:moveTo>
                    <a:lnTo>
                      <a:pt x="503885" y="1214958"/>
                    </a:lnTo>
                    <a:lnTo>
                      <a:pt x="499719" y="1208532"/>
                    </a:lnTo>
                    <a:lnTo>
                      <a:pt x="493725" y="1204226"/>
                    </a:lnTo>
                    <a:lnTo>
                      <a:pt x="486676" y="1202715"/>
                    </a:lnTo>
                    <a:lnTo>
                      <a:pt x="479463" y="1203921"/>
                    </a:lnTo>
                    <a:lnTo>
                      <a:pt x="473049" y="1207770"/>
                    </a:lnTo>
                    <a:lnTo>
                      <a:pt x="468642" y="1213751"/>
                    </a:lnTo>
                    <a:lnTo>
                      <a:pt x="466953" y="1220812"/>
                    </a:lnTo>
                    <a:lnTo>
                      <a:pt x="468122" y="1228013"/>
                    </a:lnTo>
                    <a:lnTo>
                      <a:pt x="472287" y="1234440"/>
                    </a:lnTo>
                    <a:lnTo>
                      <a:pt x="478282" y="1239177"/>
                    </a:lnTo>
                    <a:lnTo>
                      <a:pt x="485343" y="1240917"/>
                    </a:lnTo>
                    <a:lnTo>
                      <a:pt x="492544" y="1239786"/>
                    </a:lnTo>
                    <a:lnTo>
                      <a:pt x="498957" y="1235964"/>
                    </a:lnTo>
                    <a:lnTo>
                      <a:pt x="503364" y="1229525"/>
                    </a:lnTo>
                    <a:lnTo>
                      <a:pt x="505053" y="1222248"/>
                    </a:lnTo>
                    <a:close/>
                  </a:path>
                  <a:path w="4823459" h="1704975">
                    <a:moveTo>
                      <a:pt x="505053" y="1159764"/>
                    </a:moveTo>
                    <a:lnTo>
                      <a:pt x="413613" y="1069848"/>
                    </a:lnTo>
                    <a:lnTo>
                      <a:pt x="396849" y="1196340"/>
                    </a:lnTo>
                    <a:lnTo>
                      <a:pt x="505053" y="1159764"/>
                    </a:lnTo>
                    <a:close/>
                  </a:path>
                  <a:path w="4823459" h="1704975">
                    <a:moveTo>
                      <a:pt x="561162" y="1271295"/>
                    </a:moveTo>
                    <a:lnTo>
                      <a:pt x="559117" y="1264373"/>
                    </a:lnTo>
                    <a:lnTo>
                      <a:pt x="554583" y="1258824"/>
                    </a:lnTo>
                    <a:lnTo>
                      <a:pt x="554583" y="1258062"/>
                    </a:lnTo>
                    <a:lnTo>
                      <a:pt x="547725" y="1254785"/>
                    </a:lnTo>
                    <a:lnTo>
                      <a:pt x="540296" y="1254150"/>
                    </a:lnTo>
                    <a:lnTo>
                      <a:pt x="533158" y="1256233"/>
                    </a:lnTo>
                    <a:lnTo>
                      <a:pt x="527151" y="1261110"/>
                    </a:lnTo>
                    <a:lnTo>
                      <a:pt x="523875" y="1267523"/>
                    </a:lnTo>
                    <a:lnTo>
                      <a:pt x="523252" y="1274724"/>
                    </a:lnTo>
                    <a:lnTo>
                      <a:pt x="525335" y="1281785"/>
                    </a:lnTo>
                    <a:lnTo>
                      <a:pt x="530199" y="1287780"/>
                    </a:lnTo>
                    <a:lnTo>
                      <a:pt x="536613" y="1291386"/>
                    </a:lnTo>
                    <a:lnTo>
                      <a:pt x="543814" y="1292059"/>
                    </a:lnTo>
                    <a:lnTo>
                      <a:pt x="550875" y="1290027"/>
                    </a:lnTo>
                    <a:lnTo>
                      <a:pt x="556869" y="1285494"/>
                    </a:lnTo>
                    <a:lnTo>
                      <a:pt x="560476" y="1278636"/>
                    </a:lnTo>
                    <a:lnTo>
                      <a:pt x="561162" y="1271295"/>
                    </a:lnTo>
                    <a:close/>
                  </a:path>
                  <a:path w="4823459" h="1704975">
                    <a:moveTo>
                      <a:pt x="623138" y="1313624"/>
                    </a:moveTo>
                    <a:lnTo>
                      <a:pt x="620331" y="1306944"/>
                    </a:lnTo>
                    <a:lnTo>
                      <a:pt x="614667" y="1301432"/>
                    </a:lnTo>
                    <a:lnTo>
                      <a:pt x="607923" y="1298460"/>
                    </a:lnTo>
                    <a:lnTo>
                      <a:pt x="600608" y="1298473"/>
                    </a:lnTo>
                    <a:lnTo>
                      <a:pt x="593991" y="1301280"/>
                    </a:lnTo>
                    <a:lnTo>
                      <a:pt x="588873" y="1306830"/>
                    </a:lnTo>
                    <a:lnTo>
                      <a:pt x="585736" y="1313903"/>
                    </a:lnTo>
                    <a:lnTo>
                      <a:pt x="585736" y="1320927"/>
                    </a:lnTo>
                    <a:lnTo>
                      <a:pt x="588340" y="1327607"/>
                    </a:lnTo>
                    <a:lnTo>
                      <a:pt x="593445" y="1332738"/>
                    </a:lnTo>
                    <a:lnTo>
                      <a:pt x="600608" y="1335773"/>
                    </a:lnTo>
                    <a:lnTo>
                      <a:pt x="607923" y="1335874"/>
                    </a:lnTo>
                    <a:lnTo>
                      <a:pt x="614667" y="1333271"/>
                    </a:lnTo>
                    <a:lnTo>
                      <a:pt x="620115" y="1328166"/>
                    </a:lnTo>
                    <a:lnTo>
                      <a:pt x="623138" y="1320990"/>
                    </a:lnTo>
                    <a:lnTo>
                      <a:pt x="623138" y="1313624"/>
                    </a:lnTo>
                    <a:close/>
                  </a:path>
                  <a:path w="4823459" h="1704975">
                    <a:moveTo>
                      <a:pt x="689190" y="1357579"/>
                    </a:moveTo>
                    <a:lnTo>
                      <a:pt x="688505" y="1350352"/>
                    </a:lnTo>
                    <a:lnTo>
                      <a:pt x="685241" y="1343837"/>
                    </a:lnTo>
                    <a:lnTo>
                      <a:pt x="679551" y="1338834"/>
                    </a:lnTo>
                    <a:lnTo>
                      <a:pt x="672401" y="1336484"/>
                    </a:lnTo>
                    <a:lnTo>
                      <a:pt x="665175" y="1337208"/>
                    </a:lnTo>
                    <a:lnTo>
                      <a:pt x="658660" y="1340650"/>
                    </a:lnTo>
                    <a:lnTo>
                      <a:pt x="653643" y="1346454"/>
                    </a:lnTo>
                    <a:lnTo>
                      <a:pt x="651294" y="1353604"/>
                    </a:lnTo>
                    <a:lnTo>
                      <a:pt x="652030" y="1360830"/>
                    </a:lnTo>
                    <a:lnTo>
                      <a:pt x="655459" y="1367345"/>
                    </a:lnTo>
                    <a:lnTo>
                      <a:pt x="661263" y="1372362"/>
                    </a:lnTo>
                    <a:lnTo>
                      <a:pt x="668413" y="1374381"/>
                    </a:lnTo>
                    <a:lnTo>
                      <a:pt x="675652" y="1373695"/>
                    </a:lnTo>
                    <a:lnTo>
                      <a:pt x="682155" y="1370431"/>
                    </a:lnTo>
                    <a:lnTo>
                      <a:pt x="687171" y="1364742"/>
                    </a:lnTo>
                    <a:lnTo>
                      <a:pt x="689190" y="1357579"/>
                    </a:lnTo>
                    <a:close/>
                  </a:path>
                  <a:path w="4823459" h="1704975">
                    <a:moveTo>
                      <a:pt x="757643" y="1390357"/>
                    </a:moveTo>
                    <a:lnTo>
                      <a:pt x="756615" y="1383220"/>
                    </a:lnTo>
                    <a:lnTo>
                      <a:pt x="752856" y="1376934"/>
                    </a:lnTo>
                    <a:lnTo>
                      <a:pt x="746607" y="1372362"/>
                    </a:lnTo>
                    <a:lnTo>
                      <a:pt x="739470" y="1370457"/>
                    </a:lnTo>
                    <a:lnTo>
                      <a:pt x="732320" y="1371498"/>
                    </a:lnTo>
                    <a:lnTo>
                      <a:pt x="726033" y="1375244"/>
                    </a:lnTo>
                    <a:lnTo>
                      <a:pt x="721461" y="1381506"/>
                    </a:lnTo>
                    <a:lnTo>
                      <a:pt x="719569" y="1388643"/>
                    </a:lnTo>
                    <a:lnTo>
                      <a:pt x="720610" y="1395793"/>
                    </a:lnTo>
                    <a:lnTo>
                      <a:pt x="724357" y="1402080"/>
                    </a:lnTo>
                    <a:lnTo>
                      <a:pt x="730605" y="1406652"/>
                    </a:lnTo>
                    <a:lnTo>
                      <a:pt x="737755" y="1408544"/>
                    </a:lnTo>
                    <a:lnTo>
                      <a:pt x="744893" y="1407502"/>
                    </a:lnTo>
                    <a:lnTo>
                      <a:pt x="751179" y="1403756"/>
                    </a:lnTo>
                    <a:lnTo>
                      <a:pt x="755751" y="1397508"/>
                    </a:lnTo>
                    <a:lnTo>
                      <a:pt x="757643" y="1390357"/>
                    </a:lnTo>
                    <a:close/>
                  </a:path>
                  <a:path w="4823459" h="1704975">
                    <a:moveTo>
                      <a:pt x="827836" y="1419009"/>
                    </a:moveTo>
                    <a:lnTo>
                      <a:pt x="826046" y="1411986"/>
                    </a:lnTo>
                    <a:lnTo>
                      <a:pt x="821690" y="1406093"/>
                    </a:lnTo>
                    <a:lnTo>
                      <a:pt x="815187" y="1402080"/>
                    </a:lnTo>
                    <a:lnTo>
                      <a:pt x="808050" y="1400746"/>
                    </a:lnTo>
                    <a:lnTo>
                      <a:pt x="801471" y="1402156"/>
                    </a:lnTo>
                    <a:lnTo>
                      <a:pt x="801001" y="1402270"/>
                    </a:lnTo>
                    <a:lnTo>
                      <a:pt x="795096" y="1406258"/>
                    </a:lnTo>
                    <a:lnTo>
                      <a:pt x="794931" y="1406359"/>
                    </a:lnTo>
                    <a:lnTo>
                      <a:pt x="790803" y="1412748"/>
                    </a:lnTo>
                    <a:lnTo>
                      <a:pt x="789470" y="1420190"/>
                    </a:lnTo>
                    <a:lnTo>
                      <a:pt x="790994" y="1427226"/>
                    </a:lnTo>
                    <a:lnTo>
                      <a:pt x="795096" y="1433106"/>
                    </a:lnTo>
                    <a:lnTo>
                      <a:pt x="801471" y="1437132"/>
                    </a:lnTo>
                    <a:lnTo>
                      <a:pt x="808939" y="1438465"/>
                    </a:lnTo>
                    <a:lnTo>
                      <a:pt x="816051" y="1436941"/>
                    </a:lnTo>
                    <a:lnTo>
                      <a:pt x="822147" y="1432839"/>
                    </a:lnTo>
                    <a:lnTo>
                      <a:pt x="826617" y="1426464"/>
                    </a:lnTo>
                    <a:lnTo>
                      <a:pt x="827836" y="1419009"/>
                    </a:lnTo>
                    <a:close/>
                  </a:path>
                  <a:path w="4823459" h="1704975">
                    <a:moveTo>
                      <a:pt x="864285" y="847344"/>
                    </a:moveTo>
                    <a:lnTo>
                      <a:pt x="844105" y="847344"/>
                    </a:lnTo>
                    <a:lnTo>
                      <a:pt x="814489" y="869962"/>
                    </a:lnTo>
                    <a:lnTo>
                      <a:pt x="777646" y="894397"/>
                    </a:lnTo>
                    <a:lnTo>
                      <a:pt x="739127" y="916381"/>
                    </a:lnTo>
                    <a:lnTo>
                      <a:pt x="699033" y="935799"/>
                    </a:lnTo>
                    <a:lnTo>
                      <a:pt x="657491" y="952525"/>
                    </a:lnTo>
                    <a:lnTo>
                      <a:pt x="614616" y="966470"/>
                    </a:lnTo>
                    <a:lnTo>
                      <a:pt x="570496" y="977519"/>
                    </a:lnTo>
                    <a:lnTo>
                      <a:pt x="525272" y="985545"/>
                    </a:lnTo>
                    <a:lnTo>
                      <a:pt x="479983" y="990346"/>
                    </a:lnTo>
                    <a:lnTo>
                      <a:pt x="438759" y="991870"/>
                    </a:lnTo>
                    <a:lnTo>
                      <a:pt x="437997" y="991908"/>
                    </a:lnTo>
                    <a:lnTo>
                      <a:pt x="435140" y="991997"/>
                    </a:lnTo>
                    <a:lnTo>
                      <a:pt x="431901" y="992124"/>
                    </a:lnTo>
                    <a:lnTo>
                      <a:pt x="428853" y="992111"/>
                    </a:lnTo>
                    <a:lnTo>
                      <a:pt x="428091" y="991997"/>
                    </a:lnTo>
                    <a:lnTo>
                      <a:pt x="384822" y="990549"/>
                    </a:lnTo>
                    <a:lnTo>
                      <a:pt x="338810" y="985723"/>
                    </a:lnTo>
                    <a:lnTo>
                      <a:pt x="293662" y="977734"/>
                    </a:lnTo>
                    <a:lnTo>
                      <a:pt x="249605" y="966711"/>
                    </a:lnTo>
                    <a:lnTo>
                      <a:pt x="206756" y="952754"/>
                    </a:lnTo>
                    <a:lnTo>
                      <a:pt x="165214" y="935990"/>
                    </a:lnTo>
                    <a:lnTo>
                      <a:pt x="125120" y="916533"/>
                    </a:lnTo>
                    <a:lnTo>
                      <a:pt x="86563" y="894486"/>
                    </a:lnTo>
                    <a:lnTo>
                      <a:pt x="49682" y="869988"/>
                    </a:lnTo>
                    <a:lnTo>
                      <a:pt x="20078" y="847344"/>
                    </a:lnTo>
                    <a:lnTo>
                      <a:pt x="0" y="847344"/>
                    </a:lnTo>
                    <a:lnTo>
                      <a:pt x="42011" y="880173"/>
                    </a:lnTo>
                    <a:lnTo>
                      <a:pt x="79552" y="905090"/>
                    </a:lnTo>
                    <a:lnTo>
                      <a:pt x="118795" y="927506"/>
                    </a:lnTo>
                    <a:lnTo>
                      <a:pt x="159639" y="947318"/>
                    </a:lnTo>
                    <a:lnTo>
                      <a:pt x="201955" y="964412"/>
                    </a:lnTo>
                    <a:lnTo>
                      <a:pt x="245656" y="978662"/>
                    </a:lnTo>
                    <a:lnTo>
                      <a:pt x="290614" y="989965"/>
                    </a:lnTo>
                    <a:lnTo>
                      <a:pt x="336715" y="998207"/>
                    </a:lnTo>
                    <a:lnTo>
                      <a:pt x="383844" y="1003287"/>
                    </a:lnTo>
                    <a:lnTo>
                      <a:pt x="425043" y="1004811"/>
                    </a:lnTo>
                    <a:lnTo>
                      <a:pt x="428091" y="1004925"/>
                    </a:lnTo>
                    <a:lnTo>
                      <a:pt x="430517" y="1005014"/>
                    </a:lnTo>
                    <a:lnTo>
                      <a:pt x="431901" y="1005078"/>
                    </a:lnTo>
                    <a:lnTo>
                      <a:pt x="435140" y="1004951"/>
                    </a:lnTo>
                    <a:lnTo>
                      <a:pt x="437997" y="1004836"/>
                    </a:lnTo>
                    <a:lnTo>
                      <a:pt x="438759" y="1004811"/>
                    </a:lnTo>
                    <a:lnTo>
                      <a:pt x="478929" y="1003249"/>
                    </a:lnTo>
                    <a:lnTo>
                      <a:pt x="527126" y="998105"/>
                    </a:lnTo>
                    <a:lnTo>
                      <a:pt x="573239" y="989876"/>
                    </a:lnTo>
                    <a:lnTo>
                      <a:pt x="618185" y="978598"/>
                    </a:lnTo>
                    <a:lnTo>
                      <a:pt x="618426" y="978547"/>
                    </a:lnTo>
                    <a:lnTo>
                      <a:pt x="661860" y="964412"/>
                    </a:lnTo>
                    <a:lnTo>
                      <a:pt x="662127" y="964323"/>
                    </a:lnTo>
                    <a:lnTo>
                      <a:pt x="704164" y="947394"/>
                    </a:lnTo>
                    <a:lnTo>
                      <a:pt x="704430" y="947293"/>
                    </a:lnTo>
                    <a:lnTo>
                      <a:pt x="745248" y="927544"/>
                    </a:lnTo>
                    <a:lnTo>
                      <a:pt x="784453" y="905217"/>
                    </a:lnTo>
                    <a:lnTo>
                      <a:pt x="821931" y="880389"/>
                    </a:lnTo>
                    <a:lnTo>
                      <a:pt x="857592" y="853186"/>
                    </a:lnTo>
                    <a:lnTo>
                      <a:pt x="864285" y="847344"/>
                    </a:lnTo>
                    <a:close/>
                  </a:path>
                  <a:path w="4823459" h="1704975">
                    <a:moveTo>
                      <a:pt x="898702" y="1445564"/>
                    </a:moveTo>
                    <a:lnTo>
                      <a:pt x="896912" y="1438363"/>
                    </a:lnTo>
                    <a:lnTo>
                      <a:pt x="892556" y="1432445"/>
                    </a:lnTo>
                    <a:lnTo>
                      <a:pt x="886053" y="1428750"/>
                    </a:lnTo>
                    <a:lnTo>
                      <a:pt x="878598" y="1427530"/>
                    </a:lnTo>
                    <a:lnTo>
                      <a:pt x="871575" y="1429321"/>
                    </a:lnTo>
                    <a:lnTo>
                      <a:pt x="865695" y="1433677"/>
                    </a:lnTo>
                    <a:lnTo>
                      <a:pt x="861669" y="1440180"/>
                    </a:lnTo>
                    <a:lnTo>
                      <a:pt x="860780" y="1447622"/>
                    </a:lnTo>
                    <a:lnTo>
                      <a:pt x="862533" y="1454658"/>
                    </a:lnTo>
                    <a:lnTo>
                      <a:pt x="866711" y="1460538"/>
                    </a:lnTo>
                    <a:lnTo>
                      <a:pt x="873099" y="1464564"/>
                    </a:lnTo>
                    <a:lnTo>
                      <a:pt x="880656" y="1465453"/>
                    </a:lnTo>
                    <a:lnTo>
                      <a:pt x="887869" y="1463700"/>
                    </a:lnTo>
                    <a:lnTo>
                      <a:pt x="893775" y="1459522"/>
                    </a:lnTo>
                    <a:lnTo>
                      <a:pt x="897483" y="1453134"/>
                    </a:lnTo>
                    <a:lnTo>
                      <a:pt x="898702" y="1445564"/>
                    </a:lnTo>
                    <a:close/>
                  </a:path>
                  <a:path w="4823459" h="1704975">
                    <a:moveTo>
                      <a:pt x="971397" y="1468539"/>
                    </a:moveTo>
                    <a:lnTo>
                      <a:pt x="969302" y="1461516"/>
                    </a:lnTo>
                    <a:lnTo>
                      <a:pt x="964641" y="1455623"/>
                    </a:lnTo>
                    <a:lnTo>
                      <a:pt x="957681" y="1451610"/>
                    </a:lnTo>
                    <a:lnTo>
                      <a:pt x="950239" y="1450949"/>
                    </a:lnTo>
                    <a:lnTo>
                      <a:pt x="943305" y="1453222"/>
                    </a:lnTo>
                    <a:lnTo>
                      <a:pt x="937641" y="1457921"/>
                    </a:lnTo>
                    <a:lnTo>
                      <a:pt x="934059" y="1464564"/>
                    </a:lnTo>
                    <a:lnTo>
                      <a:pt x="933284" y="1471993"/>
                    </a:lnTo>
                    <a:lnTo>
                      <a:pt x="935304" y="1478940"/>
                    </a:lnTo>
                    <a:lnTo>
                      <a:pt x="939736" y="1484591"/>
                    </a:lnTo>
                    <a:lnTo>
                      <a:pt x="946251" y="1488186"/>
                    </a:lnTo>
                    <a:lnTo>
                      <a:pt x="954138" y="1488948"/>
                    </a:lnTo>
                    <a:lnTo>
                      <a:pt x="961301" y="1486941"/>
                    </a:lnTo>
                    <a:lnTo>
                      <a:pt x="967041" y="1482496"/>
                    </a:lnTo>
                    <a:lnTo>
                      <a:pt x="970635" y="1475994"/>
                    </a:lnTo>
                    <a:lnTo>
                      <a:pt x="971397" y="1468539"/>
                    </a:lnTo>
                    <a:close/>
                  </a:path>
                  <a:path w="4823459" h="1704975">
                    <a:moveTo>
                      <a:pt x="1044448" y="1489125"/>
                    </a:moveTo>
                    <a:lnTo>
                      <a:pt x="1042174" y="1482178"/>
                    </a:lnTo>
                    <a:lnTo>
                      <a:pt x="1037463" y="1476527"/>
                    </a:lnTo>
                    <a:lnTo>
                      <a:pt x="1030833" y="1472946"/>
                    </a:lnTo>
                    <a:lnTo>
                      <a:pt x="1023391" y="1472285"/>
                    </a:lnTo>
                    <a:lnTo>
                      <a:pt x="1016457" y="1474558"/>
                    </a:lnTo>
                    <a:lnTo>
                      <a:pt x="1010793" y="1479257"/>
                    </a:lnTo>
                    <a:lnTo>
                      <a:pt x="1007211" y="1485900"/>
                    </a:lnTo>
                    <a:lnTo>
                      <a:pt x="1006551" y="1493329"/>
                    </a:lnTo>
                    <a:lnTo>
                      <a:pt x="1008837" y="1500276"/>
                    </a:lnTo>
                    <a:lnTo>
                      <a:pt x="1013536" y="1505927"/>
                    </a:lnTo>
                    <a:lnTo>
                      <a:pt x="1020165" y="1509522"/>
                    </a:lnTo>
                    <a:lnTo>
                      <a:pt x="1027607" y="1510169"/>
                    </a:lnTo>
                    <a:lnTo>
                      <a:pt x="1034554" y="1507896"/>
                    </a:lnTo>
                    <a:lnTo>
                      <a:pt x="1040206" y="1503197"/>
                    </a:lnTo>
                    <a:lnTo>
                      <a:pt x="1043787" y="1496568"/>
                    </a:lnTo>
                    <a:lnTo>
                      <a:pt x="1044448" y="1489125"/>
                    </a:lnTo>
                    <a:close/>
                  </a:path>
                  <a:path w="4823459" h="1704975">
                    <a:moveTo>
                      <a:pt x="1118463" y="1506105"/>
                    </a:moveTo>
                    <a:lnTo>
                      <a:pt x="1115796" y="1499514"/>
                    </a:lnTo>
                    <a:lnTo>
                      <a:pt x="1110754" y="1494269"/>
                    </a:lnTo>
                    <a:lnTo>
                      <a:pt x="1103985" y="1491234"/>
                    </a:lnTo>
                    <a:lnTo>
                      <a:pt x="1096238" y="1491030"/>
                    </a:lnTo>
                    <a:lnTo>
                      <a:pt x="1089418" y="1493608"/>
                    </a:lnTo>
                    <a:lnTo>
                      <a:pt x="1084160" y="1498625"/>
                    </a:lnTo>
                    <a:lnTo>
                      <a:pt x="1081125" y="1505712"/>
                    </a:lnTo>
                    <a:lnTo>
                      <a:pt x="1080922" y="1513141"/>
                    </a:lnTo>
                    <a:lnTo>
                      <a:pt x="1083513" y="1519999"/>
                    </a:lnTo>
                    <a:lnTo>
                      <a:pt x="1088517" y="1525422"/>
                    </a:lnTo>
                    <a:lnTo>
                      <a:pt x="1095603" y="1528572"/>
                    </a:lnTo>
                    <a:lnTo>
                      <a:pt x="1102931" y="1528660"/>
                    </a:lnTo>
                    <a:lnTo>
                      <a:pt x="1109611" y="1525905"/>
                    </a:lnTo>
                    <a:lnTo>
                      <a:pt x="1114996" y="1520850"/>
                    </a:lnTo>
                    <a:lnTo>
                      <a:pt x="1118463" y="1514094"/>
                    </a:lnTo>
                    <a:lnTo>
                      <a:pt x="1118463" y="1506105"/>
                    </a:lnTo>
                    <a:close/>
                  </a:path>
                  <a:path w="4823459" h="1704975">
                    <a:moveTo>
                      <a:pt x="1192580" y="1522336"/>
                    </a:moveTo>
                    <a:lnTo>
                      <a:pt x="1190002" y="1515516"/>
                    </a:lnTo>
                    <a:lnTo>
                      <a:pt x="1184986" y="1510271"/>
                    </a:lnTo>
                    <a:lnTo>
                      <a:pt x="1177899" y="1507236"/>
                    </a:lnTo>
                    <a:lnTo>
                      <a:pt x="1170279" y="1507210"/>
                    </a:lnTo>
                    <a:lnTo>
                      <a:pt x="1163612" y="1509903"/>
                    </a:lnTo>
                    <a:lnTo>
                      <a:pt x="1158087" y="1515148"/>
                    </a:lnTo>
                    <a:lnTo>
                      <a:pt x="1155039" y="1521714"/>
                    </a:lnTo>
                    <a:lnTo>
                      <a:pt x="1155280" y="1529461"/>
                    </a:lnTo>
                    <a:lnTo>
                      <a:pt x="1158087" y="1536280"/>
                    </a:lnTo>
                    <a:lnTo>
                      <a:pt x="1163180" y="1541526"/>
                    </a:lnTo>
                    <a:lnTo>
                      <a:pt x="1170279" y="1544574"/>
                    </a:lnTo>
                    <a:lnTo>
                      <a:pt x="1177594" y="1544662"/>
                    </a:lnTo>
                    <a:lnTo>
                      <a:pt x="1184186" y="1541907"/>
                    </a:lnTo>
                    <a:lnTo>
                      <a:pt x="1189355" y="1536852"/>
                    </a:lnTo>
                    <a:lnTo>
                      <a:pt x="1192377" y="1530096"/>
                    </a:lnTo>
                    <a:lnTo>
                      <a:pt x="1192580" y="1522336"/>
                    </a:lnTo>
                    <a:close/>
                  </a:path>
                  <a:path w="4823459" h="1704975">
                    <a:moveTo>
                      <a:pt x="1267815" y="1543050"/>
                    </a:moveTo>
                    <a:lnTo>
                      <a:pt x="1267472" y="1535734"/>
                    </a:lnTo>
                    <a:lnTo>
                      <a:pt x="1264488" y="1529143"/>
                    </a:lnTo>
                    <a:lnTo>
                      <a:pt x="1259344" y="1523974"/>
                    </a:lnTo>
                    <a:lnTo>
                      <a:pt x="1252575" y="1520952"/>
                    </a:lnTo>
                    <a:lnTo>
                      <a:pt x="1245717" y="1521155"/>
                    </a:lnTo>
                    <a:lnTo>
                      <a:pt x="1244841" y="1521180"/>
                    </a:lnTo>
                    <a:lnTo>
                      <a:pt x="1238097" y="1524000"/>
                    </a:lnTo>
                    <a:lnTo>
                      <a:pt x="1233068" y="1529092"/>
                    </a:lnTo>
                    <a:lnTo>
                      <a:pt x="1230388" y="1536407"/>
                    </a:lnTo>
                    <a:lnTo>
                      <a:pt x="1230388" y="1543926"/>
                    </a:lnTo>
                    <a:lnTo>
                      <a:pt x="1233246" y="1550670"/>
                    </a:lnTo>
                    <a:lnTo>
                      <a:pt x="1238516" y="1555686"/>
                    </a:lnTo>
                    <a:lnTo>
                      <a:pt x="1245717" y="1558290"/>
                    </a:lnTo>
                    <a:lnTo>
                      <a:pt x="1253032" y="1558366"/>
                    </a:lnTo>
                    <a:lnTo>
                      <a:pt x="1259344" y="1555635"/>
                    </a:lnTo>
                    <a:lnTo>
                      <a:pt x="1259624" y="1555521"/>
                    </a:lnTo>
                    <a:lnTo>
                      <a:pt x="1264793" y="1550250"/>
                    </a:lnTo>
                    <a:lnTo>
                      <a:pt x="1267815" y="1543050"/>
                    </a:lnTo>
                    <a:close/>
                  </a:path>
                  <a:path w="4823459" h="1704975">
                    <a:moveTo>
                      <a:pt x="1320393" y="364998"/>
                    </a:moveTo>
                    <a:lnTo>
                      <a:pt x="1206093" y="422148"/>
                    </a:lnTo>
                    <a:lnTo>
                      <a:pt x="1282293" y="460248"/>
                    </a:lnTo>
                    <a:lnTo>
                      <a:pt x="1320393" y="479298"/>
                    </a:lnTo>
                    <a:lnTo>
                      <a:pt x="1320393" y="422148"/>
                    </a:lnTo>
                    <a:lnTo>
                      <a:pt x="1320393" y="364998"/>
                    </a:lnTo>
                    <a:close/>
                  </a:path>
                  <a:path w="4823459" h="1704975">
                    <a:moveTo>
                      <a:pt x="1343253" y="1553718"/>
                    </a:moveTo>
                    <a:lnTo>
                      <a:pt x="1342783" y="1545983"/>
                    </a:lnTo>
                    <a:lnTo>
                      <a:pt x="1339545" y="1539328"/>
                    </a:lnTo>
                    <a:lnTo>
                      <a:pt x="1334147" y="1534528"/>
                    </a:lnTo>
                    <a:lnTo>
                      <a:pt x="1327251" y="1532382"/>
                    </a:lnTo>
                    <a:lnTo>
                      <a:pt x="1326489" y="1532382"/>
                    </a:lnTo>
                    <a:lnTo>
                      <a:pt x="1319187" y="1532737"/>
                    </a:lnTo>
                    <a:lnTo>
                      <a:pt x="1312684" y="1535811"/>
                    </a:lnTo>
                    <a:lnTo>
                      <a:pt x="1307731" y="1541157"/>
                    </a:lnTo>
                    <a:lnTo>
                      <a:pt x="1305153" y="1548384"/>
                    </a:lnTo>
                    <a:lnTo>
                      <a:pt x="1305953" y="1556004"/>
                    </a:lnTo>
                    <a:lnTo>
                      <a:pt x="1309255" y="1562481"/>
                    </a:lnTo>
                    <a:lnTo>
                      <a:pt x="1314691" y="1567243"/>
                    </a:lnTo>
                    <a:lnTo>
                      <a:pt x="1321917" y="1569720"/>
                    </a:lnTo>
                    <a:lnTo>
                      <a:pt x="1329537" y="1569250"/>
                    </a:lnTo>
                    <a:lnTo>
                      <a:pt x="1336014" y="1565998"/>
                    </a:lnTo>
                    <a:lnTo>
                      <a:pt x="1340777" y="1560601"/>
                    </a:lnTo>
                    <a:lnTo>
                      <a:pt x="1343253" y="1553718"/>
                    </a:lnTo>
                    <a:close/>
                  </a:path>
                  <a:path w="4823459" h="1704975">
                    <a:moveTo>
                      <a:pt x="1396593" y="422148"/>
                    </a:moveTo>
                    <a:lnTo>
                      <a:pt x="1395120" y="414667"/>
                    </a:lnTo>
                    <a:lnTo>
                      <a:pt x="1391069" y="408622"/>
                    </a:lnTo>
                    <a:lnTo>
                      <a:pt x="1385023" y="404571"/>
                    </a:lnTo>
                    <a:lnTo>
                      <a:pt x="1377543" y="403098"/>
                    </a:lnTo>
                    <a:lnTo>
                      <a:pt x="1370063" y="404571"/>
                    </a:lnTo>
                    <a:lnTo>
                      <a:pt x="1364018" y="408622"/>
                    </a:lnTo>
                    <a:lnTo>
                      <a:pt x="1359966" y="414667"/>
                    </a:lnTo>
                    <a:lnTo>
                      <a:pt x="1358493" y="422148"/>
                    </a:lnTo>
                    <a:lnTo>
                      <a:pt x="1359966" y="429615"/>
                    </a:lnTo>
                    <a:lnTo>
                      <a:pt x="1364018" y="435673"/>
                    </a:lnTo>
                    <a:lnTo>
                      <a:pt x="1370063" y="439712"/>
                    </a:lnTo>
                    <a:lnTo>
                      <a:pt x="1377543" y="441198"/>
                    </a:lnTo>
                    <a:lnTo>
                      <a:pt x="1385023" y="439712"/>
                    </a:lnTo>
                    <a:lnTo>
                      <a:pt x="1391069" y="435673"/>
                    </a:lnTo>
                    <a:lnTo>
                      <a:pt x="1395120" y="429615"/>
                    </a:lnTo>
                    <a:lnTo>
                      <a:pt x="1396593" y="422148"/>
                    </a:lnTo>
                    <a:close/>
                  </a:path>
                  <a:path w="4823459" h="1704975">
                    <a:moveTo>
                      <a:pt x="1418691" y="1562100"/>
                    </a:moveTo>
                    <a:lnTo>
                      <a:pt x="1418221" y="1554797"/>
                    </a:lnTo>
                    <a:lnTo>
                      <a:pt x="1414983" y="1548282"/>
                    </a:lnTo>
                    <a:lnTo>
                      <a:pt x="1409585" y="1543342"/>
                    </a:lnTo>
                    <a:lnTo>
                      <a:pt x="1402689" y="1540764"/>
                    </a:lnTo>
                    <a:lnTo>
                      <a:pt x="1401927" y="1540764"/>
                    </a:lnTo>
                    <a:lnTo>
                      <a:pt x="1394637" y="1541665"/>
                    </a:lnTo>
                    <a:lnTo>
                      <a:pt x="1388211" y="1545145"/>
                    </a:lnTo>
                    <a:lnTo>
                      <a:pt x="1383499" y="1550619"/>
                    </a:lnTo>
                    <a:lnTo>
                      <a:pt x="1381353" y="1557528"/>
                    </a:lnTo>
                    <a:lnTo>
                      <a:pt x="1381836" y="1565249"/>
                    </a:lnTo>
                    <a:lnTo>
                      <a:pt x="1385163" y="1571904"/>
                    </a:lnTo>
                    <a:lnTo>
                      <a:pt x="1390789" y="1576705"/>
                    </a:lnTo>
                    <a:lnTo>
                      <a:pt x="1398117" y="1578864"/>
                    </a:lnTo>
                    <a:lnTo>
                      <a:pt x="1405407" y="1578381"/>
                    </a:lnTo>
                    <a:lnTo>
                      <a:pt x="1411833" y="1575054"/>
                    </a:lnTo>
                    <a:lnTo>
                      <a:pt x="1416545" y="1569427"/>
                    </a:lnTo>
                    <a:lnTo>
                      <a:pt x="1418691" y="1562100"/>
                    </a:lnTo>
                    <a:close/>
                  </a:path>
                  <a:path w="4823459" h="1704975">
                    <a:moveTo>
                      <a:pt x="1472793" y="422148"/>
                    </a:moveTo>
                    <a:lnTo>
                      <a:pt x="1471320" y="414667"/>
                    </a:lnTo>
                    <a:lnTo>
                      <a:pt x="1467269" y="408622"/>
                    </a:lnTo>
                    <a:lnTo>
                      <a:pt x="1461223" y="404571"/>
                    </a:lnTo>
                    <a:lnTo>
                      <a:pt x="1453743" y="403098"/>
                    </a:lnTo>
                    <a:lnTo>
                      <a:pt x="1446263" y="404571"/>
                    </a:lnTo>
                    <a:lnTo>
                      <a:pt x="1440218" y="408622"/>
                    </a:lnTo>
                    <a:lnTo>
                      <a:pt x="1436166" y="414667"/>
                    </a:lnTo>
                    <a:lnTo>
                      <a:pt x="1434693" y="422148"/>
                    </a:lnTo>
                    <a:lnTo>
                      <a:pt x="1436166" y="429615"/>
                    </a:lnTo>
                    <a:lnTo>
                      <a:pt x="1440218" y="435673"/>
                    </a:lnTo>
                    <a:lnTo>
                      <a:pt x="1446263" y="439712"/>
                    </a:lnTo>
                    <a:lnTo>
                      <a:pt x="1453743" y="441198"/>
                    </a:lnTo>
                    <a:lnTo>
                      <a:pt x="1461223" y="439712"/>
                    </a:lnTo>
                    <a:lnTo>
                      <a:pt x="1467269" y="435673"/>
                    </a:lnTo>
                    <a:lnTo>
                      <a:pt x="1471320" y="429615"/>
                    </a:lnTo>
                    <a:lnTo>
                      <a:pt x="1472793" y="422148"/>
                    </a:lnTo>
                    <a:close/>
                  </a:path>
                  <a:path w="4823459" h="1704975">
                    <a:moveTo>
                      <a:pt x="1494891" y="1568196"/>
                    </a:moveTo>
                    <a:lnTo>
                      <a:pt x="1493977" y="1560576"/>
                    </a:lnTo>
                    <a:lnTo>
                      <a:pt x="1490421" y="1554187"/>
                    </a:lnTo>
                    <a:lnTo>
                      <a:pt x="1484706" y="1549654"/>
                    </a:lnTo>
                    <a:lnTo>
                      <a:pt x="1477365" y="1547622"/>
                    </a:lnTo>
                    <a:lnTo>
                      <a:pt x="1469758" y="1548650"/>
                    </a:lnTo>
                    <a:lnTo>
                      <a:pt x="1463370" y="1552473"/>
                    </a:lnTo>
                    <a:lnTo>
                      <a:pt x="1458823" y="1558442"/>
                    </a:lnTo>
                    <a:lnTo>
                      <a:pt x="1456791" y="1565910"/>
                    </a:lnTo>
                    <a:lnTo>
                      <a:pt x="1457833" y="1573072"/>
                    </a:lnTo>
                    <a:lnTo>
                      <a:pt x="1461655" y="1579245"/>
                    </a:lnTo>
                    <a:lnTo>
                      <a:pt x="1467612" y="1583690"/>
                    </a:lnTo>
                    <a:lnTo>
                      <a:pt x="1475079" y="1585722"/>
                    </a:lnTo>
                    <a:lnTo>
                      <a:pt x="1482242" y="1584794"/>
                    </a:lnTo>
                    <a:lnTo>
                      <a:pt x="1488414" y="1581238"/>
                    </a:lnTo>
                    <a:lnTo>
                      <a:pt x="1492872" y="1575536"/>
                    </a:lnTo>
                    <a:lnTo>
                      <a:pt x="1494891" y="1568196"/>
                    </a:lnTo>
                    <a:close/>
                  </a:path>
                  <a:path w="4823459" h="1704975">
                    <a:moveTo>
                      <a:pt x="1548993" y="422148"/>
                    </a:moveTo>
                    <a:lnTo>
                      <a:pt x="1547520" y="414667"/>
                    </a:lnTo>
                    <a:lnTo>
                      <a:pt x="1543469" y="408622"/>
                    </a:lnTo>
                    <a:lnTo>
                      <a:pt x="1537423" y="404571"/>
                    </a:lnTo>
                    <a:lnTo>
                      <a:pt x="1529943" y="403098"/>
                    </a:lnTo>
                    <a:lnTo>
                      <a:pt x="1522463" y="404571"/>
                    </a:lnTo>
                    <a:lnTo>
                      <a:pt x="1516418" y="408622"/>
                    </a:lnTo>
                    <a:lnTo>
                      <a:pt x="1512366" y="414667"/>
                    </a:lnTo>
                    <a:lnTo>
                      <a:pt x="1510893" y="422148"/>
                    </a:lnTo>
                    <a:lnTo>
                      <a:pt x="1512366" y="429615"/>
                    </a:lnTo>
                    <a:lnTo>
                      <a:pt x="1516418" y="435673"/>
                    </a:lnTo>
                    <a:lnTo>
                      <a:pt x="1522463" y="439712"/>
                    </a:lnTo>
                    <a:lnTo>
                      <a:pt x="1529943" y="441198"/>
                    </a:lnTo>
                    <a:lnTo>
                      <a:pt x="1537423" y="439712"/>
                    </a:lnTo>
                    <a:lnTo>
                      <a:pt x="1543469" y="435673"/>
                    </a:lnTo>
                    <a:lnTo>
                      <a:pt x="1547520" y="429615"/>
                    </a:lnTo>
                    <a:lnTo>
                      <a:pt x="1548993" y="422148"/>
                    </a:lnTo>
                    <a:close/>
                  </a:path>
                  <a:path w="4823459" h="1704975">
                    <a:moveTo>
                      <a:pt x="1625193" y="422148"/>
                    </a:moveTo>
                    <a:lnTo>
                      <a:pt x="1623720" y="414667"/>
                    </a:lnTo>
                    <a:lnTo>
                      <a:pt x="1619669" y="408622"/>
                    </a:lnTo>
                    <a:lnTo>
                      <a:pt x="1613623" y="404571"/>
                    </a:lnTo>
                    <a:lnTo>
                      <a:pt x="1606143" y="403098"/>
                    </a:lnTo>
                    <a:lnTo>
                      <a:pt x="1598663" y="404571"/>
                    </a:lnTo>
                    <a:lnTo>
                      <a:pt x="1592618" y="408622"/>
                    </a:lnTo>
                    <a:lnTo>
                      <a:pt x="1588566" y="414667"/>
                    </a:lnTo>
                    <a:lnTo>
                      <a:pt x="1587093" y="422148"/>
                    </a:lnTo>
                    <a:lnTo>
                      <a:pt x="1588566" y="429615"/>
                    </a:lnTo>
                    <a:lnTo>
                      <a:pt x="1592618" y="435673"/>
                    </a:lnTo>
                    <a:lnTo>
                      <a:pt x="1598663" y="439712"/>
                    </a:lnTo>
                    <a:lnTo>
                      <a:pt x="1606143" y="441198"/>
                    </a:lnTo>
                    <a:lnTo>
                      <a:pt x="1613623" y="439712"/>
                    </a:lnTo>
                    <a:lnTo>
                      <a:pt x="1619669" y="435673"/>
                    </a:lnTo>
                    <a:lnTo>
                      <a:pt x="1623720" y="429615"/>
                    </a:lnTo>
                    <a:lnTo>
                      <a:pt x="1625193" y="422148"/>
                    </a:lnTo>
                    <a:close/>
                  </a:path>
                  <a:path w="4823459" h="1704975">
                    <a:moveTo>
                      <a:pt x="1647291" y="1573530"/>
                    </a:moveTo>
                    <a:lnTo>
                      <a:pt x="1534452" y="1513293"/>
                    </a:lnTo>
                    <a:lnTo>
                      <a:pt x="1534452" y="1515554"/>
                    </a:lnTo>
                    <a:lnTo>
                      <a:pt x="1532991" y="1570482"/>
                    </a:lnTo>
                    <a:lnTo>
                      <a:pt x="1531467" y="1627632"/>
                    </a:lnTo>
                    <a:lnTo>
                      <a:pt x="1571091" y="1609115"/>
                    </a:lnTo>
                    <a:lnTo>
                      <a:pt x="1647291" y="1573530"/>
                    </a:lnTo>
                    <a:close/>
                  </a:path>
                  <a:path w="4823459" h="1704975">
                    <a:moveTo>
                      <a:pt x="1701393" y="422148"/>
                    </a:moveTo>
                    <a:lnTo>
                      <a:pt x="1699920" y="414667"/>
                    </a:lnTo>
                    <a:lnTo>
                      <a:pt x="1695869" y="408622"/>
                    </a:lnTo>
                    <a:lnTo>
                      <a:pt x="1689823" y="404571"/>
                    </a:lnTo>
                    <a:lnTo>
                      <a:pt x="1682343" y="403098"/>
                    </a:lnTo>
                    <a:lnTo>
                      <a:pt x="1674863" y="404571"/>
                    </a:lnTo>
                    <a:lnTo>
                      <a:pt x="1668818" y="408622"/>
                    </a:lnTo>
                    <a:lnTo>
                      <a:pt x="1664766" y="414667"/>
                    </a:lnTo>
                    <a:lnTo>
                      <a:pt x="1663293" y="422148"/>
                    </a:lnTo>
                    <a:lnTo>
                      <a:pt x="1664766" y="429615"/>
                    </a:lnTo>
                    <a:lnTo>
                      <a:pt x="1668818" y="435673"/>
                    </a:lnTo>
                    <a:lnTo>
                      <a:pt x="1674863" y="439712"/>
                    </a:lnTo>
                    <a:lnTo>
                      <a:pt x="1682343" y="441198"/>
                    </a:lnTo>
                    <a:lnTo>
                      <a:pt x="1689823" y="439712"/>
                    </a:lnTo>
                    <a:lnTo>
                      <a:pt x="1695869" y="435673"/>
                    </a:lnTo>
                    <a:lnTo>
                      <a:pt x="1699920" y="429615"/>
                    </a:lnTo>
                    <a:lnTo>
                      <a:pt x="1701393" y="422148"/>
                    </a:lnTo>
                    <a:close/>
                  </a:path>
                  <a:path w="4823459" h="1704975">
                    <a:moveTo>
                      <a:pt x="1777593" y="422148"/>
                    </a:moveTo>
                    <a:lnTo>
                      <a:pt x="1776120" y="414667"/>
                    </a:lnTo>
                    <a:lnTo>
                      <a:pt x="1772069" y="408622"/>
                    </a:lnTo>
                    <a:lnTo>
                      <a:pt x="1766023" y="404571"/>
                    </a:lnTo>
                    <a:lnTo>
                      <a:pt x="1758543" y="403098"/>
                    </a:lnTo>
                    <a:lnTo>
                      <a:pt x="1751063" y="404571"/>
                    </a:lnTo>
                    <a:lnTo>
                      <a:pt x="1745018" y="408622"/>
                    </a:lnTo>
                    <a:lnTo>
                      <a:pt x="1740966" y="414667"/>
                    </a:lnTo>
                    <a:lnTo>
                      <a:pt x="1739493" y="422148"/>
                    </a:lnTo>
                    <a:lnTo>
                      <a:pt x="1740966" y="429615"/>
                    </a:lnTo>
                    <a:lnTo>
                      <a:pt x="1745018" y="435673"/>
                    </a:lnTo>
                    <a:lnTo>
                      <a:pt x="1751063" y="439712"/>
                    </a:lnTo>
                    <a:lnTo>
                      <a:pt x="1758543" y="441198"/>
                    </a:lnTo>
                    <a:lnTo>
                      <a:pt x="1766023" y="439712"/>
                    </a:lnTo>
                    <a:lnTo>
                      <a:pt x="1772069" y="435673"/>
                    </a:lnTo>
                    <a:lnTo>
                      <a:pt x="1776120" y="429615"/>
                    </a:lnTo>
                    <a:lnTo>
                      <a:pt x="1777593" y="422148"/>
                    </a:lnTo>
                    <a:close/>
                  </a:path>
                  <a:path w="4823459" h="1704975">
                    <a:moveTo>
                      <a:pt x="1853793" y="422148"/>
                    </a:moveTo>
                    <a:lnTo>
                      <a:pt x="1852320" y="414667"/>
                    </a:lnTo>
                    <a:lnTo>
                      <a:pt x="1848269" y="408622"/>
                    </a:lnTo>
                    <a:lnTo>
                      <a:pt x="1842223" y="404571"/>
                    </a:lnTo>
                    <a:lnTo>
                      <a:pt x="1834743" y="403098"/>
                    </a:lnTo>
                    <a:lnTo>
                      <a:pt x="1827263" y="404571"/>
                    </a:lnTo>
                    <a:lnTo>
                      <a:pt x="1821218" y="408622"/>
                    </a:lnTo>
                    <a:lnTo>
                      <a:pt x="1817166" y="414667"/>
                    </a:lnTo>
                    <a:lnTo>
                      <a:pt x="1815693" y="422148"/>
                    </a:lnTo>
                    <a:lnTo>
                      <a:pt x="1817166" y="429615"/>
                    </a:lnTo>
                    <a:lnTo>
                      <a:pt x="1821218" y="435673"/>
                    </a:lnTo>
                    <a:lnTo>
                      <a:pt x="1827263" y="439712"/>
                    </a:lnTo>
                    <a:lnTo>
                      <a:pt x="1834743" y="441198"/>
                    </a:lnTo>
                    <a:lnTo>
                      <a:pt x="1842223" y="439712"/>
                    </a:lnTo>
                    <a:lnTo>
                      <a:pt x="1848269" y="435673"/>
                    </a:lnTo>
                    <a:lnTo>
                      <a:pt x="1852320" y="429615"/>
                    </a:lnTo>
                    <a:lnTo>
                      <a:pt x="1853793" y="422148"/>
                    </a:lnTo>
                    <a:close/>
                  </a:path>
                  <a:path w="4823459" h="1704975">
                    <a:moveTo>
                      <a:pt x="1929993" y="422148"/>
                    </a:moveTo>
                    <a:lnTo>
                      <a:pt x="1928520" y="414667"/>
                    </a:lnTo>
                    <a:lnTo>
                      <a:pt x="1924469" y="408622"/>
                    </a:lnTo>
                    <a:lnTo>
                      <a:pt x="1918423" y="404571"/>
                    </a:lnTo>
                    <a:lnTo>
                      <a:pt x="1910943" y="403098"/>
                    </a:lnTo>
                    <a:lnTo>
                      <a:pt x="1903463" y="404571"/>
                    </a:lnTo>
                    <a:lnTo>
                      <a:pt x="1897418" y="408622"/>
                    </a:lnTo>
                    <a:lnTo>
                      <a:pt x="1893366" y="414667"/>
                    </a:lnTo>
                    <a:lnTo>
                      <a:pt x="1891893" y="422148"/>
                    </a:lnTo>
                    <a:lnTo>
                      <a:pt x="1893366" y="429615"/>
                    </a:lnTo>
                    <a:lnTo>
                      <a:pt x="1897418" y="435673"/>
                    </a:lnTo>
                    <a:lnTo>
                      <a:pt x="1903463" y="439712"/>
                    </a:lnTo>
                    <a:lnTo>
                      <a:pt x="1910943" y="441198"/>
                    </a:lnTo>
                    <a:lnTo>
                      <a:pt x="1918423" y="439712"/>
                    </a:lnTo>
                    <a:lnTo>
                      <a:pt x="1924469" y="435673"/>
                    </a:lnTo>
                    <a:lnTo>
                      <a:pt x="1928520" y="429615"/>
                    </a:lnTo>
                    <a:lnTo>
                      <a:pt x="1929993" y="422148"/>
                    </a:lnTo>
                    <a:close/>
                  </a:path>
                  <a:path w="4823459" h="1704975">
                    <a:moveTo>
                      <a:pt x="2006193" y="422148"/>
                    </a:moveTo>
                    <a:lnTo>
                      <a:pt x="2004720" y="414667"/>
                    </a:lnTo>
                    <a:lnTo>
                      <a:pt x="2000669" y="408622"/>
                    </a:lnTo>
                    <a:lnTo>
                      <a:pt x="1994623" y="404571"/>
                    </a:lnTo>
                    <a:lnTo>
                      <a:pt x="1987143" y="403098"/>
                    </a:lnTo>
                    <a:lnTo>
                      <a:pt x="1979993" y="404571"/>
                    </a:lnTo>
                    <a:lnTo>
                      <a:pt x="1973910" y="408622"/>
                    </a:lnTo>
                    <a:lnTo>
                      <a:pt x="1969681" y="414667"/>
                    </a:lnTo>
                    <a:lnTo>
                      <a:pt x="1968093" y="422148"/>
                    </a:lnTo>
                    <a:lnTo>
                      <a:pt x="1969681" y="429615"/>
                    </a:lnTo>
                    <a:lnTo>
                      <a:pt x="1973910" y="435673"/>
                    </a:lnTo>
                    <a:lnTo>
                      <a:pt x="1979993" y="439712"/>
                    </a:lnTo>
                    <a:lnTo>
                      <a:pt x="1987143" y="441198"/>
                    </a:lnTo>
                    <a:lnTo>
                      <a:pt x="1994623" y="439712"/>
                    </a:lnTo>
                    <a:lnTo>
                      <a:pt x="2000669" y="435673"/>
                    </a:lnTo>
                    <a:lnTo>
                      <a:pt x="2004720" y="429615"/>
                    </a:lnTo>
                    <a:lnTo>
                      <a:pt x="2006193" y="422148"/>
                    </a:lnTo>
                    <a:close/>
                  </a:path>
                  <a:path w="4823459" h="1704975">
                    <a:moveTo>
                      <a:pt x="2082393" y="422148"/>
                    </a:moveTo>
                    <a:lnTo>
                      <a:pt x="2080920" y="414667"/>
                    </a:lnTo>
                    <a:lnTo>
                      <a:pt x="2076869" y="408622"/>
                    </a:lnTo>
                    <a:lnTo>
                      <a:pt x="2070823" y="404571"/>
                    </a:lnTo>
                    <a:lnTo>
                      <a:pt x="2063343" y="403098"/>
                    </a:lnTo>
                    <a:lnTo>
                      <a:pt x="2056193" y="404571"/>
                    </a:lnTo>
                    <a:lnTo>
                      <a:pt x="2050110" y="408622"/>
                    </a:lnTo>
                    <a:lnTo>
                      <a:pt x="2045881" y="414667"/>
                    </a:lnTo>
                    <a:lnTo>
                      <a:pt x="2044293" y="422148"/>
                    </a:lnTo>
                    <a:lnTo>
                      <a:pt x="2045881" y="429615"/>
                    </a:lnTo>
                    <a:lnTo>
                      <a:pt x="2050110" y="435673"/>
                    </a:lnTo>
                    <a:lnTo>
                      <a:pt x="2056193" y="439712"/>
                    </a:lnTo>
                    <a:lnTo>
                      <a:pt x="2063343" y="441198"/>
                    </a:lnTo>
                    <a:lnTo>
                      <a:pt x="2070823" y="439712"/>
                    </a:lnTo>
                    <a:lnTo>
                      <a:pt x="2076869" y="435673"/>
                    </a:lnTo>
                    <a:lnTo>
                      <a:pt x="2080920" y="429615"/>
                    </a:lnTo>
                    <a:lnTo>
                      <a:pt x="2082393" y="422148"/>
                    </a:lnTo>
                    <a:close/>
                  </a:path>
                  <a:path w="4823459" h="1704975">
                    <a:moveTo>
                      <a:pt x="2158593" y="422148"/>
                    </a:moveTo>
                    <a:lnTo>
                      <a:pt x="2157120" y="414667"/>
                    </a:lnTo>
                    <a:lnTo>
                      <a:pt x="2153069" y="408622"/>
                    </a:lnTo>
                    <a:lnTo>
                      <a:pt x="2147024" y="404571"/>
                    </a:lnTo>
                    <a:lnTo>
                      <a:pt x="2139543" y="403098"/>
                    </a:lnTo>
                    <a:lnTo>
                      <a:pt x="2132393" y="404571"/>
                    </a:lnTo>
                    <a:lnTo>
                      <a:pt x="2126310" y="408622"/>
                    </a:lnTo>
                    <a:lnTo>
                      <a:pt x="2122081" y="414667"/>
                    </a:lnTo>
                    <a:lnTo>
                      <a:pt x="2120493" y="422148"/>
                    </a:lnTo>
                    <a:lnTo>
                      <a:pt x="2122081" y="429615"/>
                    </a:lnTo>
                    <a:lnTo>
                      <a:pt x="2126310" y="435673"/>
                    </a:lnTo>
                    <a:lnTo>
                      <a:pt x="2132393" y="439712"/>
                    </a:lnTo>
                    <a:lnTo>
                      <a:pt x="2139543" y="441198"/>
                    </a:lnTo>
                    <a:lnTo>
                      <a:pt x="2147024" y="439712"/>
                    </a:lnTo>
                    <a:lnTo>
                      <a:pt x="2153069" y="435673"/>
                    </a:lnTo>
                    <a:lnTo>
                      <a:pt x="2157120" y="429615"/>
                    </a:lnTo>
                    <a:lnTo>
                      <a:pt x="2158593" y="422148"/>
                    </a:lnTo>
                    <a:close/>
                  </a:path>
                  <a:path w="4823459" h="1704975">
                    <a:moveTo>
                      <a:pt x="2235555" y="422148"/>
                    </a:moveTo>
                    <a:lnTo>
                      <a:pt x="2233968" y="414667"/>
                    </a:lnTo>
                    <a:lnTo>
                      <a:pt x="2229751" y="408622"/>
                    </a:lnTo>
                    <a:lnTo>
                      <a:pt x="2223655" y="404571"/>
                    </a:lnTo>
                    <a:lnTo>
                      <a:pt x="2216505" y="403098"/>
                    </a:lnTo>
                    <a:lnTo>
                      <a:pt x="2215743" y="403098"/>
                    </a:lnTo>
                    <a:lnTo>
                      <a:pt x="2208593" y="404571"/>
                    </a:lnTo>
                    <a:lnTo>
                      <a:pt x="2202510" y="408622"/>
                    </a:lnTo>
                    <a:lnTo>
                      <a:pt x="2198281" y="414667"/>
                    </a:lnTo>
                    <a:lnTo>
                      <a:pt x="2196693" y="422148"/>
                    </a:lnTo>
                    <a:lnTo>
                      <a:pt x="2198281" y="429615"/>
                    </a:lnTo>
                    <a:lnTo>
                      <a:pt x="2202510" y="435673"/>
                    </a:lnTo>
                    <a:lnTo>
                      <a:pt x="2208593" y="439712"/>
                    </a:lnTo>
                    <a:lnTo>
                      <a:pt x="2215743" y="441198"/>
                    </a:lnTo>
                    <a:lnTo>
                      <a:pt x="2216505" y="441198"/>
                    </a:lnTo>
                    <a:lnTo>
                      <a:pt x="2223655" y="439712"/>
                    </a:lnTo>
                    <a:lnTo>
                      <a:pt x="2229751" y="435673"/>
                    </a:lnTo>
                    <a:lnTo>
                      <a:pt x="2233968" y="429615"/>
                    </a:lnTo>
                    <a:lnTo>
                      <a:pt x="2235555" y="422148"/>
                    </a:lnTo>
                    <a:close/>
                  </a:path>
                  <a:path w="4823459" h="1704975">
                    <a:moveTo>
                      <a:pt x="2311755" y="422148"/>
                    </a:moveTo>
                    <a:lnTo>
                      <a:pt x="2310168" y="414667"/>
                    </a:lnTo>
                    <a:lnTo>
                      <a:pt x="2305951" y="408622"/>
                    </a:lnTo>
                    <a:lnTo>
                      <a:pt x="2299855" y="404571"/>
                    </a:lnTo>
                    <a:lnTo>
                      <a:pt x="2292705" y="403098"/>
                    </a:lnTo>
                    <a:lnTo>
                      <a:pt x="2285225" y="404571"/>
                    </a:lnTo>
                    <a:lnTo>
                      <a:pt x="2279180" y="408622"/>
                    </a:lnTo>
                    <a:lnTo>
                      <a:pt x="2275128" y="414667"/>
                    </a:lnTo>
                    <a:lnTo>
                      <a:pt x="2273655" y="422148"/>
                    </a:lnTo>
                    <a:lnTo>
                      <a:pt x="2275128" y="429615"/>
                    </a:lnTo>
                    <a:lnTo>
                      <a:pt x="2279180" y="435673"/>
                    </a:lnTo>
                    <a:lnTo>
                      <a:pt x="2285225" y="439712"/>
                    </a:lnTo>
                    <a:lnTo>
                      <a:pt x="2292705" y="441198"/>
                    </a:lnTo>
                    <a:lnTo>
                      <a:pt x="2299855" y="439712"/>
                    </a:lnTo>
                    <a:lnTo>
                      <a:pt x="2305951" y="435673"/>
                    </a:lnTo>
                    <a:lnTo>
                      <a:pt x="2310168" y="429615"/>
                    </a:lnTo>
                    <a:lnTo>
                      <a:pt x="2311755" y="422148"/>
                    </a:lnTo>
                    <a:close/>
                  </a:path>
                  <a:path w="4823459" h="1704975">
                    <a:moveTo>
                      <a:pt x="2387955" y="422148"/>
                    </a:moveTo>
                    <a:lnTo>
                      <a:pt x="2386368" y="414667"/>
                    </a:lnTo>
                    <a:lnTo>
                      <a:pt x="2382151" y="408622"/>
                    </a:lnTo>
                    <a:lnTo>
                      <a:pt x="2376055" y="404571"/>
                    </a:lnTo>
                    <a:lnTo>
                      <a:pt x="2368905" y="403098"/>
                    </a:lnTo>
                    <a:lnTo>
                      <a:pt x="2361425" y="404571"/>
                    </a:lnTo>
                    <a:lnTo>
                      <a:pt x="2355380" y="408622"/>
                    </a:lnTo>
                    <a:lnTo>
                      <a:pt x="2351328" y="414667"/>
                    </a:lnTo>
                    <a:lnTo>
                      <a:pt x="2349855" y="422148"/>
                    </a:lnTo>
                    <a:lnTo>
                      <a:pt x="2351328" y="429615"/>
                    </a:lnTo>
                    <a:lnTo>
                      <a:pt x="2355380" y="435673"/>
                    </a:lnTo>
                    <a:lnTo>
                      <a:pt x="2361425" y="439712"/>
                    </a:lnTo>
                    <a:lnTo>
                      <a:pt x="2368905" y="441198"/>
                    </a:lnTo>
                    <a:lnTo>
                      <a:pt x="2376055" y="439712"/>
                    </a:lnTo>
                    <a:lnTo>
                      <a:pt x="2382151" y="435673"/>
                    </a:lnTo>
                    <a:lnTo>
                      <a:pt x="2386368" y="429615"/>
                    </a:lnTo>
                    <a:lnTo>
                      <a:pt x="2387955" y="422148"/>
                    </a:lnTo>
                    <a:close/>
                  </a:path>
                  <a:path w="4823459" h="1704975">
                    <a:moveTo>
                      <a:pt x="2445308" y="847344"/>
                    </a:moveTo>
                    <a:lnTo>
                      <a:pt x="2443391" y="844486"/>
                    </a:lnTo>
                    <a:lnTo>
                      <a:pt x="2437346" y="840435"/>
                    </a:lnTo>
                    <a:lnTo>
                      <a:pt x="2429865" y="838962"/>
                    </a:lnTo>
                    <a:lnTo>
                      <a:pt x="2422385" y="840435"/>
                    </a:lnTo>
                    <a:lnTo>
                      <a:pt x="2416340" y="844486"/>
                    </a:lnTo>
                    <a:lnTo>
                      <a:pt x="2414422" y="847344"/>
                    </a:lnTo>
                    <a:lnTo>
                      <a:pt x="2445308" y="847344"/>
                    </a:lnTo>
                    <a:close/>
                  </a:path>
                  <a:path w="4823459" h="1704975">
                    <a:moveTo>
                      <a:pt x="2448915" y="781812"/>
                    </a:moveTo>
                    <a:lnTo>
                      <a:pt x="2447442" y="774331"/>
                    </a:lnTo>
                    <a:lnTo>
                      <a:pt x="2443391" y="768286"/>
                    </a:lnTo>
                    <a:lnTo>
                      <a:pt x="2437346" y="764235"/>
                    </a:lnTo>
                    <a:lnTo>
                      <a:pt x="2429865" y="762762"/>
                    </a:lnTo>
                    <a:lnTo>
                      <a:pt x="2422385" y="764235"/>
                    </a:lnTo>
                    <a:lnTo>
                      <a:pt x="2416340" y="768286"/>
                    </a:lnTo>
                    <a:lnTo>
                      <a:pt x="2412288" y="774331"/>
                    </a:lnTo>
                    <a:lnTo>
                      <a:pt x="2410815" y="781812"/>
                    </a:lnTo>
                    <a:lnTo>
                      <a:pt x="2412288" y="788962"/>
                    </a:lnTo>
                    <a:lnTo>
                      <a:pt x="2416340" y="795045"/>
                    </a:lnTo>
                    <a:lnTo>
                      <a:pt x="2422385" y="799274"/>
                    </a:lnTo>
                    <a:lnTo>
                      <a:pt x="2429865" y="800862"/>
                    </a:lnTo>
                    <a:lnTo>
                      <a:pt x="2437346" y="799274"/>
                    </a:lnTo>
                    <a:lnTo>
                      <a:pt x="2443391" y="795045"/>
                    </a:lnTo>
                    <a:lnTo>
                      <a:pt x="2447442" y="788962"/>
                    </a:lnTo>
                    <a:lnTo>
                      <a:pt x="2448915" y="781812"/>
                    </a:lnTo>
                    <a:close/>
                  </a:path>
                  <a:path w="4823459" h="1704975">
                    <a:moveTo>
                      <a:pt x="2448915" y="704850"/>
                    </a:moveTo>
                    <a:lnTo>
                      <a:pt x="2447442" y="697687"/>
                    </a:lnTo>
                    <a:lnTo>
                      <a:pt x="2443391" y="691603"/>
                    </a:lnTo>
                    <a:lnTo>
                      <a:pt x="2437346" y="687374"/>
                    </a:lnTo>
                    <a:lnTo>
                      <a:pt x="2429865" y="685800"/>
                    </a:lnTo>
                    <a:lnTo>
                      <a:pt x="2422385" y="687374"/>
                    </a:lnTo>
                    <a:lnTo>
                      <a:pt x="2416340" y="691603"/>
                    </a:lnTo>
                    <a:lnTo>
                      <a:pt x="2412288" y="697687"/>
                    </a:lnTo>
                    <a:lnTo>
                      <a:pt x="2410815" y="704850"/>
                    </a:lnTo>
                    <a:lnTo>
                      <a:pt x="2410815" y="705612"/>
                    </a:lnTo>
                    <a:lnTo>
                      <a:pt x="2412288" y="712762"/>
                    </a:lnTo>
                    <a:lnTo>
                      <a:pt x="2416340" y="718845"/>
                    </a:lnTo>
                    <a:lnTo>
                      <a:pt x="2422385" y="723074"/>
                    </a:lnTo>
                    <a:lnTo>
                      <a:pt x="2429865" y="724662"/>
                    </a:lnTo>
                    <a:lnTo>
                      <a:pt x="2437346" y="723074"/>
                    </a:lnTo>
                    <a:lnTo>
                      <a:pt x="2443391" y="718845"/>
                    </a:lnTo>
                    <a:lnTo>
                      <a:pt x="2447442" y="712762"/>
                    </a:lnTo>
                    <a:lnTo>
                      <a:pt x="2448915" y="705612"/>
                    </a:lnTo>
                    <a:lnTo>
                      <a:pt x="2448915" y="704850"/>
                    </a:lnTo>
                    <a:close/>
                  </a:path>
                  <a:path w="4823459" h="1704975">
                    <a:moveTo>
                      <a:pt x="2448915" y="628650"/>
                    </a:moveTo>
                    <a:lnTo>
                      <a:pt x="2447442" y="621487"/>
                    </a:lnTo>
                    <a:lnTo>
                      <a:pt x="2443391" y="615403"/>
                    </a:lnTo>
                    <a:lnTo>
                      <a:pt x="2437346" y="611174"/>
                    </a:lnTo>
                    <a:lnTo>
                      <a:pt x="2429865" y="609600"/>
                    </a:lnTo>
                    <a:lnTo>
                      <a:pt x="2422385" y="611174"/>
                    </a:lnTo>
                    <a:lnTo>
                      <a:pt x="2416340" y="615403"/>
                    </a:lnTo>
                    <a:lnTo>
                      <a:pt x="2412288" y="621487"/>
                    </a:lnTo>
                    <a:lnTo>
                      <a:pt x="2410815" y="628650"/>
                    </a:lnTo>
                    <a:lnTo>
                      <a:pt x="2412288" y="636117"/>
                    </a:lnTo>
                    <a:lnTo>
                      <a:pt x="2416340" y="642175"/>
                    </a:lnTo>
                    <a:lnTo>
                      <a:pt x="2422385" y="646214"/>
                    </a:lnTo>
                    <a:lnTo>
                      <a:pt x="2429865" y="647700"/>
                    </a:lnTo>
                    <a:lnTo>
                      <a:pt x="2437346" y="646214"/>
                    </a:lnTo>
                    <a:lnTo>
                      <a:pt x="2443391" y="642175"/>
                    </a:lnTo>
                    <a:lnTo>
                      <a:pt x="2447442" y="636117"/>
                    </a:lnTo>
                    <a:lnTo>
                      <a:pt x="2448915" y="628650"/>
                    </a:lnTo>
                    <a:close/>
                  </a:path>
                  <a:path w="4823459" h="1704975">
                    <a:moveTo>
                      <a:pt x="2448915" y="552450"/>
                    </a:moveTo>
                    <a:lnTo>
                      <a:pt x="2447442" y="545287"/>
                    </a:lnTo>
                    <a:lnTo>
                      <a:pt x="2443391" y="539203"/>
                    </a:lnTo>
                    <a:lnTo>
                      <a:pt x="2437346" y="534974"/>
                    </a:lnTo>
                    <a:lnTo>
                      <a:pt x="2429865" y="533400"/>
                    </a:lnTo>
                    <a:lnTo>
                      <a:pt x="2422385" y="534974"/>
                    </a:lnTo>
                    <a:lnTo>
                      <a:pt x="2416340" y="539203"/>
                    </a:lnTo>
                    <a:lnTo>
                      <a:pt x="2412288" y="545287"/>
                    </a:lnTo>
                    <a:lnTo>
                      <a:pt x="2410815" y="552450"/>
                    </a:lnTo>
                    <a:lnTo>
                      <a:pt x="2412288" y="559917"/>
                    </a:lnTo>
                    <a:lnTo>
                      <a:pt x="2416340" y="565975"/>
                    </a:lnTo>
                    <a:lnTo>
                      <a:pt x="2422385" y="570014"/>
                    </a:lnTo>
                    <a:lnTo>
                      <a:pt x="2429865" y="571500"/>
                    </a:lnTo>
                    <a:lnTo>
                      <a:pt x="2437346" y="570014"/>
                    </a:lnTo>
                    <a:lnTo>
                      <a:pt x="2443391" y="565975"/>
                    </a:lnTo>
                    <a:lnTo>
                      <a:pt x="2447442" y="559917"/>
                    </a:lnTo>
                    <a:lnTo>
                      <a:pt x="2448915" y="552450"/>
                    </a:lnTo>
                    <a:close/>
                  </a:path>
                  <a:path w="4823459" h="1704975">
                    <a:moveTo>
                      <a:pt x="2448915" y="476250"/>
                    </a:moveTo>
                    <a:lnTo>
                      <a:pt x="2447442" y="469087"/>
                    </a:lnTo>
                    <a:lnTo>
                      <a:pt x="2443391" y="463003"/>
                    </a:lnTo>
                    <a:lnTo>
                      <a:pt x="2437346" y="458774"/>
                    </a:lnTo>
                    <a:lnTo>
                      <a:pt x="2429865" y="457200"/>
                    </a:lnTo>
                    <a:lnTo>
                      <a:pt x="2422385" y="458774"/>
                    </a:lnTo>
                    <a:lnTo>
                      <a:pt x="2416340" y="463003"/>
                    </a:lnTo>
                    <a:lnTo>
                      <a:pt x="2412288" y="469087"/>
                    </a:lnTo>
                    <a:lnTo>
                      <a:pt x="2410815" y="476250"/>
                    </a:lnTo>
                    <a:lnTo>
                      <a:pt x="2412288" y="483717"/>
                    </a:lnTo>
                    <a:lnTo>
                      <a:pt x="2416340" y="489775"/>
                    </a:lnTo>
                    <a:lnTo>
                      <a:pt x="2422385" y="493814"/>
                    </a:lnTo>
                    <a:lnTo>
                      <a:pt x="2429865" y="495300"/>
                    </a:lnTo>
                    <a:lnTo>
                      <a:pt x="2437346" y="493814"/>
                    </a:lnTo>
                    <a:lnTo>
                      <a:pt x="2443391" y="489775"/>
                    </a:lnTo>
                    <a:lnTo>
                      <a:pt x="2447442" y="483717"/>
                    </a:lnTo>
                    <a:lnTo>
                      <a:pt x="2448915" y="476250"/>
                    </a:lnTo>
                    <a:close/>
                  </a:path>
                  <a:path w="4823459" h="1704975">
                    <a:moveTo>
                      <a:pt x="2448915" y="323850"/>
                    </a:moveTo>
                    <a:lnTo>
                      <a:pt x="2447442" y="316369"/>
                    </a:lnTo>
                    <a:lnTo>
                      <a:pt x="2443391" y="310324"/>
                    </a:lnTo>
                    <a:lnTo>
                      <a:pt x="2437346" y="306273"/>
                    </a:lnTo>
                    <a:lnTo>
                      <a:pt x="2429865" y="304800"/>
                    </a:lnTo>
                    <a:lnTo>
                      <a:pt x="2422385" y="306273"/>
                    </a:lnTo>
                    <a:lnTo>
                      <a:pt x="2416340" y="310324"/>
                    </a:lnTo>
                    <a:lnTo>
                      <a:pt x="2412288" y="316369"/>
                    </a:lnTo>
                    <a:lnTo>
                      <a:pt x="2410815" y="323850"/>
                    </a:lnTo>
                    <a:lnTo>
                      <a:pt x="2412288" y="331317"/>
                    </a:lnTo>
                    <a:lnTo>
                      <a:pt x="2416340" y="337375"/>
                    </a:lnTo>
                    <a:lnTo>
                      <a:pt x="2422385" y="341414"/>
                    </a:lnTo>
                    <a:lnTo>
                      <a:pt x="2429865" y="342900"/>
                    </a:lnTo>
                    <a:lnTo>
                      <a:pt x="2437346" y="341414"/>
                    </a:lnTo>
                    <a:lnTo>
                      <a:pt x="2443391" y="337375"/>
                    </a:lnTo>
                    <a:lnTo>
                      <a:pt x="2447442" y="331317"/>
                    </a:lnTo>
                    <a:lnTo>
                      <a:pt x="2448915" y="323850"/>
                    </a:lnTo>
                    <a:close/>
                  </a:path>
                  <a:path w="4823459" h="1704975">
                    <a:moveTo>
                      <a:pt x="2448915" y="247650"/>
                    </a:moveTo>
                    <a:lnTo>
                      <a:pt x="2447442" y="240169"/>
                    </a:lnTo>
                    <a:lnTo>
                      <a:pt x="2443391" y="234124"/>
                    </a:lnTo>
                    <a:lnTo>
                      <a:pt x="2437346" y="230073"/>
                    </a:lnTo>
                    <a:lnTo>
                      <a:pt x="2429865" y="228600"/>
                    </a:lnTo>
                    <a:lnTo>
                      <a:pt x="2422385" y="230073"/>
                    </a:lnTo>
                    <a:lnTo>
                      <a:pt x="2416340" y="234124"/>
                    </a:lnTo>
                    <a:lnTo>
                      <a:pt x="2412288" y="240169"/>
                    </a:lnTo>
                    <a:lnTo>
                      <a:pt x="2410815" y="247650"/>
                    </a:lnTo>
                    <a:lnTo>
                      <a:pt x="2412288" y="255117"/>
                    </a:lnTo>
                    <a:lnTo>
                      <a:pt x="2416340" y="261175"/>
                    </a:lnTo>
                    <a:lnTo>
                      <a:pt x="2422385" y="265214"/>
                    </a:lnTo>
                    <a:lnTo>
                      <a:pt x="2429865" y="266700"/>
                    </a:lnTo>
                    <a:lnTo>
                      <a:pt x="2437346" y="265214"/>
                    </a:lnTo>
                    <a:lnTo>
                      <a:pt x="2443391" y="261175"/>
                    </a:lnTo>
                    <a:lnTo>
                      <a:pt x="2447442" y="255117"/>
                    </a:lnTo>
                    <a:lnTo>
                      <a:pt x="2448915" y="247650"/>
                    </a:lnTo>
                    <a:close/>
                  </a:path>
                  <a:path w="4823459" h="1704975">
                    <a:moveTo>
                      <a:pt x="2448915" y="171450"/>
                    </a:moveTo>
                    <a:lnTo>
                      <a:pt x="2447442" y="163969"/>
                    </a:lnTo>
                    <a:lnTo>
                      <a:pt x="2443391" y="157924"/>
                    </a:lnTo>
                    <a:lnTo>
                      <a:pt x="2437346" y="153873"/>
                    </a:lnTo>
                    <a:lnTo>
                      <a:pt x="2429865" y="152400"/>
                    </a:lnTo>
                    <a:lnTo>
                      <a:pt x="2422385" y="153873"/>
                    </a:lnTo>
                    <a:lnTo>
                      <a:pt x="2416340" y="157924"/>
                    </a:lnTo>
                    <a:lnTo>
                      <a:pt x="2412288" y="163969"/>
                    </a:lnTo>
                    <a:lnTo>
                      <a:pt x="2410815" y="171450"/>
                    </a:lnTo>
                    <a:lnTo>
                      <a:pt x="2412288" y="178917"/>
                    </a:lnTo>
                    <a:lnTo>
                      <a:pt x="2416340" y="184975"/>
                    </a:lnTo>
                    <a:lnTo>
                      <a:pt x="2422385" y="189014"/>
                    </a:lnTo>
                    <a:lnTo>
                      <a:pt x="2429865" y="190500"/>
                    </a:lnTo>
                    <a:lnTo>
                      <a:pt x="2437346" y="189014"/>
                    </a:lnTo>
                    <a:lnTo>
                      <a:pt x="2443391" y="184975"/>
                    </a:lnTo>
                    <a:lnTo>
                      <a:pt x="2447442" y="178917"/>
                    </a:lnTo>
                    <a:lnTo>
                      <a:pt x="2448915" y="171450"/>
                    </a:lnTo>
                    <a:close/>
                  </a:path>
                  <a:path w="4823459" h="1704975">
                    <a:moveTo>
                      <a:pt x="2448915" y="95250"/>
                    </a:moveTo>
                    <a:lnTo>
                      <a:pt x="2447442" y="87769"/>
                    </a:lnTo>
                    <a:lnTo>
                      <a:pt x="2443391" y="81724"/>
                    </a:lnTo>
                    <a:lnTo>
                      <a:pt x="2437346" y="77673"/>
                    </a:lnTo>
                    <a:lnTo>
                      <a:pt x="2429865" y="76200"/>
                    </a:lnTo>
                    <a:lnTo>
                      <a:pt x="2422385" y="77673"/>
                    </a:lnTo>
                    <a:lnTo>
                      <a:pt x="2416340" y="81724"/>
                    </a:lnTo>
                    <a:lnTo>
                      <a:pt x="2412288" y="87769"/>
                    </a:lnTo>
                    <a:lnTo>
                      <a:pt x="2410815" y="95250"/>
                    </a:lnTo>
                    <a:lnTo>
                      <a:pt x="2412288" y="102717"/>
                    </a:lnTo>
                    <a:lnTo>
                      <a:pt x="2416340" y="108775"/>
                    </a:lnTo>
                    <a:lnTo>
                      <a:pt x="2422385" y="112814"/>
                    </a:lnTo>
                    <a:lnTo>
                      <a:pt x="2429865" y="114300"/>
                    </a:lnTo>
                    <a:lnTo>
                      <a:pt x="2437346" y="112814"/>
                    </a:lnTo>
                    <a:lnTo>
                      <a:pt x="2443391" y="108775"/>
                    </a:lnTo>
                    <a:lnTo>
                      <a:pt x="2447442" y="102717"/>
                    </a:lnTo>
                    <a:lnTo>
                      <a:pt x="2448915" y="95250"/>
                    </a:lnTo>
                    <a:close/>
                  </a:path>
                  <a:path w="4823459" h="1704975">
                    <a:moveTo>
                      <a:pt x="2448915" y="19050"/>
                    </a:moveTo>
                    <a:lnTo>
                      <a:pt x="2447442" y="11569"/>
                    </a:lnTo>
                    <a:lnTo>
                      <a:pt x="2443391" y="5524"/>
                    </a:lnTo>
                    <a:lnTo>
                      <a:pt x="2437346" y="1473"/>
                    </a:lnTo>
                    <a:lnTo>
                      <a:pt x="2429865" y="0"/>
                    </a:lnTo>
                    <a:lnTo>
                      <a:pt x="2422385" y="1473"/>
                    </a:lnTo>
                    <a:lnTo>
                      <a:pt x="2416340" y="5524"/>
                    </a:lnTo>
                    <a:lnTo>
                      <a:pt x="2412288" y="11569"/>
                    </a:lnTo>
                    <a:lnTo>
                      <a:pt x="2410815" y="19050"/>
                    </a:lnTo>
                    <a:lnTo>
                      <a:pt x="2412288" y="26517"/>
                    </a:lnTo>
                    <a:lnTo>
                      <a:pt x="2416340" y="32575"/>
                    </a:lnTo>
                    <a:lnTo>
                      <a:pt x="2422385" y="36614"/>
                    </a:lnTo>
                    <a:lnTo>
                      <a:pt x="2429865" y="38100"/>
                    </a:lnTo>
                    <a:lnTo>
                      <a:pt x="2437346" y="36614"/>
                    </a:lnTo>
                    <a:lnTo>
                      <a:pt x="2443391" y="32575"/>
                    </a:lnTo>
                    <a:lnTo>
                      <a:pt x="2447442" y="26517"/>
                    </a:lnTo>
                    <a:lnTo>
                      <a:pt x="2448915" y="19050"/>
                    </a:lnTo>
                    <a:close/>
                  </a:path>
                  <a:path w="4823459" h="1704975">
                    <a:moveTo>
                      <a:pt x="2464155" y="422148"/>
                    </a:moveTo>
                    <a:lnTo>
                      <a:pt x="2462568" y="414667"/>
                    </a:lnTo>
                    <a:lnTo>
                      <a:pt x="2458351" y="408622"/>
                    </a:lnTo>
                    <a:lnTo>
                      <a:pt x="2452255" y="404571"/>
                    </a:lnTo>
                    <a:lnTo>
                      <a:pt x="2448179" y="403745"/>
                    </a:lnTo>
                    <a:lnTo>
                      <a:pt x="2448915" y="400050"/>
                    </a:lnTo>
                    <a:lnTo>
                      <a:pt x="2447442" y="392569"/>
                    </a:lnTo>
                    <a:lnTo>
                      <a:pt x="2443391" y="386524"/>
                    </a:lnTo>
                    <a:lnTo>
                      <a:pt x="2437346" y="382473"/>
                    </a:lnTo>
                    <a:lnTo>
                      <a:pt x="2429865" y="381000"/>
                    </a:lnTo>
                    <a:lnTo>
                      <a:pt x="2422385" y="382473"/>
                    </a:lnTo>
                    <a:lnTo>
                      <a:pt x="2416340" y="386524"/>
                    </a:lnTo>
                    <a:lnTo>
                      <a:pt x="2412288" y="392569"/>
                    </a:lnTo>
                    <a:lnTo>
                      <a:pt x="2410815" y="400050"/>
                    </a:lnTo>
                    <a:lnTo>
                      <a:pt x="2412288" y="407517"/>
                    </a:lnTo>
                    <a:lnTo>
                      <a:pt x="2416340" y="413575"/>
                    </a:lnTo>
                    <a:lnTo>
                      <a:pt x="2422385" y="417614"/>
                    </a:lnTo>
                    <a:lnTo>
                      <a:pt x="2426766" y="418490"/>
                    </a:lnTo>
                    <a:lnTo>
                      <a:pt x="2426055" y="422148"/>
                    </a:lnTo>
                    <a:lnTo>
                      <a:pt x="2427528" y="429615"/>
                    </a:lnTo>
                    <a:lnTo>
                      <a:pt x="2431580" y="435673"/>
                    </a:lnTo>
                    <a:lnTo>
                      <a:pt x="2437625" y="439712"/>
                    </a:lnTo>
                    <a:lnTo>
                      <a:pt x="2445105" y="441198"/>
                    </a:lnTo>
                    <a:lnTo>
                      <a:pt x="2452255" y="439712"/>
                    </a:lnTo>
                    <a:lnTo>
                      <a:pt x="2458351" y="435673"/>
                    </a:lnTo>
                    <a:lnTo>
                      <a:pt x="2462568" y="429615"/>
                    </a:lnTo>
                    <a:lnTo>
                      <a:pt x="2464155" y="422148"/>
                    </a:lnTo>
                    <a:close/>
                  </a:path>
                  <a:path w="4823459" h="1704975">
                    <a:moveTo>
                      <a:pt x="2540355" y="422148"/>
                    </a:moveTo>
                    <a:lnTo>
                      <a:pt x="2538882" y="414667"/>
                    </a:lnTo>
                    <a:lnTo>
                      <a:pt x="2534831" y="408622"/>
                    </a:lnTo>
                    <a:lnTo>
                      <a:pt x="2528786" y="404571"/>
                    </a:lnTo>
                    <a:lnTo>
                      <a:pt x="2521305" y="403098"/>
                    </a:lnTo>
                    <a:lnTo>
                      <a:pt x="2513825" y="404571"/>
                    </a:lnTo>
                    <a:lnTo>
                      <a:pt x="2507780" y="408622"/>
                    </a:lnTo>
                    <a:lnTo>
                      <a:pt x="2503728" y="414667"/>
                    </a:lnTo>
                    <a:lnTo>
                      <a:pt x="2502255" y="422148"/>
                    </a:lnTo>
                    <a:lnTo>
                      <a:pt x="2503728" y="429615"/>
                    </a:lnTo>
                    <a:lnTo>
                      <a:pt x="2507780" y="435673"/>
                    </a:lnTo>
                    <a:lnTo>
                      <a:pt x="2513825" y="439712"/>
                    </a:lnTo>
                    <a:lnTo>
                      <a:pt x="2521305" y="441198"/>
                    </a:lnTo>
                    <a:lnTo>
                      <a:pt x="2528786" y="439712"/>
                    </a:lnTo>
                    <a:lnTo>
                      <a:pt x="2534831" y="435673"/>
                    </a:lnTo>
                    <a:lnTo>
                      <a:pt x="2538882" y="429615"/>
                    </a:lnTo>
                    <a:lnTo>
                      <a:pt x="2540355" y="422148"/>
                    </a:lnTo>
                    <a:close/>
                  </a:path>
                  <a:path w="4823459" h="1704975">
                    <a:moveTo>
                      <a:pt x="2616555" y="422148"/>
                    </a:moveTo>
                    <a:lnTo>
                      <a:pt x="2615082" y="414667"/>
                    </a:lnTo>
                    <a:lnTo>
                      <a:pt x="2611031" y="408622"/>
                    </a:lnTo>
                    <a:lnTo>
                      <a:pt x="2604986" y="404571"/>
                    </a:lnTo>
                    <a:lnTo>
                      <a:pt x="2597505" y="403098"/>
                    </a:lnTo>
                    <a:lnTo>
                      <a:pt x="2590025" y="404571"/>
                    </a:lnTo>
                    <a:lnTo>
                      <a:pt x="2583980" y="408622"/>
                    </a:lnTo>
                    <a:lnTo>
                      <a:pt x="2579928" y="414667"/>
                    </a:lnTo>
                    <a:lnTo>
                      <a:pt x="2578455" y="422148"/>
                    </a:lnTo>
                    <a:lnTo>
                      <a:pt x="2579928" y="429615"/>
                    </a:lnTo>
                    <a:lnTo>
                      <a:pt x="2583980" y="435673"/>
                    </a:lnTo>
                    <a:lnTo>
                      <a:pt x="2590025" y="439712"/>
                    </a:lnTo>
                    <a:lnTo>
                      <a:pt x="2597505" y="441198"/>
                    </a:lnTo>
                    <a:lnTo>
                      <a:pt x="2604986" y="439712"/>
                    </a:lnTo>
                    <a:lnTo>
                      <a:pt x="2611031" y="435673"/>
                    </a:lnTo>
                    <a:lnTo>
                      <a:pt x="2615082" y="429615"/>
                    </a:lnTo>
                    <a:lnTo>
                      <a:pt x="2616555" y="422148"/>
                    </a:lnTo>
                    <a:close/>
                  </a:path>
                  <a:path w="4823459" h="1704975">
                    <a:moveTo>
                      <a:pt x="2692755" y="422148"/>
                    </a:moveTo>
                    <a:lnTo>
                      <a:pt x="2691282" y="414667"/>
                    </a:lnTo>
                    <a:lnTo>
                      <a:pt x="2687231" y="408622"/>
                    </a:lnTo>
                    <a:lnTo>
                      <a:pt x="2681186" y="404571"/>
                    </a:lnTo>
                    <a:lnTo>
                      <a:pt x="2673705" y="403098"/>
                    </a:lnTo>
                    <a:lnTo>
                      <a:pt x="2666225" y="404571"/>
                    </a:lnTo>
                    <a:lnTo>
                      <a:pt x="2660180" y="408622"/>
                    </a:lnTo>
                    <a:lnTo>
                      <a:pt x="2656128" y="414667"/>
                    </a:lnTo>
                    <a:lnTo>
                      <a:pt x="2654655" y="422148"/>
                    </a:lnTo>
                    <a:lnTo>
                      <a:pt x="2656128" y="429615"/>
                    </a:lnTo>
                    <a:lnTo>
                      <a:pt x="2660180" y="435673"/>
                    </a:lnTo>
                    <a:lnTo>
                      <a:pt x="2666225" y="439712"/>
                    </a:lnTo>
                    <a:lnTo>
                      <a:pt x="2673705" y="441198"/>
                    </a:lnTo>
                    <a:lnTo>
                      <a:pt x="2681186" y="439712"/>
                    </a:lnTo>
                    <a:lnTo>
                      <a:pt x="2687231" y="435673"/>
                    </a:lnTo>
                    <a:lnTo>
                      <a:pt x="2691282" y="429615"/>
                    </a:lnTo>
                    <a:lnTo>
                      <a:pt x="2692755" y="422148"/>
                    </a:lnTo>
                    <a:close/>
                  </a:path>
                  <a:path w="4823459" h="1704975">
                    <a:moveTo>
                      <a:pt x="2768955" y="422148"/>
                    </a:moveTo>
                    <a:lnTo>
                      <a:pt x="2767482" y="414667"/>
                    </a:lnTo>
                    <a:lnTo>
                      <a:pt x="2763431" y="408622"/>
                    </a:lnTo>
                    <a:lnTo>
                      <a:pt x="2757386" y="404571"/>
                    </a:lnTo>
                    <a:lnTo>
                      <a:pt x="2749905" y="403098"/>
                    </a:lnTo>
                    <a:lnTo>
                      <a:pt x="2742425" y="404571"/>
                    </a:lnTo>
                    <a:lnTo>
                      <a:pt x="2736380" y="408622"/>
                    </a:lnTo>
                    <a:lnTo>
                      <a:pt x="2732328" y="414667"/>
                    </a:lnTo>
                    <a:lnTo>
                      <a:pt x="2730855" y="422148"/>
                    </a:lnTo>
                    <a:lnTo>
                      <a:pt x="2732328" y="429615"/>
                    </a:lnTo>
                    <a:lnTo>
                      <a:pt x="2736380" y="435673"/>
                    </a:lnTo>
                    <a:lnTo>
                      <a:pt x="2742425" y="439712"/>
                    </a:lnTo>
                    <a:lnTo>
                      <a:pt x="2749905" y="441198"/>
                    </a:lnTo>
                    <a:lnTo>
                      <a:pt x="2757386" y="439712"/>
                    </a:lnTo>
                    <a:lnTo>
                      <a:pt x="2763431" y="435673"/>
                    </a:lnTo>
                    <a:lnTo>
                      <a:pt x="2767482" y="429615"/>
                    </a:lnTo>
                    <a:lnTo>
                      <a:pt x="2768955" y="422148"/>
                    </a:lnTo>
                    <a:close/>
                  </a:path>
                  <a:path w="4823459" h="1704975">
                    <a:moveTo>
                      <a:pt x="2845155" y="422148"/>
                    </a:moveTo>
                    <a:lnTo>
                      <a:pt x="2843682" y="414667"/>
                    </a:lnTo>
                    <a:lnTo>
                      <a:pt x="2839631" y="408622"/>
                    </a:lnTo>
                    <a:lnTo>
                      <a:pt x="2833586" y="404571"/>
                    </a:lnTo>
                    <a:lnTo>
                      <a:pt x="2826105" y="403098"/>
                    </a:lnTo>
                    <a:lnTo>
                      <a:pt x="2818625" y="404571"/>
                    </a:lnTo>
                    <a:lnTo>
                      <a:pt x="2812580" y="408622"/>
                    </a:lnTo>
                    <a:lnTo>
                      <a:pt x="2808528" y="414667"/>
                    </a:lnTo>
                    <a:lnTo>
                      <a:pt x="2807055" y="422148"/>
                    </a:lnTo>
                    <a:lnTo>
                      <a:pt x="2808528" y="429615"/>
                    </a:lnTo>
                    <a:lnTo>
                      <a:pt x="2812580" y="435673"/>
                    </a:lnTo>
                    <a:lnTo>
                      <a:pt x="2818625" y="439712"/>
                    </a:lnTo>
                    <a:lnTo>
                      <a:pt x="2826105" y="441198"/>
                    </a:lnTo>
                    <a:lnTo>
                      <a:pt x="2833586" y="439712"/>
                    </a:lnTo>
                    <a:lnTo>
                      <a:pt x="2839631" y="435673"/>
                    </a:lnTo>
                    <a:lnTo>
                      <a:pt x="2843682" y="429615"/>
                    </a:lnTo>
                    <a:lnTo>
                      <a:pt x="2845155" y="422148"/>
                    </a:lnTo>
                    <a:close/>
                  </a:path>
                  <a:path w="4823459" h="1704975">
                    <a:moveTo>
                      <a:pt x="2921355" y="422148"/>
                    </a:moveTo>
                    <a:lnTo>
                      <a:pt x="2919882" y="414667"/>
                    </a:lnTo>
                    <a:lnTo>
                      <a:pt x="2915831" y="408622"/>
                    </a:lnTo>
                    <a:lnTo>
                      <a:pt x="2909786" y="404571"/>
                    </a:lnTo>
                    <a:lnTo>
                      <a:pt x="2902305" y="403098"/>
                    </a:lnTo>
                    <a:lnTo>
                      <a:pt x="2894825" y="404571"/>
                    </a:lnTo>
                    <a:lnTo>
                      <a:pt x="2888780" y="408622"/>
                    </a:lnTo>
                    <a:lnTo>
                      <a:pt x="2884728" y="414667"/>
                    </a:lnTo>
                    <a:lnTo>
                      <a:pt x="2883255" y="422148"/>
                    </a:lnTo>
                    <a:lnTo>
                      <a:pt x="2884728" y="429615"/>
                    </a:lnTo>
                    <a:lnTo>
                      <a:pt x="2888780" y="435673"/>
                    </a:lnTo>
                    <a:lnTo>
                      <a:pt x="2894825" y="439712"/>
                    </a:lnTo>
                    <a:lnTo>
                      <a:pt x="2902305" y="441198"/>
                    </a:lnTo>
                    <a:lnTo>
                      <a:pt x="2909786" y="439712"/>
                    </a:lnTo>
                    <a:lnTo>
                      <a:pt x="2915831" y="435673"/>
                    </a:lnTo>
                    <a:lnTo>
                      <a:pt x="2919882" y="429615"/>
                    </a:lnTo>
                    <a:lnTo>
                      <a:pt x="2921355" y="422148"/>
                    </a:lnTo>
                    <a:close/>
                  </a:path>
                  <a:path w="4823459" h="1704975">
                    <a:moveTo>
                      <a:pt x="2997555" y="422148"/>
                    </a:moveTo>
                    <a:lnTo>
                      <a:pt x="2996082" y="414667"/>
                    </a:lnTo>
                    <a:lnTo>
                      <a:pt x="2992031" y="408622"/>
                    </a:lnTo>
                    <a:lnTo>
                      <a:pt x="2985986" y="404571"/>
                    </a:lnTo>
                    <a:lnTo>
                      <a:pt x="2978505" y="403098"/>
                    </a:lnTo>
                    <a:lnTo>
                      <a:pt x="2971025" y="404571"/>
                    </a:lnTo>
                    <a:lnTo>
                      <a:pt x="2964980" y="408622"/>
                    </a:lnTo>
                    <a:lnTo>
                      <a:pt x="2960928" y="414667"/>
                    </a:lnTo>
                    <a:lnTo>
                      <a:pt x="2959455" y="422148"/>
                    </a:lnTo>
                    <a:lnTo>
                      <a:pt x="2960928" y="429615"/>
                    </a:lnTo>
                    <a:lnTo>
                      <a:pt x="2964980" y="435673"/>
                    </a:lnTo>
                    <a:lnTo>
                      <a:pt x="2971025" y="439712"/>
                    </a:lnTo>
                    <a:lnTo>
                      <a:pt x="2978505" y="441198"/>
                    </a:lnTo>
                    <a:lnTo>
                      <a:pt x="2985986" y="439712"/>
                    </a:lnTo>
                    <a:lnTo>
                      <a:pt x="2992031" y="435673"/>
                    </a:lnTo>
                    <a:lnTo>
                      <a:pt x="2996082" y="429615"/>
                    </a:lnTo>
                    <a:lnTo>
                      <a:pt x="2997555" y="422148"/>
                    </a:lnTo>
                    <a:close/>
                  </a:path>
                  <a:path w="4823459" h="1704975">
                    <a:moveTo>
                      <a:pt x="3073755" y="422148"/>
                    </a:moveTo>
                    <a:lnTo>
                      <a:pt x="3072282" y="414667"/>
                    </a:lnTo>
                    <a:lnTo>
                      <a:pt x="3068231" y="408622"/>
                    </a:lnTo>
                    <a:lnTo>
                      <a:pt x="3062186" y="404571"/>
                    </a:lnTo>
                    <a:lnTo>
                      <a:pt x="3054705" y="403098"/>
                    </a:lnTo>
                    <a:lnTo>
                      <a:pt x="3047225" y="404571"/>
                    </a:lnTo>
                    <a:lnTo>
                      <a:pt x="3041180" y="408622"/>
                    </a:lnTo>
                    <a:lnTo>
                      <a:pt x="3037128" y="414667"/>
                    </a:lnTo>
                    <a:lnTo>
                      <a:pt x="3035655" y="422148"/>
                    </a:lnTo>
                    <a:lnTo>
                      <a:pt x="3037128" y="429615"/>
                    </a:lnTo>
                    <a:lnTo>
                      <a:pt x="3041180" y="435673"/>
                    </a:lnTo>
                    <a:lnTo>
                      <a:pt x="3047225" y="439712"/>
                    </a:lnTo>
                    <a:lnTo>
                      <a:pt x="3054705" y="441198"/>
                    </a:lnTo>
                    <a:lnTo>
                      <a:pt x="3062186" y="439712"/>
                    </a:lnTo>
                    <a:lnTo>
                      <a:pt x="3068231" y="435673"/>
                    </a:lnTo>
                    <a:lnTo>
                      <a:pt x="3072282" y="429615"/>
                    </a:lnTo>
                    <a:lnTo>
                      <a:pt x="3073755" y="422148"/>
                    </a:lnTo>
                    <a:close/>
                  </a:path>
                  <a:path w="4823459" h="1704975">
                    <a:moveTo>
                      <a:pt x="3120110" y="1697113"/>
                    </a:moveTo>
                    <a:lnTo>
                      <a:pt x="3118637" y="1652816"/>
                    </a:lnTo>
                    <a:lnTo>
                      <a:pt x="3113735" y="1605762"/>
                    </a:lnTo>
                    <a:lnTo>
                      <a:pt x="3105620" y="1559712"/>
                    </a:lnTo>
                    <a:lnTo>
                      <a:pt x="3094418" y="1514805"/>
                    </a:lnTo>
                    <a:lnTo>
                      <a:pt x="3080245" y="1471142"/>
                    </a:lnTo>
                    <a:lnTo>
                      <a:pt x="3063214" y="1428838"/>
                    </a:lnTo>
                    <a:lnTo>
                      <a:pt x="3043440" y="1388008"/>
                    </a:lnTo>
                    <a:lnTo>
                      <a:pt x="3021038" y="1348765"/>
                    </a:lnTo>
                    <a:lnTo>
                      <a:pt x="2996133" y="1311224"/>
                    </a:lnTo>
                    <a:lnTo>
                      <a:pt x="2968828" y="1275499"/>
                    </a:lnTo>
                    <a:lnTo>
                      <a:pt x="2939237" y="1241717"/>
                    </a:lnTo>
                    <a:lnTo>
                      <a:pt x="2907487" y="1209979"/>
                    </a:lnTo>
                    <a:lnTo>
                      <a:pt x="2873679" y="1180401"/>
                    </a:lnTo>
                    <a:lnTo>
                      <a:pt x="2837942" y="1153096"/>
                    </a:lnTo>
                    <a:lnTo>
                      <a:pt x="2800375" y="1128191"/>
                    </a:lnTo>
                    <a:lnTo>
                      <a:pt x="2761284" y="1105877"/>
                    </a:lnTo>
                    <a:lnTo>
                      <a:pt x="2761107" y="1105776"/>
                    </a:lnTo>
                    <a:lnTo>
                      <a:pt x="2720403" y="1086065"/>
                    </a:lnTo>
                    <a:lnTo>
                      <a:pt x="2678049" y="1068997"/>
                    </a:lnTo>
                    <a:lnTo>
                      <a:pt x="2634221" y="1054735"/>
                    </a:lnTo>
                    <a:lnTo>
                      <a:pt x="2589288" y="1043495"/>
                    </a:lnTo>
                    <a:lnTo>
                      <a:pt x="2543213" y="1035329"/>
                    </a:lnTo>
                    <a:lnTo>
                      <a:pt x="2496134" y="1030363"/>
                    </a:lnTo>
                    <a:lnTo>
                      <a:pt x="2455011" y="1028928"/>
                    </a:lnTo>
                    <a:lnTo>
                      <a:pt x="2452725" y="1028852"/>
                    </a:lnTo>
                    <a:lnTo>
                      <a:pt x="2449677" y="1028750"/>
                    </a:lnTo>
                    <a:lnTo>
                      <a:pt x="2451201" y="1029462"/>
                    </a:lnTo>
                    <a:lnTo>
                      <a:pt x="2451354" y="1029538"/>
                    </a:lnTo>
                    <a:lnTo>
                      <a:pt x="2449677" y="1028750"/>
                    </a:lnTo>
                    <a:lnTo>
                      <a:pt x="2448153" y="1028700"/>
                    </a:lnTo>
                    <a:lnTo>
                      <a:pt x="2400922" y="1030300"/>
                    </a:lnTo>
                    <a:lnTo>
                      <a:pt x="2353233" y="1035278"/>
                    </a:lnTo>
                    <a:lnTo>
                      <a:pt x="2307221" y="1043419"/>
                    </a:lnTo>
                    <a:lnTo>
                      <a:pt x="2262314" y="1054658"/>
                    </a:lnTo>
                    <a:lnTo>
                      <a:pt x="2218652" y="1068870"/>
                    </a:lnTo>
                    <a:lnTo>
                      <a:pt x="2176335" y="1085926"/>
                    </a:lnTo>
                    <a:lnTo>
                      <a:pt x="2135492" y="1105725"/>
                    </a:lnTo>
                    <a:lnTo>
                      <a:pt x="2096223" y="1128153"/>
                    </a:lnTo>
                    <a:lnTo>
                      <a:pt x="2058657" y="1153083"/>
                    </a:lnTo>
                    <a:lnTo>
                      <a:pt x="2022906" y="1180401"/>
                    </a:lnTo>
                    <a:lnTo>
                      <a:pt x="1989086" y="1210005"/>
                    </a:lnTo>
                    <a:lnTo>
                      <a:pt x="1957311" y="1241767"/>
                    </a:lnTo>
                    <a:lnTo>
                      <a:pt x="1927694" y="1275575"/>
                    </a:lnTo>
                    <a:lnTo>
                      <a:pt x="1900364" y="1311313"/>
                    </a:lnTo>
                    <a:lnTo>
                      <a:pt x="1875320" y="1349044"/>
                    </a:lnTo>
                    <a:lnTo>
                      <a:pt x="1852955" y="1388211"/>
                    </a:lnTo>
                    <a:lnTo>
                      <a:pt x="1833206" y="1428953"/>
                    </a:lnTo>
                    <a:lnTo>
                      <a:pt x="1816138" y="1471269"/>
                    </a:lnTo>
                    <a:lnTo>
                      <a:pt x="1801939" y="1514919"/>
                    </a:lnTo>
                    <a:lnTo>
                      <a:pt x="1790725" y="1559814"/>
                    </a:lnTo>
                    <a:lnTo>
                      <a:pt x="1782597" y="1605838"/>
                    </a:lnTo>
                    <a:lnTo>
                      <a:pt x="1777669" y="1652866"/>
                    </a:lnTo>
                    <a:lnTo>
                      <a:pt x="1776196" y="1696885"/>
                    </a:lnTo>
                    <a:lnTo>
                      <a:pt x="1776069" y="1700784"/>
                    </a:lnTo>
                    <a:lnTo>
                      <a:pt x="1776069" y="1704594"/>
                    </a:lnTo>
                    <a:lnTo>
                      <a:pt x="1788414" y="1704594"/>
                    </a:lnTo>
                    <a:lnTo>
                      <a:pt x="1788261" y="1700784"/>
                    </a:lnTo>
                    <a:lnTo>
                      <a:pt x="1790052" y="1653679"/>
                    </a:lnTo>
                    <a:lnTo>
                      <a:pt x="1795068" y="1607464"/>
                    </a:lnTo>
                    <a:lnTo>
                      <a:pt x="1803184" y="1562252"/>
                    </a:lnTo>
                    <a:lnTo>
                      <a:pt x="1814296" y="1518158"/>
                    </a:lnTo>
                    <a:lnTo>
                      <a:pt x="1828292" y="1475320"/>
                    </a:lnTo>
                    <a:lnTo>
                      <a:pt x="1845030" y="1433868"/>
                    </a:lnTo>
                    <a:lnTo>
                      <a:pt x="1864423" y="1393863"/>
                    </a:lnTo>
                    <a:lnTo>
                      <a:pt x="1886381" y="1355407"/>
                    </a:lnTo>
                    <a:lnTo>
                      <a:pt x="1910943" y="1318361"/>
                    </a:lnTo>
                    <a:lnTo>
                      <a:pt x="1937715" y="1283322"/>
                    </a:lnTo>
                    <a:lnTo>
                      <a:pt x="1966709" y="1250175"/>
                    </a:lnTo>
                    <a:lnTo>
                      <a:pt x="1997824" y="1219047"/>
                    </a:lnTo>
                    <a:lnTo>
                      <a:pt x="2030933" y="1190040"/>
                    </a:lnTo>
                    <a:lnTo>
                      <a:pt x="2065947" y="1163281"/>
                    </a:lnTo>
                    <a:lnTo>
                      <a:pt x="2102739" y="1138872"/>
                    </a:lnTo>
                    <a:lnTo>
                      <a:pt x="2141207" y="1116914"/>
                    </a:lnTo>
                    <a:lnTo>
                      <a:pt x="2181250" y="1097546"/>
                    </a:lnTo>
                    <a:lnTo>
                      <a:pt x="2222741" y="1080858"/>
                    </a:lnTo>
                    <a:lnTo>
                      <a:pt x="2265235" y="1067079"/>
                    </a:lnTo>
                    <a:lnTo>
                      <a:pt x="2265578" y="1066965"/>
                    </a:lnTo>
                    <a:lnTo>
                      <a:pt x="2309355" y="1056055"/>
                    </a:lnTo>
                    <a:lnTo>
                      <a:pt x="2309647" y="1055992"/>
                    </a:lnTo>
                    <a:lnTo>
                      <a:pt x="2354630" y="1048067"/>
                    </a:lnTo>
                    <a:lnTo>
                      <a:pt x="2354834" y="1048029"/>
                    </a:lnTo>
                    <a:lnTo>
                      <a:pt x="2400084" y="1043317"/>
                    </a:lnTo>
                    <a:lnTo>
                      <a:pt x="2400922" y="1043228"/>
                    </a:lnTo>
                    <a:lnTo>
                      <a:pt x="2441295" y="1041869"/>
                    </a:lnTo>
                    <a:lnTo>
                      <a:pt x="2442057" y="1041844"/>
                    </a:lnTo>
                    <a:lnTo>
                      <a:pt x="2444343" y="1041768"/>
                    </a:lnTo>
                    <a:lnTo>
                      <a:pt x="2448153" y="1041654"/>
                    </a:lnTo>
                    <a:lnTo>
                      <a:pt x="2451354" y="1041755"/>
                    </a:lnTo>
                    <a:lnTo>
                      <a:pt x="2454249" y="1041857"/>
                    </a:lnTo>
                    <a:lnTo>
                      <a:pt x="2495296" y="1043228"/>
                    </a:lnTo>
                    <a:lnTo>
                      <a:pt x="2541524" y="1048054"/>
                    </a:lnTo>
                    <a:lnTo>
                      <a:pt x="2586748" y="1056017"/>
                    </a:lnTo>
                    <a:lnTo>
                      <a:pt x="2630830" y="1066990"/>
                    </a:lnTo>
                    <a:lnTo>
                      <a:pt x="2673693" y="1080884"/>
                    </a:lnTo>
                    <a:lnTo>
                      <a:pt x="2715196" y="1097584"/>
                    </a:lnTo>
                    <a:lnTo>
                      <a:pt x="2755252" y="1116952"/>
                    </a:lnTo>
                    <a:lnTo>
                      <a:pt x="2793733" y="1138910"/>
                    </a:lnTo>
                    <a:lnTo>
                      <a:pt x="2830538" y="1163320"/>
                    </a:lnTo>
                    <a:lnTo>
                      <a:pt x="2865564" y="1190078"/>
                    </a:lnTo>
                    <a:lnTo>
                      <a:pt x="2898686" y="1219085"/>
                    </a:lnTo>
                    <a:lnTo>
                      <a:pt x="2929801" y="1250213"/>
                    </a:lnTo>
                    <a:lnTo>
                      <a:pt x="2958795" y="1283347"/>
                    </a:lnTo>
                    <a:lnTo>
                      <a:pt x="2985566" y="1318387"/>
                    </a:lnTo>
                    <a:lnTo>
                      <a:pt x="3009989" y="1355217"/>
                    </a:lnTo>
                    <a:lnTo>
                      <a:pt x="3031972" y="1393710"/>
                    </a:lnTo>
                    <a:lnTo>
                      <a:pt x="3051403" y="1433779"/>
                    </a:lnTo>
                    <a:lnTo>
                      <a:pt x="3068155" y="1475308"/>
                    </a:lnTo>
                    <a:lnTo>
                      <a:pt x="3082137" y="1518170"/>
                    </a:lnTo>
                    <a:lnTo>
                      <a:pt x="3093224" y="1562265"/>
                    </a:lnTo>
                    <a:lnTo>
                      <a:pt x="3101302" y="1607464"/>
                    </a:lnTo>
                    <a:lnTo>
                      <a:pt x="3106293" y="1653679"/>
                    </a:lnTo>
                    <a:lnTo>
                      <a:pt x="3108045" y="1700784"/>
                    </a:lnTo>
                    <a:lnTo>
                      <a:pt x="3107906" y="1704594"/>
                    </a:lnTo>
                    <a:lnTo>
                      <a:pt x="3108045" y="1704594"/>
                    </a:lnTo>
                    <a:lnTo>
                      <a:pt x="3120110" y="1704594"/>
                    </a:lnTo>
                    <a:lnTo>
                      <a:pt x="3120110" y="1697113"/>
                    </a:lnTo>
                    <a:close/>
                  </a:path>
                  <a:path w="4823459" h="1704975">
                    <a:moveTo>
                      <a:pt x="3149955" y="422148"/>
                    </a:moveTo>
                    <a:lnTo>
                      <a:pt x="3148482" y="414667"/>
                    </a:lnTo>
                    <a:lnTo>
                      <a:pt x="3144431" y="408622"/>
                    </a:lnTo>
                    <a:lnTo>
                      <a:pt x="3138386" y="404571"/>
                    </a:lnTo>
                    <a:lnTo>
                      <a:pt x="3130905" y="403098"/>
                    </a:lnTo>
                    <a:lnTo>
                      <a:pt x="3123425" y="404571"/>
                    </a:lnTo>
                    <a:lnTo>
                      <a:pt x="3117380" y="408622"/>
                    </a:lnTo>
                    <a:lnTo>
                      <a:pt x="3113328" y="414667"/>
                    </a:lnTo>
                    <a:lnTo>
                      <a:pt x="3111855" y="422148"/>
                    </a:lnTo>
                    <a:lnTo>
                      <a:pt x="3113328" y="429615"/>
                    </a:lnTo>
                    <a:lnTo>
                      <a:pt x="3117380" y="435673"/>
                    </a:lnTo>
                    <a:lnTo>
                      <a:pt x="3123425" y="439712"/>
                    </a:lnTo>
                    <a:lnTo>
                      <a:pt x="3130905" y="441198"/>
                    </a:lnTo>
                    <a:lnTo>
                      <a:pt x="3138386" y="439712"/>
                    </a:lnTo>
                    <a:lnTo>
                      <a:pt x="3144431" y="435673"/>
                    </a:lnTo>
                    <a:lnTo>
                      <a:pt x="3148482" y="429615"/>
                    </a:lnTo>
                    <a:lnTo>
                      <a:pt x="3149955" y="422148"/>
                    </a:lnTo>
                    <a:close/>
                  </a:path>
                  <a:path w="4823459" h="1704975">
                    <a:moveTo>
                      <a:pt x="3226155" y="422148"/>
                    </a:moveTo>
                    <a:lnTo>
                      <a:pt x="3224682" y="414667"/>
                    </a:lnTo>
                    <a:lnTo>
                      <a:pt x="3220631" y="408622"/>
                    </a:lnTo>
                    <a:lnTo>
                      <a:pt x="3214586" y="404571"/>
                    </a:lnTo>
                    <a:lnTo>
                      <a:pt x="3207105" y="403098"/>
                    </a:lnTo>
                    <a:lnTo>
                      <a:pt x="3199625" y="404571"/>
                    </a:lnTo>
                    <a:lnTo>
                      <a:pt x="3193580" y="408622"/>
                    </a:lnTo>
                    <a:lnTo>
                      <a:pt x="3189528" y="414667"/>
                    </a:lnTo>
                    <a:lnTo>
                      <a:pt x="3188055" y="422148"/>
                    </a:lnTo>
                    <a:lnTo>
                      <a:pt x="3189528" y="429615"/>
                    </a:lnTo>
                    <a:lnTo>
                      <a:pt x="3193580" y="435673"/>
                    </a:lnTo>
                    <a:lnTo>
                      <a:pt x="3199625" y="439712"/>
                    </a:lnTo>
                    <a:lnTo>
                      <a:pt x="3207105" y="441198"/>
                    </a:lnTo>
                    <a:lnTo>
                      <a:pt x="3214586" y="439712"/>
                    </a:lnTo>
                    <a:lnTo>
                      <a:pt x="3220631" y="435673"/>
                    </a:lnTo>
                    <a:lnTo>
                      <a:pt x="3224682" y="429615"/>
                    </a:lnTo>
                    <a:lnTo>
                      <a:pt x="3226155" y="422148"/>
                    </a:lnTo>
                    <a:close/>
                  </a:path>
                  <a:path w="4823459" h="1704975">
                    <a:moveTo>
                      <a:pt x="3302355" y="422148"/>
                    </a:moveTo>
                    <a:lnTo>
                      <a:pt x="3300882" y="414667"/>
                    </a:lnTo>
                    <a:lnTo>
                      <a:pt x="3296831" y="408622"/>
                    </a:lnTo>
                    <a:lnTo>
                      <a:pt x="3290786" y="404571"/>
                    </a:lnTo>
                    <a:lnTo>
                      <a:pt x="3283305" y="403098"/>
                    </a:lnTo>
                    <a:lnTo>
                      <a:pt x="3275825" y="404571"/>
                    </a:lnTo>
                    <a:lnTo>
                      <a:pt x="3269780" y="408622"/>
                    </a:lnTo>
                    <a:lnTo>
                      <a:pt x="3265728" y="414667"/>
                    </a:lnTo>
                    <a:lnTo>
                      <a:pt x="3264255" y="422148"/>
                    </a:lnTo>
                    <a:lnTo>
                      <a:pt x="3265728" y="429615"/>
                    </a:lnTo>
                    <a:lnTo>
                      <a:pt x="3269780" y="435673"/>
                    </a:lnTo>
                    <a:lnTo>
                      <a:pt x="3275825" y="439712"/>
                    </a:lnTo>
                    <a:lnTo>
                      <a:pt x="3283305" y="441198"/>
                    </a:lnTo>
                    <a:lnTo>
                      <a:pt x="3290786" y="439712"/>
                    </a:lnTo>
                    <a:lnTo>
                      <a:pt x="3296831" y="435673"/>
                    </a:lnTo>
                    <a:lnTo>
                      <a:pt x="3300882" y="429615"/>
                    </a:lnTo>
                    <a:lnTo>
                      <a:pt x="3302355" y="422148"/>
                    </a:lnTo>
                    <a:close/>
                  </a:path>
                  <a:path w="4823459" h="1704975">
                    <a:moveTo>
                      <a:pt x="3338169" y="1629156"/>
                    </a:moveTo>
                    <a:lnTo>
                      <a:pt x="3335121" y="1514856"/>
                    </a:lnTo>
                    <a:lnTo>
                      <a:pt x="3222345" y="1575054"/>
                    </a:lnTo>
                    <a:lnTo>
                      <a:pt x="3338169" y="1629156"/>
                    </a:lnTo>
                    <a:close/>
                  </a:path>
                  <a:path w="4823459" h="1704975">
                    <a:moveTo>
                      <a:pt x="3378555" y="422148"/>
                    </a:moveTo>
                    <a:lnTo>
                      <a:pt x="3377082" y="414667"/>
                    </a:lnTo>
                    <a:lnTo>
                      <a:pt x="3373031" y="408622"/>
                    </a:lnTo>
                    <a:lnTo>
                      <a:pt x="3366986" y="404571"/>
                    </a:lnTo>
                    <a:lnTo>
                      <a:pt x="3359505" y="403098"/>
                    </a:lnTo>
                    <a:lnTo>
                      <a:pt x="3352025" y="404571"/>
                    </a:lnTo>
                    <a:lnTo>
                      <a:pt x="3345980" y="408622"/>
                    </a:lnTo>
                    <a:lnTo>
                      <a:pt x="3341928" y="414667"/>
                    </a:lnTo>
                    <a:lnTo>
                      <a:pt x="3340455" y="422148"/>
                    </a:lnTo>
                    <a:lnTo>
                      <a:pt x="3341928" y="429615"/>
                    </a:lnTo>
                    <a:lnTo>
                      <a:pt x="3345980" y="435673"/>
                    </a:lnTo>
                    <a:lnTo>
                      <a:pt x="3352025" y="439712"/>
                    </a:lnTo>
                    <a:lnTo>
                      <a:pt x="3359505" y="441198"/>
                    </a:lnTo>
                    <a:lnTo>
                      <a:pt x="3366986" y="439712"/>
                    </a:lnTo>
                    <a:lnTo>
                      <a:pt x="3373031" y="435673"/>
                    </a:lnTo>
                    <a:lnTo>
                      <a:pt x="3377082" y="429615"/>
                    </a:lnTo>
                    <a:lnTo>
                      <a:pt x="3378555" y="422148"/>
                    </a:lnTo>
                    <a:close/>
                  </a:path>
                  <a:path w="4823459" h="1704975">
                    <a:moveTo>
                      <a:pt x="3403701" y="1568196"/>
                    </a:moveTo>
                    <a:lnTo>
                      <a:pt x="3401669" y="1560728"/>
                    </a:lnTo>
                    <a:lnTo>
                      <a:pt x="3397135" y="1554759"/>
                    </a:lnTo>
                    <a:lnTo>
                      <a:pt x="3390735" y="1550936"/>
                    </a:lnTo>
                    <a:lnTo>
                      <a:pt x="3383127" y="1549908"/>
                    </a:lnTo>
                    <a:lnTo>
                      <a:pt x="3376104" y="1551813"/>
                    </a:lnTo>
                    <a:lnTo>
                      <a:pt x="3370364" y="1556092"/>
                    </a:lnTo>
                    <a:lnTo>
                      <a:pt x="3366630" y="1562227"/>
                    </a:lnTo>
                    <a:lnTo>
                      <a:pt x="3365601" y="1569720"/>
                    </a:lnTo>
                    <a:lnTo>
                      <a:pt x="3367201" y="1577174"/>
                    </a:lnTo>
                    <a:lnTo>
                      <a:pt x="3371507" y="1583143"/>
                    </a:lnTo>
                    <a:lnTo>
                      <a:pt x="3377819" y="1586966"/>
                    </a:lnTo>
                    <a:lnTo>
                      <a:pt x="3385413" y="1588008"/>
                    </a:lnTo>
                    <a:lnTo>
                      <a:pt x="3392767" y="1585976"/>
                    </a:lnTo>
                    <a:lnTo>
                      <a:pt x="3398558" y="1581531"/>
                    </a:lnTo>
                    <a:lnTo>
                      <a:pt x="3402342" y="1575358"/>
                    </a:lnTo>
                    <a:lnTo>
                      <a:pt x="3403701" y="1568196"/>
                    </a:lnTo>
                    <a:close/>
                  </a:path>
                  <a:path w="4823459" h="1704975">
                    <a:moveTo>
                      <a:pt x="3454755" y="422148"/>
                    </a:moveTo>
                    <a:lnTo>
                      <a:pt x="3453282" y="414667"/>
                    </a:lnTo>
                    <a:lnTo>
                      <a:pt x="3449231" y="408622"/>
                    </a:lnTo>
                    <a:lnTo>
                      <a:pt x="3443186" y="404571"/>
                    </a:lnTo>
                    <a:lnTo>
                      <a:pt x="3435705" y="403098"/>
                    </a:lnTo>
                    <a:lnTo>
                      <a:pt x="3428225" y="404571"/>
                    </a:lnTo>
                    <a:lnTo>
                      <a:pt x="3422180" y="408622"/>
                    </a:lnTo>
                    <a:lnTo>
                      <a:pt x="3418128" y="414667"/>
                    </a:lnTo>
                    <a:lnTo>
                      <a:pt x="3416655" y="422148"/>
                    </a:lnTo>
                    <a:lnTo>
                      <a:pt x="3418128" y="429615"/>
                    </a:lnTo>
                    <a:lnTo>
                      <a:pt x="3422180" y="435673"/>
                    </a:lnTo>
                    <a:lnTo>
                      <a:pt x="3428225" y="439712"/>
                    </a:lnTo>
                    <a:lnTo>
                      <a:pt x="3435705" y="441198"/>
                    </a:lnTo>
                    <a:lnTo>
                      <a:pt x="3443186" y="439712"/>
                    </a:lnTo>
                    <a:lnTo>
                      <a:pt x="3449231" y="435673"/>
                    </a:lnTo>
                    <a:lnTo>
                      <a:pt x="3453282" y="429615"/>
                    </a:lnTo>
                    <a:lnTo>
                      <a:pt x="3454755" y="422148"/>
                    </a:lnTo>
                    <a:close/>
                  </a:path>
                  <a:path w="4823459" h="1704975">
                    <a:moveTo>
                      <a:pt x="3479139" y="1560576"/>
                    </a:moveTo>
                    <a:lnTo>
                      <a:pt x="3476993" y="1553222"/>
                    </a:lnTo>
                    <a:lnTo>
                      <a:pt x="3472281" y="1547520"/>
                    </a:lnTo>
                    <a:lnTo>
                      <a:pt x="3465855" y="1543964"/>
                    </a:lnTo>
                    <a:lnTo>
                      <a:pt x="3458565" y="1543050"/>
                    </a:lnTo>
                    <a:lnTo>
                      <a:pt x="3451225" y="1545526"/>
                    </a:lnTo>
                    <a:lnTo>
                      <a:pt x="3445522" y="1550289"/>
                    </a:lnTo>
                    <a:lnTo>
                      <a:pt x="3441954" y="1556766"/>
                    </a:lnTo>
                    <a:lnTo>
                      <a:pt x="3441039" y="1564386"/>
                    </a:lnTo>
                    <a:lnTo>
                      <a:pt x="3443516" y="1571713"/>
                    </a:lnTo>
                    <a:lnTo>
                      <a:pt x="3448278" y="1577340"/>
                    </a:lnTo>
                    <a:lnTo>
                      <a:pt x="3454755" y="1580667"/>
                    </a:lnTo>
                    <a:lnTo>
                      <a:pt x="3462375" y="1581150"/>
                    </a:lnTo>
                    <a:lnTo>
                      <a:pt x="3469716" y="1579003"/>
                    </a:lnTo>
                    <a:lnTo>
                      <a:pt x="3475329" y="1574292"/>
                    </a:lnTo>
                    <a:lnTo>
                      <a:pt x="3478669" y="1567853"/>
                    </a:lnTo>
                    <a:lnTo>
                      <a:pt x="3479139" y="1560576"/>
                    </a:lnTo>
                    <a:close/>
                  </a:path>
                  <a:path w="4823459" h="1704975">
                    <a:moveTo>
                      <a:pt x="3530955" y="422148"/>
                    </a:moveTo>
                    <a:lnTo>
                      <a:pt x="3529482" y="414667"/>
                    </a:lnTo>
                    <a:lnTo>
                      <a:pt x="3525431" y="408622"/>
                    </a:lnTo>
                    <a:lnTo>
                      <a:pt x="3519386" y="404571"/>
                    </a:lnTo>
                    <a:lnTo>
                      <a:pt x="3511905" y="403098"/>
                    </a:lnTo>
                    <a:lnTo>
                      <a:pt x="3504755" y="404571"/>
                    </a:lnTo>
                    <a:lnTo>
                      <a:pt x="3498672" y="408622"/>
                    </a:lnTo>
                    <a:lnTo>
                      <a:pt x="3494443" y="414667"/>
                    </a:lnTo>
                    <a:lnTo>
                      <a:pt x="3492855" y="422148"/>
                    </a:lnTo>
                    <a:lnTo>
                      <a:pt x="3494443" y="429615"/>
                    </a:lnTo>
                    <a:lnTo>
                      <a:pt x="3498672" y="435673"/>
                    </a:lnTo>
                    <a:lnTo>
                      <a:pt x="3504755" y="439712"/>
                    </a:lnTo>
                    <a:lnTo>
                      <a:pt x="3511905" y="441198"/>
                    </a:lnTo>
                    <a:lnTo>
                      <a:pt x="3519386" y="439712"/>
                    </a:lnTo>
                    <a:lnTo>
                      <a:pt x="3525431" y="435673"/>
                    </a:lnTo>
                    <a:lnTo>
                      <a:pt x="3529482" y="429615"/>
                    </a:lnTo>
                    <a:lnTo>
                      <a:pt x="3530955" y="422148"/>
                    </a:lnTo>
                    <a:close/>
                  </a:path>
                  <a:path w="4823459" h="1704975">
                    <a:moveTo>
                      <a:pt x="3554577" y="1550670"/>
                    </a:moveTo>
                    <a:lnTo>
                      <a:pt x="3552418" y="1543773"/>
                    </a:lnTo>
                    <a:lnTo>
                      <a:pt x="3547618" y="1538376"/>
                    </a:lnTo>
                    <a:lnTo>
                      <a:pt x="3540963" y="1535125"/>
                    </a:lnTo>
                    <a:lnTo>
                      <a:pt x="3533241" y="1534668"/>
                    </a:lnTo>
                    <a:lnTo>
                      <a:pt x="3526345" y="1537144"/>
                    </a:lnTo>
                    <a:lnTo>
                      <a:pt x="3520960" y="1541907"/>
                    </a:lnTo>
                    <a:lnTo>
                      <a:pt x="3517709" y="1548384"/>
                    </a:lnTo>
                    <a:lnTo>
                      <a:pt x="3517239" y="1556004"/>
                    </a:lnTo>
                    <a:lnTo>
                      <a:pt x="3519716" y="1562887"/>
                    </a:lnTo>
                    <a:lnTo>
                      <a:pt x="3524478" y="1568284"/>
                    </a:lnTo>
                    <a:lnTo>
                      <a:pt x="3530955" y="1571536"/>
                    </a:lnTo>
                    <a:lnTo>
                      <a:pt x="3538575" y="1572006"/>
                    </a:lnTo>
                    <a:lnTo>
                      <a:pt x="3545789" y="1569529"/>
                    </a:lnTo>
                    <a:lnTo>
                      <a:pt x="3551148" y="1564767"/>
                    </a:lnTo>
                    <a:lnTo>
                      <a:pt x="3554222" y="1558290"/>
                    </a:lnTo>
                    <a:lnTo>
                      <a:pt x="3554577" y="1550670"/>
                    </a:lnTo>
                    <a:close/>
                  </a:path>
                  <a:path w="4823459" h="1704975">
                    <a:moveTo>
                      <a:pt x="3630015" y="1539240"/>
                    </a:moveTo>
                    <a:lnTo>
                      <a:pt x="3627526" y="1532343"/>
                    </a:lnTo>
                    <a:lnTo>
                      <a:pt x="3622764" y="1526946"/>
                    </a:lnTo>
                    <a:lnTo>
                      <a:pt x="3616287" y="1523695"/>
                    </a:lnTo>
                    <a:lnTo>
                      <a:pt x="3608667" y="1523238"/>
                    </a:lnTo>
                    <a:lnTo>
                      <a:pt x="3601453" y="1525816"/>
                    </a:lnTo>
                    <a:lnTo>
                      <a:pt x="3596106" y="1530756"/>
                    </a:lnTo>
                    <a:lnTo>
                      <a:pt x="3593033" y="1537271"/>
                    </a:lnTo>
                    <a:lnTo>
                      <a:pt x="3592677" y="1544574"/>
                    </a:lnTo>
                    <a:lnTo>
                      <a:pt x="3595154" y="1551901"/>
                    </a:lnTo>
                    <a:lnTo>
                      <a:pt x="3599916" y="1557528"/>
                    </a:lnTo>
                    <a:lnTo>
                      <a:pt x="3606393" y="1560855"/>
                    </a:lnTo>
                    <a:lnTo>
                      <a:pt x="3614013" y="1561338"/>
                    </a:lnTo>
                    <a:lnTo>
                      <a:pt x="3621227" y="1558734"/>
                    </a:lnTo>
                    <a:lnTo>
                      <a:pt x="3626586" y="1553718"/>
                    </a:lnTo>
                    <a:lnTo>
                      <a:pt x="3629660" y="1546974"/>
                    </a:lnTo>
                    <a:lnTo>
                      <a:pt x="3630015" y="1539240"/>
                    </a:lnTo>
                    <a:close/>
                  </a:path>
                  <a:path w="4823459" h="1704975">
                    <a:moveTo>
                      <a:pt x="3653637" y="422148"/>
                    </a:moveTo>
                    <a:lnTo>
                      <a:pt x="3539337" y="364998"/>
                    </a:lnTo>
                    <a:lnTo>
                      <a:pt x="3539337" y="479298"/>
                    </a:lnTo>
                    <a:lnTo>
                      <a:pt x="3653637" y="422148"/>
                    </a:lnTo>
                    <a:close/>
                  </a:path>
                  <a:path w="4823459" h="1704975">
                    <a:moveTo>
                      <a:pt x="3705453" y="1524762"/>
                    </a:moveTo>
                    <a:lnTo>
                      <a:pt x="3702405" y="1517662"/>
                    </a:lnTo>
                    <a:lnTo>
                      <a:pt x="3697160" y="1512570"/>
                    </a:lnTo>
                    <a:lnTo>
                      <a:pt x="3690213" y="1509750"/>
                    </a:lnTo>
                    <a:lnTo>
                      <a:pt x="3682593" y="1509522"/>
                    </a:lnTo>
                    <a:lnTo>
                      <a:pt x="3675811" y="1512557"/>
                    </a:lnTo>
                    <a:lnTo>
                      <a:pt x="3670681" y="1517802"/>
                    </a:lnTo>
                    <a:lnTo>
                      <a:pt x="3667696" y="1524622"/>
                    </a:lnTo>
                    <a:lnTo>
                      <a:pt x="3667353" y="1532382"/>
                    </a:lnTo>
                    <a:lnTo>
                      <a:pt x="3670389" y="1539138"/>
                    </a:lnTo>
                    <a:lnTo>
                      <a:pt x="3675646" y="1544193"/>
                    </a:lnTo>
                    <a:lnTo>
                      <a:pt x="3682466" y="1546948"/>
                    </a:lnTo>
                    <a:lnTo>
                      <a:pt x="3690213" y="1546860"/>
                    </a:lnTo>
                    <a:lnTo>
                      <a:pt x="3696982" y="1544154"/>
                    </a:lnTo>
                    <a:lnTo>
                      <a:pt x="3702126" y="1538947"/>
                    </a:lnTo>
                    <a:lnTo>
                      <a:pt x="3705110" y="1532178"/>
                    </a:lnTo>
                    <a:lnTo>
                      <a:pt x="3705453" y="1524762"/>
                    </a:lnTo>
                    <a:close/>
                  </a:path>
                  <a:path w="4823459" h="1704975">
                    <a:moveTo>
                      <a:pt x="3779570" y="1515745"/>
                    </a:moveTo>
                    <a:lnTo>
                      <a:pt x="3779355" y="1507998"/>
                    </a:lnTo>
                    <a:lnTo>
                      <a:pt x="3776332" y="1501228"/>
                    </a:lnTo>
                    <a:lnTo>
                      <a:pt x="3771176" y="1496187"/>
                    </a:lnTo>
                    <a:lnTo>
                      <a:pt x="3764889" y="1493545"/>
                    </a:lnTo>
                    <a:lnTo>
                      <a:pt x="3757130" y="1493570"/>
                    </a:lnTo>
                    <a:lnTo>
                      <a:pt x="3750310" y="1496441"/>
                    </a:lnTo>
                    <a:lnTo>
                      <a:pt x="3750068" y="1496555"/>
                    </a:lnTo>
                    <a:lnTo>
                      <a:pt x="3744785" y="1501800"/>
                    </a:lnTo>
                    <a:lnTo>
                      <a:pt x="3741940" y="1508620"/>
                    </a:lnTo>
                    <a:lnTo>
                      <a:pt x="3741940" y="1516202"/>
                    </a:lnTo>
                    <a:lnTo>
                      <a:pt x="3745065" y="1523136"/>
                    </a:lnTo>
                    <a:lnTo>
                      <a:pt x="3750310" y="1528191"/>
                    </a:lnTo>
                    <a:lnTo>
                      <a:pt x="3757130" y="1530946"/>
                    </a:lnTo>
                    <a:lnTo>
                      <a:pt x="3764889" y="1530858"/>
                    </a:lnTo>
                    <a:lnTo>
                      <a:pt x="3771976" y="1527810"/>
                    </a:lnTo>
                    <a:lnTo>
                      <a:pt x="3776980" y="1522564"/>
                    </a:lnTo>
                    <a:lnTo>
                      <a:pt x="3779570" y="1515745"/>
                    </a:lnTo>
                    <a:close/>
                  </a:path>
                  <a:path w="4823459" h="1704975">
                    <a:moveTo>
                      <a:pt x="3853916" y="1496377"/>
                    </a:moveTo>
                    <a:lnTo>
                      <a:pt x="3853269" y="1488948"/>
                    </a:lnTo>
                    <a:lnTo>
                      <a:pt x="3849789" y="1481975"/>
                    </a:lnTo>
                    <a:lnTo>
                      <a:pt x="3844315" y="1477225"/>
                    </a:lnTo>
                    <a:lnTo>
                      <a:pt x="3837419" y="1474901"/>
                    </a:lnTo>
                    <a:lnTo>
                      <a:pt x="3832136" y="1475117"/>
                    </a:lnTo>
                    <a:lnTo>
                      <a:pt x="3829647" y="1475232"/>
                    </a:lnTo>
                    <a:lnTo>
                      <a:pt x="3823017" y="1478699"/>
                    </a:lnTo>
                    <a:lnTo>
                      <a:pt x="3818318" y="1484185"/>
                    </a:lnTo>
                    <a:lnTo>
                      <a:pt x="3816045" y="1491081"/>
                    </a:lnTo>
                    <a:lnTo>
                      <a:pt x="3816693" y="1498854"/>
                    </a:lnTo>
                    <a:lnTo>
                      <a:pt x="3819842" y="1505483"/>
                    </a:lnTo>
                    <a:lnTo>
                      <a:pt x="3825278" y="1510182"/>
                    </a:lnTo>
                    <a:lnTo>
                      <a:pt x="3832136" y="1512455"/>
                    </a:lnTo>
                    <a:lnTo>
                      <a:pt x="3839565" y="1511808"/>
                    </a:lnTo>
                    <a:lnTo>
                      <a:pt x="3846626" y="1508658"/>
                    </a:lnTo>
                    <a:lnTo>
                      <a:pt x="3851567" y="1503235"/>
                    </a:lnTo>
                    <a:lnTo>
                      <a:pt x="3853916" y="1496377"/>
                    </a:lnTo>
                    <a:close/>
                  </a:path>
                  <a:path w="4823459" h="1704975">
                    <a:moveTo>
                      <a:pt x="3927081" y="1474279"/>
                    </a:moveTo>
                    <a:lnTo>
                      <a:pt x="3926421" y="1466850"/>
                    </a:lnTo>
                    <a:lnTo>
                      <a:pt x="3922839" y="1460322"/>
                    </a:lnTo>
                    <a:lnTo>
                      <a:pt x="3917188" y="1455801"/>
                    </a:lnTo>
                    <a:lnTo>
                      <a:pt x="3910241" y="1453553"/>
                    </a:lnTo>
                    <a:lnTo>
                      <a:pt x="3902799" y="1453896"/>
                    </a:lnTo>
                    <a:lnTo>
                      <a:pt x="3902799" y="1454658"/>
                    </a:lnTo>
                    <a:lnTo>
                      <a:pt x="3895852" y="1457807"/>
                    </a:lnTo>
                    <a:lnTo>
                      <a:pt x="3891178" y="1463319"/>
                    </a:lnTo>
                    <a:lnTo>
                      <a:pt x="3889083" y="1470406"/>
                    </a:lnTo>
                    <a:lnTo>
                      <a:pt x="3889845" y="1478280"/>
                    </a:lnTo>
                    <a:lnTo>
                      <a:pt x="3893426" y="1484782"/>
                    </a:lnTo>
                    <a:lnTo>
                      <a:pt x="3899090" y="1489227"/>
                    </a:lnTo>
                    <a:lnTo>
                      <a:pt x="3906037" y="1491234"/>
                    </a:lnTo>
                    <a:lnTo>
                      <a:pt x="3913479" y="1490472"/>
                    </a:lnTo>
                    <a:lnTo>
                      <a:pt x="3920109" y="1486877"/>
                    </a:lnTo>
                    <a:lnTo>
                      <a:pt x="3924808" y="1481226"/>
                    </a:lnTo>
                    <a:lnTo>
                      <a:pt x="3927081" y="1474279"/>
                    </a:lnTo>
                    <a:close/>
                  </a:path>
                  <a:path w="4823459" h="1704975">
                    <a:moveTo>
                      <a:pt x="3999268" y="1449908"/>
                    </a:moveTo>
                    <a:lnTo>
                      <a:pt x="3998049" y="1442466"/>
                    </a:lnTo>
                    <a:lnTo>
                      <a:pt x="3994353" y="1435963"/>
                    </a:lnTo>
                    <a:lnTo>
                      <a:pt x="3988435" y="1431607"/>
                    </a:lnTo>
                    <a:lnTo>
                      <a:pt x="3981234" y="1429816"/>
                    </a:lnTo>
                    <a:lnTo>
                      <a:pt x="3973677" y="1431036"/>
                    </a:lnTo>
                    <a:lnTo>
                      <a:pt x="3967276" y="1434731"/>
                    </a:lnTo>
                    <a:lnTo>
                      <a:pt x="3963098" y="1440649"/>
                    </a:lnTo>
                    <a:lnTo>
                      <a:pt x="3961346" y="1447850"/>
                    </a:lnTo>
                    <a:lnTo>
                      <a:pt x="3962235" y="1455420"/>
                    </a:lnTo>
                    <a:lnTo>
                      <a:pt x="3966260" y="1461808"/>
                    </a:lnTo>
                    <a:lnTo>
                      <a:pt x="3972141" y="1465986"/>
                    </a:lnTo>
                    <a:lnTo>
                      <a:pt x="3979176" y="1467739"/>
                    </a:lnTo>
                    <a:lnTo>
                      <a:pt x="3986619" y="1466850"/>
                    </a:lnTo>
                    <a:lnTo>
                      <a:pt x="3993121" y="1462824"/>
                    </a:lnTo>
                    <a:lnTo>
                      <a:pt x="3997477" y="1456944"/>
                    </a:lnTo>
                    <a:lnTo>
                      <a:pt x="3999268" y="1449908"/>
                    </a:lnTo>
                    <a:close/>
                  </a:path>
                  <a:path w="4823459" h="1704975">
                    <a:moveTo>
                      <a:pt x="4070908" y="1422476"/>
                    </a:moveTo>
                    <a:lnTo>
                      <a:pt x="4069689" y="1415034"/>
                    </a:lnTo>
                    <a:lnTo>
                      <a:pt x="4065663" y="1408531"/>
                    </a:lnTo>
                    <a:lnTo>
                      <a:pt x="4059783" y="1404175"/>
                    </a:lnTo>
                    <a:lnTo>
                      <a:pt x="4052747" y="1402384"/>
                    </a:lnTo>
                    <a:lnTo>
                      <a:pt x="4045293" y="1403604"/>
                    </a:lnTo>
                    <a:lnTo>
                      <a:pt x="4038803" y="1407744"/>
                    </a:lnTo>
                    <a:lnTo>
                      <a:pt x="4034447" y="1413891"/>
                    </a:lnTo>
                    <a:lnTo>
                      <a:pt x="4032656" y="1421168"/>
                    </a:lnTo>
                    <a:lnTo>
                      <a:pt x="4033875" y="1428750"/>
                    </a:lnTo>
                    <a:lnTo>
                      <a:pt x="4037888" y="1435125"/>
                    </a:lnTo>
                    <a:lnTo>
                      <a:pt x="4043781" y="1439227"/>
                    </a:lnTo>
                    <a:lnTo>
                      <a:pt x="4050804" y="1440751"/>
                    </a:lnTo>
                    <a:lnTo>
                      <a:pt x="4058247" y="1439418"/>
                    </a:lnTo>
                    <a:lnTo>
                      <a:pt x="4064749" y="1435392"/>
                    </a:lnTo>
                    <a:lnTo>
                      <a:pt x="4069118" y="1429512"/>
                    </a:lnTo>
                    <a:lnTo>
                      <a:pt x="4070908" y="1422476"/>
                    </a:lnTo>
                    <a:close/>
                  </a:path>
                  <a:path w="4823459" h="1704975">
                    <a:moveTo>
                      <a:pt x="4140809" y="1390929"/>
                    </a:moveTo>
                    <a:lnTo>
                      <a:pt x="4139019" y="1383792"/>
                    </a:lnTo>
                    <a:lnTo>
                      <a:pt x="4134447" y="1377518"/>
                    </a:lnTo>
                    <a:lnTo>
                      <a:pt x="4128160" y="1373695"/>
                    </a:lnTo>
                    <a:lnTo>
                      <a:pt x="4121023" y="1372425"/>
                    </a:lnTo>
                    <a:lnTo>
                      <a:pt x="4113873" y="1373886"/>
                    </a:lnTo>
                    <a:lnTo>
                      <a:pt x="4107624" y="1378458"/>
                    </a:lnTo>
                    <a:lnTo>
                      <a:pt x="4103878" y="1384744"/>
                    </a:lnTo>
                    <a:lnTo>
                      <a:pt x="4102849" y="1391881"/>
                    </a:lnTo>
                    <a:lnTo>
                      <a:pt x="4104741" y="1399032"/>
                    </a:lnTo>
                    <a:lnTo>
                      <a:pt x="4108881" y="1405293"/>
                    </a:lnTo>
                    <a:lnTo>
                      <a:pt x="4115028" y="1409128"/>
                    </a:lnTo>
                    <a:lnTo>
                      <a:pt x="4122305" y="1410385"/>
                    </a:lnTo>
                    <a:lnTo>
                      <a:pt x="4129887" y="1408938"/>
                    </a:lnTo>
                    <a:lnTo>
                      <a:pt x="4135805" y="1404366"/>
                    </a:lnTo>
                    <a:lnTo>
                      <a:pt x="4139603" y="1398079"/>
                    </a:lnTo>
                    <a:lnTo>
                      <a:pt x="4140809" y="1390929"/>
                    </a:lnTo>
                    <a:close/>
                  </a:path>
                  <a:path w="4823459" h="1704975">
                    <a:moveTo>
                      <a:pt x="4208869" y="1355229"/>
                    </a:moveTo>
                    <a:lnTo>
                      <a:pt x="4206849" y="1347978"/>
                    </a:lnTo>
                    <a:lnTo>
                      <a:pt x="4201833" y="1342288"/>
                    </a:lnTo>
                    <a:lnTo>
                      <a:pt x="4195318" y="1339113"/>
                    </a:lnTo>
                    <a:lnTo>
                      <a:pt x="4188091" y="1338643"/>
                    </a:lnTo>
                    <a:lnTo>
                      <a:pt x="4180941" y="1341120"/>
                    </a:lnTo>
                    <a:lnTo>
                      <a:pt x="4175137" y="1345692"/>
                    </a:lnTo>
                    <a:lnTo>
                      <a:pt x="4171696" y="1351978"/>
                    </a:lnTo>
                    <a:lnTo>
                      <a:pt x="4170972" y="1359115"/>
                    </a:lnTo>
                    <a:lnTo>
                      <a:pt x="4173309" y="1366266"/>
                    </a:lnTo>
                    <a:lnTo>
                      <a:pt x="4178325" y="1372374"/>
                    </a:lnTo>
                    <a:lnTo>
                      <a:pt x="4184840" y="1375791"/>
                    </a:lnTo>
                    <a:lnTo>
                      <a:pt x="4192066" y="1376337"/>
                    </a:lnTo>
                    <a:lnTo>
                      <a:pt x="4199229" y="1373886"/>
                    </a:lnTo>
                    <a:lnTo>
                      <a:pt x="4204919" y="1369187"/>
                    </a:lnTo>
                    <a:lnTo>
                      <a:pt x="4208170" y="1362646"/>
                    </a:lnTo>
                    <a:lnTo>
                      <a:pt x="4208869" y="1355229"/>
                    </a:lnTo>
                    <a:close/>
                  </a:path>
                  <a:path w="4823459" h="1704975">
                    <a:moveTo>
                      <a:pt x="4274540" y="1315516"/>
                    </a:moveTo>
                    <a:lnTo>
                      <a:pt x="4271505" y="1308074"/>
                    </a:lnTo>
                    <a:lnTo>
                      <a:pt x="4271505" y="1308239"/>
                    </a:lnTo>
                    <a:lnTo>
                      <a:pt x="4266158" y="1303121"/>
                    </a:lnTo>
                    <a:lnTo>
                      <a:pt x="4259427" y="1300251"/>
                    </a:lnTo>
                    <a:lnTo>
                      <a:pt x="4252112" y="1300099"/>
                    </a:lnTo>
                    <a:lnTo>
                      <a:pt x="4244949" y="1303020"/>
                    </a:lnTo>
                    <a:lnTo>
                      <a:pt x="4239831" y="1308150"/>
                    </a:lnTo>
                    <a:lnTo>
                      <a:pt x="4237012" y="1315224"/>
                    </a:lnTo>
                    <a:lnTo>
                      <a:pt x="4237012" y="1322412"/>
                    </a:lnTo>
                    <a:lnTo>
                      <a:pt x="4239615" y="1329690"/>
                    </a:lnTo>
                    <a:lnTo>
                      <a:pt x="4244949" y="1334693"/>
                    </a:lnTo>
                    <a:lnTo>
                      <a:pt x="4251807" y="1337500"/>
                    </a:lnTo>
                    <a:lnTo>
                      <a:pt x="4259427" y="1337500"/>
                    </a:lnTo>
                    <a:lnTo>
                      <a:pt x="4266158" y="1335062"/>
                    </a:lnTo>
                    <a:lnTo>
                      <a:pt x="4271505" y="1329563"/>
                    </a:lnTo>
                    <a:lnTo>
                      <a:pt x="4274375" y="1322832"/>
                    </a:lnTo>
                    <a:lnTo>
                      <a:pt x="4274540" y="1315516"/>
                    </a:lnTo>
                    <a:close/>
                  </a:path>
                  <a:path w="4823459" h="1704975">
                    <a:moveTo>
                      <a:pt x="4336770" y="1276540"/>
                    </a:moveTo>
                    <a:lnTo>
                      <a:pt x="4336173" y="1269365"/>
                    </a:lnTo>
                    <a:lnTo>
                      <a:pt x="4332579" y="1262634"/>
                    </a:lnTo>
                    <a:lnTo>
                      <a:pt x="4326585" y="1257757"/>
                    </a:lnTo>
                    <a:lnTo>
                      <a:pt x="4319524" y="1255674"/>
                    </a:lnTo>
                    <a:lnTo>
                      <a:pt x="4312323" y="1256309"/>
                    </a:lnTo>
                    <a:lnTo>
                      <a:pt x="4305897" y="1259586"/>
                    </a:lnTo>
                    <a:lnTo>
                      <a:pt x="4300931" y="1265580"/>
                    </a:lnTo>
                    <a:lnTo>
                      <a:pt x="4298670" y="1272730"/>
                    </a:lnTo>
                    <a:lnTo>
                      <a:pt x="4299255" y="1280160"/>
                    </a:lnTo>
                    <a:lnTo>
                      <a:pt x="4302849" y="1287018"/>
                    </a:lnTo>
                    <a:lnTo>
                      <a:pt x="4308843" y="1291551"/>
                    </a:lnTo>
                    <a:lnTo>
                      <a:pt x="4315904" y="1293583"/>
                    </a:lnTo>
                    <a:lnTo>
                      <a:pt x="4323105" y="1292910"/>
                    </a:lnTo>
                    <a:lnTo>
                      <a:pt x="4329519" y="1289304"/>
                    </a:lnTo>
                    <a:lnTo>
                      <a:pt x="4334497" y="1283411"/>
                    </a:lnTo>
                    <a:lnTo>
                      <a:pt x="4336770" y="1276540"/>
                    </a:lnTo>
                    <a:close/>
                  </a:path>
                  <a:path w="4823459" h="1704975">
                    <a:moveTo>
                      <a:pt x="4392777" y="1222336"/>
                    </a:moveTo>
                    <a:lnTo>
                      <a:pt x="4391076" y="1215275"/>
                    </a:lnTo>
                    <a:lnTo>
                      <a:pt x="4386669" y="1209294"/>
                    </a:lnTo>
                    <a:lnTo>
                      <a:pt x="4380255" y="1205115"/>
                    </a:lnTo>
                    <a:lnTo>
                      <a:pt x="4373054" y="1203960"/>
                    </a:lnTo>
                    <a:lnTo>
                      <a:pt x="4365993" y="1205649"/>
                    </a:lnTo>
                    <a:lnTo>
                      <a:pt x="4359999" y="1210056"/>
                    </a:lnTo>
                    <a:lnTo>
                      <a:pt x="4355833" y="1216469"/>
                    </a:lnTo>
                    <a:lnTo>
                      <a:pt x="4354677" y="1223670"/>
                    </a:lnTo>
                    <a:lnTo>
                      <a:pt x="4356366" y="1230731"/>
                    </a:lnTo>
                    <a:lnTo>
                      <a:pt x="4360761" y="1236726"/>
                    </a:lnTo>
                    <a:lnTo>
                      <a:pt x="4367187" y="1240891"/>
                    </a:lnTo>
                    <a:lnTo>
                      <a:pt x="4374388" y="1242060"/>
                    </a:lnTo>
                    <a:lnTo>
                      <a:pt x="4381449" y="1240358"/>
                    </a:lnTo>
                    <a:lnTo>
                      <a:pt x="4387443" y="1235964"/>
                    </a:lnTo>
                    <a:lnTo>
                      <a:pt x="4391609" y="1229537"/>
                    </a:lnTo>
                    <a:lnTo>
                      <a:pt x="4392777" y="1222336"/>
                    </a:lnTo>
                    <a:close/>
                  </a:path>
                  <a:path w="4823459" h="1704975">
                    <a:moveTo>
                      <a:pt x="4463643" y="1196340"/>
                    </a:moveTo>
                    <a:lnTo>
                      <a:pt x="4446117" y="1069848"/>
                    </a:lnTo>
                    <a:lnTo>
                      <a:pt x="4355439" y="1159764"/>
                    </a:lnTo>
                    <a:lnTo>
                      <a:pt x="4396651" y="1173683"/>
                    </a:lnTo>
                    <a:lnTo>
                      <a:pt x="4434941" y="1186637"/>
                    </a:lnTo>
                    <a:lnTo>
                      <a:pt x="4463643" y="1196340"/>
                    </a:lnTo>
                    <a:close/>
                  </a:path>
                  <a:path w="4823459" h="1704975">
                    <a:moveTo>
                      <a:pt x="4823333" y="847344"/>
                    </a:moveTo>
                    <a:lnTo>
                      <a:pt x="4803432" y="847344"/>
                    </a:lnTo>
                    <a:lnTo>
                      <a:pt x="4773917" y="869886"/>
                    </a:lnTo>
                    <a:lnTo>
                      <a:pt x="4737112" y="894308"/>
                    </a:lnTo>
                    <a:lnTo>
                      <a:pt x="4698606" y="916279"/>
                    </a:lnTo>
                    <a:lnTo>
                      <a:pt x="4658550" y="935685"/>
                    </a:lnTo>
                    <a:lnTo>
                      <a:pt x="4617009" y="952423"/>
                    </a:lnTo>
                    <a:lnTo>
                      <a:pt x="4574133" y="966368"/>
                    </a:lnTo>
                    <a:lnTo>
                      <a:pt x="4530001" y="977417"/>
                    </a:lnTo>
                    <a:lnTo>
                      <a:pt x="4484738" y="985469"/>
                    </a:lnTo>
                    <a:lnTo>
                      <a:pt x="4439196" y="990333"/>
                    </a:lnTo>
                    <a:lnTo>
                      <a:pt x="4398099" y="991870"/>
                    </a:lnTo>
                    <a:lnTo>
                      <a:pt x="4397349" y="991895"/>
                    </a:lnTo>
                    <a:lnTo>
                      <a:pt x="4394479" y="991997"/>
                    </a:lnTo>
                    <a:lnTo>
                      <a:pt x="4391253" y="992124"/>
                    </a:lnTo>
                    <a:lnTo>
                      <a:pt x="4388193" y="992111"/>
                    </a:lnTo>
                    <a:lnTo>
                      <a:pt x="4387443" y="991984"/>
                    </a:lnTo>
                    <a:lnTo>
                      <a:pt x="4344060" y="990498"/>
                    </a:lnTo>
                    <a:lnTo>
                      <a:pt x="4297972" y="985647"/>
                    </a:lnTo>
                    <a:lnTo>
                      <a:pt x="4252785" y="977658"/>
                    </a:lnTo>
                    <a:lnTo>
                      <a:pt x="4208716" y="966635"/>
                    </a:lnTo>
                    <a:lnTo>
                      <a:pt x="4165866" y="952703"/>
                    </a:lnTo>
                    <a:lnTo>
                      <a:pt x="4124363" y="935977"/>
                    </a:lnTo>
                    <a:lnTo>
                      <a:pt x="4084294" y="916546"/>
                    </a:lnTo>
                    <a:lnTo>
                      <a:pt x="4045801" y="894562"/>
                    </a:lnTo>
                    <a:lnTo>
                      <a:pt x="4008971" y="870102"/>
                    </a:lnTo>
                    <a:lnTo>
                      <a:pt x="3979214" y="847344"/>
                    </a:lnTo>
                    <a:lnTo>
                      <a:pt x="3959237" y="847344"/>
                    </a:lnTo>
                    <a:lnTo>
                      <a:pt x="4001287" y="880186"/>
                    </a:lnTo>
                    <a:lnTo>
                      <a:pt x="4038828" y="905103"/>
                    </a:lnTo>
                    <a:lnTo>
                      <a:pt x="4078084" y="927519"/>
                    </a:lnTo>
                    <a:lnTo>
                      <a:pt x="4118927" y="947331"/>
                    </a:lnTo>
                    <a:lnTo>
                      <a:pt x="4161269" y="964412"/>
                    </a:lnTo>
                    <a:lnTo>
                      <a:pt x="4204982" y="978662"/>
                    </a:lnTo>
                    <a:lnTo>
                      <a:pt x="4249940" y="989965"/>
                    </a:lnTo>
                    <a:lnTo>
                      <a:pt x="4296054" y="998207"/>
                    </a:lnTo>
                    <a:lnTo>
                      <a:pt x="4343197" y="1003287"/>
                    </a:lnTo>
                    <a:lnTo>
                      <a:pt x="4384383" y="1004811"/>
                    </a:lnTo>
                    <a:lnTo>
                      <a:pt x="4387443" y="1004925"/>
                    </a:lnTo>
                    <a:lnTo>
                      <a:pt x="4388345" y="1004963"/>
                    </a:lnTo>
                    <a:lnTo>
                      <a:pt x="4391253" y="1005078"/>
                    </a:lnTo>
                    <a:lnTo>
                      <a:pt x="4394479" y="1004951"/>
                    </a:lnTo>
                    <a:lnTo>
                      <a:pt x="4397349" y="1004849"/>
                    </a:lnTo>
                    <a:lnTo>
                      <a:pt x="4398099" y="1004811"/>
                    </a:lnTo>
                    <a:lnTo>
                      <a:pt x="4438332" y="1003312"/>
                    </a:lnTo>
                    <a:lnTo>
                      <a:pt x="4439196" y="1003287"/>
                    </a:lnTo>
                    <a:lnTo>
                      <a:pt x="4486249" y="998220"/>
                    </a:lnTo>
                    <a:lnTo>
                      <a:pt x="4532300" y="989990"/>
                    </a:lnTo>
                    <a:lnTo>
                      <a:pt x="4577219" y="978712"/>
                    </a:lnTo>
                    <a:lnTo>
                      <a:pt x="4620895" y="964488"/>
                    </a:lnTo>
                    <a:lnTo>
                      <a:pt x="4663224" y="947432"/>
                    </a:lnTo>
                    <a:lnTo>
                      <a:pt x="4663414" y="947356"/>
                    </a:lnTo>
                    <a:lnTo>
                      <a:pt x="4704080" y="927658"/>
                    </a:lnTo>
                    <a:lnTo>
                      <a:pt x="4704283" y="927569"/>
                    </a:lnTo>
                    <a:lnTo>
                      <a:pt x="4743348" y="905281"/>
                    </a:lnTo>
                    <a:lnTo>
                      <a:pt x="4743551" y="905167"/>
                    </a:lnTo>
                    <a:lnTo>
                      <a:pt x="4781105" y="880275"/>
                    </a:lnTo>
                    <a:lnTo>
                      <a:pt x="4816843" y="853008"/>
                    </a:lnTo>
                    <a:lnTo>
                      <a:pt x="4823333" y="847344"/>
                    </a:lnTo>
                    <a:close/>
                  </a:path>
                </a:pathLst>
              </a:custGeom>
              <a:solidFill>
                <a:srgbClr val="000000"/>
              </a:solidFill>
            </p:spPr>
            <p:txBody>
              <a:bodyPr wrap="square" lIns="0" tIns="0" rIns="0" bIns="0" rtlCol="0"/>
              <a:lstStyle/>
              <a:p>
                <a:endParaRPr/>
              </a:p>
            </p:txBody>
          </p:sp>
          <p:pic>
            <p:nvPicPr>
              <p:cNvPr id="23" name="object 23"/>
              <p:cNvPicPr/>
              <p:nvPr/>
            </p:nvPicPr>
            <p:blipFill>
              <a:blip r:embed="rId3" cstate="print"/>
              <a:stretch>
                <a:fillRect/>
              </a:stretch>
            </p:blipFill>
            <p:spPr>
              <a:xfrm>
                <a:off x="4300239" y="4282948"/>
                <a:ext cx="114300" cy="150875"/>
              </a:xfrm>
              <a:prstGeom prst="rect">
                <a:avLst/>
              </a:prstGeom>
            </p:spPr>
          </p:pic>
          <p:sp>
            <p:nvSpPr>
              <p:cNvPr id="24" name="object 24"/>
              <p:cNvSpPr/>
              <p:nvPr/>
            </p:nvSpPr>
            <p:spPr>
              <a:xfrm>
                <a:off x="3703593" y="5136388"/>
                <a:ext cx="1344295" cy="673100"/>
              </a:xfrm>
              <a:custGeom>
                <a:avLst/>
                <a:gdLst/>
                <a:ahLst/>
                <a:cxnLst/>
                <a:rect l="l" t="t" r="r" b="b"/>
                <a:pathLst>
                  <a:path w="1344295" h="673100">
                    <a:moveTo>
                      <a:pt x="12192" y="3810"/>
                    </a:moveTo>
                    <a:lnTo>
                      <a:pt x="0" y="3810"/>
                    </a:lnTo>
                    <a:lnTo>
                      <a:pt x="3048" y="6858"/>
                    </a:lnTo>
                    <a:lnTo>
                      <a:pt x="9906" y="6858"/>
                    </a:lnTo>
                    <a:lnTo>
                      <a:pt x="12192" y="3810"/>
                    </a:lnTo>
                    <a:close/>
                  </a:path>
                  <a:path w="1344295" h="673100">
                    <a:moveTo>
                      <a:pt x="669040" y="659888"/>
                    </a:moveTo>
                    <a:lnTo>
                      <a:pt x="668278" y="659750"/>
                    </a:lnTo>
                    <a:lnTo>
                      <a:pt x="624855" y="658138"/>
                    </a:lnTo>
                    <a:lnTo>
                      <a:pt x="578764" y="653194"/>
                    </a:lnTo>
                    <a:lnTo>
                      <a:pt x="578554" y="653171"/>
                    </a:lnTo>
                    <a:lnTo>
                      <a:pt x="533571" y="645152"/>
                    </a:lnTo>
                    <a:lnTo>
                      <a:pt x="533289" y="645101"/>
                    </a:lnTo>
                    <a:lnTo>
                      <a:pt x="489502" y="634121"/>
                    </a:lnTo>
                    <a:lnTo>
                      <a:pt x="446668" y="620207"/>
                    </a:lnTo>
                    <a:lnTo>
                      <a:pt x="404793" y="603361"/>
                    </a:lnTo>
                    <a:lnTo>
                      <a:pt x="364754" y="583968"/>
                    </a:lnTo>
                    <a:lnTo>
                      <a:pt x="326293" y="562017"/>
                    </a:lnTo>
                    <a:lnTo>
                      <a:pt x="289516" y="537617"/>
                    </a:lnTo>
                    <a:lnTo>
                      <a:pt x="254534" y="510877"/>
                    </a:lnTo>
                    <a:lnTo>
                      <a:pt x="221452" y="481907"/>
                    </a:lnTo>
                    <a:lnTo>
                      <a:pt x="190381" y="450816"/>
                    </a:lnTo>
                    <a:lnTo>
                      <a:pt x="161427" y="417711"/>
                    </a:lnTo>
                    <a:lnTo>
                      <a:pt x="134700" y="382704"/>
                    </a:lnTo>
                    <a:lnTo>
                      <a:pt x="110308" y="345903"/>
                    </a:lnTo>
                    <a:lnTo>
                      <a:pt x="88358" y="307417"/>
                    </a:lnTo>
                    <a:lnTo>
                      <a:pt x="68959" y="267354"/>
                    </a:lnTo>
                    <a:lnTo>
                      <a:pt x="52219" y="225826"/>
                    </a:lnTo>
                    <a:lnTo>
                      <a:pt x="38230" y="182875"/>
                    </a:lnTo>
                    <a:lnTo>
                      <a:pt x="27117" y="138630"/>
                    </a:lnTo>
                    <a:lnTo>
                      <a:pt x="19000" y="93210"/>
                    </a:lnTo>
                    <a:lnTo>
                      <a:pt x="13988" y="46995"/>
                    </a:lnTo>
                    <a:lnTo>
                      <a:pt x="13988" y="46579"/>
                    </a:lnTo>
                    <a:lnTo>
                      <a:pt x="12338" y="3810"/>
                    </a:lnTo>
                    <a:lnTo>
                      <a:pt x="12192" y="3810"/>
                    </a:lnTo>
                    <a:lnTo>
                      <a:pt x="9906" y="6858"/>
                    </a:lnTo>
                    <a:lnTo>
                      <a:pt x="3048" y="6858"/>
                    </a:lnTo>
                    <a:lnTo>
                      <a:pt x="0" y="3810"/>
                    </a:lnTo>
                    <a:lnTo>
                      <a:pt x="0" y="0"/>
                    </a:lnTo>
                    <a:lnTo>
                      <a:pt x="1599" y="46447"/>
                    </a:lnTo>
                    <a:lnTo>
                      <a:pt x="1599" y="47537"/>
                    </a:lnTo>
                    <a:lnTo>
                      <a:pt x="6522" y="94389"/>
                    </a:lnTo>
                    <a:lnTo>
                      <a:pt x="6522" y="94722"/>
                    </a:lnTo>
                    <a:lnTo>
                      <a:pt x="14653" y="140779"/>
                    </a:lnTo>
                    <a:lnTo>
                      <a:pt x="14653" y="140935"/>
                    </a:lnTo>
                    <a:lnTo>
                      <a:pt x="25875" y="185932"/>
                    </a:lnTo>
                    <a:lnTo>
                      <a:pt x="40073" y="229783"/>
                    </a:lnTo>
                    <a:lnTo>
                      <a:pt x="57130" y="272232"/>
                    </a:lnTo>
                    <a:lnTo>
                      <a:pt x="76889" y="313085"/>
                    </a:lnTo>
                    <a:lnTo>
                      <a:pt x="99255" y="352310"/>
                    </a:lnTo>
                    <a:lnTo>
                      <a:pt x="124127" y="389826"/>
                    </a:lnTo>
                    <a:lnTo>
                      <a:pt x="151392" y="425519"/>
                    </a:lnTo>
                    <a:lnTo>
                      <a:pt x="180937" y="459278"/>
                    </a:lnTo>
                    <a:lnTo>
                      <a:pt x="212648" y="490991"/>
                    </a:lnTo>
                    <a:lnTo>
                      <a:pt x="246412" y="520546"/>
                    </a:lnTo>
                    <a:lnTo>
                      <a:pt x="282117" y="547833"/>
                    </a:lnTo>
                    <a:lnTo>
                      <a:pt x="319648" y="572738"/>
                    </a:lnTo>
                    <a:lnTo>
                      <a:pt x="358893" y="595150"/>
                    </a:lnTo>
                    <a:lnTo>
                      <a:pt x="399738" y="614958"/>
                    </a:lnTo>
                    <a:lnTo>
                      <a:pt x="442071" y="632049"/>
                    </a:lnTo>
                    <a:lnTo>
                      <a:pt x="485778" y="646312"/>
                    </a:lnTo>
                    <a:lnTo>
                      <a:pt x="530746" y="657634"/>
                    </a:lnTo>
                    <a:lnTo>
                      <a:pt x="576862" y="665906"/>
                    </a:lnTo>
                    <a:lnTo>
                      <a:pt x="624012" y="671013"/>
                    </a:lnTo>
                    <a:lnTo>
                      <a:pt x="665226" y="672584"/>
                    </a:lnTo>
                    <a:lnTo>
                      <a:pt x="665226" y="668274"/>
                    </a:lnTo>
                    <a:lnTo>
                      <a:pt x="665988" y="665226"/>
                    </a:lnTo>
                    <a:lnTo>
                      <a:pt x="665988" y="662178"/>
                    </a:lnTo>
                    <a:lnTo>
                      <a:pt x="669040" y="659888"/>
                    </a:lnTo>
                    <a:close/>
                  </a:path>
                  <a:path w="1344295" h="673100">
                    <a:moveTo>
                      <a:pt x="672084" y="659892"/>
                    </a:moveTo>
                    <a:lnTo>
                      <a:pt x="669040" y="659888"/>
                    </a:lnTo>
                    <a:lnTo>
                      <a:pt x="665988" y="662178"/>
                    </a:lnTo>
                    <a:lnTo>
                      <a:pt x="665988" y="665226"/>
                    </a:lnTo>
                    <a:lnTo>
                      <a:pt x="665226" y="668274"/>
                    </a:lnTo>
                    <a:lnTo>
                      <a:pt x="667512" y="671322"/>
                    </a:lnTo>
                    <a:lnTo>
                      <a:pt x="670560" y="672084"/>
                    </a:lnTo>
                    <a:lnTo>
                      <a:pt x="672084" y="659892"/>
                    </a:lnTo>
                    <a:close/>
                  </a:path>
                  <a:path w="1344295" h="673100">
                    <a:moveTo>
                      <a:pt x="673605" y="659835"/>
                    </a:moveTo>
                    <a:lnTo>
                      <a:pt x="672084" y="659892"/>
                    </a:lnTo>
                    <a:lnTo>
                      <a:pt x="670560" y="672084"/>
                    </a:lnTo>
                    <a:lnTo>
                      <a:pt x="667512" y="671322"/>
                    </a:lnTo>
                    <a:lnTo>
                      <a:pt x="665226" y="668274"/>
                    </a:lnTo>
                    <a:lnTo>
                      <a:pt x="665226" y="672584"/>
                    </a:lnTo>
                    <a:lnTo>
                      <a:pt x="668278" y="672700"/>
                    </a:lnTo>
                    <a:lnTo>
                      <a:pt x="670560" y="672787"/>
                    </a:lnTo>
                    <a:lnTo>
                      <a:pt x="672084" y="672846"/>
                    </a:lnTo>
                    <a:lnTo>
                      <a:pt x="673605" y="659835"/>
                    </a:lnTo>
                    <a:close/>
                  </a:path>
                  <a:path w="1344295" h="673100">
                    <a:moveTo>
                      <a:pt x="678942" y="663702"/>
                    </a:moveTo>
                    <a:lnTo>
                      <a:pt x="676656" y="660654"/>
                    </a:lnTo>
                    <a:lnTo>
                      <a:pt x="675289" y="660312"/>
                    </a:lnTo>
                    <a:lnTo>
                      <a:pt x="673605" y="659835"/>
                    </a:lnTo>
                    <a:lnTo>
                      <a:pt x="672084" y="672846"/>
                    </a:lnTo>
                    <a:lnTo>
                      <a:pt x="675289" y="672727"/>
                    </a:lnTo>
                    <a:lnTo>
                      <a:pt x="678180" y="670560"/>
                    </a:lnTo>
                    <a:lnTo>
                      <a:pt x="678180" y="666750"/>
                    </a:lnTo>
                    <a:lnTo>
                      <a:pt x="678942" y="663702"/>
                    </a:lnTo>
                    <a:close/>
                  </a:path>
                  <a:path w="1344295" h="673100">
                    <a:moveTo>
                      <a:pt x="1344046" y="3810"/>
                    </a:moveTo>
                    <a:lnTo>
                      <a:pt x="1331834" y="3810"/>
                    </a:lnTo>
                    <a:lnTo>
                      <a:pt x="1330216" y="47502"/>
                    </a:lnTo>
                    <a:lnTo>
                      <a:pt x="1330216" y="47292"/>
                    </a:lnTo>
                    <a:lnTo>
                      <a:pt x="1325238" y="93603"/>
                    </a:lnTo>
                    <a:lnTo>
                      <a:pt x="1317149" y="138880"/>
                    </a:lnTo>
                    <a:lnTo>
                      <a:pt x="1306062" y="183018"/>
                    </a:lnTo>
                    <a:lnTo>
                      <a:pt x="1292086" y="225909"/>
                    </a:lnTo>
                    <a:lnTo>
                      <a:pt x="1275330" y="267444"/>
                    </a:lnTo>
                    <a:lnTo>
                      <a:pt x="1256041" y="307278"/>
                    </a:lnTo>
                    <a:lnTo>
                      <a:pt x="1234081" y="345770"/>
                    </a:lnTo>
                    <a:lnTo>
                      <a:pt x="1209672" y="382581"/>
                    </a:lnTo>
                    <a:lnTo>
                      <a:pt x="1182923" y="417602"/>
                    </a:lnTo>
                    <a:lnTo>
                      <a:pt x="1153943" y="450721"/>
                    </a:lnTo>
                    <a:lnTo>
                      <a:pt x="1122843" y="481830"/>
                    </a:lnTo>
                    <a:lnTo>
                      <a:pt x="1089731" y="510819"/>
                    </a:lnTo>
                    <a:lnTo>
                      <a:pt x="1054718" y="537577"/>
                    </a:lnTo>
                    <a:lnTo>
                      <a:pt x="1017912" y="561994"/>
                    </a:lnTo>
                    <a:lnTo>
                      <a:pt x="979423" y="583962"/>
                    </a:lnTo>
                    <a:lnTo>
                      <a:pt x="939361" y="603369"/>
                    </a:lnTo>
                    <a:lnTo>
                      <a:pt x="897835" y="620106"/>
                    </a:lnTo>
                    <a:lnTo>
                      <a:pt x="854955" y="634063"/>
                    </a:lnTo>
                    <a:lnTo>
                      <a:pt x="810831" y="645130"/>
                    </a:lnTo>
                    <a:lnTo>
                      <a:pt x="765456" y="653209"/>
                    </a:lnTo>
                    <a:lnTo>
                      <a:pt x="720066" y="658070"/>
                    </a:lnTo>
                    <a:lnTo>
                      <a:pt x="678942" y="659639"/>
                    </a:lnTo>
                    <a:lnTo>
                      <a:pt x="676656" y="659723"/>
                    </a:lnTo>
                    <a:lnTo>
                      <a:pt x="673605" y="659835"/>
                    </a:lnTo>
                    <a:lnTo>
                      <a:pt x="675132" y="660267"/>
                    </a:lnTo>
                    <a:lnTo>
                      <a:pt x="676656" y="660654"/>
                    </a:lnTo>
                    <a:lnTo>
                      <a:pt x="678942" y="663702"/>
                    </a:lnTo>
                    <a:lnTo>
                      <a:pt x="678942" y="672593"/>
                    </a:lnTo>
                    <a:lnTo>
                      <a:pt x="719223" y="671108"/>
                    </a:lnTo>
                    <a:lnTo>
                      <a:pt x="720066" y="671077"/>
                    </a:lnTo>
                    <a:lnTo>
                      <a:pt x="767148" y="666017"/>
                    </a:lnTo>
                    <a:lnTo>
                      <a:pt x="813216" y="657781"/>
                    </a:lnTo>
                    <a:lnTo>
                      <a:pt x="858154" y="646481"/>
                    </a:lnTo>
                    <a:lnTo>
                      <a:pt x="901847" y="632232"/>
                    </a:lnTo>
                    <a:lnTo>
                      <a:pt x="944180" y="615147"/>
                    </a:lnTo>
                    <a:lnTo>
                      <a:pt x="985037" y="595341"/>
                    </a:lnTo>
                    <a:lnTo>
                      <a:pt x="1024304" y="572925"/>
                    </a:lnTo>
                    <a:lnTo>
                      <a:pt x="1024509" y="572808"/>
                    </a:lnTo>
                    <a:lnTo>
                      <a:pt x="1062091" y="547866"/>
                    </a:lnTo>
                    <a:lnTo>
                      <a:pt x="1097849" y="520539"/>
                    </a:lnTo>
                    <a:lnTo>
                      <a:pt x="1131668" y="490941"/>
                    </a:lnTo>
                    <a:lnTo>
                      <a:pt x="1163433" y="459185"/>
                    </a:lnTo>
                    <a:lnTo>
                      <a:pt x="1193027" y="425386"/>
                    </a:lnTo>
                    <a:lnTo>
                      <a:pt x="1220335" y="389656"/>
                    </a:lnTo>
                    <a:lnTo>
                      <a:pt x="1245241" y="352110"/>
                    </a:lnTo>
                    <a:lnTo>
                      <a:pt x="1267631" y="312862"/>
                    </a:lnTo>
                    <a:lnTo>
                      <a:pt x="1287388" y="272024"/>
                    </a:lnTo>
                    <a:lnTo>
                      <a:pt x="1304396" y="229711"/>
                    </a:lnTo>
                    <a:lnTo>
                      <a:pt x="1318541" y="186037"/>
                    </a:lnTo>
                    <a:lnTo>
                      <a:pt x="1329706" y="141115"/>
                    </a:lnTo>
                    <a:lnTo>
                      <a:pt x="1337661" y="95712"/>
                    </a:lnTo>
                    <a:lnTo>
                      <a:pt x="1337661" y="96168"/>
                    </a:lnTo>
                    <a:lnTo>
                      <a:pt x="1342573" y="48580"/>
                    </a:lnTo>
                    <a:lnTo>
                      <a:pt x="1342573" y="49913"/>
                    </a:lnTo>
                    <a:lnTo>
                      <a:pt x="1344046" y="3810"/>
                    </a:lnTo>
                    <a:close/>
                  </a:path>
                  <a:path w="1344295" h="673100">
                    <a:moveTo>
                      <a:pt x="678942" y="672593"/>
                    </a:moveTo>
                    <a:lnTo>
                      <a:pt x="678942" y="663702"/>
                    </a:lnTo>
                    <a:lnTo>
                      <a:pt x="678180" y="666750"/>
                    </a:lnTo>
                    <a:lnTo>
                      <a:pt x="678180" y="670560"/>
                    </a:lnTo>
                    <a:lnTo>
                      <a:pt x="675289" y="672727"/>
                    </a:lnTo>
                    <a:lnTo>
                      <a:pt x="678180" y="672621"/>
                    </a:lnTo>
                    <a:lnTo>
                      <a:pt x="678942" y="672593"/>
                    </a:lnTo>
                    <a:close/>
                  </a:path>
                </a:pathLst>
              </a:custGeom>
              <a:solidFill>
                <a:srgbClr val="000000"/>
              </a:solidFill>
            </p:spPr>
            <p:txBody>
              <a:bodyPr wrap="square" lIns="0" tIns="0" rIns="0" bIns="0" rtlCol="0"/>
              <a:lstStyle/>
              <a:p>
                <a:endParaRPr/>
              </a:p>
            </p:txBody>
          </p:sp>
        </p:grpSp>
        <p:sp>
          <p:nvSpPr>
            <p:cNvPr id="25" name="object 25"/>
            <p:cNvSpPr txBox="1"/>
            <p:nvPr/>
          </p:nvSpPr>
          <p:spPr>
            <a:xfrm>
              <a:off x="5329949" y="4646676"/>
              <a:ext cx="1122680" cy="994967"/>
            </a:xfrm>
            <a:prstGeom prst="rect">
              <a:avLst/>
            </a:prstGeom>
          </p:spPr>
          <p:txBody>
            <a:bodyPr vert="horz" wrap="square" lIns="0" tIns="12700" rIns="0" bIns="0" rtlCol="0">
              <a:spAutoFit/>
            </a:bodyPr>
            <a:lstStyle/>
            <a:p>
              <a:pPr algn="ctr">
                <a:spcBef>
                  <a:spcPts val="100"/>
                </a:spcBef>
              </a:pPr>
              <a:r>
                <a:rPr sz="1000" b="1" spc="-10">
                  <a:latin typeface="Verdana"/>
                  <a:cs typeface="Verdana"/>
                </a:rPr>
                <a:t>Aprendizaje</a:t>
              </a:r>
              <a:endParaRPr sz="1000">
                <a:latin typeface="Verdana"/>
                <a:cs typeface="Verdana"/>
              </a:endParaRPr>
            </a:p>
            <a:p>
              <a:pPr marL="12700" marR="5080" algn="ctr">
                <a:spcBef>
                  <a:spcPts val="1080"/>
                </a:spcBef>
              </a:pPr>
              <a:r>
                <a:rPr sz="900">
                  <a:latin typeface="Verdana"/>
                  <a:cs typeface="Verdana"/>
                </a:rPr>
                <a:t>Cómo</a:t>
              </a:r>
              <a:r>
                <a:rPr sz="900" spc="-60">
                  <a:latin typeface="Verdana"/>
                  <a:cs typeface="Verdana"/>
                </a:rPr>
                <a:t> </a:t>
              </a:r>
              <a:r>
                <a:rPr sz="900" spc="-10">
                  <a:latin typeface="Verdana"/>
                  <a:cs typeface="Verdana"/>
                </a:rPr>
                <a:t>nuestra organización</a:t>
              </a:r>
              <a:r>
                <a:rPr sz="900" spc="30">
                  <a:latin typeface="Verdana"/>
                  <a:cs typeface="Verdana"/>
                </a:rPr>
                <a:t> </a:t>
              </a:r>
              <a:r>
                <a:rPr sz="900" spc="-20">
                  <a:latin typeface="Verdana"/>
                  <a:cs typeface="Verdana"/>
                </a:rPr>
                <a:t>debe </a:t>
              </a:r>
              <a:r>
                <a:rPr sz="900">
                  <a:latin typeface="Verdana"/>
                  <a:cs typeface="Verdana"/>
                </a:rPr>
                <a:t>aprender</a:t>
              </a:r>
              <a:r>
                <a:rPr sz="900" spc="-35">
                  <a:latin typeface="Verdana"/>
                  <a:cs typeface="Verdana"/>
                </a:rPr>
                <a:t> </a:t>
              </a:r>
              <a:r>
                <a:rPr sz="900">
                  <a:latin typeface="Verdana"/>
                  <a:cs typeface="Verdana"/>
                </a:rPr>
                <a:t>e</a:t>
              </a:r>
              <a:r>
                <a:rPr sz="900" spc="-40">
                  <a:latin typeface="Verdana"/>
                  <a:cs typeface="Verdana"/>
                </a:rPr>
                <a:t> </a:t>
              </a:r>
              <a:r>
                <a:rPr sz="900" spc="-10">
                  <a:latin typeface="Verdana"/>
                  <a:cs typeface="Verdana"/>
                </a:rPr>
                <a:t>innovar</a:t>
              </a:r>
              <a:endParaRPr sz="900">
                <a:latin typeface="Verdana"/>
                <a:cs typeface="Verdana"/>
              </a:endParaRPr>
            </a:p>
          </p:txBody>
        </p:sp>
      </p:grpSp>
      <p:sp>
        <p:nvSpPr>
          <p:cNvPr id="28" name="Marcador de número de diapositiva 27">
            <a:extLst>
              <a:ext uri="{FF2B5EF4-FFF2-40B4-BE49-F238E27FC236}">
                <a16:creationId xmlns:a16="http://schemas.microsoft.com/office/drawing/2014/main" id="{B9BA5EF6-F334-F3CE-E035-E24B5E461E49}"/>
              </a:ext>
            </a:extLst>
          </p:cNvPr>
          <p:cNvSpPr>
            <a:spLocks noGrp="1"/>
          </p:cNvSpPr>
          <p:nvPr>
            <p:ph type="sldNum" sz="quarter" idx="12"/>
          </p:nvPr>
        </p:nvSpPr>
        <p:spPr/>
        <p:txBody>
          <a:bodyPr/>
          <a:lstStyle/>
          <a:p>
            <a:fld id="{0E40E506-8910-4A1D-9597-9E72BD293B97}"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9AB2F-D39E-6D53-0A32-2E372AFF8805}"/>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ACC2418C-050F-3371-8104-CAE9375FD2B1}"/>
              </a:ext>
            </a:extLst>
          </p:cNvPr>
          <p:cNvSpPr>
            <a:spLocks noGrp="1"/>
          </p:cNvSpPr>
          <p:nvPr>
            <p:ph idx="1"/>
          </p:nvPr>
        </p:nvSpPr>
        <p:spPr/>
        <p:txBody>
          <a:bodyPr/>
          <a:lstStyle/>
          <a:p>
            <a:pPr algn="l" fontAlgn="auto"/>
            <a:r>
              <a:rPr lang="es-MX">
                <a:solidFill>
                  <a:schemeClr val="accent1"/>
                </a:solidFill>
                <a:latin typeface="TWK Lausanne"/>
              </a:rPr>
              <a:t>La</a:t>
            </a:r>
            <a:r>
              <a:rPr lang="es-MX" b="0" i="0">
                <a:solidFill>
                  <a:schemeClr val="accent1"/>
                </a:solidFill>
                <a:effectLst/>
                <a:latin typeface="TWK Lausanne"/>
              </a:rPr>
              <a:t> estrategia empresarial puede centrarse en una serie de objetivos interrelacionados, medidos mediante diversos indicadores y vinculados a planes de acción concretos. </a:t>
            </a:r>
          </a:p>
          <a:p>
            <a:pPr algn="l" fontAlgn="auto"/>
            <a:r>
              <a:rPr lang="es-MX" b="0" i="0">
                <a:solidFill>
                  <a:schemeClr val="accent1"/>
                </a:solidFill>
                <a:effectLst/>
                <a:latin typeface="TWK Lausanne"/>
              </a:rPr>
              <a:t>Esto permite alinear completamente el comportamiento de los miembros de tu organización hacia la consecución de sus metas.</a:t>
            </a:r>
          </a:p>
          <a:p>
            <a:pPr algn="l" fontAlgn="auto"/>
            <a:r>
              <a:rPr lang="es-MX" b="0" i="0">
                <a:solidFill>
                  <a:schemeClr val="accent1"/>
                </a:solidFill>
                <a:effectLst/>
                <a:latin typeface="TWK Lausanne"/>
              </a:rPr>
              <a:t>Los objetivos estratégicos se pueden distribuir en cuatro perspectivas: perspectiva financiera, perspectiva del cliente, perspectiva interna y perspectiva de aprendizaje y crecimiento. Veámoslo a continuación con más detalle.</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EE5533A4-ED11-1051-0029-68A79654B6CC}"/>
              </a:ext>
            </a:extLst>
          </p:cNvPr>
          <p:cNvSpPr>
            <a:spLocks noGrp="1"/>
          </p:cNvSpPr>
          <p:nvPr>
            <p:ph type="sldNum" sz="quarter" idx="12"/>
          </p:nvPr>
        </p:nvSpPr>
        <p:spPr/>
        <p:txBody>
          <a:bodyPr/>
          <a:lstStyle/>
          <a:p>
            <a:fld id="{0E40E506-8910-4A1D-9597-9E72BD293B97}" type="slidenum">
              <a:rPr lang="en-US" smtClean="0"/>
              <a:t>5</a:t>
            </a:fld>
            <a:endParaRPr lang="en-US"/>
          </a:p>
        </p:txBody>
      </p:sp>
    </p:spTree>
    <p:extLst>
      <p:ext uri="{BB962C8B-B14F-4D97-AF65-F5344CB8AC3E}">
        <p14:creationId xmlns:p14="http://schemas.microsoft.com/office/powerpoint/2010/main" val="947741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F7441B-BCEF-E816-094B-3F0DF919F7B3}"/>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6AB90CD5-6CAB-0B53-16B5-2BF41517DADC}"/>
              </a:ext>
            </a:extLst>
          </p:cNvPr>
          <p:cNvSpPr>
            <a:spLocks noGrp="1"/>
          </p:cNvSpPr>
          <p:nvPr>
            <p:ph idx="1"/>
          </p:nvPr>
        </p:nvSpPr>
        <p:spPr>
          <a:xfrm>
            <a:off x="581192" y="2143952"/>
            <a:ext cx="11029615" cy="4011892"/>
          </a:xfrm>
        </p:spPr>
        <p:txBody>
          <a:bodyPr>
            <a:normAutofit fontScale="85000" lnSpcReduction="20000"/>
          </a:bodyPr>
          <a:lstStyle/>
          <a:p>
            <a:pPr algn="l" fontAlgn="auto"/>
            <a:r>
              <a:rPr lang="es-MX" b="0" i="0">
                <a:solidFill>
                  <a:schemeClr val="accent1"/>
                </a:solidFill>
                <a:effectLst/>
                <a:latin typeface="TWK Lausanne"/>
              </a:rPr>
              <a:t>La importancia de las 4 perspectivas del cuadro de mandos integral radica en ofrecer una visión completa y equilibrada del rendimiento empresarial. Cada perspectiva juega un papel esencial y proporciona una visión completa de tu empresa. </a:t>
            </a:r>
          </a:p>
          <a:p>
            <a:pPr algn="l" fontAlgn="auto">
              <a:buFont typeface="+mj-lt"/>
              <a:buAutoNum type="arabicPeriod"/>
            </a:pPr>
            <a:r>
              <a:rPr lang="es-MX" b="1" i="0">
                <a:solidFill>
                  <a:schemeClr val="accent1"/>
                </a:solidFill>
                <a:effectLst/>
                <a:latin typeface="inherit"/>
              </a:rPr>
              <a:t>Financiera</a:t>
            </a:r>
            <a:r>
              <a:rPr lang="es-MX" b="1" i="0">
                <a:solidFill>
                  <a:schemeClr val="accent1"/>
                </a:solidFill>
                <a:effectLst/>
                <a:latin typeface="TWK Lausanne"/>
              </a:rPr>
              <a:t>:</a:t>
            </a:r>
            <a:r>
              <a:rPr lang="es-MX" b="0" i="0">
                <a:solidFill>
                  <a:schemeClr val="accent1"/>
                </a:solidFill>
                <a:effectLst/>
                <a:latin typeface="TWK Lausanne"/>
              </a:rPr>
              <a:t> La perspectiva financiera se centra en los </a:t>
            </a:r>
            <a:r>
              <a:rPr lang="es-MX" b="1" i="0">
                <a:solidFill>
                  <a:schemeClr val="accent1"/>
                </a:solidFill>
                <a:effectLst/>
                <a:latin typeface="TWK Lausanne"/>
              </a:rPr>
              <a:t>indicadores económicos </a:t>
            </a:r>
            <a:r>
              <a:rPr lang="es-MX" b="0" i="0">
                <a:solidFill>
                  <a:schemeClr val="accent1"/>
                </a:solidFill>
                <a:effectLst/>
                <a:latin typeface="TWK Lausanne"/>
              </a:rPr>
              <a:t>clave (</a:t>
            </a:r>
            <a:r>
              <a:rPr lang="es-MX" b="0" i="0">
                <a:solidFill>
                  <a:schemeClr val="accent1"/>
                </a:solidFill>
                <a:effectLst/>
                <a:latin typeface="inherit"/>
              </a:rPr>
              <a:t>Key Performance </a:t>
            </a:r>
            <a:r>
              <a:rPr lang="es-MX" b="0" i="0" err="1">
                <a:solidFill>
                  <a:schemeClr val="accent1"/>
                </a:solidFill>
                <a:effectLst/>
                <a:latin typeface="inherit"/>
              </a:rPr>
              <a:t>Indicator</a:t>
            </a:r>
            <a:r>
              <a:rPr lang="es-MX" b="0" i="0">
                <a:solidFill>
                  <a:schemeClr val="accent1"/>
                </a:solidFill>
                <a:effectLst/>
                <a:latin typeface="inherit"/>
              </a:rPr>
              <a:t> o KPI</a:t>
            </a:r>
            <a:r>
              <a:rPr lang="es-MX" b="0" i="0">
                <a:solidFill>
                  <a:schemeClr val="accent1"/>
                </a:solidFill>
                <a:effectLst/>
                <a:latin typeface="TWK Lausanne"/>
              </a:rPr>
              <a:t>), como ingresos, rentabilidad y costes. Ofrece una visión clara del desempeño financiero general, permitiendo evaluar la viabilidad y sostenibilidad a largo plazo de la empresa.</a:t>
            </a:r>
          </a:p>
          <a:p>
            <a:pPr algn="l" fontAlgn="auto">
              <a:buFont typeface="+mj-lt"/>
              <a:buAutoNum type="arabicPeriod"/>
            </a:pPr>
            <a:r>
              <a:rPr lang="es-MX" b="1">
                <a:solidFill>
                  <a:schemeClr val="accent1"/>
                </a:solidFill>
                <a:latin typeface="inherit"/>
              </a:rPr>
              <a:t>Cliente: </a:t>
            </a:r>
            <a:r>
              <a:rPr lang="es-MX" b="0" i="0">
                <a:solidFill>
                  <a:schemeClr val="accent1"/>
                </a:solidFill>
                <a:effectLst/>
                <a:latin typeface="TWK Lausanne"/>
              </a:rPr>
              <a:t>Desde la perspectiva del cliente, se analizan métricas como la satisfacción del cliente, retención y adquisición. Esto proporciona información sobre cómo la empresa es percibida por sus clientes, identificando áreas de mejora y oportunidades para fortalecer relaciones.</a:t>
            </a:r>
          </a:p>
          <a:p>
            <a:pPr algn="l" fontAlgn="auto">
              <a:buFont typeface="+mj-lt"/>
              <a:buAutoNum type="arabicPeriod"/>
            </a:pPr>
            <a:r>
              <a:rPr lang="es-MX" b="1">
                <a:solidFill>
                  <a:schemeClr val="accent1"/>
                </a:solidFill>
                <a:latin typeface="inherit"/>
              </a:rPr>
              <a:t>Procesos internos: </a:t>
            </a:r>
            <a:r>
              <a:rPr lang="es-MX" b="1" i="0">
                <a:solidFill>
                  <a:schemeClr val="accent1"/>
                </a:solidFill>
                <a:effectLst/>
                <a:latin typeface="TWK Lausanne"/>
              </a:rPr>
              <a:t>La </a:t>
            </a:r>
            <a:r>
              <a:rPr lang="es-MX" b="1" i="0">
                <a:solidFill>
                  <a:schemeClr val="accent1"/>
                </a:solidFill>
                <a:effectLst/>
                <a:latin typeface="inherit"/>
              </a:rPr>
              <a:t>eficiencia operativa</a:t>
            </a:r>
            <a:r>
              <a:rPr lang="es-MX" b="1" i="0">
                <a:solidFill>
                  <a:schemeClr val="accent1"/>
                </a:solidFill>
                <a:effectLst/>
                <a:latin typeface="TWK Lausanne"/>
              </a:rPr>
              <a:t> y la calidad </a:t>
            </a:r>
            <a:r>
              <a:rPr lang="es-MX" b="0" i="0">
                <a:solidFill>
                  <a:schemeClr val="accent1"/>
                </a:solidFill>
                <a:effectLst/>
                <a:latin typeface="TWK Lausanne"/>
              </a:rPr>
              <a:t>se evalúan desde la perspectiva de los procesos internos. Medir y optimizar estos procesos contribuye directamente a mejorar la entrega de productos o servicios, aumentando la eficacia y reduciendo costos.</a:t>
            </a:r>
          </a:p>
          <a:p>
            <a:pPr algn="l" fontAlgn="auto">
              <a:buFont typeface="+mj-lt"/>
              <a:buAutoNum type="arabicPeriod"/>
            </a:pPr>
            <a:r>
              <a:rPr lang="es-MX" b="1">
                <a:solidFill>
                  <a:schemeClr val="accent1"/>
                </a:solidFill>
                <a:latin typeface="inherit"/>
              </a:rPr>
              <a:t>Aprendizaje y crecimiento</a:t>
            </a:r>
            <a:r>
              <a:rPr lang="es-MX" b="0" i="0">
                <a:solidFill>
                  <a:schemeClr val="accent1"/>
                </a:solidFill>
                <a:effectLst/>
                <a:latin typeface="TWK Lausanne"/>
              </a:rPr>
              <a:t>: Esta perspectiva se centra en el </a:t>
            </a:r>
            <a:r>
              <a:rPr lang="es-MX" b="1" i="0">
                <a:solidFill>
                  <a:schemeClr val="accent1"/>
                </a:solidFill>
                <a:effectLst/>
                <a:latin typeface="TWK Lausanne"/>
              </a:rPr>
              <a:t>desarrollo y crecimiento a largo plazo</a:t>
            </a:r>
            <a:r>
              <a:rPr lang="es-MX" b="0" i="0">
                <a:solidFill>
                  <a:schemeClr val="accent1"/>
                </a:solidFill>
                <a:effectLst/>
                <a:latin typeface="TWK Lausanne"/>
              </a:rPr>
              <a:t>, considerando aspectos como capacitación del personal, innovación y adaptabilidad. Un equipo bien capacitado y una cultura de aprendizaje continuo son fundamentales para la evolución positiva de la empresa.</a:t>
            </a:r>
          </a:p>
          <a:p>
            <a:pPr algn="l" fontAlgn="auto"/>
            <a:r>
              <a:rPr lang="es-MX" b="0" i="0">
                <a:solidFill>
                  <a:schemeClr val="accent1"/>
                </a:solidFill>
                <a:effectLst/>
                <a:latin typeface="TWK Lausanne"/>
              </a:rPr>
              <a:t>La combinación de estas perspectivas nos permite tomar decisiones informadas que abarcan todas las dimensiones de la organización. Desde la salud financiera hasta la satisfacción del cliente y la eficiencia operativa, el cuadro de mando garantiza una gestión estratégica integral.</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E0FEB8A9-9A0A-C7B0-C5D5-CBE55039040E}"/>
              </a:ext>
            </a:extLst>
          </p:cNvPr>
          <p:cNvSpPr>
            <a:spLocks noGrp="1"/>
          </p:cNvSpPr>
          <p:nvPr>
            <p:ph type="sldNum" sz="quarter" idx="12"/>
          </p:nvPr>
        </p:nvSpPr>
        <p:spPr/>
        <p:txBody>
          <a:bodyPr/>
          <a:lstStyle/>
          <a:p>
            <a:fld id="{0E40E506-8910-4A1D-9597-9E72BD293B97}" type="slidenum">
              <a:rPr lang="en-US" smtClean="0"/>
              <a:t>6</a:t>
            </a:fld>
            <a:endParaRPr lang="en-US"/>
          </a:p>
        </p:txBody>
      </p:sp>
    </p:spTree>
    <p:extLst>
      <p:ext uri="{BB962C8B-B14F-4D97-AF65-F5344CB8AC3E}">
        <p14:creationId xmlns:p14="http://schemas.microsoft.com/office/powerpoint/2010/main" val="1761878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8EA866-25FC-64FD-1D3E-9B500FDB6C54}"/>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EF72C24A-DEC3-A664-FFDC-B3FF590D57DF}"/>
              </a:ext>
            </a:extLst>
          </p:cNvPr>
          <p:cNvSpPr>
            <a:spLocks noGrp="1"/>
          </p:cNvSpPr>
          <p:nvPr>
            <p:ph idx="1"/>
          </p:nvPr>
        </p:nvSpPr>
        <p:spPr>
          <a:xfrm>
            <a:off x="481604" y="2959094"/>
            <a:ext cx="11029615" cy="3678303"/>
          </a:xfrm>
        </p:spPr>
        <p:txBody>
          <a:bodyPr>
            <a:normAutofit fontScale="85000" lnSpcReduction="10000"/>
          </a:bodyPr>
          <a:lstStyle/>
          <a:p>
            <a:pPr marL="12700" indent="0">
              <a:spcBef>
                <a:spcPts val="95"/>
              </a:spcBef>
              <a:buNone/>
            </a:pPr>
            <a:r>
              <a:rPr lang="es-MX" b="1">
                <a:solidFill>
                  <a:schemeClr val="accent1"/>
                </a:solidFill>
                <a:latin typeface="Arial"/>
                <a:cs typeface="Arial"/>
              </a:rPr>
              <a:t>Cada</a:t>
            </a:r>
            <a:r>
              <a:rPr lang="es-MX" b="1" spc="-35">
                <a:solidFill>
                  <a:schemeClr val="accent1"/>
                </a:solidFill>
                <a:latin typeface="Arial"/>
                <a:cs typeface="Arial"/>
              </a:rPr>
              <a:t> </a:t>
            </a:r>
            <a:r>
              <a:rPr lang="es-MX" b="1">
                <a:solidFill>
                  <a:schemeClr val="accent1"/>
                </a:solidFill>
                <a:latin typeface="Arial"/>
                <a:cs typeface="Arial"/>
              </a:rPr>
              <a:t>perspectiva</a:t>
            </a:r>
            <a:r>
              <a:rPr lang="es-MX" b="1" spc="-30">
                <a:solidFill>
                  <a:schemeClr val="accent1"/>
                </a:solidFill>
                <a:latin typeface="Arial"/>
                <a:cs typeface="Arial"/>
              </a:rPr>
              <a:t> </a:t>
            </a:r>
            <a:r>
              <a:rPr lang="es-MX" b="1">
                <a:solidFill>
                  <a:schemeClr val="accent1"/>
                </a:solidFill>
                <a:latin typeface="Arial"/>
                <a:cs typeface="Arial"/>
              </a:rPr>
              <a:t>está</a:t>
            </a:r>
            <a:r>
              <a:rPr lang="es-MX" b="1" spc="-30">
                <a:solidFill>
                  <a:schemeClr val="accent1"/>
                </a:solidFill>
                <a:latin typeface="Arial"/>
                <a:cs typeface="Arial"/>
              </a:rPr>
              <a:t> </a:t>
            </a:r>
            <a:r>
              <a:rPr lang="es-MX" b="1">
                <a:solidFill>
                  <a:schemeClr val="accent1"/>
                </a:solidFill>
                <a:latin typeface="Arial"/>
                <a:cs typeface="Arial"/>
              </a:rPr>
              <a:t>diseñada</a:t>
            </a:r>
            <a:r>
              <a:rPr lang="es-MX" b="1" spc="-35">
                <a:solidFill>
                  <a:schemeClr val="accent1"/>
                </a:solidFill>
                <a:latin typeface="Arial"/>
                <a:cs typeface="Arial"/>
              </a:rPr>
              <a:t> </a:t>
            </a:r>
            <a:r>
              <a:rPr lang="es-MX" b="1">
                <a:solidFill>
                  <a:schemeClr val="accent1"/>
                </a:solidFill>
                <a:latin typeface="Arial"/>
                <a:cs typeface="Arial"/>
              </a:rPr>
              <a:t>para</a:t>
            </a:r>
            <a:r>
              <a:rPr lang="es-MX" b="1" spc="-30">
                <a:solidFill>
                  <a:schemeClr val="accent1"/>
                </a:solidFill>
                <a:latin typeface="Arial"/>
                <a:cs typeface="Arial"/>
              </a:rPr>
              <a:t> </a:t>
            </a:r>
            <a:r>
              <a:rPr lang="es-MX" b="1">
                <a:solidFill>
                  <a:schemeClr val="accent1"/>
                </a:solidFill>
                <a:latin typeface="Arial"/>
                <a:cs typeface="Arial"/>
              </a:rPr>
              <a:t>responder</a:t>
            </a:r>
            <a:r>
              <a:rPr lang="es-MX" b="1" spc="-30">
                <a:solidFill>
                  <a:schemeClr val="accent1"/>
                </a:solidFill>
                <a:latin typeface="Arial"/>
                <a:cs typeface="Arial"/>
              </a:rPr>
              <a:t> </a:t>
            </a:r>
            <a:r>
              <a:rPr lang="es-MX" b="1">
                <a:solidFill>
                  <a:schemeClr val="accent1"/>
                </a:solidFill>
                <a:latin typeface="Arial"/>
                <a:cs typeface="Arial"/>
              </a:rPr>
              <a:t>una</a:t>
            </a:r>
            <a:r>
              <a:rPr lang="es-MX" b="1" spc="-35">
                <a:solidFill>
                  <a:schemeClr val="accent1"/>
                </a:solidFill>
                <a:latin typeface="Arial"/>
                <a:cs typeface="Arial"/>
              </a:rPr>
              <a:t> </a:t>
            </a:r>
            <a:r>
              <a:rPr lang="es-MX" b="1">
                <a:solidFill>
                  <a:schemeClr val="accent1"/>
                </a:solidFill>
                <a:latin typeface="Arial"/>
                <a:cs typeface="Arial"/>
              </a:rPr>
              <a:t>pregunta</a:t>
            </a:r>
            <a:r>
              <a:rPr lang="es-MX" b="1" spc="-30">
                <a:solidFill>
                  <a:schemeClr val="accent1"/>
                </a:solidFill>
                <a:latin typeface="Arial"/>
                <a:cs typeface="Arial"/>
              </a:rPr>
              <a:t> </a:t>
            </a:r>
            <a:r>
              <a:rPr lang="es-MX" b="1">
                <a:solidFill>
                  <a:schemeClr val="accent1"/>
                </a:solidFill>
                <a:latin typeface="Arial"/>
                <a:cs typeface="Arial"/>
              </a:rPr>
              <a:t>acerca</a:t>
            </a:r>
            <a:r>
              <a:rPr lang="es-MX" b="1" spc="-30">
                <a:solidFill>
                  <a:schemeClr val="accent1"/>
                </a:solidFill>
                <a:latin typeface="Arial"/>
                <a:cs typeface="Arial"/>
              </a:rPr>
              <a:t> </a:t>
            </a:r>
            <a:r>
              <a:rPr lang="es-MX" b="1" spc="-25">
                <a:solidFill>
                  <a:schemeClr val="accent1"/>
                </a:solidFill>
                <a:latin typeface="Arial"/>
                <a:cs typeface="Arial"/>
              </a:rPr>
              <a:t>de </a:t>
            </a:r>
            <a:r>
              <a:rPr lang="es-MX" b="1">
                <a:solidFill>
                  <a:schemeClr val="accent1"/>
                </a:solidFill>
                <a:latin typeface="Arial"/>
                <a:cs typeface="Arial"/>
              </a:rPr>
              <a:t>la</a:t>
            </a:r>
            <a:r>
              <a:rPr lang="es-MX" b="1" spc="-30">
                <a:solidFill>
                  <a:schemeClr val="accent1"/>
                </a:solidFill>
                <a:latin typeface="Arial"/>
                <a:cs typeface="Arial"/>
              </a:rPr>
              <a:t> </a:t>
            </a:r>
            <a:r>
              <a:rPr lang="es-MX" b="1">
                <a:solidFill>
                  <a:schemeClr val="accent1"/>
                </a:solidFill>
                <a:latin typeface="Arial"/>
                <a:cs typeface="Arial"/>
              </a:rPr>
              <a:t>forma</a:t>
            </a:r>
            <a:r>
              <a:rPr lang="es-MX" b="1" spc="-15">
                <a:solidFill>
                  <a:schemeClr val="accent1"/>
                </a:solidFill>
                <a:latin typeface="Arial"/>
                <a:cs typeface="Arial"/>
              </a:rPr>
              <a:t> </a:t>
            </a:r>
            <a:r>
              <a:rPr lang="es-MX" b="1">
                <a:solidFill>
                  <a:schemeClr val="accent1"/>
                </a:solidFill>
                <a:latin typeface="Arial"/>
                <a:cs typeface="Arial"/>
              </a:rPr>
              <a:t>de</a:t>
            </a:r>
            <a:r>
              <a:rPr lang="es-MX" b="1" spc="-15">
                <a:solidFill>
                  <a:schemeClr val="accent1"/>
                </a:solidFill>
                <a:latin typeface="Arial"/>
                <a:cs typeface="Arial"/>
              </a:rPr>
              <a:t> </a:t>
            </a:r>
            <a:r>
              <a:rPr lang="es-MX" b="1">
                <a:solidFill>
                  <a:schemeClr val="accent1"/>
                </a:solidFill>
                <a:latin typeface="Arial"/>
                <a:cs typeface="Arial"/>
              </a:rPr>
              <a:t>hacer</a:t>
            </a:r>
            <a:r>
              <a:rPr lang="es-MX" b="1" spc="-10">
                <a:solidFill>
                  <a:schemeClr val="accent1"/>
                </a:solidFill>
                <a:latin typeface="Arial"/>
                <a:cs typeface="Arial"/>
              </a:rPr>
              <a:t> </a:t>
            </a:r>
            <a:r>
              <a:rPr lang="es-MX" b="1">
                <a:solidFill>
                  <a:schemeClr val="accent1"/>
                </a:solidFill>
                <a:latin typeface="Arial"/>
                <a:cs typeface="Arial"/>
              </a:rPr>
              <a:t>negocios que</a:t>
            </a:r>
            <a:r>
              <a:rPr lang="es-MX" b="1" spc="-15">
                <a:solidFill>
                  <a:schemeClr val="accent1"/>
                </a:solidFill>
                <a:latin typeface="Arial"/>
                <a:cs typeface="Arial"/>
              </a:rPr>
              <a:t> </a:t>
            </a:r>
            <a:r>
              <a:rPr lang="es-MX" b="1">
                <a:solidFill>
                  <a:schemeClr val="accent1"/>
                </a:solidFill>
                <a:latin typeface="Arial"/>
                <a:cs typeface="Arial"/>
              </a:rPr>
              <a:t>tiene</a:t>
            </a:r>
            <a:r>
              <a:rPr lang="es-MX" b="1" spc="-5">
                <a:solidFill>
                  <a:schemeClr val="accent1"/>
                </a:solidFill>
                <a:latin typeface="Arial"/>
                <a:cs typeface="Arial"/>
              </a:rPr>
              <a:t> </a:t>
            </a:r>
            <a:r>
              <a:rPr lang="es-MX" b="1">
                <a:solidFill>
                  <a:schemeClr val="accent1"/>
                </a:solidFill>
                <a:latin typeface="Arial"/>
                <a:cs typeface="Arial"/>
              </a:rPr>
              <a:t>la</a:t>
            </a:r>
            <a:r>
              <a:rPr lang="es-MX" b="1" spc="-15">
                <a:solidFill>
                  <a:schemeClr val="accent1"/>
                </a:solidFill>
                <a:latin typeface="Arial"/>
                <a:cs typeface="Arial"/>
              </a:rPr>
              <a:t> </a:t>
            </a:r>
            <a:r>
              <a:rPr lang="es-MX" b="1">
                <a:solidFill>
                  <a:schemeClr val="accent1"/>
                </a:solidFill>
                <a:latin typeface="Arial"/>
                <a:cs typeface="Arial"/>
              </a:rPr>
              <a:t>empresa</a:t>
            </a:r>
            <a:r>
              <a:rPr lang="es-MX" b="1" spc="-15">
                <a:solidFill>
                  <a:schemeClr val="accent1"/>
                </a:solidFill>
                <a:latin typeface="Arial"/>
                <a:cs typeface="Arial"/>
              </a:rPr>
              <a:t> </a:t>
            </a:r>
            <a:r>
              <a:rPr lang="es-MX" b="1" spc="-50">
                <a:solidFill>
                  <a:schemeClr val="accent1"/>
                </a:solidFill>
                <a:latin typeface="Arial"/>
                <a:cs typeface="Arial"/>
              </a:rPr>
              <a:t>:</a:t>
            </a:r>
            <a:endParaRPr lang="es-MX">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b="1">
              <a:solidFill>
                <a:schemeClr val="accent1"/>
              </a:solidFill>
              <a:latin typeface="Arial"/>
              <a:cs typeface="Arial"/>
            </a:endParaRP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35">
                <a:solidFill>
                  <a:schemeClr val="accent1"/>
                </a:solidFill>
                <a:latin typeface="Arial"/>
                <a:cs typeface="Arial"/>
              </a:rPr>
              <a:t> </a:t>
            </a:r>
            <a:r>
              <a:rPr lang="es-MX" sz="1800" b="1">
                <a:solidFill>
                  <a:schemeClr val="accent1"/>
                </a:solidFill>
                <a:latin typeface="Arial"/>
                <a:cs typeface="Arial"/>
              </a:rPr>
              <a:t>Financiera:</a:t>
            </a:r>
            <a:r>
              <a:rPr lang="es-MX" sz="1800" b="1" spc="335">
                <a:solidFill>
                  <a:schemeClr val="accent1"/>
                </a:solidFill>
                <a:latin typeface="Arial"/>
                <a:cs typeface="Arial"/>
              </a:rPr>
              <a:t> </a:t>
            </a:r>
            <a:r>
              <a:rPr lang="es-MX" sz="1800">
                <a:solidFill>
                  <a:schemeClr val="accent1"/>
                </a:solidFill>
                <a:latin typeface="Arial"/>
                <a:cs typeface="Arial"/>
              </a:rPr>
              <a:t>Para</a:t>
            </a:r>
            <a:r>
              <a:rPr lang="es-MX" sz="1800" spc="-15">
                <a:solidFill>
                  <a:schemeClr val="accent1"/>
                </a:solidFill>
                <a:latin typeface="Arial"/>
                <a:cs typeface="Arial"/>
              </a:rPr>
              <a:t> </a:t>
            </a:r>
            <a:r>
              <a:rPr lang="es-MX" sz="1800">
                <a:solidFill>
                  <a:schemeClr val="accent1"/>
                </a:solidFill>
                <a:latin typeface="Arial"/>
                <a:cs typeface="Arial"/>
              </a:rPr>
              <a:t>satisfacer</a:t>
            </a:r>
            <a:r>
              <a:rPr lang="es-MX" sz="1800" spc="-45">
                <a:solidFill>
                  <a:schemeClr val="accent1"/>
                </a:solidFill>
                <a:latin typeface="Arial"/>
                <a:cs typeface="Arial"/>
              </a:rPr>
              <a:t> </a:t>
            </a:r>
            <a:r>
              <a:rPr lang="es-MX" sz="1800">
                <a:solidFill>
                  <a:schemeClr val="accent1"/>
                </a:solidFill>
                <a:latin typeface="Arial"/>
                <a:cs typeface="Arial"/>
              </a:rPr>
              <a:t>a</a:t>
            </a:r>
            <a:r>
              <a:rPr lang="es-MX" sz="1800" spc="-15">
                <a:solidFill>
                  <a:schemeClr val="accent1"/>
                </a:solidFill>
                <a:latin typeface="Arial"/>
                <a:cs typeface="Arial"/>
              </a:rPr>
              <a:t> </a:t>
            </a:r>
            <a:r>
              <a:rPr lang="es-MX" sz="1800">
                <a:solidFill>
                  <a:schemeClr val="accent1"/>
                </a:solidFill>
                <a:latin typeface="Arial"/>
                <a:cs typeface="Arial"/>
              </a:rPr>
              <a:t>nuestros</a:t>
            </a:r>
            <a:r>
              <a:rPr lang="es-MX" sz="1800" spc="-35">
                <a:solidFill>
                  <a:schemeClr val="accent1"/>
                </a:solidFill>
                <a:latin typeface="Arial"/>
                <a:cs typeface="Arial"/>
              </a:rPr>
              <a:t> </a:t>
            </a:r>
            <a:r>
              <a:rPr lang="es-MX" sz="1800">
                <a:solidFill>
                  <a:schemeClr val="accent1"/>
                </a:solidFill>
                <a:latin typeface="Arial"/>
                <a:cs typeface="Arial"/>
              </a:rPr>
              <a:t>accionistas,</a:t>
            </a:r>
            <a:r>
              <a:rPr lang="es-MX" sz="1800" spc="-35">
                <a:solidFill>
                  <a:schemeClr val="accent1"/>
                </a:solidFill>
                <a:latin typeface="Arial"/>
                <a:cs typeface="Arial"/>
              </a:rPr>
              <a:t> </a:t>
            </a:r>
            <a:r>
              <a:rPr lang="es-MX" sz="1800">
                <a:solidFill>
                  <a:schemeClr val="accent1"/>
                </a:solidFill>
                <a:latin typeface="Arial"/>
                <a:cs typeface="Arial"/>
              </a:rPr>
              <a:t>¿Qué</a:t>
            </a:r>
            <a:r>
              <a:rPr lang="es-MX" sz="1800" spc="-30">
                <a:solidFill>
                  <a:schemeClr val="accent1"/>
                </a:solidFill>
                <a:latin typeface="Arial"/>
                <a:cs typeface="Arial"/>
              </a:rPr>
              <a:t> </a:t>
            </a:r>
            <a:r>
              <a:rPr lang="es-MX" sz="1800" spc="-10">
                <a:solidFill>
                  <a:schemeClr val="accent1"/>
                </a:solidFill>
                <a:latin typeface="Arial"/>
                <a:cs typeface="Arial"/>
              </a:rPr>
              <a:t>objetivos </a:t>
            </a:r>
            <a:r>
              <a:rPr lang="es-MX" sz="1800">
                <a:solidFill>
                  <a:schemeClr val="accent1"/>
                </a:solidFill>
                <a:latin typeface="Arial"/>
                <a:cs typeface="Arial"/>
              </a:rPr>
              <a:t>financieros</a:t>
            </a:r>
            <a:r>
              <a:rPr lang="es-MX" sz="1800" spc="-30">
                <a:solidFill>
                  <a:schemeClr val="accent1"/>
                </a:solidFill>
                <a:latin typeface="Arial"/>
                <a:cs typeface="Arial"/>
              </a:rPr>
              <a:t> </a:t>
            </a:r>
            <a:r>
              <a:rPr lang="es-MX" sz="1800">
                <a:solidFill>
                  <a:schemeClr val="accent1"/>
                </a:solidFill>
                <a:latin typeface="Arial"/>
                <a:cs typeface="Arial"/>
              </a:rPr>
              <a:t>debemos</a:t>
            </a:r>
            <a:r>
              <a:rPr lang="es-MX" sz="1800" spc="-30">
                <a:solidFill>
                  <a:schemeClr val="accent1"/>
                </a:solidFill>
                <a:latin typeface="Arial"/>
                <a:cs typeface="Arial"/>
              </a:rPr>
              <a:t> </a:t>
            </a:r>
            <a:r>
              <a:rPr lang="es-MX" sz="1800" spc="-10">
                <a:solidFill>
                  <a:schemeClr val="accent1"/>
                </a:solidFill>
                <a:latin typeface="Arial"/>
                <a:cs typeface="Arial"/>
              </a:rPr>
              <a:t>alcanzar?</a:t>
            </a: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20">
                <a:solidFill>
                  <a:schemeClr val="accent1"/>
                </a:solidFill>
                <a:latin typeface="Arial"/>
                <a:cs typeface="Arial"/>
              </a:rPr>
              <a:t> </a:t>
            </a:r>
            <a:r>
              <a:rPr lang="es-MX" sz="1800" b="1">
                <a:solidFill>
                  <a:schemeClr val="accent1"/>
                </a:solidFill>
                <a:latin typeface="Arial"/>
                <a:cs typeface="Arial"/>
              </a:rPr>
              <a:t>del</a:t>
            </a:r>
            <a:r>
              <a:rPr lang="es-MX" sz="1800" b="1" spc="-10">
                <a:solidFill>
                  <a:schemeClr val="accent1"/>
                </a:solidFill>
                <a:latin typeface="Arial"/>
                <a:cs typeface="Arial"/>
              </a:rPr>
              <a:t> </a:t>
            </a:r>
            <a:r>
              <a:rPr lang="es-MX" sz="1800" b="1">
                <a:solidFill>
                  <a:schemeClr val="accent1"/>
                </a:solidFill>
                <a:latin typeface="Arial"/>
                <a:cs typeface="Arial"/>
              </a:rPr>
              <a:t>Cliente:</a:t>
            </a:r>
            <a:r>
              <a:rPr lang="es-MX" sz="1800" b="1" spc="-25">
                <a:solidFill>
                  <a:schemeClr val="accent1"/>
                </a:solidFill>
                <a:latin typeface="Arial"/>
                <a:cs typeface="Arial"/>
              </a:rPr>
              <a:t> </a:t>
            </a:r>
            <a:r>
              <a:rPr lang="es-MX" sz="1800">
                <a:solidFill>
                  <a:schemeClr val="accent1"/>
                </a:solidFill>
                <a:latin typeface="Arial"/>
                <a:cs typeface="Arial"/>
              </a:rPr>
              <a:t>Para</a:t>
            </a:r>
            <a:r>
              <a:rPr lang="es-MX" sz="1800" spc="-10">
                <a:solidFill>
                  <a:schemeClr val="accent1"/>
                </a:solidFill>
                <a:latin typeface="Arial"/>
                <a:cs typeface="Arial"/>
              </a:rPr>
              <a:t> </a:t>
            </a:r>
            <a:r>
              <a:rPr lang="es-MX" sz="1800">
                <a:solidFill>
                  <a:schemeClr val="accent1"/>
                </a:solidFill>
                <a:latin typeface="Arial"/>
                <a:cs typeface="Arial"/>
              </a:rPr>
              <a:t>alcanzar</a:t>
            </a:r>
            <a:r>
              <a:rPr lang="es-MX" sz="1800" spc="-25">
                <a:solidFill>
                  <a:schemeClr val="accent1"/>
                </a:solidFill>
                <a:latin typeface="Arial"/>
                <a:cs typeface="Arial"/>
              </a:rPr>
              <a:t> </a:t>
            </a:r>
            <a:r>
              <a:rPr lang="es-MX" sz="1800">
                <a:solidFill>
                  <a:schemeClr val="accent1"/>
                </a:solidFill>
                <a:latin typeface="Arial"/>
                <a:cs typeface="Arial"/>
              </a:rPr>
              <a:t>nuestros</a:t>
            </a:r>
            <a:r>
              <a:rPr lang="es-MX" sz="1800" spc="-25">
                <a:solidFill>
                  <a:schemeClr val="accent1"/>
                </a:solidFill>
                <a:latin typeface="Arial"/>
                <a:cs typeface="Arial"/>
              </a:rPr>
              <a:t> </a:t>
            </a:r>
            <a:r>
              <a:rPr lang="es-MX" sz="1800">
                <a:solidFill>
                  <a:schemeClr val="accent1"/>
                </a:solidFill>
                <a:latin typeface="Arial"/>
                <a:cs typeface="Arial"/>
              </a:rPr>
              <a:t>objetivos</a:t>
            </a:r>
            <a:r>
              <a:rPr lang="es-MX" sz="1800" spc="-25">
                <a:solidFill>
                  <a:schemeClr val="accent1"/>
                </a:solidFill>
                <a:latin typeface="Arial"/>
                <a:cs typeface="Arial"/>
              </a:rPr>
              <a:t> </a:t>
            </a:r>
            <a:r>
              <a:rPr lang="es-MX" sz="1800" spc="-10">
                <a:solidFill>
                  <a:schemeClr val="accent1"/>
                </a:solidFill>
                <a:latin typeface="Arial"/>
                <a:cs typeface="Arial"/>
              </a:rPr>
              <a:t>financieros, ¿Qué </a:t>
            </a:r>
            <a:r>
              <a:rPr lang="es-MX" sz="1800">
                <a:solidFill>
                  <a:schemeClr val="accent1"/>
                </a:solidFill>
                <a:latin typeface="Arial"/>
                <a:cs typeface="Arial"/>
              </a:rPr>
              <a:t>necesidades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cliente</a:t>
            </a:r>
            <a:r>
              <a:rPr lang="es-MX" sz="1800" spc="-25">
                <a:solidFill>
                  <a:schemeClr val="accent1"/>
                </a:solidFill>
                <a:latin typeface="Arial"/>
                <a:cs typeface="Arial"/>
              </a:rPr>
              <a:t> </a:t>
            </a:r>
            <a:r>
              <a:rPr lang="es-MX" sz="1800">
                <a:solidFill>
                  <a:schemeClr val="accent1"/>
                </a:solidFill>
                <a:latin typeface="Arial"/>
                <a:cs typeface="Arial"/>
              </a:rPr>
              <a:t>debemos</a:t>
            </a:r>
            <a:r>
              <a:rPr lang="es-MX" sz="1800" spc="-25">
                <a:solidFill>
                  <a:schemeClr val="accent1"/>
                </a:solidFill>
                <a:latin typeface="Arial"/>
                <a:cs typeface="Arial"/>
              </a:rPr>
              <a:t> </a:t>
            </a:r>
            <a:r>
              <a:rPr lang="es-MX" sz="1800" spc="-10">
                <a:solidFill>
                  <a:schemeClr val="accent1"/>
                </a:solidFill>
                <a:latin typeface="Arial"/>
                <a:cs typeface="Arial"/>
              </a:rPr>
              <a:t>servir?</a:t>
            </a:r>
          </a:p>
          <a:p>
            <a:pPr marL="298450" indent="-285750">
              <a:spcBef>
                <a:spcPts val="95"/>
              </a:spcBef>
              <a:buFont typeface="Wingdings" panose="05000000000000000000" pitchFamily="2" charset="2"/>
              <a:buChar char="§"/>
            </a:pPr>
            <a:r>
              <a:rPr lang="es-AR" sz="1800" b="1">
                <a:solidFill>
                  <a:schemeClr val="accent1"/>
                </a:solidFill>
                <a:latin typeface="Arial"/>
                <a:cs typeface="Arial"/>
              </a:rPr>
              <a:t>Perspectiva</a:t>
            </a:r>
            <a:r>
              <a:rPr lang="es-AR" sz="1800" b="1" spc="-20">
                <a:solidFill>
                  <a:schemeClr val="accent1"/>
                </a:solidFill>
                <a:latin typeface="Arial"/>
                <a:cs typeface="Arial"/>
              </a:rPr>
              <a:t> </a:t>
            </a:r>
            <a:r>
              <a:rPr lang="es-AR" sz="1800" b="1" spc="-10">
                <a:solidFill>
                  <a:schemeClr val="accent1"/>
                </a:solidFill>
                <a:latin typeface="Arial"/>
                <a:cs typeface="Arial"/>
              </a:rPr>
              <a:t>Interna: </a:t>
            </a:r>
            <a:r>
              <a:rPr lang="es-MX" sz="1800">
                <a:solidFill>
                  <a:schemeClr val="accent1"/>
                </a:solidFill>
                <a:latin typeface="Arial"/>
                <a:cs typeface="Arial"/>
              </a:rPr>
              <a:t>Para</a:t>
            </a:r>
            <a:r>
              <a:rPr lang="es-MX" sz="1800" spc="-30">
                <a:solidFill>
                  <a:schemeClr val="accent1"/>
                </a:solidFill>
                <a:latin typeface="Arial"/>
                <a:cs typeface="Arial"/>
              </a:rPr>
              <a:t> </a:t>
            </a:r>
            <a:r>
              <a:rPr lang="es-MX" sz="1800">
                <a:solidFill>
                  <a:schemeClr val="accent1"/>
                </a:solidFill>
                <a:latin typeface="Arial"/>
                <a:cs typeface="Arial"/>
              </a:rPr>
              <a:t>satisfacer</a:t>
            </a:r>
            <a:r>
              <a:rPr lang="es-MX" sz="1800" spc="-25">
                <a:solidFill>
                  <a:schemeClr val="accent1"/>
                </a:solidFill>
                <a:latin typeface="Arial"/>
                <a:cs typeface="Arial"/>
              </a:rPr>
              <a:t> </a:t>
            </a:r>
            <a:r>
              <a:rPr lang="es-MX" sz="1800">
                <a:solidFill>
                  <a:schemeClr val="accent1"/>
                </a:solidFill>
                <a:latin typeface="Arial"/>
                <a:cs typeface="Arial"/>
              </a:rPr>
              <a:t>a</a:t>
            </a:r>
            <a:r>
              <a:rPr lang="es-MX" sz="1800" spc="-10">
                <a:solidFill>
                  <a:schemeClr val="accent1"/>
                </a:solidFill>
                <a:latin typeface="Arial"/>
                <a:cs typeface="Arial"/>
              </a:rPr>
              <a:t> </a:t>
            </a:r>
            <a:r>
              <a:rPr lang="es-MX" sz="1800">
                <a:solidFill>
                  <a:schemeClr val="accent1"/>
                </a:solidFill>
                <a:latin typeface="Arial"/>
                <a:cs typeface="Arial"/>
              </a:rPr>
              <a:t>nuestros</a:t>
            </a:r>
            <a:r>
              <a:rPr lang="es-MX" sz="1800" spc="-25">
                <a:solidFill>
                  <a:schemeClr val="accent1"/>
                </a:solidFill>
                <a:latin typeface="Arial"/>
                <a:cs typeface="Arial"/>
              </a:rPr>
              <a:t> </a:t>
            </a:r>
            <a:r>
              <a:rPr lang="es-MX" sz="1800">
                <a:solidFill>
                  <a:schemeClr val="accent1"/>
                </a:solidFill>
                <a:latin typeface="Arial"/>
                <a:cs typeface="Arial"/>
              </a:rPr>
              <a:t>clientes</a:t>
            </a:r>
            <a:r>
              <a:rPr lang="es-MX" sz="1800" spc="-25">
                <a:solidFill>
                  <a:schemeClr val="accent1"/>
                </a:solidFill>
                <a:latin typeface="Arial"/>
                <a:cs typeface="Arial"/>
              </a:rPr>
              <a:t> </a:t>
            </a:r>
            <a:r>
              <a:rPr lang="es-MX" sz="1800">
                <a:solidFill>
                  <a:schemeClr val="accent1"/>
                </a:solidFill>
                <a:latin typeface="Arial"/>
                <a:cs typeface="Arial"/>
              </a:rPr>
              <a:t>y</a:t>
            </a:r>
            <a:r>
              <a:rPr lang="es-MX" sz="1800" spc="-10">
                <a:solidFill>
                  <a:schemeClr val="accent1"/>
                </a:solidFill>
                <a:latin typeface="Arial"/>
                <a:cs typeface="Arial"/>
              </a:rPr>
              <a:t> </a:t>
            </a:r>
            <a:r>
              <a:rPr lang="es-MX" sz="1800">
                <a:solidFill>
                  <a:schemeClr val="accent1"/>
                </a:solidFill>
                <a:latin typeface="Arial"/>
                <a:cs typeface="Arial"/>
              </a:rPr>
              <a:t>accionistas,</a:t>
            </a:r>
            <a:r>
              <a:rPr lang="es-MX" sz="1800" spc="-25">
                <a:solidFill>
                  <a:schemeClr val="accent1"/>
                </a:solidFill>
                <a:latin typeface="Arial"/>
                <a:cs typeface="Arial"/>
              </a:rPr>
              <a:t> </a:t>
            </a:r>
            <a:r>
              <a:rPr lang="es-MX" sz="1800">
                <a:solidFill>
                  <a:schemeClr val="accent1"/>
                </a:solidFill>
                <a:latin typeface="Arial"/>
                <a:cs typeface="Arial"/>
              </a:rPr>
              <a:t>¿En </a:t>
            </a:r>
            <a:r>
              <a:rPr lang="es-MX" sz="1800" spc="-25">
                <a:solidFill>
                  <a:schemeClr val="accent1"/>
                </a:solidFill>
                <a:latin typeface="Arial"/>
                <a:cs typeface="Arial"/>
              </a:rPr>
              <a:t>qué </a:t>
            </a:r>
            <a:r>
              <a:rPr lang="es-MX" sz="1800">
                <a:solidFill>
                  <a:schemeClr val="accent1"/>
                </a:solidFill>
                <a:latin typeface="Arial"/>
                <a:cs typeface="Arial"/>
              </a:rPr>
              <a:t>procesos</a:t>
            </a:r>
            <a:r>
              <a:rPr lang="es-MX" sz="1800" spc="-25">
                <a:solidFill>
                  <a:schemeClr val="accent1"/>
                </a:solidFill>
                <a:latin typeface="Arial"/>
                <a:cs typeface="Arial"/>
              </a:rPr>
              <a:t> </a:t>
            </a:r>
            <a:r>
              <a:rPr lang="es-MX" sz="1800">
                <a:solidFill>
                  <a:schemeClr val="accent1"/>
                </a:solidFill>
                <a:latin typeface="Arial"/>
                <a:cs typeface="Arial"/>
              </a:rPr>
              <a:t>internos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negocio</a:t>
            </a:r>
            <a:r>
              <a:rPr lang="es-MX" sz="1800" spc="-25">
                <a:solidFill>
                  <a:schemeClr val="accent1"/>
                </a:solidFill>
                <a:latin typeface="Arial"/>
                <a:cs typeface="Arial"/>
              </a:rPr>
              <a:t> </a:t>
            </a:r>
            <a:r>
              <a:rPr lang="es-MX" sz="1800">
                <a:solidFill>
                  <a:schemeClr val="accent1"/>
                </a:solidFill>
                <a:latin typeface="Arial"/>
                <a:cs typeface="Arial"/>
              </a:rPr>
              <a:t>debemos</a:t>
            </a:r>
            <a:r>
              <a:rPr lang="es-MX" sz="1800" spc="-25">
                <a:solidFill>
                  <a:schemeClr val="accent1"/>
                </a:solidFill>
                <a:latin typeface="Arial"/>
                <a:cs typeface="Arial"/>
              </a:rPr>
              <a:t> </a:t>
            </a:r>
            <a:r>
              <a:rPr lang="es-MX" sz="1800" spc="-10">
                <a:solidFill>
                  <a:schemeClr val="accent1"/>
                </a:solidFill>
                <a:latin typeface="Arial"/>
                <a:cs typeface="Arial"/>
              </a:rPr>
              <a:t>distinguirnos?</a:t>
            </a: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25">
                <a:solidFill>
                  <a:schemeClr val="accent1"/>
                </a:solidFill>
                <a:latin typeface="Arial"/>
                <a:cs typeface="Arial"/>
              </a:rPr>
              <a:t> </a:t>
            </a:r>
            <a:r>
              <a:rPr lang="es-MX" sz="1800" b="1">
                <a:solidFill>
                  <a:schemeClr val="accent1"/>
                </a:solidFill>
                <a:latin typeface="Arial"/>
                <a:cs typeface="Arial"/>
              </a:rPr>
              <a:t>de</a:t>
            </a:r>
            <a:r>
              <a:rPr lang="es-MX" sz="1800" b="1" spc="-65">
                <a:solidFill>
                  <a:schemeClr val="accent1"/>
                </a:solidFill>
                <a:latin typeface="Arial"/>
                <a:cs typeface="Arial"/>
              </a:rPr>
              <a:t> </a:t>
            </a:r>
            <a:r>
              <a:rPr lang="es-MX" sz="1800" b="1">
                <a:solidFill>
                  <a:schemeClr val="accent1"/>
                </a:solidFill>
                <a:latin typeface="Arial"/>
                <a:cs typeface="Arial"/>
              </a:rPr>
              <a:t>Aprendizaje:</a:t>
            </a:r>
            <a:r>
              <a:rPr lang="es-MX" sz="1800" b="1" spc="-20">
                <a:solidFill>
                  <a:schemeClr val="accent1"/>
                </a:solidFill>
                <a:latin typeface="Arial"/>
                <a:cs typeface="Arial"/>
              </a:rPr>
              <a:t> </a:t>
            </a:r>
            <a:r>
              <a:rPr lang="es-MX" sz="1800">
                <a:solidFill>
                  <a:schemeClr val="accent1"/>
                </a:solidFill>
                <a:latin typeface="Arial"/>
                <a:cs typeface="Arial"/>
              </a:rPr>
              <a:t>Para</a:t>
            </a:r>
            <a:r>
              <a:rPr lang="es-MX" sz="1800" spc="-15">
                <a:solidFill>
                  <a:schemeClr val="accent1"/>
                </a:solidFill>
                <a:latin typeface="Arial"/>
                <a:cs typeface="Arial"/>
              </a:rPr>
              <a:t> </a:t>
            </a:r>
            <a:r>
              <a:rPr lang="es-MX" sz="1800">
                <a:solidFill>
                  <a:schemeClr val="accent1"/>
                </a:solidFill>
                <a:latin typeface="Arial"/>
                <a:cs typeface="Arial"/>
              </a:rPr>
              <a:t>alcanzar</a:t>
            </a:r>
            <a:r>
              <a:rPr lang="es-MX" sz="1800" spc="-35">
                <a:solidFill>
                  <a:schemeClr val="accent1"/>
                </a:solidFill>
                <a:latin typeface="Arial"/>
                <a:cs typeface="Arial"/>
              </a:rPr>
              <a:t> </a:t>
            </a:r>
            <a:r>
              <a:rPr lang="es-MX" sz="1800">
                <a:solidFill>
                  <a:schemeClr val="accent1"/>
                </a:solidFill>
                <a:latin typeface="Arial"/>
                <a:cs typeface="Arial"/>
              </a:rPr>
              <a:t>nuestros</a:t>
            </a:r>
            <a:r>
              <a:rPr lang="es-MX" sz="1800" spc="-30">
                <a:solidFill>
                  <a:schemeClr val="accent1"/>
                </a:solidFill>
                <a:latin typeface="Arial"/>
                <a:cs typeface="Arial"/>
              </a:rPr>
              <a:t> </a:t>
            </a:r>
            <a:r>
              <a:rPr lang="es-MX" sz="1800">
                <a:solidFill>
                  <a:schemeClr val="accent1"/>
                </a:solidFill>
                <a:latin typeface="Arial"/>
                <a:cs typeface="Arial"/>
              </a:rPr>
              <a:t>objetivos,</a:t>
            </a:r>
            <a:r>
              <a:rPr lang="es-MX" sz="1800" spc="-35">
                <a:solidFill>
                  <a:schemeClr val="accent1"/>
                </a:solidFill>
                <a:latin typeface="Arial"/>
                <a:cs typeface="Arial"/>
              </a:rPr>
              <a:t> </a:t>
            </a:r>
            <a:r>
              <a:rPr lang="es-MX" sz="1800">
                <a:solidFill>
                  <a:schemeClr val="accent1"/>
                </a:solidFill>
                <a:latin typeface="Arial"/>
                <a:cs typeface="Arial"/>
              </a:rPr>
              <a:t>¿Cómo</a:t>
            </a:r>
            <a:r>
              <a:rPr lang="es-MX" sz="1800" spc="-15">
                <a:solidFill>
                  <a:schemeClr val="accent1"/>
                </a:solidFill>
                <a:latin typeface="Arial"/>
                <a:cs typeface="Arial"/>
              </a:rPr>
              <a:t> </a:t>
            </a:r>
            <a:r>
              <a:rPr lang="es-MX" sz="1800">
                <a:solidFill>
                  <a:schemeClr val="accent1"/>
                </a:solidFill>
                <a:latin typeface="Arial"/>
                <a:cs typeface="Arial"/>
              </a:rPr>
              <a:t>debe</a:t>
            </a:r>
            <a:r>
              <a:rPr lang="es-MX" sz="1800" spc="-25">
                <a:solidFill>
                  <a:schemeClr val="accent1"/>
                </a:solidFill>
                <a:latin typeface="Arial"/>
                <a:cs typeface="Arial"/>
              </a:rPr>
              <a:t> </a:t>
            </a:r>
            <a:r>
              <a:rPr lang="es-MX" sz="1800">
                <a:solidFill>
                  <a:schemeClr val="accent1"/>
                </a:solidFill>
                <a:latin typeface="Arial"/>
                <a:cs typeface="Arial"/>
              </a:rPr>
              <a:t>aprender</a:t>
            </a:r>
            <a:r>
              <a:rPr lang="es-MX" sz="1800" spc="-35">
                <a:solidFill>
                  <a:schemeClr val="accent1"/>
                </a:solidFill>
                <a:latin typeface="Arial"/>
                <a:cs typeface="Arial"/>
              </a:rPr>
              <a:t> </a:t>
            </a:r>
            <a:r>
              <a:rPr lang="es-MX" spc="-50">
                <a:solidFill>
                  <a:schemeClr val="accent1"/>
                </a:solidFill>
                <a:latin typeface="Arial"/>
                <a:cs typeface="Arial"/>
              </a:rPr>
              <a:t>en i</a:t>
            </a:r>
            <a:r>
              <a:rPr lang="es-MX" sz="1800">
                <a:solidFill>
                  <a:schemeClr val="accent1"/>
                </a:solidFill>
                <a:latin typeface="Arial"/>
                <a:cs typeface="Arial"/>
              </a:rPr>
              <a:t>nnovar</a:t>
            </a:r>
            <a:r>
              <a:rPr lang="es-MX" sz="1800" spc="-35">
                <a:solidFill>
                  <a:schemeClr val="accent1"/>
                </a:solidFill>
                <a:latin typeface="Arial"/>
                <a:cs typeface="Arial"/>
              </a:rPr>
              <a:t> </a:t>
            </a:r>
            <a:r>
              <a:rPr lang="es-MX" sz="1800">
                <a:solidFill>
                  <a:schemeClr val="accent1"/>
                </a:solidFill>
                <a:latin typeface="Arial"/>
                <a:cs typeface="Arial"/>
              </a:rPr>
              <a:t>nuestra</a:t>
            </a:r>
            <a:r>
              <a:rPr lang="es-MX" sz="1800" spc="-30">
                <a:solidFill>
                  <a:schemeClr val="accent1"/>
                </a:solidFill>
                <a:latin typeface="Arial"/>
                <a:cs typeface="Arial"/>
              </a:rPr>
              <a:t> </a:t>
            </a:r>
            <a:r>
              <a:rPr lang="es-MX" sz="1800" spc="-10">
                <a:solidFill>
                  <a:schemeClr val="accent1"/>
                </a:solidFill>
                <a:latin typeface="Arial"/>
                <a:cs typeface="Arial"/>
              </a:rPr>
              <a:t>organización?</a:t>
            </a:r>
            <a:endParaRPr lang="es-MX" sz="1800">
              <a:solidFill>
                <a:schemeClr val="accent1"/>
              </a:solidFill>
              <a:latin typeface="Arial"/>
              <a:cs typeface="Arial"/>
            </a:endParaRPr>
          </a:p>
          <a:p>
            <a:pPr marL="295275" marR="365760" algn="just">
              <a:spcBef>
                <a:spcPts val="505"/>
              </a:spcBef>
            </a:pPr>
            <a:r>
              <a:rPr lang="es-MX" sz="1800">
                <a:solidFill>
                  <a:schemeClr val="accent1"/>
                </a:solidFill>
                <a:latin typeface="Arial"/>
                <a:cs typeface="Arial"/>
              </a:rPr>
              <a:t>Los</a:t>
            </a:r>
            <a:r>
              <a:rPr lang="es-MX" sz="1800" spc="-25">
                <a:solidFill>
                  <a:schemeClr val="accent1"/>
                </a:solidFill>
                <a:latin typeface="Arial"/>
                <a:cs typeface="Arial"/>
              </a:rPr>
              <a:t> </a:t>
            </a:r>
            <a:r>
              <a:rPr lang="es-MX" sz="1800">
                <a:solidFill>
                  <a:schemeClr val="accent1"/>
                </a:solidFill>
                <a:latin typeface="Arial"/>
                <a:cs typeface="Arial"/>
              </a:rPr>
              <a:t>resultados</a:t>
            </a:r>
            <a:r>
              <a:rPr lang="es-MX" sz="1800" spc="-30">
                <a:solidFill>
                  <a:schemeClr val="accent1"/>
                </a:solidFill>
                <a:latin typeface="Arial"/>
                <a:cs typeface="Arial"/>
              </a:rPr>
              <a:t> </a:t>
            </a:r>
            <a:r>
              <a:rPr lang="es-MX" sz="1800">
                <a:solidFill>
                  <a:schemeClr val="accent1"/>
                </a:solidFill>
                <a:latin typeface="Arial"/>
                <a:cs typeface="Arial"/>
              </a:rPr>
              <a:t>financieros</a:t>
            </a:r>
            <a:r>
              <a:rPr lang="es-MX" sz="1800" spc="-25">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satisfacción</a:t>
            </a:r>
            <a:r>
              <a:rPr lang="es-MX" sz="1800" spc="-25">
                <a:solidFill>
                  <a:schemeClr val="accent1"/>
                </a:solidFill>
                <a:latin typeface="Arial"/>
                <a:cs typeface="Arial"/>
              </a:rPr>
              <a:t> </a:t>
            </a:r>
            <a:r>
              <a:rPr lang="es-MX" sz="1800">
                <a:solidFill>
                  <a:schemeClr val="accent1"/>
                </a:solidFill>
                <a:latin typeface="Arial"/>
                <a:cs typeface="Arial"/>
              </a:rPr>
              <a:t>del cliente</a:t>
            </a:r>
            <a:r>
              <a:rPr lang="es-MX" sz="1800" spc="-20">
                <a:solidFill>
                  <a:schemeClr val="accent1"/>
                </a:solidFill>
                <a:latin typeface="Arial"/>
                <a:cs typeface="Arial"/>
              </a:rPr>
              <a:t> </a:t>
            </a:r>
            <a:r>
              <a:rPr lang="es-MX" sz="1800">
                <a:solidFill>
                  <a:schemeClr val="accent1"/>
                </a:solidFill>
                <a:latin typeface="Arial"/>
                <a:cs typeface="Arial"/>
              </a:rPr>
              <a:t>son</a:t>
            </a:r>
            <a:r>
              <a:rPr lang="es-MX" sz="1800" spc="-20">
                <a:solidFill>
                  <a:schemeClr val="accent1"/>
                </a:solidFill>
                <a:latin typeface="Arial"/>
                <a:cs typeface="Arial"/>
              </a:rPr>
              <a:t> </a:t>
            </a:r>
            <a:r>
              <a:rPr lang="es-MX" sz="1800">
                <a:solidFill>
                  <a:schemeClr val="accent1"/>
                </a:solidFill>
                <a:latin typeface="Arial"/>
                <a:cs typeface="Arial"/>
              </a:rPr>
              <a:t>medidas</a:t>
            </a:r>
            <a:r>
              <a:rPr lang="es-MX" sz="1800" spc="-25">
                <a:solidFill>
                  <a:schemeClr val="accent1"/>
                </a:solidFill>
                <a:latin typeface="Arial"/>
                <a:cs typeface="Arial"/>
              </a:rPr>
              <a:t> </a:t>
            </a:r>
            <a:r>
              <a:rPr lang="es-MX" sz="1800">
                <a:solidFill>
                  <a:schemeClr val="accent1"/>
                </a:solidFill>
                <a:latin typeface="Arial"/>
                <a:cs typeface="Arial"/>
              </a:rPr>
              <a:t>típicas</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objetivo</a:t>
            </a:r>
            <a:r>
              <a:rPr lang="es-MX" sz="1800" spc="-20">
                <a:solidFill>
                  <a:schemeClr val="accent1"/>
                </a:solidFill>
                <a:latin typeface="Arial"/>
                <a:cs typeface="Arial"/>
              </a:rPr>
              <a:t> </a:t>
            </a:r>
            <a:r>
              <a:rPr lang="es-MX" sz="1800" spc="-25">
                <a:solidFill>
                  <a:schemeClr val="accent1"/>
                </a:solidFill>
                <a:latin typeface="Arial"/>
                <a:cs typeface="Arial"/>
              </a:rPr>
              <a:t>del </a:t>
            </a:r>
            <a:r>
              <a:rPr lang="es-MX" sz="1800">
                <a:solidFill>
                  <a:schemeClr val="accent1"/>
                </a:solidFill>
                <a:latin typeface="Arial"/>
                <a:cs typeface="Arial"/>
              </a:rPr>
              <a:t>negocio</a:t>
            </a:r>
            <a:r>
              <a:rPr lang="es-MX" sz="1800" spc="-35">
                <a:solidFill>
                  <a:schemeClr val="accent1"/>
                </a:solidFill>
                <a:latin typeface="Arial"/>
                <a:cs typeface="Arial"/>
              </a:rPr>
              <a:t> </a:t>
            </a:r>
            <a:r>
              <a:rPr lang="es-MX" sz="1800">
                <a:solidFill>
                  <a:schemeClr val="accent1"/>
                </a:solidFill>
                <a:latin typeface="Arial"/>
                <a:cs typeface="Arial"/>
              </a:rPr>
              <a:t>alcanzado</a:t>
            </a:r>
            <a:r>
              <a:rPr lang="es-MX" sz="1800" spc="-30">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medido</a:t>
            </a:r>
            <a:r>
              <a:rPr lang="es-MX" sz="1800" spc="-20">
                <a:solidFill>
                  <a:schemeClr val="accent1"/>
                </a:solidFill>
                <a:latin typeface="Arial"/>
                <a:cs typeface="Arial"/>
              </a:rPr>
              <a:t> </a:t>
            </a:r>
            <a:r>
              <a:rPr lang="es-MX" sz="1800">
                <a:solidFill>
                  <a:schemeClr val="accent1"/>
                </a:solidFill>
                <a:latin typeface="Arial"/>
                <a:cs typeface="Arial"/>
              </a:rPr>
              <a:t>después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5">
                <a:solidFill>
                  <a:schemeClr val="accent1"/>
                </a:solidFill>
                <a:latin typeface="Arial"/>
                <a:cs typeface="Arial"/>
              </a:rPr>
              <a:t> </a:t>
            </a:r>
            <a:r>
              <a:rPr lang="es-MX" sz="1800">
                <a:solidFill>
                  <a:schemeClr val="accent1"/>
                </a:solidFill>
                <a:latin typeface="Arial"/>
                <a:cs typeface="Arial"/>
              </a:rPr>
              <a:t>hecho</a:t>
            </a:r>
            <a:r>
              <a:rPr lang="es-MX" sz="1800" spc="-10">
                <a:solidFill>
                  <a:schemeClr val="accent1"/>
                </a:solidFill>
                <a:latin typeface="Arial"/>
                <a:cs typeface="Arial"/>
              </a:rPr>
              <a:t>.</a:t>
            </a:r>
            <a:endParaRPr lang="es-MX" sz="1800">
              <a:solidFill>
                <a:schemeClr val="accent1"/>
              </a:solidFill>
              <a:latin typeface="Arial"/>
              <a:cs typeface="Arial"/>
            </a:endParaRPr>
          </a:p>
          <a:p>
            <a:pPr marL="295275" marR="5080" algn="just">
              <a:spcBef>
                <a:spcPts val="505"/>
              </a:spcBef>
            </a:pPr>
            <a:r>
              <a:rPr lang="es-MX" sz="1800">
                <a:solidFill>
                  <a:schemeClr val="accent1"/>
                </a:solidFill>
                <a:latin typeface="Arial"/>
                <a:cs typeface="Arial"/>
              </a:rPr>
              <a:t>Por</a:t>
            </a:r>
            <a:r>
              <a:rPr lang="es-MX" sz="1800" spc="-15">
                <a:solidFill>
                  <a:schemeClr val="accent1"/>
                </a:solidFill>
                <a:latin typeface="Arial"/>
                <a:cs typeface="Arial"/>
              </a:rPr>
              <a:t> </a:t>
            </a:r>
            <a:r>
              <a:rPr lang="es-MX" sz="1800">
                <a:solidFill>
                  <a:schemeClr val="accent1"/>
                </a:solidFill>
                <a:latin typeface="Arial"/>
                <a:cs typeface="Arial"/>
              </a:rPr>
              <a:t>otro</a:t>
            </a:r>
            <a:r>
              <a:rPr lang="es-MX" sz="1800" spc="-20">
                <a:solidFill>
                  <a:schemeClr val="accent1"/>
                </a:solidFill>
                <a:latin typeface="Arial"/>
                <a:cs typeface="Arial"/>
              </a:rPr>
              <a:t> </a:t>
            </a:r>
            <a:r>
              <a:rPr lang="es-MX" sz="1800">
                <a:solidFill>
                  <a:schemeClr val="accent1"/>
                </a:solidFill>
                <a:latin typeface="Arial"/>
                <a:cs typeface="Arial"/>
              </a:rPr>
              <a:t>lado,</a:t>
            </a:r>
            <a:r>
              <a:rPr lang="es-MX" sz="1800" spc="-20">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excelencia</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proceso</a:t>
            </a:r>
            <a:r>
              <a:rPr lang="es-MX" sz="1800" spc="-20">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habilidad</a:t>
            </a:r>
            <a:r>
              <a:rPr lang="es-MX" sz="1800" spc="-30">
                <a:solidFill>
                  <a:schemeClr val="accent1"/>
                </a:solidFill>
                <a:latin typeface="Arial"/>
                <a:cs typeface="Arial"/>
              </a:rPr>
              <a:t> </a:t>
            </a:r>
            <a:r>
              <a:rPr lang="es-MX" sz="1800">
                <a:solidFill>
                  <a:schemeClr val="accent1"/>
                </a:solidFill>
                <a:latin typeface="Arial"/>
                <a:cs typeface="Arial"/>
              </a:rPr>
              <a:t>para</a:t>
            </a:r>
            <a:r>
              <a:rPr lang="es-MX" sz="1800" spc="-25">
                <a:solidFill>
                  <a:schemeClr val="accent1"/>
                </a:solidFill>
                <a:latin typeface="Arial"/>
                <a:cs typeface="Arial"/>
              </a:rPr>
              <a:t> </a:t>
            </a:r>
            <a:r>
              <a:rPr lang="es-MX" sz="1800">
                <a:solidFill>
                  <a:schemeClr val="accent1"/>
                </a:solidFill>
                <a:latin typeface="Arial"/>
                <a:cs typeface="Arial"/>
              </a:rPr>
              <a:t>aprender</a:t>
            </a:r>
            <a:r>
              <a:rPr lang="es-MX" sz="1800" spc="-30">
                <a:solidFill>
                  <a:schemeClr val="accent1"/>
                </a:solidFill>
                <a:latin typeface="Arial"/>
                <a:cs typeface="Arial"/>
              </a:rPr>
              <a:t> </a:t>
            </a:r>
            <a:r>
              <a:rPr lang="es-MX" sz="1800">
                <a:solidFill>
                  <a:schemeClr val="accent1"/>
                </a:solidFill>
                <a:latin typeface="Arial"/>
                <a:cs typeface="Arial"/>
              </a:rPr>
              <a:t>e</a:t>
            </a:r>
            <a:r>
              <a:rPr lang="es-MX" sz="1800" spc="-5">
                <a:solidFill>
                  <a:schemeClr val="accent1"/>
                </a:solidFill>
                <a:latin typeface="Arial"/>
                <a:cs typeface="Arial"/>
              </a:rPr>
              <a:t> </a:t>
            </a:r>
            <a:r>
              <a:rPr lang="es-MX" sz="1800">
                <a:solidFill>
                  <a:schemeClr val="accent1"/>
                </a:solidFill>
                <a:latin typeface="Arial"/>
                <a:cs typeface="Arial"/>
              </a:rPr>
              <a:t>innovar</a:t>
            </a:r>
            <a:r>
              <a:rPr lang="es-MX" sz="1800" spc="-30">
                <a:solidFill>
                  <a:schemeClr val="accent1"/>
                </a:solidFill>
                <a:latin typeface="Arial"/>
                <a:cs typeface="Arial"/>
              </a:rPr>
              <a:t> </a:t>
            </a:r>
            <a:r>
              <a:rPr lang="es-MX" sz="1800">
                <a:solidFill>
                  <a:schemeClr val="accent1"/>
                </a:solidFill>
                <a:latin typeface="Arial"/>
                <a:cs typeface="Arial"/>
              </a:rPr>
              <a:t>son</a:t>
            </a:r>
            <a:r>
              <a:rPr lang="es-MX" sz="1800" spc="-10">
                <a:solidFill>
                  <a:schemeClr val="accent1"/>
                </a:solidFill>
                <a:latin typeface="Arial"/>
                <a:cs typeface="Arial"/>
              </a:rPr>
              <a:t> indicadores </a:t>
            </a:r>
            <a:r>
              <a:rPr lang="es-MX" sz="1800">
                <a:solidFill>
                  <a:schemeClr val="accent1"/>
                </a:solidFill>
                <a:latin typeface="Arial"/>
                <a:cs typeface="Arial"/>
              </a:rPr>
              <a:t>de</a:t>
            </a:r>
            <a:r>
              <a:rPr lang="es-MX" sz="1800" spc="-20">
                <a:solidFill>
                  <a:schemeClr val="accent1"/>
                </a:solidFill>
                <a:latin typeface="Arial"/>
                <a:cs typeface="Arial"/>
              </a:rPr>
              <a:t> </a:t>
            </a:r>
            <a:r>
              <a:rPr lang="es-MX" sz="1800">
                <a:solidFill>
                  <a:schemeClr val="accent1"/>
                </a:solidFill>
                <a:latin typeface="Arial"/>
                <a:cs typeface="Arial"/>
              </a:rPr>
              <a:t>cuán</a:t>
            </a:r>
            <a:r>
              <a:rPr lang="es-MX" sz="1800" spc="-20">
                <a:solidFill>
                  <a:schemeClr val="accent1"/>
                </a:solidFill>
                <a:latin typeface="Arial"/>
                <a:cs typeface="Arial"/>
              </a:rPr>
              <a:t> </a:t>
            </a:r>
            <a:r>
              <a:rPr lang="es-MX" sz="1800">
                <a:solidFill>
                  <a:schemeClr val="accent1"/>
                </a:solidFill>
                <a:latin typeface="Arial"/>
                <a:cs typeface="Arial"/>
              </a:rPr>
              <a:t>bien</a:t>
            </a:r>
            <a:r>
              <a:rPr lang="es-MX" sz="1800" spc="-20">
                <a:solidFill>
                  <a:schemeClr val="accent1"/>
                </a:solidFill>
                <a:latin typeface="Arial"/>
                <a:cs typeface="Arial"/>
              </a:rPr>
              <a:t> </a:t>
            </a:r>
            <a:r>
              <a:rPr lang="es-MX" sz="1800">
                <a:solidFill>
                  <a:schemeClr val="accent1"/>
                </a:solidFill>
                <a:latin typeface="Arial"/>
                <a:cs typeface="Arial"/>
              </a:rPr>
              <a:t>una</a:t>
            </a:r>
            <a:r>
              <a:rPr lang="es-MX" sz="1800" spc="-20">
                <a:solidFill>
                  <a:schemeClr val="accent1"/>
                </a:solidFill>
                <a:latin typeface="Arial"/>
                <a:cs typeface="Arial"/>
              </a:rPr>
              <a:t> </a:t>
            </a:r>
            <a:r>
              <a:rPr lang="es-MX" sz="1800">
                <a:solidFill>
                  <a:schemeClr val="accent1"/>
                </a:solidFill>
                <a:latin typeface="Arial"/>
                <a:cs typeface="Arial"/>
              </a:rPr>
              <a:t>organización</a:t>
            </a:r>
            <a:r>
              <a:rPr lang="es-MX" sz="1800" spc="-30">
                <a:solidFill>
                  <a:schemeClr val="accent1"/>
                </a:solidFill>
                <a:latin typeface="Arial"/>
                <a:cs typeface="Arial"/>
              </a:rPr>
              <a:t> </a:t>
            </a:r>
            <a:r>
              <a:rPr lang="es-MX" sz="1800">
                <a:solidFill>
                  <a:schemeClr val="accent1"/>
                </a:solidFill>
                <a:latin typeface="Arial"/>
                <a:cs typeface="Arial"/>
              </a:rPr>
              <a:t>se</a:t>
            </a:r>
            <a:r>
              <a:rPr lang="es-MX" sz="1800" spc="-5">
                <a:solidFill>
                  <a:schemeClr val="accent1"/>
                </a:solidFill>
                <a:latin typeface="Arial"/>
                <a:cs typeface="Arial"/>
              </a:rPr>
              <a:t> </a:t>
            </a:r>
            <a:r>
              <a:rPr lang="es-MX" sz="1800">
                <a:solidFill>
                  <a:schemeClr val="accent1"/>
                </a:solidFill>
                <a:latin typeface="Arial"/>
                <a:cs typeface="Arial"/>
              </a:rPr>
              <a:t>está</a:t>
            </a:r>
            <a:r>
              <a:rPr lang="es-MX" sz="1800" spc="-15">
                <a:solidFill>
                  <a:schemeClr val="accent1"/>
                </a:solidFill>
                <a:latin typeface="Arial"/>
                <a:cs typeface="Arial"/>
              </a:rPr>
              <a:t> </a:t>
            </a:r>
            <a:r>
              <a:rPr lang="es-MX" sz="1800">
                <a:solidFill>
                  <a:schemeClr val="accent1"/>
                </a:solidFill>
                <a:latin typeface="Arial"/>
                <a:cs typeface="Arial"/>
              </a:rPr>
              <a:t>desempeñando</a:t>
            </a:r>
            <a:r>
              <a:rPr lang="es-MX" sz="1800" spc="-25">
                <a:solidFill>
                  <a:schemeClr val="accent1"/>
                </a:solidFill>
                <a:latin typeface="Arial"/>
                <a:cs typeface="Arial"/>
              </a:rPr>
              <a:t> </a:t>
            </a:r>
            <a:r>
              <a:rPr lang="es-MX" sz="1800">
                <a:solidFill>
                  <a:schemeClr val="accent1"/>
                </a:solidFill>
                <a:latin typeface="Arial"/>
                <a:cs typeface="Arial"/>
              </a:rPr>
              <a:t>e</a:t>
            </a:r>
            <a:r>
              <a:rPr lang="es-MX" sz="1800" spc="-10">
                <a:solidFill>
                  <a:schemeClr val="accent1"/>
                </a:solidFill>
                <a:latin typeface="Arial"/>
                <a:cs typeface="Arial"/>
              </a:rPr>
              <a:t> </a:t>
            </a:r>
            <a:r>
              <a:rPr lang="es-MX" sz="1800">
                <a:solidFill>
                  <a:schemeClr val="accent1"/>
                </a:solidFill>
                <a:latin typeface="Arial"/>
                <a:cs typeface="Arial"/>
              </a:rPr>
              <a:t>indican</a:t>
            </a:r>
            <a:r>
              <a:rPr lang="es-MX" sz="1800" spc="-2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probabilidad</a:t>
            </a:r>
            <a:r>
              <a:rPr lang="es-MX" sz="1800" spc="-25">
                <a:solidFill>
                  <a:schemeClr val="accent1"/>
                </a:solidFill>
                <a:latin typeface="Arial"/>
                <a:cs typeface="Arial"/>
              </a:rPr>
              <a:t> </a:t>
            </a:r>
            <a:r>
              <a:rPr lang="es-MX" sz="1800">
                <a:solidFill>
                  <a:schemeClr val="accent1"/>
                </a:solidFill>
                <a:latin typeface="Arial"/>
                <a:cs typeface="Arial"/>
              </a:rPr>
              <a:t>de</a:t>
            </a:r>
            <a:r>
              <a:rPr lang="es-MX" sz="1800" spc="-10">
                <a:solidFill>
                  <a:schemeClr val="accent1"/>
                </a:solidFill>
                <a:latin typeface="Arial"/>
                <a:cs typeface="Arial"/>
              </a:rPr>
              <a:t> </a:t>
            </a:r>
            <a:r>
              <a:rPr lang="es-MX" sz="1800">
                <a:solidFill>
                  <a:schemeClr val="accent1"/>
                </a:solidFill>
                <a:latin typeface="Arial"/>
                <a:cs typeface="Arial"/>
              </a:rPr>
              <a:t>alcanzar</a:t>
            </a:r>
            <a:r>
              <a:rPr lang="es-MX" sz="1800" spc="-20">
                <a:solidFill>
                  <a:schemeClr val="accent1"/>
                </a:solidFill>
                <a:latin typeface="Arial"/>
                <a:cs typeface="Arial"/>
              </a:rPr>
              <a:t> </a:t>
            </a:r>
            <a:r>
              <a:rPr lang="es-MX" sz="1800" spc="-25">
                <a:solidFill>
                  <a:schemeClr val="accent1"/>
                </a:solidFill>
                <a:latin typeface="Arial"/>
                <a:cs typeface="Arial"/>
              </a:rPr>
              <a:t>el </a:t>
            </a:r>
            <a:r>
              <a:rPr lang="es-MX" sz="1800">
                <a:solidFill>
                  <a:schemeClr val="accent1"/>
                </a:solidFill>
                <a:latin typeface="Arial"/>
                <a:cs typeface="Arial"/>
              </a:rPr>
              <a:t>éxito</a:t>
            </a:r>
            <a:r>
              <a:rPr lang="es-MX" sz="1800" spc="-20">
                <a:solidFill>
                  <a:schemeClr val="accent1"/>
                </a:solidFill>
                <a:latin typeface="Arial"/>
                <a:cs typeface="Arial"/>
              </a:rPr>
              <a:t> </a:t>
            </a:r>
            <a:r>
              <a:rPr lang="es-MX" sz="1800">
                <a:solidFill>
                  <a:schemeClr val="accent1"/>
                </a:solidFill>
                <a:latin typeface="Arial"/>
                <a:cs typeface="Arial"/>
              </a:rPr>
              <a:t>antes</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hecho.</a:t>
            </a: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AR"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spc="-1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endParaRPr lang="es-AR"/>
          </a:p>
        </p:txBody>
      </p:sp>
      <p:sp>
        <p:nvSpPr>
          <p:cNvPr id="4" name="Marcador de número de diapositiva 3">
            <a:extLst>
              <a:ext uri="{FF2B5EF4-FFF2-40B4-BE49-F238E27FC236}">
                <a16:creationId xmlns:a16="http://schemas.microsoft.com/office/drawing/2014/main" id="{9C10BECD-F3B1-7E3C-5913-8E6C1F9A4C2C}"/>
              </a:ext>
            </a:extLst>
          </p:cNvPr>
          <p:cNvSpPr>
            <a:spLocks noGrp="1"/>
          </p:cNvSpPr>
          <p:nvPr>
            <p:ph type="sldNum" sz="quarter" idx="12"/>
          </p:nvPr>
        </p:nvSpPr>
        <p:spPr/>
        <p:txBody>
          <a:bodyPr/>
          <a:lstStyle/>
          <a:p>
            <a:fld id="{0E40E506-8910-4A1D-9597-9E72BD293B97}" type="slidenum">
              <a:rPr lang="en-US" smtClean="0"/>
              <a:t>7</a:t>
            </a:fld>
            <a:endParaRPr lang="en-US"/>
          </a:p>
        </p:txBody>
      </p:sp>
    </p:spTree>
    <p:extLst>
      <p:ext uri="{BB962C8B-B14F-4D97-AF65-F5344CB8AC3E}">
        <p14:creationId xmlns:p14="http://schemas.microsoft.com/office/powerpoint/2010/main" val="3089048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0D887-38A1-08F1-B216-F5B27C4BE64F}"/>
              </a:ext>
            </a:extLst>
          </p:cNvPr>
          <p:cNvSpPr>
            <a:spLocks noGrp="1"/>
          </p:cNvSpPr>
          <p:nvPr>
            <p:ph type="title"/>
          </p:nvPr>
        </p:nvSpPr>
        <p:spPr/>
        <p:txBody>
          <a:bodyPr/>
          <a:lstStyle/>
          <a:p>
            <a:r>
              <a:rPr lang="es-MX" b="0" i="0">
                <a:effectLst/>
                <a:latin typeface="TWK Lausanne"/>
              </a:rPr>
              <a:t>Beneficios del cuadro de mandos -</a:t>
            </a:r>
            <a:r>
              <a:rPr lang="es-AR" spc="-25"/>
              <a:t>BSC-</a:t>
            </a:r>
            <a:endParaRPr lang="es-AR"/>
          </a:p>
        </p:txBody>
      </p:sp>
      <p:sp>
        <p:nvSpPr>
          <p:cNvPr id="3" name="Marcador de contenido 2">
            <a:extLst>
              <a:ext uri="{FF2B5EF4-FFF2-40B4-BE49-F238E27FC236}">
                <a16:creationId xmlns:a16="http://schemas.microsoft.com/office/drawing/2014/main" id="{2CFF10EA-9394-620F-ECC7-68C40A5BD8F0}"/>
              </a:ext>
            </a:extLst>
          </p:cNvPr>
          <p:cNvSpPr>
            <a:spLocks noGrp="1"/>
          </p:cNvSpPr>
          <p:nvPr>
            <p:ph idx="1"/>
          </p:nvPr>
        </p:nvSpPr>
        <p:spPr/>
        <p:txBody>
          <a:bodyPr>
            <a:normAutofit/>
          </a:bodyPr>
          <a:lstStyle/>
          <a:p>
            <a:r>
              <a:rPr lang="es-MX" b="1">
                <a:solidFill>
                  <a:schemeClr val="accent1"/>
                </a:solidFill>
                <a:latin typeface="TWK Lausanne"/>
              </a:rPr>
              <a:t>Anticipación: </a:t>
            </a:r>
            <a:r>
              <a:rPr lang="es-MX">
                <a:solidFill>
                  <a:schemeClr val="accent1"/>
                </a:solidFill>
                <a:latin typeface="TWK Lausanne"/>
              </a:rPr>
              <a:t>Anticipa problemas económicos y optimiza el rendimiento.</a:t>
            </a:r>
          </a:p>
          <a:p>
            <a:r>
              <a:rPr lang="es-MX" b="1">
                <a:solidFill>
                  <a:schemeClr val="accent1"/>
                </a:solidFill>
                <a:latin typeface="TWK Lausanne"/>
              </a:rPr>
              <a:t>Toma de decisiones: </a:t>
            </a:r>
            <a:r>
              <a:rPr lang="es-MX">
                <a:solidFill>
                  <a:schemeClr val="accent1"/>
                </a:solidFill>
                <a:latin typeface="TWK Lausanne"/>
              </a:rPr>
              <a:t>Facilita decisiones centradas en las necesidades del mercado, mejorando la satisfacción y la lealtad.</a:t>
            </a:r>
          </a:p>
          <a:p>
            <a:r>
              <a:rPr lang="es-MX" b="1">
                <a:solidFill>
                  <a:schemeClr val="accent1"/>
                </a:solidFill>
                <a:latin typeface="TWK Lausanne"/>
              </a:rPr>
              <a:t>Optimización: </a:t>
            </a:r>
            <a:r>
              <a:rPr lang="es-MX">
                <a:solidFill>
                  <a:schemeClr val="accent1"/>
                </a:solidFill>
                <a:latin typeface="TWK Lausanne"/>
              </a:rPr>
              <a:t>Identifica áreas de mejora y optimiza operaciones.</a:t>
            </a:r>
          </a:p>
          <a:p>
            <a:r>
              <a:rPr lang="es-MX" b="1">
                <a:solidFill>
                  <a:schemeClr val="accent1"/>
                </a:solidFill>
                <a:latin typeface="TWK Lausanne"/>
              </a:rPr>
              <a:t>Crecimiento: </a:t>
            </a:r>
            <a:r>
              <a:rPr lang="es-MX">
                <a:solidFill>
                  <a:schemeClr val="accent1"/>
                </a:solidFill>
                <a:latin typeface="TWK Lausanne"/>
              </a:rPr>
              <a:t>Brinda un marco para evaluar el progreso y la eficacia de las iniciativas de desarrollo, proporcionando indicadores clave para la gestión empresarial.</a:t>
            </a:r>
          </a:p>
          <a:p>
            <a:endParaRPr lang="es-AR"/>
          </a:p>
        </p:txBody>
      </p:sp>
      <p:sp>
        <p:nvSpPr>
          <p:cNvPr id="4" name="Marcador de número de diapositiva 3">
            <a:extLst>
              <a:ext uri="{FF2B5EF4-FFF2-40B4-BE49-F238E27FC236}">
                <a16:creationId xmlns:a16="http://schemas.microsoft.com/office/drawing/2014/main" id="{13CA5E68-88C0-0F59-6D7C-6F95F602C794}"/>
              </a:ext>
            </a:extLst>
          </p:cNvPr>
          <p:cNvSpPr>
            <a:spLocks noGrp="1"/>
          </p:cNvSpPr>
          <p:nvPr>
            <p:ph type="sldNum" sz="quarter" idx="12"/>
          </p:nvPr>
        </p:nvSpPr>
        <p:spPr/>
        <p:txBody>
          <a:bodyPr/>
          <a:lstStyle/>
          <a:p>
            <a:fld id="{0E40E506-8910-4A1D-9597-9E72BD293B97}" type="slidenum">
              <a:rPr lang="en-US" smtClean="0"/>
              <a:t>8</a:t>
            </a:fld>
            <a:endParaRPr lang="en-US"/>
          </a:p>
        </p:txBody>
      </p:sp>
    </p:spTree>
    <p:extLst>
      <p:ext uri="{BB962C8B-B14F-4D97-AF65-F5344CB8AC3E}">
        <p14:creationId xmlns:p14="http://schemas.microsoft.com/office/powerpoint/2010/main" val="1958618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C93CE-06BB-CAD9-274F-95D4E8916C3C}"/>
              </a:ext>
            </a:extLst>
          </p:cNvPr>
          <p:cNvSpPr>
            <a:spLocks noGrp="1"/>
          </p:cNvSpPr>
          <p:nvPr>
            <p:ph type="title"/>
          </p:nvPr>
        </p:nvSpPr>
        <p:spPr/>
        <p:txBody>
          <a:bodyPr/>
          <a:lstStyle/>
          <a:p>
            <a:r>
              <a:rPr lang="es-MX" b="0" i="0">
                <a:effectLst/>
                <a:latin typeface="TWK Lausanne"/>
              </a:rPr>
              <a:t>Desafíos del cuadro de mandos -</a:t>
            </a:r>
            <a:r>
              <a:rPr lang="es-AR" spc="-25"/>
              <a:t>BSC-</a:t>
            </a:r>
            <a:endParaRPr lang="es-AR"/>
          </a:p>
        </p:txBody>
      </p:sp>
      <p:sp>
        <p:nvSpPr>
          <p:cNvPr id="3" name="Marcador de contenido 2">
            <a:extLst>
              <a:ext uri="{FF2B5EF4-FFF2-40B4-BE49-F238E27FC236}">
                <a16:creationId xmlns:a16="http://schemas.microsoft.com/office/drawing/2014/main" id="{7AE3FC5E-7F3F-AD5C-6699-B744C0388D24}"/>
              </a:ext>
            </a:extLst>
          </p:cNvPr>
          <p:cNvSpPr>
            <a:spLocks noGrp="1"/>
          </p:cNvSpPr>
          <p:nvPr>
            <p:ph idx="1"/>
          </p:nvPr>
        </p:nvSpPr>
        <p:spPr/>
        <p:txBody>
          <a:bodyPr vert="horz" lIns="91440" tIns="45720" rIns="91440" bIns="45720" rtlCol="0" anchor="ctr">
            <a:normAutofit/>
          </a:bodyPr>
          <a:lstStyle/>
          <a:p>
            <a:r>
              <a:rPr lang="es-MX" b="1">
                <a:solidFill>
                  <a:schemeClr val="accent1"/>
                </a:solidFill>
                <a:latin typeface="TWK Lausanne"/>
              </a:rPr>
              <a:t>Recopilación de datos: </a:t>
            </a:r>
            <a:r>
              <a:rPr lang="es-MX">
                <a:solidFill>
                  <a:schemeClr val="accent1"/>
                </a:solidFill>
                <a:latin typeface="TWK Lausanne"/>
              </a:rPr>
              <a:t>La precisión en la recopilación es esencial; asegurar calidad y consistencia puede ser logísticamente desafiante debido a la diversidad de fuentes y sistemas en entornos empresariales complejos.</a:t>
            </a:r>
          </a:p>
          <a:p>
            <a:r>
              <a:rPr lang="es-MX" b="1">
                <a:solidFill>
                  <a:schemeClr val="accent1"/>
                </a:solidFill>
                <a:latin typeface="TWK Lausanne"/>
              </a:rPr>
              <a:t>Interpretación de indicadores: </a:t>
            </a:r>
            <a:r>
              <a:rPr lang="es-MX">
                <a:solidFill>
                  <a:schemeClr val="accent1"/>
                </a:solidFill>
                <a:latin typeface="TWK Lausanne"/>
              </a:rPr>
              <a:t>Requiere experiencia en análisis de datos empresariales y enfrenta una curva de aprendizaje.</a:t>
            </a:r>
          </a:p>
          <a:p>
            <a:r>
              <a:rPr lang="es-MX" b="1">
                <a:solidFill>
                  <a:schemeClr val="accent1"/>
                </a:solidFill>
                <a:latin typeface="TWK Lausanne"/>
              </a:rPr>
              <a:t>Resistencia al cambio: </a:t>
            </a:r>
            <a:r>
              <a:rPr lang="es-MX">
                <a:solidFill>
                  <a:schemeClr val="accent1"/>
                </a:solidFill>
                <a:latin typeface="TWK Lausanne"/>
              </a:rPr>
              <a:t>Algunos empleados pueden percibirlo como interferencia, superar esto implica capacitación, gestión del cambio y compromiso organizacional. </a:t>
            </a:r>
          </a:p>
          <a:p>
            <a:r>
              <a:rPr lang="es-MX">
                <a:solidFill>
                  <a:schemeClr val="accent1"/>
                </a:solidFill>
                <a:latin typeface="TWK Lausanne"/>
              </a:rPr>
              <a:t>A pesar de los desafíos, los beneficios a largo plazo del cuadro de mandos integral superan ampliamente estos obstáculos, proporcionando una base sólida para la toma de decisiones estratégicas. </a:t>
            </a:r>
          </a:p>
          <a:p>
            <a:endParaRPr lang="es-AR">
              <a:solidFill>
                <a:schemeClr val="accent1"/>
              </a:solidFill>
              <a:latin typeface="TWK Lausanne"/>
            </a:endParaRPr>
          </a:p>
        </p:txBody>
      </p:sp>
      <p:sp>
        <p:nvSpPr>
          <p:cNvPr id="4" name="Marcador de número de diapositiva 3">
            <a:extLst>
              <a:ext uri="{FF2B5EF4-FFF2-40B4-BE49-F238E27FC236}">
                <a16:creationId xmlns:a16="http://schemas.microsoft.com/office/drawing/2014/main" id="{6F2349F5-AFAC-3F5B-75E1-95324FE8DA1B}"/>
              </a:ext>
            </a:extLst>
          </p:cNvPr>
          <p:cNvSpPr>
            <a:spLocks noGrp="1"/>
          </p:cNvSpPr>
          <p:nvPr>
            <p:ph type="sldNum" sz="quarter" idx="12"/>
          </p:nvPr>
        </p:nvSpPr>
        <p:spPr/>
        <p:txBody>
          <a:bodyPr/>
          <a:lstStyle/>
          <a:p>
            <a:fld id="{0E40E506-8910-4A1D-9597-9E72BD293B97}" type="slidenum">
              <a:rPr lang="en-US" smtClean="0"/>
              <a:t>9</a:t>
            </a:fld>
            <a:endParaRPr lang="en-US"/>
          </a:p>
        </p:txBody>
      </p:sp>
    </p:spTree>
    <p:extLst>
      <p:ext uri="{BB962C8B-B14F-4D97-AF65-F5344CB8AC3E}">
        <p14:creationId xmlns:p14="http://schemas.microsoft.com/office/powerpoint/2010/main" val="3693406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BDD87B-1D90-F3AC-6FF5-F674D34941AA}"/>
              </a:ext>
            </a:extLst>
          </p:cNvPr>
          <p:cNvSpPr>
            <a:spLocks noGrp="1"/>
          </p:cNvSpPr>
          <p:nvPr>
            <p:ph type="title"/>
          </p:nvPr>
        </p:nvSpPr>
        <p:spPr/>
        <p:txBody>
          <a:bodyPr/>
          <a:lstStyle/>
          <a:p>
            <a:r>
              <a:rPr lang="es-MX" b="0" i="0">
                <a:effectLst/>
                <a:latin typeface="TWK Lausanne"/>
              </a:rPr>
              <a:t>cuadro de mandos -</a:t>
            </a:r>
            <a:r>
              <a:rPr lang="es-AR" spc="-25"/>
              <a:t>BSC-</a:t>
            </a:r>
            <a:endParaRPr lang="es-AR"/>
          </a:p>
        </p:txBody>
      </p:sp>
      <p:sp>
        <p:nvSpPr>
          <p:cNvPr id="3" name="Marcador de contenido 2">
            <a:extLst>
              <a:ext uri="{FF2B5EF4-FFF2-40B4-BE49-F238E27FC236}">
                <a16:creationId xmlns:a16="http://schemas.microsoft.com/office/drawing/2014/main" id="{6E7BB591-47CA-8F26-E45E-950E993B5545}"/>
              </a:ext>
            </a:extLst>
          </p:cNvPr>
          <p:cNvSpPr>
            <a:spLocks noGrp="1"/>
          </p:cNvSpPr>
          <p:nvPr>
            <p:ph idx="1"/>
          </p:nvPr>
        </p:nvSpPr>
        <p:spPr>
          <a:xfrm>
            <a:off x="584377" y="2185928"/>
            <a:ext cx="11389260" cy="4020946"/>
          </a:xfrm>
        </p:spPr>
        <p:txBody>
          <a:bodyPr>
            <a:normAutofit fontScale="85000" lnSpcReduction="10000"/>
          </a:bodyPr>
          <a:lstStyle/>
          <a:p>
            <a:pPr marL="0" indent="0" algn="l" fontAlgn="auto">
              <a:buNone/>
            </a:pPr>
            <a:r>
              <a:rPr lang="es-MX" b="1" i="0">
                <a:solidFill>
                  <a:schemeClr val="accent1"/>
                </a:solidFill>
                <a:effectLst/>
                <a:latin typeface="Ghost"/>
              </a:rPr>
              <a:t>¿Cómo se hace un cuadro de mandos integral?</a:t>
            </a:r>
            <a:endParaRPr lang="es-MX" b="1" i="0">
              <a:solidFill>
                <a:schemeClr val="accent1"/>
              </a:solidFill>
              <a:effectLst/>
              <a:latin typeface="TWK Lausanne"/>
            </a:endParaRPr>
          </a:p>
          <a:p>
            <a:pPr marL="0" indent="0" algn="l" fontAlgn="auto">
              <a:buNone/>
            </a:pPr>
            <a:r>
              <a:rPr lang="es-MX" b="0" i="0">
                <a:solidFill>
                  <a:schemeClr val="accent1"/>
                </a:solidFill>
                <a:effectLst/>
                <a:latin typeface="TWK Lausanne"/>
              </a:rPr>
              <a:t>Una guía paso a paso junto con las mejores prácticas para garantizar una implementación exitosa:</a:t>
            </a:r>
          </a:p>
          <a:p>
            <a:pPr marL="0" indent="0" algn="l" fontAlgn="auto">
              <a:buNone/>
            </a:pPr>
            <a:r>
              <a:rPr lang="es-MX" b="0" i="0">
                <a:solidFill>
                  <a:schemeClr val="accent1"/>
                </a:solidFill>
                <a:effectLst/>
                <a:latin typeface="TWK Lausanne"/>
              </a:rPr>
              <a:t>1. </a:t>
            </a:r>
            <a:r>
              <a:rPr lang="es-MX" b="1" i="0">
                <a:solidFill>
                  <a:schemeClr val="accent1"/>
                </a:solidFill>
                <a:effectLst/>
                <a:latin typeface="inherit"/>
              </a:rPr>
              <a:t>Definir los objetivos estratégicos</a:t>
            </a:r>
            <a:r>
              <a:rPr lang="es-MX" b="1" i="0">
                <a:solidFill>
                  <a:schemeClr val="accent1"/>
                </a:solidFill>
                <a:effectLst/>
                <a:latin typeface="TWK Lausanne"/>
              </a:rPr>
              <a:t>:</a:t>
            </a:r>
          </a:p>
          <a:p>
            <a:pPr marL="0" indent="0" algn="l" fontAlgn="auto">
              <a:buNone/>
            </a:pPr>
            <a:r>
              <a:rPr lang="es-MX" b="0" i="0" err="1">
                <a:solidFill>
                  <a:schemeClr val="accent1"/>
                </a:solidFill>
                <a:effectLst/>
                <a:latin typeface="TWK Lausanne"/>
              </a:rPr>
              <a:t>Comienzar</a:t>
            </a:r>
            <a:r>
              <a:rPr lang="es-MX" b="0" i="0">
                <a:solidFill>
                  <a:schemeClr val="accent1"/>
                </a:solidFill>
                <a:effectLst/>
                <a:latin typeface="TWK Lausanne"/>
              </a:rPr>
              <a:t> por comprender y definir claramente los objetivos estratégicos de tu organización. Estos deben alinearse con la visión a largo plazo.</a:t>
            </a:r>
          </a:p>
          <a:p>
            <a:pPr marL="0" indent="0" algn="l" fontAlgn="auto">
              <a:buNone/>
            </a:pPr>
            <a:r>
              <a:rPr lang="es-MX" b="0" i="0">
                <a:solidFill>
                  <a:schemeClr val="accent1"/>
                </a:solidFill>
                <a:effectLst/>
                <a:latin typeface="TWK Lausanne"/>
              </a:rPr>
              <a:t>2. </a:t>
            </a:r>
            <a:r>
              <a:rPr lang="es-MX" b="1" i="0">
                <a:solidFill>
                  <a:schemeClr val="accent1"/>
                </a:solidFill>
                <a:effectLst/>
                <a:latin typeface="inherit"/>
              </a:rPr>
              <a:t>Seleccionar los indicadores clave (KPI)</a:t>
            </a:r>
            <a:r>
              <a:rPr lang="es-MX" b="1" i="0">
                <a:solidFill>
                  <a:schemeClr val="accent1"/>
                </a:solidFill>
                <a:effectLst/>
                <a:latin typeface="TWK Lausanne"/>
              </a:rPr>
              <a:t>:</a:t>
            </a:r>
          </a:p>
          <a:p>
            <a:pPr marL="0" indent="0">
              <a:buNone/>
            </a:pPr>
            <a:r>
              <a:rPr lang="es-MX">
                <a:solidFill>
                  <a:schemeClr val="accent1"/>
                </a:solidFill>
                <a:latin typeface="inherit"/>
              </a:rPr>
              <a:t>Elige </a:t>
            </a:r>
            <a:r>
              <a:rPr lang="es-MX" err="1">
                <a:solidFill>
                  <a:schemeClr val="accent1"/>
                </a:solidFill>
                <a:latin typeface="inherit"/>
              </a:rPr>
              <a:t>KPIs</a:t>
            </a:r>
            <a:r>
              <a:rPr lang="es-MX">
                <a:solidFill>
                  <a:schemeClr val="accent1"/>
                </a:solidFill>
                <a:latin typeface="inherit"/>
              </a:rPr>
              <a:t> (</a:t>
            </a:r>
            <a:r>
              <a:rPr kumimoji="0" lang="es-AR" altLang="es-AR" sz="1800" b="0" i="0" u="none" strike="noStrike" cap="none" normalizeH="0" baseline="0">
                <a:ln>
                  <a:noFill/>
                </a:ln>
                <a:solidFill>
                  <a:schemeClr val="accent1"/>
                </a:solidFill>
                <a:effectLst/>
                <a:latin typeface="inherit"/>
              </a:rPr>
              <a:t>son indicadores que miden el desempeño de la empresa en un proceso, estrategia o acción específica</a:t>
            </a:r>
            <a:r>
              <a:rPr lang="es-MX" b="0" i="0">
                <a:solidFill>
                  <a:schemeClr val="accent1"/>
                </a:solidFill>
                <a:effectLst/>
                <a:latin typeface="TWK Lausanne"/>
              </a:rPr>
              <a:t>)  que sean relevantes para </a:t>
            </a:r>
            <a:r>
              <a:rPr lang="es-MX">
                <a:solidFill>
                  <a:schemeClr val="accent1"/>
                </a:solidFill>
                <a:latin typeface="TWK Lausanne"/>
              </a:rPr>
              <a:t>lo</a:t>
            </a:r>
            <a:r>
              <a:rPr lang="es-MX" b="0" i="0">
                <a:solidFill>
                  <a:schemeClr val="accent1"/>
                </a:solidFill>
                <a:effectLst/>
                <a:latin typeface="TWK Lausanne"/>
              </a:rPr>
              <a:t>s objetivos y brinden una visión precisa del rendimiento. </a:t>
            </a:r>
          </a:p>
          <a:p>
            <a:pPr marL="0" indent="0" algn="l" fontAlgn="auto">
              <a:buNone/>
            </a:pPr>
            <a:r>
              <a:rPr lang="es-MX" b="0" i="0">
                <a:solidFill>
                  <a:schemeClr val="accent1"/>
                </a:solidFill>
                <a:effectLst/>
                <a:latin typeface="TWK Lausanne"/>
              </a:rPr>
              <a:t>3. </a:t>
            </a:r>
            <a:r>
              <a:rPr lang="es-MX" b="1" i="0">
                <a:solidFill>
                  <a:schemeClr val="accent1"/>
                </a:solidFill>
                <a:effectLst/>
                <a:latin typeface="inherit"/>
              </a:rPr>
              <a:t>Establecer metas cuantificables</a:t>
            </a:r>
            <a:r>
              <a:rPr lang="es-MX" b="1" i="0">
                <a:solidFill>
                  <a:schemeClr val="accent1"/>
                </a:solidFill>
                <a:effectLst/>
                <a:latin typeface="TWK Lausanne"/>
              </a:rPr>
              <a:t>:</a:t>
            </a:r>
          </a:p>
          <a:p>
            <a:pPr marL="0" indent="0" algn="l" fontAlgn="auto">
              <a:buNone/>
            </a:pPr>
            <a:r>
              <a:rPr lang="es-MX" b="0" i="0">
                <a:solidFill>
                  <a:schemeClr val="accent1"/>
                </a:solidFill>
                <a:effectLst/>
                <a:latin typeface="TWK Lausanne"/>
              </a:rPr>
              <a:t>Definir metas específicas y medibles para cada KPI. Estas metas actuarán como hitos claros para evaluar el progreso y el rendimiento.</a:t>
            </a:r>
          </a:p>
          <a:p>
            <a:pPr marL="0" indent="0" algn="l" fontAlgn="auto">
              <a:buNone/>
            </a:pPr>
            <a:r>
              <a:rPr lang="es-MX" b="0" i="0">
                <a:solidFill>
                  <a:schemeClr val="accent1"/>
                </a:solidFill>
                <a:effectLst/>
                <a:latin typeface="TWK Lausanne"/>
              </a:rPr>
              <a:t>4. </a:t>
            </a:r>
            <a:r>
              <a:rPr lang="es-MX" b="1" i="0">
                <a:solidFill>
                  <a:schemeClr val="accent1"/>
                </a:solidFill>
                <a:effectLst/>
                <a:latin typeface="inherit"/>
              </a:rPr>
              <a:t>Utilizar tecnología eficiente:</a:t>
            </a:r>
            <a:endParaRPr lang="es-MX" b="1" i="0">
              <a:solidFill>
                <a:schemeClr val="accent1"/>
              </a:solidFill>
              <a:effectLst/>
              <a:latin typeface="TWK Lausanne"/>
            </a:endParaRPr>
          </a:p>
          <a:p>
            <a:pPr marL="0" indent="0" algn="l" fontAlgn="auto">
              <a:buNone/>
            </a:pPr>
            <a:r>
              <a:rPr lang="es-MX" b="0" i="0">
                <a:solidFill>
                  <a:schemeClr val="accent1"/>
                </a:solidFill>
                <a:effectLst/>
                <a:latin typeface="TWK Lausanne"/>
              </a:rPr>
              <a:t>Para agilizar la recopilación y presentación de datos. Asegurar que la tecnología sea fácil de usar y se integre sin problemas en tus operaciones existentes.</a:t>
            </a:r>
          </a:p>
          <a:p>
            <a:pPr marL="0" indent="0">
              <a:buNone/>
            </a:pPr>
            <a:endParaRPr lang="es-AR">
              <a:solidFill>
                <a:schemeClr val="accent1"/>
              </a:solidFill>
            </a:endParaRPr>
          </a:p>
        </p:txBody>
      </p:sp>
      <p:sp>
        <p:nvSpPr>
          <p:cNvPr id="4" name="Marcador de número de diapositiva 3">
            <a:extLst>
              <a:ext uri="{FF2B5EF4-FFF2-40B4-BE49-F238E27FC236}">
                <a16:creationId xmlns:a16="http://schemas.microsoft.com/office/drawing/2014/main" id="{A1170DB7-324C-6F1F-C5EE-4B8D4F7EE9DF}"/>
              </a:ext>
            </a:extLst>
          </p:cNvPr>
          <p:cNvSpPr>
            <a:spLocks noGrp="1"/>
          </p:cNvSpPr>
          <p:nvPr>
            <p:ph type="sldNum" sz="quarter" idx="12"/>
          </p:nvPr>
        </p:nvSpPr>
        <p:spPr/>
        <p:txBody>
          <a:bodyPr/>
          <a:lstStyle/>
          <a:p>
            <a:fld id="{0E40E506-8910-4A1D-9597-9E72BD293B97}" type="slidenum">
              <a:rPr lang="en-US" smtClean="0"/>
              <a:t>10</a:t>
            </a:fld>
            <a:endParaRPr lang="en-US"/>
          </a:p>
        </p:txBody>
      </p:sp>
    </p:spTree>
    <p:extLst>
      <p:ext uri="{BB962C8B-B14F-4D97-AF65-F5344CB8AC3E}">
        <p14:creationId xmlns:p14="http://schemas.microsoft.com/office/powerpoint/2010/main" val="4040133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2B6AAB-FE2D-F23E-B46E-B188481ACB9F}"/>
              </a:ext>
            </a:extLst>
          </p:cNvPr>
          <p:cNvSpPr>
            <a:spLocks noGrp="1"/>
          </p:cNvSpPr>
          <p:nvPr>
            <p:ph type="title"/>
          </p:nvPr>
        </p:nvSpPr>
        <p:spPr/>
        <p:txBody>
          <a:bodyPr/>
          <a:lstStyle/>
          <a:p>
            <a:r>
              <a:rPr lang="es-MX" b="0" i="0">
                <a:effectLst/>
                <a:latin typeface="Ghost"/>
              </a:rPr>
              <a:t>¿Cómo se hace un cuadro de mandos integral?</a:t>
            </a:r>
            <a:endParaRPr lang="es-AR"/>
          </a:p>
        </p:txBody>
      </p:sp>
      <p:sp>
        <p:nvSpPr>
          <p:cNvPr id="3" name="Marcador de contenido 2">
            <a:extLst>
              <a:ext uri="{FF2B5EF4-FFF2-40B4-BE49-F238E27FC236}">
                <a16:creationId xmlns:a16="http://schemas.microsoft.com/office/drawing/2014/main" id="{7F82FF37-553D-A1D5-B610-9FC1A693AAFB}"/>
              </a:ext>
            </a:extLst>
          </p:cNvPr>
          <p:cNvSpPr>
            <a:spLocks noGrp="1"/>
          </p:cNvSpPr>
          <p:nvPr>
            <p:ph idx="1"/>
          </p:nvPr>
        </p:nvSpPr>
        <p:spPr/>
        <p:txBody>
          <a:bodyPr vert="horz" lIns="91440" tIns="45720" rIns="91440" bIns="45720" rtlCol="0" anchor="ctr">
            <a:normAutofit fontScale="85000" lnSpcReduction="20000"/>
          </a:bodyPr>
          <a:lstStyle/>
          <a:p>
            <a:pPr marL="0" indent="0">
              <a:buNone/>
            </a:pPr>
            <a:r>
              <a:rPr lang="es-MX">
                <a:solidFill>
                  <a:schemeClr val="accent1"/>
                </a:solidFill>
                <a:latin typeface="Ghost"/>
              </a:rPr>
              <a:t>5. </a:t>
            </a:r>
            <a:r>
              <a:rPr lang="es-MX" b="1">
                <a:solidFill>
                  <a:schemeClr val="accent1"/>
                </a:solidFill>
                <a:latin typeface="Ghost"/>
              </a:rPr>
              <a:t>Diseñar un tablero intuitivo:</a:t>
            </a:r>
          </a:p>
          <a:p>
            <a:pPr lvl="1">
              <a:buFont typeface="Wingdings" panose="05000000000000000000" pitchFamily="2" charset="2"/>
              <a:buChar char="§"/>
            </a:pPr>
            <a:r>
              <a:rPr lang="es-MX">
                <a:solidFill>
                  <a:schemeClr val="accent1"/>
                </a:solidFill>
                <a:latin typeface="Ghost"/>
              </a:rPr>
              <a:t>Crear un diseño visual claro y fácil de entender. </a:t>
            </a:r>
          </a:p>
          <a:p>
            <a:pPr lvl="1">
              <a:buFont typeface="Wingdings" panose="05000000000000000000" pitchFamily="2" charset="2"/>
              <a:buChar char="§"/>
            </a:pPr>
            <a:r>
              <a:rPr lang="es-MX">
                <a:solidFill>
                  <a:schemeClr val="accent1"/>
                </a:solidFill>
                <a:latin typeface="Ghost"/>
              </a:rPr>
              <a:t>Evitar la complejidad innecesaria y asegúrate de que el tablero sea accesible para todos los miembros del equipo.</a:t>
            </a:r>
          </a:p>
          <a:p>
            <a:pPr marL="0" indent="0">
              <a:buNone/>
            </a:pPr>
            <a:r>
              <a:rPr lang="es-MX">
                <a:solidFill>
                  <a:schemeClr val="accent1"/>
                </a:solidFill>
                <a:latin typeface="Ghost"/>
              </a:rPr>
              <a:t>6. </a:t>
            </a:r>
            <a:r>
              <a:rPr lang="es-MX" b="1">
                <a:solidFill>
                  <a:schemeClr val="accent1"/>
                </a:solidFill>
                <a:latin typeface="Ghost"/>
              </a:rPr>
              <a:t>Capacitar al personal:</a:t>
            </a:r>
          </a:p>
          <a:p>
            <a:pPr marL="0" indent="0">
              <a:buNone/>
            </a:pPr>
            <a:r>
              <a:rPr lang="es-MX">
                <a:solidFill>
                  <a:schemeClr val="accent1"/>
                </a:solidFill>
                <a:latin typeface="Ghost"/>
              </a:rPr>
              <a:t>Proporcionar capacitación exhaustiva para garantizar que todos los usuarios comprendan el propósito del CMI y cómo utilizarlo efectivamente en su trabajo diario.</a:t>
            </a:r>
          </a:p>
          <a:p>
            <a:pPr marL="0" indent="0">
              <a:buNone/>
            </a:pPr>
            <a:r>
              <a:rPr lang="es-MX">
                <a:solidFill>
                  <a:schemeClr val="accent1"/>
                </a:solidFill>
                <a:latin typeface="Ghost"/>
              </a:rPr>
              <a:t>7. </a:t>
            </a:r>
            <a:r>
              <a:rPr lang="es-MX" b="1">
                <a:solidFill>
                  <a:schemeClr val="accent1"/>
                </a:solidFill>
                <a:latin typeface="Ghost"/>
              </a:rPr>
              <a:t>Monitorear continuamente y ajustar:</a:t>
            </a:r>
          </a:p>
          <a:p>
            <a:pPr lvl="1">
              <a:buFont typeface="Wingdings" panose="05000000000000000000" pitchFamily="2" charset="2"/>
              <a:buChar char="§"/>
            </a:pPr>
            <a:r>
              <a:rPr lang="es-MX" sz="1500">
                <a:solidFill>
                  <a:schemeClr val="accent1"/>
                </a:solidFill>
                <a:latin typeface="Ghost"/>
              </a:rPr>
              <a:t>Realizar revisiones regulares para evaluar la efectividad del CMI. </a:t>
            </a:r>
          </a:p>
          <a:p>
            <a:pPr lvl="1">
              <a:buFont typeface="Wingdings" panose="05000000000000000000" pitchFamily="2" charset="2"/>
              <a:buChar char="§"/>
            </a:pPr>
            <a:r>
              <a:rPr lang="es-MX" sz="1500">
                <a:solidFill>
                  <a:schemeClr val="accent1"/>
                </a:solidFill>
                <a:latin typeface="Ghost"/>
              </a:rPr>
              <a:t>Ajustar los indicadores y las metas según sea necesario para mantener la relevancia y la alineación con los objetivos estratégicos.</a:t>
            </a:r>
          </a:p>
          <a:p>
            <a:pPr marL="0" indent="0">
              <a:buNone/>
            </a:pPr>
            <a:r>
              <a:rPr lang="es-MX">
                <a:solidFill>
                  <a:schemeClr val="accent1"/>
                </a:solidFill>
                <a:latin typeface="Ghost"/>
              </a:rPr>
              <a:t>8. </a:t>
            </a:r>
            <a:r>
              <a:rPr lang="es-MX" b="1">
                <a:solidFill>
                  <a:schemeClr val="accent1"/>
                </a:solidFill>
                <a:latin typeface="Ghost"/>
              </a:rPr>
              <a:t>Fomentar una cultura de datos:</a:t>
            </a:r>
          </a:p>
          <a:p>
            <a:pPr lvl="1">
              <a:buFont typeface="Wingdings" panose="05000000000000000000" pitchFamily="2" charset="2"/>
              <a:buChar char="§"/>
            </a:pPr>
            <a:r>
              <a:rPr lang="es-MX" sz="1500">
                <a:solidFill>
                  <a:schemeClr val="accent1"/>
                </a:solidFill>
                <a:latin typeface="Ghost"/>
              </a:rPr>
              <a:t>Incentivar una cultura organizacional que valore la precisión de los datos y promueva la toma de decisiones basada en datos.</a:t>
            </a:r>
          </a:p>
          <a:p>
            <a:pPr lvl="1">
              <a:buFont typeface="Wingdings" panose="05000000000000000000" pitchFamily="2" charset="2"/>
              <a:buChar char="§"/>
            </a:pPr>
            <a:r>
              <a:rPr lang="es-MX" sz="1500">
                <a:solidFill>
                  <a:schemeClr val="accent1"/>
                </a:solidFill>
                <a:latin typeface="Ghost"/>
              </a:rPr>
              <a:t>Abordar cada uno de estos pasos con atención y seguir las mejores prácticas.</a:t>
            </a:r>
          </a:p>
          <a:p>
            <a:pPr marL="0" indent="0">
              <a:buNone/>
            </a:pPr>
            <a:endParaRPr lang="es-AR">
              <a:solidFill>
                <a:schemeClr val="accent1"/>
              </a:solidFill>
              <a:latin typeface="Ghost"/>
            </a:endParaRPr>
          </a:p>
        </p:txBody>
      </p:sp>
      <p:sp>
        <p:nvSpPr>
          <p:cNvPr id="4" name="Marcador de número de diapositiva 3">
            <a:extLst>
              <a:ext uri="{FF2B5EF4-FFF2-40B4-BE49-F238E27FC236}">
                <a16:creationId xmlns:a16="http://schemas.microsoft.com/office/drawing/2014/main" id="{86BCFF1E-6E19-7419-1FF9-4CE72FC552A1}"/>
              </a:ext>
            </a:extLst>
          </p:cNvPr>
          <p:cNvSpPr>
            <a:spLocks noGrp="1"/>
          </p:cNvSpPr>
          <p:nvPr>
            <p:ph type="sldNum" sz="quarter" idx="12"/>
          </p:nvPr>
        </p:nvSpPr>
        <p:spPr/>
        <p:txBody>
          <a:bodyPr/>
          <a:lstStyle/>
          <a:p>
            <a:fld id="{0E40E506-8910-4A1D-9597-9E72BD293B97}" type="slidenum">
              <a:rPr lang="en-US" smtClean="0"/>
              <a:t>11</a:t>
            </a:fld>
            <a:endParaRPr lang="en-US"/>
          </a:p>
        </p:txBody>
      </p:sp>
    </p:spTree>
    <p:extLst>
      <p:ext uri="{BB962C8B-B14F-4D97-AF65-F5344CB8AC3E}">
        <p14:creationId xmlns:p14="http://schemas.microsoft.com/office/powerpoint/2010/main" val="1362146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BBE19A-8A5C-23E8-0C8B-8F655B564DD7}"/>
              </a:ext>
            </a:extLst>
          </p:cNvPr>
          <p:cNvSpPr>
            <a:spLocks noGrp="1"/>
          </p:cNvSpPr>
          <p:nvPr>
            <p:ph type="title"/>
          </p:nvPr>
        </p:nvSpPr>
        <p:spPr/>
        <p:txBody>
          <a:bodyPr/>
          <a:lstStyle/>
          <a:p>
            <a:r>
              <a:rPr lang="es-MX" b="0" i="0">
                <a:effectLst/>
                <a:latin typeface="Ghost"/>
              </a:rPr>
              <a:t>Ejemplo de cuadro de mando integral</a:t>
            </a:r>
            <a:endParaRPr lang="es-AR"/>
          </a:p>
        </p:txBody>
      </p:sp>
      <p:sp>
        <p:nvSpPr>
          <p:cNvPr id="3" name="Marcador de contenido 2">
            <a:extLst>
              <a:ext uri="{FF2B5EF4-FFF2-40B4-BE49-F238E27FC236}">
                <a16:creationId xmlns:a16="http://schemas.microsoft.com/office/drawing/2014/main" id="{BDA56D8E-75B3-1D5F-6B9B-F87AECAE0EAC}"/>
              </a:ext>
            </a:extLst>
          </p:cNvPr>
          <p:cNvSpPr>
            <a:spLocks noGrp="1"/>
          </p:cNvSpPr>
          <p:nvPr>
            <p:ph idx="1"/>
          </p:nvPr>
        </p:nvSpPr>
        <p:spPr/>
        <p:txBody>
          <a:bodyPr>
            <a:normAutofit fontScale="92500" lnSpcReduction="20000"/>
          </a:bodyPr>
          <a:lstStyle/>
          <a:p>
            <a:pPr algn="l" fontAlgn="auto"/>
            <a:r>
              <a:rPr lang="es-MX" sz="2300" b="1" i="0">
                <a:solidFill>
                  <a:schemeClr val="accent1"/>
                </a:solidFill>
                <a:effectLst/>
                <a:latin typeface="TWK Lausanne"/>
              </a:rPr>
              <a:t>Perspectiva financiera</a:t>
            </a:r>
          </a:p>
          <a:p>
            <a:pPr algn="l" fontAlgn="auto">
              <a:buFont typeface="Arial" panose="020B0604020202020204" pitchFamily="34" charset="0"/>
              <a:buChar char="•"/>
            </a:pPr>
            <a:r>
              <a:rPr lang="es-MX" sz="2300" b="1" i="0">
                <a:solidFill>
                  <a:schemeClr val="accent1"/>
                </a:solidFill>
                <a:effectLst/>
                <a:latin typeface="inherit"/>
              </a:rPr>
              <a:t>Objetivo</a:t>
            </a:r>
            <a:r>
              <a:rPr lang="es-MX" sz="2300" b="1" i="0">
                <a:solidFill>
                  <a:schemeClr val="accent1"/>
                </a:solidFill>
                <a:effectLst/>
                <a:latin typeface="TWK Lausanne"/>
              </a:rPr>
              <a:t>: </a:t>
            </a:r>
            <a:r>
              <a:rPr lang="es-MX" sz="2300" b="0" i="0">
                <a:solidFill>
                  <a:schemeClr val="accent1"/>
                </a:solidFill>
                <a:effectLst/>
                <a:latin typeface="TWK Lausanne"/>
              </a:rPr>
              <a:t>Aumentar el volumen de negocios anual en un 10 %.</a:t>
            </a:r>
          </a:p>
          <a:p>
            <a:pPr algn="l" fontAlgn="auto">
              <a:buFont typeface="Arial" panose="020B0604020202020204" pitchFamily="34" charset="0"/>
              <a:buChar char="•"/>
            </a:pPr>
            <a:r>
              <a:rPr lang="es-MX" sz="2300" b="1" i="0">
                <a:solidFill>
                  <a:schemeClr val="accent1"/>
                </a:solidFill>
                <a:effectLst/>
                <a:latin typeface="inherit"/>
              </a:rPr>
              <a:t>KPI</a:t>
            </a:r>
            <a:r>
              <a:rPr lang="es-MX" sz="2300" b="1" i="0">
                <a:solidFill>
                  <a:schemeClr val="accent1"/>
                </a:solidFill>
                <a:effectLst/>
                <a:latin typeface="TWK Lausanne"/>
              </a:rPr>
              <a:t>:</a:t>
            </a:r>
            <a:r>
              <a:rPr lang="es-MX" sz="2300" b="0" i="0">
                <a:solidFill>
                  <a:schemeClr val="accent1"/>
                </a:solidFill>
                <a:effectLst/>
                <a:latin typeface="TWK Lausanne"/>
              </a:rPr>
              <a:t> Crecimiento mensual del volumen de negocios.</a:t>
            </a:r>
          </a:p>
          <a:p>
            <a:pPr algn="l" fontAlgn="auto">
              <a:buFont typeface="Arial" panose="020B0604020202020204" pitchFamily="34" charset="0"/>
              <a:buChar char="•"/>
            </a:pPr>
            <a:r>
              <a:rPr lang="es-MX" sz="2300" b="1" i="0">
                <a:solidFill>
                  <a:schemeClr val="accent1"/>
                </a:solidFill>
                <a:effectLst/>
                <a:latin typeface="inherit"/>
              </a:rPr>
              <a:t>Iniciativa</a:t>
            </a:r>
            <a:r>
              <a:rPr lang="es-MX" sz="2300" b="1" i="0">
                <a:solidFill>
                  <a:schemeClr val="accent1"/>
                </a:solidFill>
                <a:effectLst/>
                <a:latin typeface="TWK Lausanne"/>
              </a:rPr>
              <a:t>:</a:t>
            </a:r>
            <a:r>
              <a:rPr lang="es-MX" sz="2300" b="0" i="0">
                <a:solidFill>
                  <a:schemeClr val="accent1"/>
                </a:solidFill>
                <a:effectLst/>
                <a:latin typeface="TWK Lausanne"/>
              </a:rPr>
              <a:t> Lanzar una campaña de marketing dirigida para promover productos con márgenes elevados.</a:t>
            </a:r>
          </a:p>
          <a:p>
            <a:pPr algn="l" fontAlgn="auto"/>
            <a:r>
              <a:rPr lang="es-MX" sz="2300" b="1" i="0">
                <a:solidFill>
                  <a:schemeClr val="accent1"/>
                </a:solidFill>
                <a:effectLst/>
                <a:latin typeface="TWK Lausanne"/>
              </a:rPr>
              <a:t>Perspectiva del cliente</a:t>
            </a:r>
          </a:p>
          <a:p>
            <a:pPr algn="l" fontAlgn="auto">
              <a:buFont typeface="Arial" panose="020B0604020202020204" pitchFamily="34" charset="0"/>
              <a:buChar char="•"/>
            </a:pPr>
            <a:r>
              <a:rPr lang="es-MX" sz="2300" b="1" i="0">
                <a:solidFill>
                  <a:schemeClr val="accent1"/>
                </a:solidFill>
                <a:effectLst/>
                <a:latin typeface="inherit"/>
              </a:rPr>
              <a:t>Objetivo</a:t>
            </a:r>
            <a:r>
              <a:rPr lang="es-MX" sz="2300" b="1" i="0">
                <a:solidFill>
                  <a:schemeClr val="accent1"/>
                </a:solidFill>
                <a:effectLst/>
                <a:latin typeface="TWK Lausanne"/>
              </a:rPr>
              <a:t>:</a:t>
            </a:r>
            <a:r>
              <a:rPr lang="es-MX" sz="2300" b="0" i="0">
                <a:solidFill>
                  <a:schemeClr val="accent1"/>
                </a:solidFill>
                <a:effectLst/>
                <a:latin typeface="TWK Lausanne"/>
              </a:rPr>
              <a:t> Mejorar el nivel de satisfacción del cliente en un 15 %.</a:t>
            </a:r>
          </a:p>
          <a:p>
            <a:pPr algn="l" fontAlgn="auto">
              <a:buFont typeface="Arial" panose="020B0604020202020204" pitchFamily="34" charset="0"/>
              <a:buChar char="•"/>
            </a:pPr>
            <a:r>
              <a:rPr lang="es-MX" sz="2300" b="1" i="0">
                <a:solidFill>
                  <a:schemeClr val="accent1"/>
                </a:solidFill>
                <a:effectLst/>
                <a:latin typeface="inherit"/>
              </a:rPr>
              <a:t>KPI</a:t>
            </a:r>
            <a:r>
              <a:rPr lang="es-MX" sz="2300" b="1" i="0">
                <a:solidFill>
                  <a:schemeClr val="accent1"/>
                </a:solidFill>
                <a:effectLst/>
                <a:latin typeface="TWK Lausanne"/>
              </a:rPr>
              <a:t>:</a:t>
            </a:r>
            <a:r>
              <a:rPr lang="es-MX" sz="2300" b="0" i="0">
                <a:solidFill>
                  <a:schemeClr val="accent1"/>
                </a:solidFill>
                <a:effectLst/>
                <a:latin typeface="TWK Lausanne"/>
              </a:rPr>
              <a:t> Índice de satisfacción del cliente.</a:t>
            </a:r>
          </a:p>
          <a:p>
            <a:pPr algn="l" fontAlgn="auto">
              <a:buFont typeface="Arial" panose="020B0604020202020204" pitchFamily="34" charset="0"/>
              <a:buChar char="•"/>
            </a:pPr>
            <a:r>
              <a:rPr lang="es-MX" sz="2300" b="1" i="0">
                <a:solidFill>
                  <a:schemeClr val="accent1"/>
                </a:solidFill>
                <a:effectLst/>
                <a:latin typeface="inherit"/>
              </a:rPr>
              <a:t>Iniciativa</a:t>
            </a:r>
            <a:r>
              <a:rPr lang="es-MX" sz="2300" b="1" i="0">
                <a:solidFill>
                  <a:schemeClr val="accent1"/>
                </a:solidFill>
                <a:effectLst/>
                <a:latin typeface="TWK Lausanne"/>
              </a:rPr>
              <a:t>: </a:t>
            </a:r>
            <a:r>
              <a:rPr lang="es-MX" sz="2300" b="0" i="0">
                <a:solidFill>
                  <a:schemeClr val="accent1"/>
                </a:solidFill>
                <a:effectLst/>
                <a:latin typeface="TWK Lausanne"/>
              </a:rPr>
              <a:t>Implementar un programa de lealtad para fomentar compras repetidas.</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6281EE26-2863-B256-CBF2-8AEA43100059}"/>
              </a:ext>
            </a:extLst>
          </p:cNvPr>
          <p:cNvSpPr>
            <a:spLocks noGrp="1"/>
          </p:cNvSpPr>
          <p:nvPr>
            <p:ph type="sldNum" sz="quarter" idx="12"/>
          </p:nvPr>
        </p:nvSpPr>
        <p:spPr/>
        <p:txBody>
          <a:bodyPr/>
          <a:lstStyle/>
          <a:p>
            <a:fld id="{0E40E506-8910-4A1D-9597-9E72BD293B97}" type="slidenum">
              <a:rPr lang="en-US" smtClean="0"/>
              <a:t>12</a:t>
            </a:fld>
            <a:endParaRPr lang="en-US"/>
          </a:p>
        </p:txBody>
      </p:sp>
    </p:spTree>
    <p:extLst>
      <p:ext uri="{BB962C8B-B14F-4D97-AF65-F5344CB8AC3E}">
        <p14:creationId xmlns:p14="http://schemas.microsoft.com/office/powerpoint/2010/main" val="2282773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E0F42D-39F4-EF5D-F258-727F3905ABC6}"/>
              </a:ext>
            </a:extLst>
          </p:cNvPr>
          <p:cNvSpPr>
            <a:spLocks noGrp="1"/>
          </p:cNvSpPr>
          <p:nvPr>
            <p:ph idx="1"/>
          </p:nvPr>
        </p:nvSpPr>
        <p:spPr/>
        <p:txBody>
          <a:bodyPr/>
          <a:lstStyle/>
          <a:p>
            <a:pPr algn="l" fontAlgn="auto"/>
            <a:r>
              <a:rPr lang="es-MX" sz="1800" b="1" i="0">
                <a:solidFill>
                  <a:schemeClr val="accent1"/>
                </a:solidFill>
                <a:effectLst/>
                <a:latin typeface="TWK Lausanne"/>
              </a:rPr>
              <a:t>Perspectiva de procesos internos</a:t>
            </a:r>
          </a:p>
          <a:p>
            <a:pPr algn="l" fontAlgn="auto">
              <a:buFont typeface="Arial" panose="020B0604020202020204" pitchFamily="34" charset="0"/>
              <a:buChar char="•"/>
            </a:pPr>
            <a:r>
              <a:rPr lang="es-MX" sz="1800" b="1" i="0">
                <a:solidFill>
                  <a:schemeClr val="accent1"/>
                </a:solidFill>
                <a:effectLst/>
                <a:latin typeface="inherit"/>
              </a:rPr>
              <a:t>Objetivo</a:t>
            </a:r>
            <a:r>
              <a:rPr lang="es-MX" sz="1800" b="1" i="0">
                <a:solidFill>
                  <a:schemeClr val="accent1"/>
                </a:solidFill>
                <a:effectLst/>
                <a:latin typeface="TWK Lausanne"/>
              </a:rPr>
              <a:t>: </a:t>
            </a:r>
            <a:r>
              <a:rPr lang="es-MX" sz="1800" b="0" i="0">
                <a:solidFill>
                  <a:schemeClr val="accent1"/>
                </a:solidFill>
                <a:effectLst/>
                <a:latin typeface="TWK Lausanne"/>
              </a:rPr>
              <a:t>Mejorar la eficiencia del proceso de pedido.</a:t>
            </a:r>
          </a:p>
          <a:p>
            <a:pPr algn="l" fontAlgn="auto">
              <a:buFont typeface="Arial" panose="020B0604020202020204" pitchFamily="34" charset="0"/>
              <a:buChar char="•"/>
            </a:pPr>
            <a:r>
              <a:rPr lang="es-MX" sz="1800" b="1" i="0">
                <a:solidFill>
                  <a:schemeClr val="accent1"/>
                </a:solidFill>
                <a:effectLst/>
                <a:latin typeface="inherit"/>
              </a:rPr>
              <a:t>KPI</a:t>
            </a:r>
            <a:r>
              <a:rPr lang="es-MX" sz="1800" b="1" i="0">
                <a:solidFill>
                  <a:schemeClr val="accent1"/>
                </a:solidFill>
                <a:effectLst/>
                <a:latin typeface="TWK Lausanne"/>
              </a:rPr>
              <a:t>:</a:t>
            </a:r>
            <a:r>
              <a:rPr lang="es-MX" sz="1800" b="0" i="0">
                <a:solidFill>
                  <a:schemeClr val="accent1"/>
                </a:solidFill>
                <a:effectLst/>
                <a:latin typeface="TWK Lausanne"/>
              </a:rPr>
              <a:t> Tiempo promedio de procesamiento de pedidos.</a:t>
            </a:r>
          </a:p>
          <a:p>
            <a:pPr algn="l" fontAlgn="auto">
              <a:buFont typeface="Arial" panose="020B0604020202020204" pitchFamily="34" charset="0"/>
              <a:buChar char="•"/>
            </a:pPr>
            <a:r>
              <a:rPr lang="es-MX" sz="1800" b="1" i="0">
                <a:solidFill>
                  <a:schemeClr val="accent1"/>
                </a:solidFill>
                <a:effectLst/>
                <a:latin typeface="inherit"/>
              </a:rPr>
              <a:t>Iniciativa</a:t>
            </a:r>
            <a:r>
              <a:rPr lang="es-MX" sz="1800" b="1" i="0">
                <a:solidFill>
                  <a:schemeClr val="accent1"/>
                </a:solidFill>
                <a:effectLst/>
                <a:latin typeface="TWK Lausanne"/>
              </a:rPr>
              <a:t>:</a:t>
            </a:r>
            <a:r>
              <a:rPr lang="es-MX" sz="1800" b="0" i="0">
                <a:solidFill>
                  <a:schemeClr val="accent1"/>
                </a:solidFill>
                <a:effectLst/>
                <a:latin typeface="TWK Lausanne"/>
              </a:rPr>
              <a:t> Implementar un sistema de gestión de pedidos más eficiente.</a:t>
            </a:r>
          </a:p>
          <a:p>
            <a:pPr algn="l" fontAlgn="auto"/>
            <a:r>
              <a:rPr lang="es-MX" sz="1800" b="1" i="0">
                <a:solidFill>
                  <a:schemeClr val="accent1"/>
                </a:solidFill>
                <a:effectLst/>
                <a:latin typeface="TWK Lausanne"/>
              </a:rPr>
              <a:t>Perspectiva de aprendizaje y desarrollo</a:t>
            </a:r>
          </a:p>
          <a:p>
            <a:pPr algn="l" fontAlgn="auto">
              <a:buFont typeface="Arial" panose="020B0604020202020204" pitchFamily="34" charset="0"/>
              <a:buChar char="•"/>
            </a:pPr>
            <a:r>
              <a:rPr lang="es-MX" sz="1800" b="1" i="0">
                <a:solidFill>
                  <a:schemeClr val="accent1"/>
                </a:solidFill>
                <a:effectLst/>
                <a:latin typeface="inherit"/>
              </a:rPr>
              <a:t>Objetivo</a:t>
            </a:r>
            <a:r>
              <a:rPr lang="es-MX" sz="1800" b="1" i="0">
                <a:solidFill>
                  <a:schemeClr val="accent1"/>
                </a:solidFill>
                <a:effectLst/>
                <a:latin typeface="TWK Lausanne"/>
              </a:rPr>
              <a:t>:</a:t>
            </a:r>
            <a:r>
              <a:rPr lang="es-MX" sz="1800" b="0" i="0">
                <a:solidFill>
                  <a:schemeClr val="accent1"/>
                </a:solidFill>
                <a:effectLst/>
                <a:latin typeface="TWK Lausanne"/>
              </a:rPr>
              <a:t> Aumentar la participación de los empleados.</a:t>
            </a:r>
          </a:p>
          <a:p>
            <a:pPr algn="l" fontAlgn="auto">
              <a:buFont typeface="Arial" panose="020B0604020202020204" pitchFamily="34" charset="0"/>
              <a:buChar char="•"/>
            </a:pPr>
            <a:r>
              <a:rPr lang="es-MX" sz="1800" b="1" i="0">
                <a:solidFill>
                  <a:schemeClr val="accent1"/>
                </a:solidFill>
                <a:effectLst/>
                <a:latin typeface="inherit"/>
              </a:rPr>
              <a:t>KPI</a:t>
            </a:r>
            <a:r>
              <a:rPr lang="es-MX" sz="1800" b="1" i="0">
                <a:solidFill>
                  <a:schemeClr val="accent1"/>
                </a:solidFill>
                <a:effectLst/>
                <a:latin typeface="TWK Lausanne"/>
              </a:rPr>
              <a:t>: </a:t>
            </a:r>
            <a:r>
              <a:rPr lang="es-MX" sz="1800" b="0" i="0">
                <a:solidFill>
                  <a:schemeClr val="accent1"/>
                </a:solidFill>
                <a:effectLst/>
                <a:latin typeface="TWK Lausanne"/>
              </a:rPr>
              <a:t>Tasa de satisfacción de los empleados.</a:t>
            </a:r>
          </a:p>
          <a:p>
            <a:pPr algn="l" fontAlgn="auto">
              <a:buFont typeface="Arial" panose="020B0604020202020204" pitchFamily="34" charset="0"/>
              <a:buChar char="•"/>
            </a:pPr>
            <a:r>
              <a:rPr lang="es-MX" sz="1800" b="1" i="0">
                <a:solidFill>
                  <a:schemeClr val="accent1"/>
                </a:solidFill>
                <a:effectLst/>
                <a:latin typeface="inherit"/>
              </a:rPr>
              <a:t>Iniciativa</a:t>
            </a:r>
            <a:r>
              <a:rPr lang="es-MX" sz="1800" b="1" i="0">
                <a:solidFill>
                  <a:schemeClr val="accent1"/>
                </a:solidFill>
                <a:effectLst/>
                <a:latin typeface="TWK Lausanne"/>
              </a:rPr>
              <a:t>: </a:t>
            </a:r>
            <a:r>
              <a:rPr lang="es-MX" sz="1800" b="0" i="0">
                <a:solidFill>
                  <a:schemeClr val="accent1"/>
                </a:solidFill>
                <a:effectLst/>
                <a:latin typeface="TWK Lausanne"/>
              </a:rPr>
              <a:t>Implementar programas de desarrollo de </a:t>
            </a:r>
            <a:r>
              <a:rPr lang="es-MX" sz="1800" b="0" i="0" err="1">
                <a:solidFill>
                  <a:schemeClr val="accent1"/>
                </a:solidFill>
                <a:effectLst/>
                <a:latin typeface="TWK Lausanne"/>
              </a:rPr>
              <a:t>skills</a:t>
            </a:r>
            <a:r>
              <a:rPr lang="es-MX" sz="1800" b="0" i="0">
                <a:solidFill>
                  <a:schemeClr val="accent1"/>
                </a:solidFill>
                <a:effectLst/>
                <a:latin typeface="TWK Lausanne"/>
              </a:rPr>
              <a:t> (</a:t>
            </a:r>
            <a:r>
              <a:rPr lang="es-MX" b="0" i="0">
                <a:solidFill>
                  <a:schemeClr val="accent1"/>
                </a:solidFill>
                <a:effectLst/>
                <a:latin typeface="Google Sans"/>
              </a:rPr>
              <a:t>habilidades que tiene un empleado que no tiene nada que ver con sus conocimientos, sino que tiene que ver con su carácter.)</a:t>
            </a:r>
            <a:r>
              <a:rPr lang="es-MX" sz="1800" b="0" i="0">
                <a:solidFill>
                  <a:schemeClr val="accent1"/>
                </a:solidFill>
                <a:effectLst/>
                <a:latin typeface="TWK Lausanne"/>
              </a:rPr>
              <a:t> para los empleados.</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7E82C167-3CB7-333A-17EB-6DFD101B737F}"/>
              </a:ext>
            </a:extLst>
          </p:cNvPr>
          <p:cNvSpPr>
            <a:spLocks noGrp="1"/>
          </p:cNvSpPr>
          <p:nvPr>
            <p:ph type="sldNum" sz="quarter" idx="12"/>
          </p:nvPr>
        </p:nvSpPr>
        <p:spPr/>
        <p:txBody>
          <a:bodyPr/>
          <a:lstStyle/>
          <a:p>
            <a:fld id="{0E40E506-8910-4A1D-9597-9E72BD293B97}" type="slidenum">
              <a:rPr lang="en-US" smtClean="0"/>
              <a:t>13</a:t>
            </a:fld>
            <a:endParaRPr lang="en-US"/>
          </a:p>
        </p:txBody>
      </p:sp>
      <p:sp>
        <p:nvSpPr>
          <p:cNvPr id="5" name="Título 1">
            <a:extLst>
              <a:ext uri="{FF2B5EF4-FFF2-40B4-BE49-F238E27FC236}">
                <a16:creationId xmlns:a16="http://schemas.microsoft.com/office/drawing/2014/main" id="{529A31B4-2912-990A-AA8E-A2F1A19C7F52}"/>
              </a:ext>
            </a:extLst>
          </p:cNvPr>
          <p:cNvSpPr>
            <a:spLocks noGrp="1"/>
          </p:cNvSpPr>
          <p:nvPr>
            <p:ph type="title"/>
          </p:nvPr>
        </p:nvSpPr>
        <p:spPr>
          <a:xfrm>
            <a:off x="581025" y="701675"/>
            <a:ext cx="11029950" cy="1014413"/>
          </a:xfrm>
        </p:spPr>
        <p:txBody>
          <a:bodyPr/>
          <a:lstStyle/>
          <a:p>
            <a:r>
              <a:rPr lang="es-MX" b="0" i="0">
                <a:effectLst/>
                <a:latin typeface="Ghost"/>
              </a:rPr>
              <a:t>Ejemplo de cuadro de mando integral –</a:t>
            </a:r>
            <a:r>
              <a:rPr lang="es-MX" b="0" i="0" cap="none">
                <a:effectLst/>
                <a:latin typeface="Ghost"/>
              </a:rPr>
              <a:t>Continuación</a:t>
            </a:r>
            <a:r>
              <a:rPr lang="es-MX" b="0" i="0">
                <a:effectLst/>
                <a:latin typeface="Ghost"/>
              </a:rPr>
              <a:t>-</a:t>
            </a:r>
            <a:endParaRPr lang="es-AR"/>
          </a:p>
        </p:txBody>
      </p:sp>
    </p:spTree>
    <p:extLst>
      <p:ext uri="{BB962C8B-B14F-4D97-AF65-F5344CB8AC3E}">
        <p14:creationId xmlns:p14="http://schemas.microsoft.com/office/powerpoint/2010/main" val="54391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Creando</a:t>
            </a:r>
            <a:r>
              <a:rPr spc="-75"/>
              <a:t> </a:t>
            </a:r>
            <a:r>
              <a:t>un</a:t>
            </a:r>
            <a:r>
              <a:rPr spc="-75"/>
              <a:t> </a:t>
            </a:r>
            <a:r>
              <a:rPr spc="-25"/>
              <a:t>BSC</a:t>
            </a:r>
          </a:p>
        </p:txBody>
      </p:sp>
      <p:sp>
        <p:nvSpPr>
          <p:cNvPr id="18" name="object 18"/>
          <p:cNvSpPr txBox="1"/>
          <p:nvPr/>
        </p:nvSpPr>
        <p:spPr>
          <a:xfrm>
            <a:off x="688257" y="1995948"/>
            <a:ext cx="10510685" cy="3082895"/>
          </a:xfrm>
          <a:prstGeom prst="rect">
            <a:avLst/>
          </a:prstGeom>
        </p:spPr>
        <p:txBody>
          <a:bodyPr vert="horz" wrap="square" lIns="0" tIns="119380" rIns="0" bIns="0" rtlCol="0">
            <a:spAutoFit/>
          </a:bodyPr>
          <a:lstStyle>
            <a:defPPr>
              <a:defRPr lang="es-AR"/>
            </a:defPPr>
            <a:lvl1pPr marL="2735580">
              <a:spcBef>
                <a:spcPts val="940"/>
              </a:spcBef>
              <a:defRPr sz="1400">
                <a:solidFill>
                  <a:schemeClr val="accent1"/>
                </a:solidFill>
                <a:latin typeface="Arial"/>
                <a:cs typeface="Arial"/>
              </a:defRPr>
            </a:lvl1pPr>
          </a:lstStyle>
          <a:p>
            <a:pPr algn="just"/>
            <a:endParaRPr/>
          </a:p>
          <a:p>
            <a:pPr algn="just"/>
            <a:r>
              <a:rPr b="1"/>
              <a:t>La premisa básica de BSC es “la medición motiva”. </a:t>
            </a:r>
            <a:endParaRPr lang="es-AR" b="1"/>
          </a:p>
          <a:p>
            <a:pPr marL="3021330" indent="-285750" algn="just">
              <a:buFont typeface="Wingdings" panose="05000000000000000000" pitchFamily="2" charset="2"/>
              <a:buChar char="§"/>
            </a:pPr>
            <a:r>
              <a:t>Operando bajo la creencia en que “lo que se mide se hace”, el proceso BSC define las mediciones para cada enunciación de un objetivo clave. El logro de la medición definida indica el </a:t>
            </a:r>
            <a:r>
              <a:rPr err="1"/>
              <a:t>éxito</a:t>
            </a:r>
            <a:r>
              <a:t>.</a:t>
            </a:r>
            <a:endParaRPr lang="es-MX"/>
          </a:p>
          <a:p>
            <a:pPr marL="3021330" indent="-285750" algn="just">
              <a:buFont typeface="Wingdings" panose="05000000000000000000" pitchFamily="2" charset="2"/>
              <a:buChar char="§"/>
            </a:pPr>
            <a:endParaRPr lang="es-AR"/>
          </a:p>
          <a:p>
            <a:pPr algn="just"/>
            <a:r>
              <a:rPr lang="es-MX" b="1"/>
              <a:t>Al usar el </a:t>
            </a:r>
            <a:r>
              <a:rPr lang="es-MX" b="1" err="1"/>
              <a:t>Balanced</a:t>
            </a:r>
            <a:r>
              <a:rPr lang="es-MX" b="1"/>
              <a:t> </a:t>
            </a:r>
            <a:r>
              <a:rPr lang="es-MX" b="1" err="1"/>
              <a:t>Scorecard</a:t>
            </a:r>
            <a:r>
              <a:rPr lang="es-MX" b="1"/>
              <a:t>, los gerentes confían en: </a:t>
            </a:r>
          </a:p>
          <a:p>
            <a:pPr marL="3021330" indent="-285750" algn="just">
              <a:buFont typeface="Wingdings" panose="05000000000000000000" pitchFamily="2" charset="2"/>
              <a:buChar char="§"/>
            </a:pPr>
            <a:r>
              <a:rPr lang="es-AR"/>
              <a:t>L</a:t>
            </a:r>
            <a:r>
              <a:t>as medidas financieras de corto plazo como las indicadoras del desempeño de la compañía. </a:t>
            </a:r>
            <a:endParaRPr lang="es-AR"/>
          </a:p>
          <a:p>
            <a:pPr marL="3021330" indent="-285750" algn="just">
              <a:buFont typeface="Wingdings" panose="05000000000000000000" pitchFamily="2" charset="2"/>
              <a:buChar char="§"/>
            </a:pPr>
            <a:r>
              <a:rPr lang="es-AR"/>
              <a:t>L</a:t>
            </a:r>
            <a:r>
              <a:t>a creación de eficiencias </a:t>
            </a:r>
            <a:r>
              <a:rPr err="1"/>
              <a:t>operacionales</a:t>
            </a:r>
            <a:r>
              <a:t>  </a:t>
            </a:r>
            <a:endParaRPr lang="es-AR"/>
          </a:p>
          <a:p>
            <a:pPr marL="3021330" indent="-285750" algn="just">
              <a:buFont typeface="Wingdings" panose="05000000000000000000" pitchFamily="2" charset="2"/>
              <a:buChar char="§"/>
            </a:pPr>
            <a:r>
              <a:rPr lang="es-AR"/>
              <a:t>E</a:t>
            </a:r>
            <a:r>
              <a:t>l agregado de habilidades en el staff.</a:t>
            </a:r>
          </a:p>
        </p:txBody>
      </p:sp>
      <p:sp>
        <p:nvSpPr>
          <p:cNvPr id="2" name="Marcador de número de diapositiva 1">
            <a:extLst>
              <a:ext uri="{FF2B5EF4-FFF2-40B4-BE49-F238E27FC236}">
                <a16:creationId xmlns:a16="http://schemas.microsoft.com/office/drawing/2014/main" id="{5ACAE184-70EE-369F-376C-E6B6971FCBF9}"/>
              </a:ext>
            </a:extLst>
          </p:cNvPr>
          <p:cNvSpPr>
            <a:spLocks noGrp="1"/>
          </p:cNvSpPr>
          <p:nvPr>
            <p:ph type="sldNum" sz="quarter" idx="12"/>
          </p:nvPr>
        </p:nvSpPr>
        <p:spPr/>
        <p:txBody>
          <a:bodyPr/>
          <a:lstStyle/>
          <a:p>
            <a:fld id="{0E40E506-8910-4A1D-9597-9E72BD293B97}"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26784D-4033-AEA4-DC31-0EA9D435502A}"/>
              </a:ext>
            </a:extLst>
          </p:cNvPr>
          <p:cNvSpPr>
            <a:spLocks noGrp="1"/>
          </p:cNvSpPr>
          <p:nvPr>
            <p:ph type="title"/>
          </p:nvPr>
        </p:nvSpPr>
        <p:spPr/>
        <p:txBody>
          <a:bodyPr/>
          <a:lstStyle/>
          <a:p>
            <a:pPr algn="ctr"/>
            <a:r>
              <a:rPr lang="es-MX"/>
              <a:t>Cómo</a:t>
            </a:r>
            <a:r>
              <a:rPr lang="es-MX" spc="-70"/>
              <a:t> </a:t>
            </a:r>
            <a:r>
              <a:rPr lang="es-MX"/>
              <a:t>los</a:t>
            </a:r>
            <a:r>
              <a:rPr lang="es-MX" spc="-65"/>
              <a:t> </a:t>
            </a:r>
            <a:r>
              <a:rPr lang="es-MX"/>
              <a:t>objetivos</a:t>
            </a:r>
            <a:r>
              <a:rPr lang="es-MX" spc="-65"/>
              <a:t> </a:t>
            </a:r>
            <a:r>
              <a:rPr lang="es-MX"/>
              <a:t>de</a:t>
            </a:r>
            <a:r>
              <a:rPr lang="es-MX" spc="-65"/>
              <a:t> </a:t>
            </a:r>
            <a:r>
              <a:rPr lang="es-MX" spc="-10"/>
              <a:t>Negocio </a:t>
            </a:r>
            <a:br>
              <a:rPr lang="es-MX" spc="-10"/>
            </a:br>
            <a:r>
              <a:rPr lang="es-MX" u="sng">
                <a:uFill>
                  <a:solidFill>
                    <a:srgbClr val="000000"/>
                  </a:solidFill>
                </a:uFill>
              </a:rPr>
              <a:t>orientan</a:t>
            </a:r>
            <a:r>
              <a:rPr lang="es-MX" u="sng" spc="-50">
                <a:uFill>
                  <a:solidFill>
                    <a:srgbClr val="000000"/>
                  </a:solidFill>
                </a:uFill>
              </a:rPr>
              <a:t> </a:t>
            </a:r>
            <a:r>
              <a:rPr lang="es-MX" u="sng" spc="-25">
                <a:uFill>
                  <a:solidFill>
                    <a:srgbClr val="000000"/>
                  </a:solidFill>
                </a:uFill>
              </a:rPr>
              <a:t>las</a:t>
            </a:r>
            <a:r>
              <a:rPr lang="es-MX" u="sng">
                <a:uFill>
                  <a:solidFill>
                    <a:srgbClr val="000000"/>
                  </a:solidFill>
                </a:uFill>
              </a:rPr>
              <a:t>	Metas</a:t>
            </a:r>
            <a:r>
              <a:rPr lang="es-MX" u="sng" spc="-40">
                <a:uFill>
                  <a:solidFill>
                    <a:srgbClr val="000000"/>
                  </a:solidFill>
                </a:uFill>
              </a:rPr>
              <a:t> </a:t>
            </a:r>
            <a:r>
              <a:rPr lang="es-MX" u="sng">
                <a:uFill>
                  <a:solidFill>
                    <a:srgbClr val="000000"/>
                  </a:solidFill>
                </a:uFill>
              </a:rPr>
              <a:t>de</a:t>
            </a:r>
            <a:r>
              <a:rPr lang="es-MX" u="sng" spc="-105">
                <a:uFill>
                  <a:solidFill>
                    <a:srgbClr val="000000"/>
                  </a:solidFill>
                </a:uFill>
              </a:rPr>
              <a:t>  </a:t>
            </a:r>
            <a:r>
              <a:rPr lang="es-MX" u="sng" spc="-25">
                <a:uFill>
                  <a:solidFill>
                    <a:srgbClr val="000000"/>
                  </a:solidFill>
                </a:uFill>
              </a:rPr>
              <a:t>TI</a:t>
            </a:r>
            <a:endParaRPr lang="es-AR" u="sng"/>
          </a:p>
        </p:txBody>
      </p:sp>
      <p:graphicFrame>
        <p:nvGraphicFramePr>
          <p:cNvPr id="4" name="Marcador de contenido 3">
            <a:extLst>
              <a:ext uri="{FF2B5EF4-FFF2-40B4-BE49-F238E27FC236}">
                <a16:creationId xmlns:a16="http://schemas.microsoft.com/office/drawing/2014/main" id="{964419B5-1C1E-AC43-87FB-A2D7BBEEA983}"/>
              </a:ext>
            </a:extLst>
          </p:cNvPr>
          <p:cNvGraphicFramePr>
            <a:graphicFrameLocks noGrp="1"/>
          </p:cNvGraphicFramePr>
          <p:nvPr>
            <p:ph idx="1"/>
            <p:extLst>
              <p:ext uri="{D42A27DB-BD31-4B8C-83A1-F6EECF244321}">
                <p14:modId xmlns:p14="http://schemas.microsoft.com/office/powerpoint/2010/main" val="928885256"/>
              </p:ext>
            </p:extLst>
          </p:nvPr>
        </p:nvGraphicFramePr>
        <p:xfrm>
          <a:off x="479777" y="1825037"/>
          <a:ext cx="11414272" cy="5051377"/>
        </p:xfrm>
        <a:graphic>
          <a:graphicData uri="http://schemas.openxmlformats.org/drawingml/2006/table">
            <a:tbl>
              <a:tblPr firstRow="1" bandRow="1">
                <a:tableStyleId>{5C22544A-7EE6-4342-B048-85BDC9FD1C3A}</a:tableStyleId>
              </a:tblPr>
              <a:tblGrid>
                <a:gridCol w="5322299">
                  <a:extLst>
                    <a:ext uri="{9D8B030D-6E8A-4147-A177-3AD203B41FA5}">
                      <a16:colId xmlns:a16="http://schemas.microsoft.com/office/drawing/2014/main" val="489522166"/>
                    </a:ext>
                  </a:extLst>
                </a:gridCol>
                <a:gridCol w="6091973">
                  <a:extLst>
                    <a:ext uri="{9D8B030D-6E8A-4147-A177-3AD203B41FA5}">
                      <a16:colId xmlns:a16="http://schemas.microsoft.com/office/drawing/2014/main" val="1261496154"/>
                    </a:ext>
                  </a:extLst>
                </a:gridCol>
              </a:tblGrid>
              <a:tr h="353116">
                <a:tc>
                  <a:txBody>
                    <a:bodyPr/>
                    <a:lstStyle/>
                    <a:p>
                      <a:r>
                        <a:rPr lang="es-AR" sz="1800" b="1">
                          <a:latin typeface="+mn-lt"/>
                          <a:cs typeface="Gill Sans MT"/>
                        </a:rPr>
                        <a:t>Objetivos</a:t>
                      </a:r>
                      <a:r>
                        <a:rPr lang="es-AR" sz="1800" b="1" spc="-100">
                          <a:latin typeface="+mn-lt"/>
                          <a:cs typeface="Gill Sans MT"/>
                        </a:rPr>
                        <a:t> </a:t>
                      </a:r>
                      <a:r>
                        <a:rPr lang="es-AR" sz="1800" b="1">
                          <a:latin typeface="+mn-lt"/>
                          <a:cs typeface="Gill Sans MT"/>
                        </a:rPr>
                        <a:t>de</a:t>
                      </a:r>
                      <a:r>
                        <a:rPr lang="es-AR" sz="1800" b="1" spc="-100">
                          <a:latin typeface="+mn-lt"/>
                          <a:cs typeface="Gill Sans MT"/>
                        </a:rPr>
                        <a:t> </a:t>
                      </a:r>
                      <a:r>
                        <a:rPr lang="es-AR" sz="1800" b="1" spc="-10">
                          <a:latin typeface="+mn-lt"/>
                          <a:cs typeface="Gill Sans MT"/>
                        </a:rPr>
                        <a:t>negocio</a:t>
                      </a:r>
                      <a:endParaRPr lang="es-AR"/>
                    </a:p>
                  </a:txBody>
                  <a:tcPr/>
                </a:tc>
                <a:tc>
                  <a:txBody>
                    <a:bodyPr/>
                    <a:lstStyle/>
                    <a:p>
                      <a:pPr marL="0" algn="l" defTabSz="457200" rtl="0" eaLnBrk="1" latinLnBrk="0" hangingPunct="1"/>
                      <a:r>
                        <a:rPr lang="es-AR" sz="1800" b="1" kern="1200">
                          <a:solidFill>
                            <a:schemeClr val="lt1"/>
                          </a:solidFill>
                          <a:latin typeface="+mn-lt"/>
                          <a:ea typeface="+mn-ea"/>
                          <a:cs typeface="Gill Sans MT"/>
                        </a:rPr>
                        <a:t>Metas de TI</a:t>
                      </a:r>
                      <a:endParaRPr lang="es-AR" sz="1800" b="1" kern="1200">
                        <a:solidFill>
                          <a:schemeClr val="lt1"/>
                        </a:solidFill>
                        <a:latin typeface="+mn-lt"/>
                        <a:ea typeface="+mn-ea"/>
                      </a:endParaRPr>
                    </a:p>
                  </a:txBody>
                  <a:tcPr/>
                </a:tc>
                <a:extLst>
                  <a:ext uri="{0D108BD9-81ED-4DB2-BD59-A6C34878D82A}">
                    <a16:rowId xmlns:a16="http://schemas.microsoft.com/office/drawing/2014/main" val="1643120514"/>
                  </a:ext>
                </a:extLst>
              </a:tr>
              <a:tr h="282493">
                <a:tc>
                  <a:txBody>
                    <a:bodyPr/>
                    <a:lstStyle/>
                    <a:p>
                      <a:pPr marL="12700" indent="0">
                        <a:spcBef>
                          <a:spcPts val="700"/>
                        </a:spcBef>
                        <a:buSzPct val="75000"/>
                        <a:buFontTx/>
                        <a:buNone/>
                        <a:tabLst>
                          <a:tab pos="285115" algn="l"/>
                        </a:tabLst>
                      </a:pPr>
                      <a:r>
                        <a:rPr lang="es-MX" sz="1200">
                          <a:latin typeface="+mn-lt"/>
                          <a:cs typeface="Gill Sans MT"/>
                        </a:rPr>
                        <a:t>Mejorar</a:t>
                      </a:r>
                      <a:r>
                        <a:rPr lang="es-MX" sz="1200" spc="-20">
                          <a:latin typeface="+mn-lt"/>
                          <a:cs typeface="Gill Sans MT"/>
                        </a:rPr>
                        <a:t> </a:t>
                      </a:r>
                      <a:r>
                        <a:rPr lang="es-MX" sz="1200">
                          <a:latin typeface="+mn-lt"/>
                          <a:cs typeface="Gill Sans MT"/>
                        </a:rPr>
                        <a:t>la</a:t>
                      </a:r>
                      <a:r>
                        <a:rPr lang="es-MX" sz="1200" spc="-20">
                          <a:latin typeface="+mn-lt"/>
                          <a:cs typeface="Gill Sans MT"/>
                        </a:rPr>
                        <a:t> </a:t>
                      </a:r>
                      <a:r>
                        <a:rPr lang="es-MX" sz="1200">
                          <a:latin typeface="+mn-lt"/>
                          <a:cs typeface="Gill Sans MT"/>
                        </a:rPr>
                        <a:t>orientación</a:t>
                      </a:r>
                      <a:r>
                        <a:rPr lang="es-MX" sz="1200" spc="-20">
                          <a:latin typeface="+mn-lt"/>
                          <a:cs typeface="Gill Sans MT"/>
                        </a:rPr>
                        <a:t> </a:t>
                      </a:r>
                      <a:r>
                        <a:rPr lang="es-MX" sz="1200">
                          <a:latin typeface="+mn-lt"/>
                          <a:cs typeface="Gill Sans MT"/>
                        </a:rPr>
                        <a:t>al</a:t>
                      </a:r>
                      <a:r>
                        <a:rPr lang="es-MX" sz="1200" spc="-15">
                          <a:latin typeface="+mn-lt"/>
                          <a:cs typeface="Gill Sans MT"/>
                        </a:rPr>
                        <a:t> </a:t>
                      </a:r>
                      <a:r>
                        <a:rPr lang="es-MX" sz="1200">
                          <a:latin typeface="+mn-lt"/>
                          <a:cs typeface="Gill Sans MT"/>
                        </a:rPr>
                        <a:t>cliente</a:t>
                      </a:r>
                      <a:r>
                        <a:rPr lang="es-MX" sz="1200" spc="-20">
                          <a:latin typeface="+mn-lt"/>
                          <a:cs typeface="Gill Sans MT"/>
                        </a:rPr>
                        <a:t> </a:t>
                      </a:r>
                      <a:r>
                        <a:rPr lang="es-MX" sz="1200">
                          <a:latin typeface="+mn-lt"/>
                          <a:cs typeface="Gill Sans MT"/>
                        </a:rPr>
                        <a:t>y</a:t>
                      </a:r>
                      <a:r>
                        <a:rPr lang="es-MX" sz="1200" spc="-20">
                          <a:latin typeface="+mn-lt"/>
                          <a:cs typeface="Gill Sans MT"/>
                        </a:rPr>
                        <a:t> </a:t>
                      </a:r>
                      <a:r>
                        <a:rPr lang="es-MX" sz="1200">
                          <a:latin typeface="+mn-lt"/>
                          <a:cs typeface="Gill Sans MT"/>
                        </a:rPr>
                        <a:t>el</a:t>
                      </a:r>
                      <a:r>
                        <a:rPr lang="es-MX" sz="1200" spc="-15">
                          <a:latin typeface="+mn-lt"/>
                          <a:cs typeface="Gill Sans MT"/>
                        </a:rPr>
                        <a:t> </a:t>
                      </a:r>
                      <a:r>
                        <a:rPr lang="es-MX" sz="1200" spc="-10">
                          <a:latin typeface="+mn-lt"/>
                          <a:cs typeface="Gill Sans MT"/>
                        </a:rPr>
                        <a:t>servicio.</a:t>
                      </a:r>
                      <a:endParaRPr lang="es-MX" sz="1200">
                        <a:latin typeface="+mn-lt"/>
                        <a:cs typeface="Gill Sans MT"/>
                      </a:endParaRPr>
                    </a:p>
                  </a:txBody>
                  <a:tcPr/>
                </a:tc>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a:rPr>
                        <a:t>Alinear la estrategia de TI a la estrategia de negocio</a:t>
                      </a:r>
                    </a:p>
                  </a:txBody>
                  <a:tcPr/>
                </a:tc>
                <a:extLst>
                  <a:ext uri="{0D108BD9-81ED-4DB2-BD59-A6C34878D82A}">
                    <a16:rowId xmlns:a16="http://schemas.microsoft.com/office/drawing/2014/main" val="2146346509"/>
                  </a:ext>
                </a:extLst>
              </a:tr>
              <a:tr h="34302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el cumplimiento de leyes y regulaciones externa.</a:t>
                      </a:r>
                    </a:p>
                  </a:txBody>
                  <a:tcPr/>
                </a:tc>
                <a:tc>
                  <a:txBody>
                    <a:bodyPr/>
                    <a:lstStyle/>
                    <a:p>
                      <a:pPr marL="12065" marR="452120" indent="0">
                        <a:spcBef>
                          <a:spcPts val="600"/>
                        </a:spcBef>
                        <a:buSzPct val="75000"/>
                        <a:buFontTx/>
                        <a:buNone/>
                        <a:tabLst>
                          <a:tab pos="285115" algn="l"/>
                        </a:tabLst>
                      </a:pPr>
                      <a:r>
                        <a:rPr lang="es-MX" sz="1200" kern="1200">
                          <a:solidFill>
                            <a:schemeClr val="dk1"/>
                          </a:solidFill>
                          <a:latin typeface="+mn-lt"/>
                          <a:ea typeface="+mn-ea"/>
                          <a:cs typeface="Gill Sans MT"/>
                        </a:rPr>
                        <a:t>Mantener la seguridad de la información y la infraestructura de procesamiento</a:t>
                      </a:r>
                    </a:p>
                  </a:txBody>
                  <a:tcPr/>
                </a:tc>
                <a:extLst>
                  <a:ext uri="{0D108BD9-81ED-4DB2-BD59-A6C34878D82A}">
                    <a16:rowId xmlns:a16="http://schemas.microsoft.com/office/drawing/2014/main" val="3588753839"/>
                  </a:ext>
                </a:extLst>
              </a:tr>
              <a:tr h="26231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Establecer la continuidad y disponibilidad del servicio</a:t>
                      </a:r>
                      <a:endParaRPr lang="es-AR" sz="1200" kern="1200">
                        <a:solidFill>
                          <a:schemeClr val="dk1"/>
                        </a:solidFill>
                        <a:latin typeface="+mn-lt"/>
                        <a:ea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que los servicios de TI son confiables y seguros</a:t>
                      </a:r>
                    </a:p>
                  </a:txBody>
                  <a:tcPr/>
                </a:tc>
                <a:extLst>
                  <a:ext uri="{0D108BD9-81ED-4DB2-BD59-A6C34878D82A}">
                    <a16:rowId xmlns:a16="http://schemas.microsoft.com/office/drawing/2014/main" val="3718785571"/>
                  </a:ext>
                </a:extLst>
              </a:tr>
              <a:tr h="433828">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a:rPr>
                        <a:t>Gestionar los riesgos de negocio (relacionados con TI).</a:t>
                      </a:r>
                    </a:p>
                  </a:txBody>
                  <a:tcPr/>
                </a:tc>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a:rPr>
                        <a:t>Suministrar una oferta y niveles de servicios acordes con los requisitos del negocio</a:t>
                      </a:r>
                    </a:p>
                    <a:p>
                      <a:endParaRPr lang="es-AR" sz="1200" kern="1200">
                        <a:solidFill>
                          <a:schemeClr val="dk1"/>
                        </a:solidFill>
                        <a:latin typeface="+mn-lt"/>
                        <a:ea typeface="+mn-ea"/>
                      </a:endParaRPr>
                    </a:p>
                  </a:txBody>
                  <a:tcPr/>
                </a:tc>
                <a:extLst>
                  <a:ext uri="{0D108BD9-81ED-4DB2-BD59-A6C34878D82A}">
                    <a16:rowId xmlns:a16="http://schemas.microsoft.com/office/drawing/2014/main" val="883895631"/>
                  </a:ext>
                </a:extLst>
              </a:tr>
              <a:tr h="433828">
                <a:tc>
                  <a:txBody>
                    <a:bodyPr/>
                    <a:lstStyle/>
                    <a:p>
                      <a:pPr marL="12700" indent="0">
                        <a:spcBef>
                          <a:spcPts val="600"/>
                        </a:spcBef>
                        <a:buSzPct val="75000"/>
                        <a:buFontTx/>
                        <a:buNone/>
                        <a:tabLst>
                          <a:tab pos="285115" algn="l"/>
                        </a:tabLst>
                      </a:pPr>
                      <a:r>
                        <a:rPr lang="es-MX" sz="1200" kern="1200">
                          <a:solidFill>
                            <a:schemeClr val="dk1"/>
                          </a:solidFill>
                          <a:latin typeface="+mn-lt"/>
                          <a:ea typeface="+mn-ea"/>
                          <a:cs typeface="Gill Sans MT"/>
                        </a:rPr>
                        <a:t>Ofrecer productos y servicios competitivos.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que TI cumple con leyes y regulaciones</a:t>
                      </a:r>
                    </a:p>
                    <a:p>
                      <a:endParaRPr lang="es-AR" sz="1200" kern="1200">
                        <a:solidFill>
                          <a:schemeClr val="dk1"/>
                        </a:solidFill>
                        <a:latin typeface="+mn-lt"/>
                        <a:ea typeface="+mn-ea"/>
                      </a:endParaRPr>
                    </a:p>
                  </a:txBody>
                  <a:tcPr/>
                </a:tc>
                <a:extLst>
                  <a:ext uri="{0D108BD9-81ED-4DB2-BD59-A6C34878D82A}">
                    <a16:rowId xmlns:a16="http://schemas.microsoft.com/office/drawing/2014/main" val="1822927552"/>
                  </a:ext>
                </a:extLst>
              </a:tr>
              <a:tr h="6759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Mejorar y mantener la funcionalidad de los procesos de negocio.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Traducir funciones de negocio y requisitos de control en soluciones automatizadas efectivas y eficientes</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592456751"/>
                  </a:ext>
                </a:extLst>
              </a:tr>
              <a:tr h="504451">
                <a:tc>
                  <a:txBody>
                    <a:bodyPr/>
                    <a:lstStyle/>
                    <a:p>
                      <a:pPr marL="12065" marR="426084" indent="0">
                        <a:spcBef>
                          <a:spcPts val="600"/>
                        </a:spcBef>
                        <a:buSzPct val="75000"/>
                        <a:buFontTx/>
                        <a:buNone/>
                        <a:tabLst>
                          <a:tab pos="285115" algn="l"/>
                        </a:tabLst>
                      </a:pPr>
                      <a:r>
                        <a:rPr lang="es-MX" sz="1200" kern="1200">
                          <a:solidFill>
                            <a:schemeClr val="dk1"/>
                          </a:solidFill>
                          <a:latin typeface="+mn-lt"/>
                          <a:ea typeface="+mn-ea"/>
                          <a:cs typeface="Gill Sans MT"/>
                        </a:rPr>
                        <a:t>Proveer un buen retorno sobre las inversiones de negocio (relacionadas con TI).</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Entregar proyectos en término y bajo presupuesto, alcanzando los estándares de calidad</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1405069221"/>
                  </a:ext>
                </a:extLst>
              </a:tr>
              <a:tr h="525275">
                <a:tc>
                  <a:txBody>
                    <a:bodyPr/>
                    <a:lstStyle/>
                    <a:p>
                      <a:pPr marL="12065" marR="151130" indent="0">
                        <a:spcBef>
                          <a:spcPts val="600"/>
                        </a:spcBef>
                        <a:buSzPct val="75000"/>
                        <a:buFontTx/>
                        <a:buNone/>
                        <a:tabLst>
                          <a:tab pos="285115" algn="l"/>
                        </a:tabLst>
                      </a:pPr>
                      <a:r>
                        <a:rPr lang="es-MX" sz="1200" kern="1200">
                          <a:solidFill>
                            <a:schemeClr val="dk1"/>
                          </a:solidFill>
                          <a:latin typeface="+mn-lt"/>
                          <a:ea typeface="+mn-ea"/>
                          <a:cs typeface="Gill Sans MT"/>
                        </a:rPr>
                        <a:t>Adquirir, desarrollar y mantener personal capacitado y motivado.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Obtener el apoyo y el compromiso de la alta gerencia</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3626843158"/>
                  </a:ext>
                </a:extLst>
              </a:tr>
              <a:tr h="525275">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a:rPr>
                        <a:t>Crear la agilidad para responder a los requerimientos de cambio del negocio.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Mejorar la relación costo-eficiencia de TI</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160920386"/>
                  </a:ext>
                </a:extLst>
              </a:tr>
              <a:tr h="55489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Obtener información útil y confiable para la toma de decisiones estratégica.</a:t>
                      </a:r>
                    </a:p>
                  </a:txBody>
                  <a:tcPr/>
                </a:tc>
                <a:tc>
                  <a:txBody>
                    <a:bodyPr/>
                    <a:lstStyle/>
                    <a:p>
                      <a:pPr marL="12065" marR="452120" lvl="0" indent="0" algn="l" defTabSz="457200" rtl="0" eaLnBrk="1" fontAlgn="auto" latinLnBrk="0" hangingPunct="1">
                        <a:lnSpc>
                          <a:spcPct val="100000"/>
                        </a:lnSpc>
                        <a:spcBef>
                          <a:spcPts val="600"/>
                        </a:spcBef>
                        <a:spcAft>
                          <a:spcPts val="0"/>
                        </a:spcAft>
                        <a:buClrTx/>
                        <a:buSzPct val="75000"/>
                        <a:buFontTx/>
                        <a:buNone/>
                        <a:tabLst>
                          <a:tab pos="285115" algn="l"/>
                        </a:tabLst>
                        <a:defRPr/>
                      </a:pPr>
                      <a:r>
                        <a:rPr lang="es-MX" sz="1200" kern="1200">
                          <a:solidFill>
                            <a:schemeClr val="dk1"/>
                          </a:solidFill>
                          <a:latin typeface="+mn-lt"/>
                          <a:ea typeface="+mn-ea"/>
                          <a:cs typeface="Gill Sans MT"/>
                        </a:rPr>
                        <a:t>Asignar los responsables de y para proteger todos los recursos de TI</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3130481848"/>
                  </a:ext>
                </a:extLst>
              </a:tr>
            </a:tbl>
          </a:graphicData>
        </a:graphic>
      </p:graphicFrame>
      <p:sp>
        <p:nvSpPr>
          <p:cNvPr id="3" name="Marcador de número de diapositiva 2">
            <a:extLst>
              <a:ext uri="{FF2B5EF4-FFF2-40B4-BE49-F238E27FC236}">
                <a16:creationId xmlns:a16="http://schemas.microsoft.com/office/drawing/2014/main" id="{BA5DB9AF-2D6C-ED68-5755-19646327E4B1}"/>
              </a:ext>
            </a:extLst>
          </p:cNvPr>
          <p:cNvSpPr>
            <a:spLocks noGrp="1"/>
          </p:cNvSpPr>
          <p:nvPr>
            <p:ph type="sldNum" sz="quarter" idx="12"/>
          </p:nvPr>
        </p:nvSpPr>
        <p:spPr/>
        <p:txBody>
          <a:bodyPr/>
          <a:lstStyle/>
          <a:p>
            <a:fld id="{0E40E506-8910-4A1D-9597-9E72BD293B97}" type="slidenum">
              <a:rPr lang="en-US" smtClean="0"/>
              <a:t>15</a:t>
            </a:fld>
            <a:endParaRPr lang="en-US"/>
          </a:p>
        </p:txBody>
      </p:sp>
    </p:spTree>
    <p:extLst>
      <p:ext uri="{BB962C8B-B14F-4D97-AF65-F5344CB8AC3E}">
        <p14:creationId xmlns:p14="http://schemas.microsoft.com/office/powerpoint/2010/main" val="413427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BEDFBDC5-3E20-4BC5-A248-D2110A5328A0}"/>
              </a:ext>
            </a:extLst>
          </p:cNvPr>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a:bodyPr>
          <a:lstStyle/>
          <a:p>
            <a:pPr algn="ctr"/>
            <a:r>
              <a:rPr lang="es-CR" altLang="es-MX"/>
              <a:t>Enfoque de medición      </a:t>
            </a:r>
            <a:br>
              <a:rPr lang="es-CR" altLang="es-MX"/>
            </a:br>
            <a:r>
              <a:rPr lang="es-CR" altLang="es-MX"/>
              <a:t>Indicadores vs. Metas</a:t>
            </a:r>
            <a:endParaRPr lang="en-US" altLang="es-MX"/>
          </a:p>
        </p:txBody>
      </p:sp>
      <p:pic>
        <p:nvPicPr>
          <p:cNvPr id="3" name="Imagen 2">
            <a:extLst>
              <a:ext uri="{FF2B5EF4-FFF2-40B4-BE49-F238E27FC236}">
                <a16:creationId xmlns:a16="http://schemas.microsoft.com/office/drawing/2014/main" id="{8E8FB7D5-4304-2067-E98D-5A6D2CBC3754}"/>
              </a:ext>
            </a:extLst>
          </p:cNvPr>
          <p:cNvPicPr>
            <a:picLocks noChangeAspect="1"/>
          </p:cNvPicPr>
          <p:nvPr/>
        </p:nvPicPr>
        <p:blipFill>
          <a:blip r:embed="rId2"/>
          <a:stretch>
            <a:fillRect/>
          </a:stretch>
        </p:blipFill>
        <p:spPr>
          <a:xfrm>
            <a:off x="2042160" y="1814070"/>
            <a:ext cx="7193280" cy="4585458"/>
          </a:xfrm>
          <a:prstGeom prst="rect">
            <a:avLst/>
          </a:prstGeom>
        </p:spPr>
      </p:pic>
      <p:sp>
        <p:nvSpPr>
          <p:cNvPr id="2" name="Marcador de número de diapositiva 1">
            <a:extLst>
              <a:ext uri="{FF2B5EF4-FFF2-40B4-BE49-F238E27FC236}">
                <a16:creationId xmlns:a16="http://schemas.microsoft.com/office/drawing/2014/main" id="{41C880A4-A319-103C-0AFD-7A906E46A825}"/>
              </a:ext>
            </a:extLst>
          </p:cNvPr>
          <p:cNvSpPr>
            <a:spLocks noGrp="1"/>
          </p:cNvSpPr>
          <p:nvPr>
            <p:ph type="sldNum" sz="quarter" idx="12"/>
          </p:nvPr>
        </p:nvSpPr>
        <p:spPr/>
        <p:txBody>
          <a:bodyPr/>
          <a:lstStyle/>
          <a:p>
            <a:fld id="{0E40E506-8910-4A1D-9597-9E72BD293B97}" type="slidenum">
              <a:rPr lang="en-US" smtClean="0"/>
              <a:t>16</a:t>
            </a:fld>
            <a:endParaRPr lang="en-US"/>
          </a:p>
        </p:txBody>
      </p:sp>
    </p:spTree>
    <p:extLst>
      <p:ext uri="{BB962C8B-B14F-4D97-AF65-F5344CB8AC3E}">
        <p14:creationId xmlns:p14="http://schemas.microsoft.com/office/powerpoint/2010/main" val="2708834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a:extLst>
              <a:ext uri="{FF2B5EF4-FFF2-40B4-BE49-F238E27FC236}">
                <a16:creationId xmlns:a16="http://schemas.microsoft.com/office/drawing/2014/main" id="{94829FE4-0CE0-AEFD-7074-C456B099F4C4}"/>
              </a:ext>
            </a:extLst>
          </p:cNvPr>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fontScale="90000"/>
          </a:bodyPr>
          <a:lstStyle/>
          <a:p>
            <a:pPr algn="ctr"/>
            <a:r>
              <a:rPr lang="es-MX" altLang="es-MX" sz="4000"/>
              <a:t>Mapa estratégico del </a:t>
            </a:r>
            <a:r>
              <a:rPr lang="es-MX" altLang="es-MX" sz="4000" err="1"/>
              <a:t>Balanced</a:t>
            </a:r>
            <a:r>
              <a:rPr lang="es-MX" altLang="es-MX" sz="4000"/>
              <a:t> </a:t>
            </a:r>
            <a:r>
              <a:rPr lang="es-MX" altLang="es-MX" sz="4000" err="1"/>
              <a:t>Scorecard</a:t>
            </a:r>
            <a:endParaRPr lang="es-ES" altLang="es-MX" sz="4000"/>
          </a:p>
        </p:txBody>
      </p:sp>
      <p:sp>
        <p:nvSpPr>
          <p:cNvPr id="609291" name="Text Box 11">
            <a:extLst>
              <a:ext uri="{FF2B5EF4-FFF2-40B4-BE49-F238E27FC236}">
                <a16:creationId xmlns:a16="http://schemas.microsoft.com/office/drawing/2014/main" id="{D8D604BB-4DCF-408A-894D-70FF889AC677}"/>
              </a:ext>
            </a:extLst>
          </p:cNvPr>
          <p:cNvSpPr txBox="1">
            <a:spLocks noChangeArrowheads="1"/>
          </p:cNvSpPr>
          <p:nvPr/>
        </p:nvSpPr>
        <p:spPr bwMode="auto">
          <a:xfrm>
            <a:off x="1420972" y="1833406"/>
            <a:ext cx="1999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Contribución corporativa (Financiera)</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2" name="Text Box 12">
            <a:extLst>
              <a:ext uri="{FF2B5EF4-FFF2-40B4-BE49-F238E27FC236}">
                <a16:creationId xmlns:a16="http://schemas.microsoft.com/office/drawing/2014/main" id="{8C040B86-E9E3-477F-9319-9972010E2510}"/>
              </a:ext>
            </a:extLst>
          </p:cNvPr>
          <p:cNvSpPr txBox="1">
            <a:spLocks noChangeArrowheads="1"/>
          </p:cNvSpPr>
          <p:nvPr/>
        </p:nvSpPr>
        <p:spPr bwMode="auto">
          <a:xfrm>
            <a:off x="1478487" y="2872469"/>
            <a:ext cx="16563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al cliente (Cliente)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3" name="Text Box 13">
            <a:extLst>
              <a:ext uri="{FF2B5EF4-FFF2-40B4-BE49-F238E27FC236}">
                <a16:creationId xmlns:a16="http://schemas.microsoft.com/office/drawing/2014/main" id="{3958763C-64BE-4718-9E12-FB50D982C426}"/>
              </a:ext>
            </a:extLst>
          </p:cNvPr>
          <p:cNvSpPr txBox="1">
            <a:spLocks noChangeArrowheads="1"/>
          </p:cNvSpPr>
          <p:nvPr/>
        </p:nvSpPr>
        <p:spPr bwMode="auto">
          <a:xfrm>
            <a:off x="1280010" y="4488928"/>
            <a:ext cx="18786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Excelencia operativa</a:t>
            </a: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 (Interna)</a:t>
            </a:r>
            <a:endParaRPr kumimoji="0" lang="es-ES"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endParaRPr>
          </a:p>
        </p:txBody>
      </p:sp>
      <p:sp>
        <p:nvSpPr>
          <p:cNvPr id="609294" name="Text Box 14">
            <a:extLst>
              <a:ext uri="{FF2B5EF4-FFF2-40B4-BE49-F238E27FC236}">
                <a16:creationId xmlns:a16="http://schemas.microsoft.com/office/drawing/2014/main" id="{D319FB01-60C5-436D-9D3A-6BC67AFC8A12}"/>
              </a:ext>
            </a:extLst>
          </p:cNvPr>
          <p:cNvSpPr txBox="1">
            <a:spLocks noChangeArrowheads="1"/>
          </p:cNvSpPr>
          <p:nvPr/>
        </p:nvSpPr>
        <p:spPr bwMode="auto">
          <a:xfrm>
            <a:off x="1478487" y="5691187"/>
            <a:ext cx="19420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futura (Aprendizaje)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grpSp>
        <p:nvGrpSpPr>
          <p:cNvPr id="4" name="Grupo 3">
            <a:extLst>
              <a:ext uri="{FF2B5EF4-FFF2-40B4-BE49-F238E27FC236}">
                <a16:creationId xmlns:a16="http://schemas.microsoft.com/office/drawing/2014/main" id="{DDA6B4D2-8939-833C-409A-5B96F6C7A39D}"/>
              </a:ext>
            </a:extLst>
          </p:cNvPr>
          <p:cNvGrpSpPr/>
          <p:nvPr/>
        </p:nvGrpSpPr>
        <p:grpSpPr>
          <a:xfrm>
            <a:off x="4305300" y="1463041"/>
            <a:ext cx="6103937" cy="5101272"/>
            <a:chOff x="4122738" y="992189"/>
            <a:chExt cx="6286499" cy="5572124"/>
          </a:xfrm>
        </p:grpSpPr>
        <p:grpSp>
          <p:nvGrpSpPr>
            <p:cNvPr id="5" name="Group 2">
              <a:extLst>
                <a:ext uri="{FF2B5EF4-FFF2-40B4-BE49-F238E27FC236}">
                  <a16:creationId xmlns:a16="http://schemas.microsoft.com/office/drawing/2014/main" id="{20810F39-8A7C-6388-3866-2C5A9AF9FC1D}"/>
                </a:ext>
              </a:extLst>
            </p:cNvPr>
            <p:cNvGrpSpPr>
              <a:grpSpLocks/>
            </p:cNvGrpSpPr>
            <p:nvPr/>
          </p:nvGrpSpPr>
          <p:grpSpPr bwMode="auto">
            <a:xfrm>
              <a:off x="5664201" y="992189"/>
              <a:ext cx="3052763" cy="985837"/>
              <a:chOff x="2608" y="625"/>
              <a:chExt cx="1923" cy="621"/>
            </a:xfrm>
          </p:grpSpPr>
          <p:sp>
            <p:nvSpPr>
              <p:cNvPr id="22" name="Oval 3">
                <a:extLst>
                  <a:ext uri="{FF2B5EF4-FFF2-40B4-BE49-F238E27FC236}">
                    <a16:creationId xmlns:a16="http://schemas.microsoft.com/office/drawing/2014/main" id="{52F05102-9DF9-6C56-5413-1293A0BFC6AB}"/>
                  </a:ext>
                </a:extLst>
              </p:cNvPr>
              <p:cNvSpPr>
                <a:spLocks noChangeArrowheads="1"/>
              </p:cNvSpPr>
              <p:nvPr/>
            </p:nvSpPr>
            <p:spPr bwMode="auto">
              <a:xfrm>
                <a:off x="2608" y="625"/>
                <a:ext cx="1923" cy="62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3" name="Text Box 4">
                <a:extLst>
                  <a:ext uri="{FF2B5EF4-FFF2-40B4-BE49-F238E27FC236}">
                    <a16:creationId xmlns:a16="http://schemas.microsoft.com/office/drawing/2014/main" id="{D0D8198A-DC9D-AC2A-3D6C-650B241A3AF0}"/>
                  </a:ext>
                </a:extLst>
              </p:cNvPr>
              <p:cNvSpPr txBox="1">
                <a:spLocks noChangeArrowheads="1"/>
              </p:cNvSpPr>
              <p:nvPr/>
            </p:nvSpPr>
            <p:spPr bwMode="auto">
              <a:xfrm>
                <a:off x="2724" y="747"/>
                <a:ext cx="1692" cy="31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tiempo y esfuerzo operativo para hacer cambios</a:t>
                </a:r>
              </a:p>
            </p:txBody>
          </p:sp>
        </p:grpSp>
        <p:sp>
          <p:nvSpPr>
            <p:cNvPr id="6" name="Oval 5">
              <a:extLst>
                <a:ext uri="{FF2B5EF4-FFF2-40B4-BE49-F238E27FC236}">
                  <a16:creationId xmlns:a16="http://schemas.microsoft.com/office/drawing/2014/main" id="{63D77B5E-01EF-A316-6F21-07F67A1BAE08}"/>
                </a:ext>
              </a:extLst>
            </p:cNvPr>
            <p:cNvSpPr>
              <a:spLocks noChangeArrowheads="1"/>
            </p:cNvSpPr>
            <p:nvPr/>
          </p:nvSpPr>
          <p:spPr bwMode="auto">
            <a:xfrm>
              <a:off x="4162425" y="5514975"/>
              <a:ext cx="2679700" cy="1009650"/>
            </a:xfrm>
            <a:prstGeom prst="ellipse">
              <a:avLst/>
            </a:prstGeom>
            <a:solidFill>
              <a:srgbClr val="3399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7" name="Text Box 6">
              <a:extLst>
                <a:ext uri="{FF2B5EF4-FFF2-40B4-BE49-F238E27FC236}">
                  <a16:creationId xmlns:a16="http://schemas.microsoft.com/office/drawing/2014/main" id="{AB309356-B27C-8371-8B71-5B1D40638DA6}"/>
                </a:ext>
              </a:extLst>
            </p:cNvPr>
            <p:cNvSpPr txBox="1">
              <a:spLocks noChangeArrowheads="1"/>
            </p:cNvSpPr>
            <p:nvPr/>
          </p:nvSpPr>
          <p:spPr bwMode="auto">
            <a:xfrm>
              <a:off x="4122738" y="5791200"/>
              <a:ext cx="281940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Proceso definido y usado dentro de 3 meses</a:t>
              </a:r>
            </a:p>
          </p:txBody>
        </p:sp>
        <p:sp>
          <p:nvSpPr>
            <p:cNvPr id="8" name="Oval 7">
              <a:extLst>
                <a:ext uri="{FF2B5EF4-FFF2-40B4-BE49-F238E27FC236}">
                  <a16:creationId xmlns:a16="http://schemas.microsoft.com/office/drawing/2014/main" id="{A2536E1E-9856-FC07-F6E3-E297CE3977E0}"/>
                </a:ext>
              </a:extLst>
            </p:cNvPr>
            <p:cNvSpPr>
              <a:spLocks noChangeArrowheads="1"/>
            </p:cNvSpPr>
            <p:nvPr/>
          </p:nvSpPr>
          <p:spPr bwMode="auto">
            <a:xfrm>
              <a:off x="7448551" y="4005263"/>
              <a:ext cx="2824163" cy="102076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Oval 9">
              <a:extLst>
                <a:ext uri="{FF2B5EF4-FFF2-40B4-BE49-F238E27FC236}">
                  <a16:creationId xmlns:a16="http://schemas.microsoft.com/office/drawing/2014/main" id="{96AB6E19-6BA4-AAA1-4D48-B2E58E94E74F}"/>
                </a:ext>
              </a:extLst>
            </p:cNvPr>
            <p:cNvSpPr>
              <a:spLocks noChangeArrowheads="1"/>
            </p:cNvSpPr>
            <p:nvPr/>
          </p:nvSpPr>
          <p:spPr bwMode="auto">
            <a:xfrm>
              <a:off x="5808663" y="2324100"/>
              <a:ext cx="2849562" cy="10033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Text Box 10">
              <a:extLst>
                <a:ext uri="{FF2B5EF4-FFF2-40B4-BE49-F238E27FC236}">
                  <a16:creationId xmlns:a16="http://schemas.microsoft.com/office/drawing/2014/main" id="{2A1D0641-DF3D-46E3-ECA8-9B7AF9F8D74E}"/>
                </a:ext>
              </a:extLst>
            </p:cNvPr>
            <p:cNvSpPr txBox="1">
              <a:spLocks noChangeArrowheads="1"/>
            </p:cNvSpPr>
            <p:nvPr/>
          </p:nvSpPr>
          <p:spPr bwMode="auto">
            <a:xfrm>
              <a:off x="5880100" y="2420939"/>
              <a:ext cx="2686050" cy="70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número de interrupciones causadas por errores de manejo de cambios </a:t>
              </a:r>
            </a:p>
          </p:txBody>
        </p:sp>
        <p:sp>
          <p:nvSpPr>
            <p:cNvPr id="11" name="Oval 15">
              <a:extLst>
                <a:ext uri="{FF2B5EF4-FFF2-40B4-BE49-F238E27FC236}">
                  <a16:creationId xmlns:a16="http://schemas.microsoft.com/office/drawing/2014/main" id="{12B3CC83-7EA7-51F8-7115-C8BB33B5CC49}"/>
                </a:ext>
              </a:extLst>
            </p:cNvPr>
            <p:cNvSpPr>
              <a:spLocks noChangeArrowheads="1"/>
            </p:cNvSpPr>
            <p:nvPr/>
          </p:nvSpPr>
          <p:spPr bwMode="auto">
            <a:xfrm>
              <a:off x="7688263" y="5516563"/>
              <a:ext cx="2552700" cy="1047750"/>
            </a:xfrm>
            <a:prstGeom prst="ellipse">
              <a:avLst/>
            </a:prstGeom>
            <a:solidFill>
              <a:srgbClr val="3399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2" name="Text Box 16">
              <a:extLst>
                <a:ext uri="{FF2B5EF4-FFF2-40B4-BE49-F238E27FC236}">
                  <a16:creationId xmlns:a16="http://schemas.microsoft.com/office/drawing/2014/main" id="{34CE97AF-AA72-C108-3981-06A32A59DD78}"/>
                </a:ext>
              </a:extLst>
            </p:cNvPr>
            <p:cNvSpPr txBox="1">
              <a:spLocks noChangeArrowheads="1"/>
            </p:cNvSpPr>
            <p:nvPr/>
          </p:nvSpPr>
          <p:spPr bwMode="auto">
            <a:xfrm>
              <a:off x="7672387" y="5734186"/>
              <a:ext cx="273685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Entrenamiento y concienciación</a:t>
              </a:r>
              <a:b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b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completados en 4 meses</a:t>
              </a:r>
              <a:endParaRPr kumimoji="0" lang="es-ES"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Oval 17">
              <a:extLst>
                <a:ext uri="{FF2B5EF4-FFF2-40B4-BE49-F238E27FC236}">
                  <a16:creationId xmlns:a16="http://schemas.microsoft.com/office/drawing/2014/main" id="{36001729-1167-3BD6-CF3C-F24CF4331220}"/>
                </a:ext>
              </a:extLst>
            </p:cNvPr>
            <p:cNvSpPr>
              <a:spLocks noChangeArrowheads="1"/>
            </p:cNvSpPr>
            <p:nvPr/>
          </p:nvSpPr>
          <p:spPr bwMode="auto">
            <a:xfrm>
              <a:off x="4405313" y="4149725"/>
              <a:ext cx="2552700" cy="8763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altLang="es-MX" sz="1800" b="1" i="0" u="none" strike="noStrike" kern="1200" cap="none" spc="0" normalizeH="0" baseline="0" noProof="0">
                <a:ln>
                  <a:noFill/>
                </a:ln>
                <a:solidFill>
                  <a:srgbClr val="4590B8"/>
                </a:solidFill>
                <a:effectLst/>
                <a:uLnTx/>
                <a:uFillTx/>
                <a:latin typeface="Arial" panose="020B0604020202020204" pitchFamily="34" charset="0"/>
                <a:ea typeface="+mn-ea"/>
                <a:cs typeface="Arial" panose="020B0604020202020204" pitchFamily="34" charset="0"/>
              </a:endParaRPr>
            </a:p>
          </p:txBody>
        </p:sp>
        <p:sp>
          <p:nvSpPr>
            <p:cNvPr id="14" name="Line 20">
              <a:extLst>
                <a:ext uri="{FF2B5EF4-FFF2-40B4-BE49-F238E27FC236}">
                  <a16:creationId xmlns:a16="http://schemas.microsoft.com/office/drawing/2014/main" id="{6F6B1C22-1F3D-907A-CA25-908D172467E9}"/>
                </a:ext>
              </a:extLst>
            </p:cNvPr>
            <p:cNvSpPr>
              <a:spLocks noChangeShapeType="1"/>
            </p:cNvSpPr>
            <p:nvPr/>
          </p:nvSpPr>
          <p:spPr bwMode="auto">
            <a:xfrm flipV="1">
              <a:off x="7248525" y="2003426"/>
              <a:ext cx="0" cy="288925"/>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5" name="Line 21">
              <a:extLst>
                <a:ext uri="{FF2B5EF4-FFF2-40B4-BE49-F238E27FC236}">
                  <a16:creationId xmlns:a16="http://schemas.microsoft.com/office/drawing/2014/main" id="{B7B23274-0532-E053-C419-C2857A0D234E}"/>
                </a:ext>
              </a:extLst>
            </p:cNvPr>
            <p:cNvSpPr>
              <a:spLocks noChangeShapeType="1"/>
            </p:cNvSpPr>
            <p:nvPr/>
          </p:nvSpPr>
          <p:spPr bwMode="auto">
            <a:xfrm flipH="1" flipV="1">
              <a:off x="7824788" y="3357563"/>
              <a:ext cx="647700" cy="647700"/>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6" name="Line 22">
              <a:extLst>
                <a:ext uri="{FF2B5EF4-FFF2-40B4-BE49-F238E27FC236}">
                  <a16:creationId xmlns:a16="http://schemas.microsoft.com/office/drawing/2014/main" id="{2F82DD08-B3E4-C377-235F-C0F2912F15F3}"/>
                </a:ext>
              </a:extLst>
            </p:cNvPr>
            <p:cNvSpPr>
              <a:spLocks noChangeShapeType="1"/>
            </p:cNvSpPr>
            <p:nvPr/>
          </p:nvSpPr>
          <p:spPr bwMode="auto">
            <a:xfrm flipV="1">
              <a:off x="5808663" y="3429000"/>
              <a:ext cx="647700" cy="647700"/>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7" name="Line 23">
              <a:extLst>
                <a:ext uri="{FF2B5EF4-FFF2-40B4-BE49-F238E27FC236}">
                  <a16:creationId xmlns:a16="http://schemas.microsoft.com/office/drawing/2014/main" id="{2EF4DF05-13A2-AE89-B75C-3197515E48E4}"/>
                </a:ext>
              </a:extLst>
            </p:cNvPr>
            <p:cNvSpPr>
              <a:spLocks noChangeShapeType="1"/>
            </p:cNvSpPr>
            <p:nvPr/>
          </p:nvSpPr>
          <p:spPr bwMode="auto">
            <a:xfrm flipV="1">
              <a:off x="5519738" y="5084763"/>
              <a:ext cx="0" cy="360362"/>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8" name="Line 24">
              <a:extLst>
                <a:ext uri="{FF2B5EF4-FFF2-40B4-BE49-F238E27FC236}">
                  <a16:creationId xmlns:a16="http://schemas.microsoft.com/office/drawing/2014/main" id="{88EEAF34-457C-9710-8E61-6DE61559A608}"/>
                </a:ext>
              </a:extLst>
            </p:cNvPr>
            <p:cNvSpPr>
              <a:spLocks noChangeShapeType="1"/>
            </p:cNvSpPr>
            <p:nvPr/>
          </p:nvSpPr>
          <p:spPr bwMode="auto">
            <a:xfrm flipV="1">
              <a:off x="8975725" y="5084763"/>
              <a:ext cx="0" cy="360362"/>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9" name="Line 25">
              <a:extLst>
                <a:ext uri="{FF2B5EF4-FFF2-40B4-BE49-F238E27FC236}">
                  <a16:creationId xmlns:a16="http://schemas.microsoft.com/office/drawing/2014/main" id="{96B261E3-AA7F-D40A-B5F6-F38933BFD0B3}"/>
                </a:ext>
              </a:extLst>
            </p:cNvPr>
            <p:cNvSpPr>
              <a:spLocks noChangeShapeType="1"/>
            </p:cNvSpPr>
            <p:nvPr/>
          </p:nvSpPr>
          <p:spPr bwMode="auto">
            <a:xfrm flipV="1">
              <a:off x="6456364" y="4868864"/>
              <a:ext cx="1296987" cy="720725"/>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0" name="Text Box 8">
              <a:extLst>
                <a:ext uri="{FF2B5EF4-FFF2-40B4-BE49-F238E27FC236}">
                  <a16:creationId xmlns:a16="http://schemas.microsoft.com/office/drawing/2014/main" id="{2229382B-AF47-193B-1DF2-08A3C22ADB22}"/>
                </a:ext>
              </a:extLst>
            </p:cNvPr>
            <p:cNvSpPr txBox="1">
              <a:spLocks noChangeArrowheads="1"/>
            </p:cNvSpPr>
            <p:nvPr/>
          </p:nvSpPr>
          <p:spPr bwMode="auto">
            <a:xfrm>
              <a:off x="7621588" y="4180175"/>
              <a:ext cx="2686050" cy="75641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defPPr>
                <a:defRPr lang="es-AR"/>
              </a:defPPr>
              <a:lvl1pPr marR="0" lvl="0" indent="0" algn="ctr" defTabSz="457200" fontAlgn="auto">
                <a:lnSpc>
                  <a:spcPct val="100000"/>
                </a:lnSpc>
                <a:spcBef>
                  <a:spcPct val="50000"/>
                </a:spcBef>
                <a:spcAft>
                  <a:spcPts val="0"/>
                </a:spcAft>
                <a:buClrTx/>
                <a:buSzTx/>
                <a:buFontTx/>
                <a:buNone/>
                <a:tabLst/>
                <a:defRPr kumimoji="0" sz="1300" i="0" u="none" strike="noStrike" cap="none" spc="0" normalizeH="0" baseline="0">
                  <a:ln>
                    <a:noFill/>
                  </a:ln>
                  <a:solidFill>
                    <a:prstClr val="black"/>
                  </a:solidFill>
                  <a:uLnTx/>
                  <a:uFillTx/>
                  <a:latin typeface="Arial" panose="020B0604020202020204" pitchFamily="34" charset="0"/>
                  <a:cs typeface="Arial" panose="020B0604020202020204" pitchFamily="34" charset="0"/>
                </a:defRPr>
              </a:lvl1pPr>
            </a:lstStyle>
            <a:p>
              <a:r>
                <a:rPr lang="es-ES_tradnl" altLang="es-MX"/>
                <a:t>Reducir el trabajo adicional causado por especificaciones de cambios inadecuadas</a:t>
              </a:r>
              <a:endParaRPr lang="es-ES" altLang="es-MX"/>
            </a:p>
          </p:txBody>
        </p:sp>
        <p:sp>
          <p:nvSpPr>
            <p:cNvPr id="21" name="Text Box 18">
              <a:extLst>
                <a:ext uri="{FF2B5EF4-FFF2-40B4-BE49-F238E27FC236}">
                  <a16:creationId xmlns:a16="http://schemas.microsoft.com/office/drawing/2014/main" id="{414E28B1-0C0D-1EA4-1454-4CB4598C18D3}"/>
                </a:ext>
              </a:extLst>
            </p:cNvPr>
            <p:cNvSpPr txBox="1">
              <a:spLocks noChangeArrowheads="1"/>
            </p:cNvSpPr>
            <p:nvPr/>
          </p:nvSpPr>
          <p:spPr bwMode="auto">
            <a:xfrm>
              <a:off x="4338638" y="4395619"/>
              <a:ext cx="2686050" cy="537896"/>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defPPr>
                <a:defRPr lang="es-MX"/>
              </a:defPPr>
              <a:lvl1pPr algn="ctr">
                <a:spcBef>
                  <a:spcPct val="50000"/>
                </a:spcBef>
                <a:defRPr sz="1400">
                  <a:latin typeface="Calibri" panose="020F0502020204030204" pitchFamily="34" charset="0"/>
                  <a:cs typeface="Calibri" panose="020F0502020204030204" pitchFamily="34" charset="0"/>
                </a:defRPr>
              </a:lvl1p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rPr>
                <a:t>Reducir número de soluciones de emergencia</a:t>
              </a:r>
              <a:endParaRPr kumimoji="0" lang="es-ES"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endParaRPr>
            </a:p>
          </p:txBody>
        </p:sp>
      </p:grpSp>
      <p:sp>
        <p:nvSpPr>
          <p:cNvPr id="2" name="Marcador de número de diapositiva 1">
            <a:extLst>
              <a:ext uri="{FF2B5EF4-FFF2-40B4-BE49-F238E27FC236}">
                <a16:creationId xmlns:a16="http://schemas.microsoft.com/office/drawing/2014/main" id="{9DA1A32A-071B-5A02-7EAB-7F5A98060D00}"/>
              </a:ext>
            </a:extLst>
          </p:cNvPr>
          <p:cNvSpPr>
            <a:spLocks noGrp="1"/>
          </p:cNvSpPr>
          <p:nvPr>
            <p:ph type="sldNum" sz="quarter" idx="12"/>
          </p:nvPr>
        </p:nvSpPr>
        <p:spPr/>
        <p:txBody>
          <a:bodyPr/>
          <a:lstStyle/>
          <a:p>
            <a:fld id="{0E40E506-8910-4A1D-9597-9E72BD293B97}" type="slidenum">
              <a:rPr lang="en-US" smtClean="0"/>
              <a:t>17</a:t>
            </a:fld>
            <a:endParaRPr lang="en-US"/>
          </a:p>
        </p:txBody>
      </p:sp>
    </p:spTree>
    <p:extLst>
      <p:ext uri="{BB962C8B-B14F-4D97-AF65-F5344CB8AC3E}">
        <p14:creationId xmlns:p14="http://schemas.microsoft.com/office/powerpoint/2010/main" val="2988637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682043-E625-ED83-20F9-4D68DC948A47}"/>
              </a:ext>
            </a:extLst>
          </p:cNvPr>
          <p:cNvSpPr>
            <a:spLocks noGrp="1"/>
          </p:cNvSpPr>
          <p:nvPr>
            <p:ph type="title"/>
          </p:nvPr>
        </p:nvSpPr>
        <p:spPr/>
        <p:txBody>
          <a:bodyPr/>
          <a:lstStyle/>
          <a:p>
            <a:r>
              <a:rPr lang="es-AR" spc="-10"/>
              <a:t>Conclusiones</a:t>
            </a:r>
            <a:endParaRPr lang="es-AR"/>
          </a:p>
        </p:txBody>
      </p:sp>
      <p:sp>
        <p:nvSpPr>
          <p:cNvPr id="4" name="CuadroTexto 3">
            <a:extLst>
              <a:ext uri="{FF2B5EF4-FFF2-40B4-BE49-F238E27FC236}">
                <a16:creationId xmlns:a16="http://schemas.microsoft.com/office/drawing/2014/main" id="{B03E8DEA-1780-8F0E-11BD-847A2D42276F}"/>
              </a:ext>
            </a:extLst>
          </p:cNvPr>
          <p:cNvSpPr txBox="1"/>
          <p:nvPr/>
        </p:nvSpPr>
        <p:spPr>
          <a:xfrm>
            <a:off x="575922" y="2150596"/>
            <a:ext cx="10866589" cy="4401205"/>
          </a:xfrm>
          <a:prstGeom prst="rect">
            <a:avLst/>
          </a:prstGeom>
          <a:noFill/>
        </p:spPr>
        <p:txBody>
          <a:bodyPr wrap="square">
            <a:spAutoFit/>
          </a:bodyPr>
          <a:lstStyle/>
          <a:p>
            <a:pPr marL="297815" marR="5080" lvl="0" indent="-285750" algn="just" defTabSz="914400" rtl="0" eaLnBrk="1" fontAlgn="auto" latinLnBrk="0" hangingPunct="1">
              <a:lnSpc>
                <a:spcPct val="100000"/>
              </a:lnSpc>
              <a:spcBef>
                <a:spcPts val="100"/>
              </a:spcBef>
              <a:spcAft>
                <a:spcPts val="0"/>
              </a:spcAft>
              <a:buClrTx/>
              <a:buSzPct val="75000"/>
              <a:buFont typeface="Wingdings" panose="05000000000000000000" pitchFamily="2" charset="2"/>
              <a:buChar char="§"/>
              <a:tabLst>
                <a:tab pos="285115" algn="l"/>
                <a:tab pos="287020"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Son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herramientas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diseñadas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para</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facilitar</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toma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decisiones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para</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mejorar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9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funcionamiento</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 la responsabilidad 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rendir</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cuentas por</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recolección,</a:t>
            </a:r>
            <a:r>
              <a:rPr kumimoji="0" lang="es-MX" sz="2000" b="0" i="0" u="none" strike="noStrike" kern="1200" cap="none" spc="-10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el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análisis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divulgación</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datos</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relevantes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relacionados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a:t>
            </a:r>
            <a:r>
              <a:rPr kumimoji="0" lang="es-MX" sz="2000" b="0" i="0" u="none" strike="noStrike" kern="1200" cap="none" spc="-4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desempeño.</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18288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Métricas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deben</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estar</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basadas</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en</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objetivos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desempeño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lang="es-MX" sz="2000" spc="-20">
                <a:solidFill>
                  <a:schemeClr val="accent1"/>
                </a:solidFill>
                <a:latin typeface="Gill Sans MT"/>
                <a:cs typeface="Gill Sans MT"/>
              </a:rPr>
              <a:t>l Plan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TIC.</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74930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desempeño</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29"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TIC</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indican</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resultados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deseados</a:t>
            </a:r>
            <a:r>
              <a:rPr kumimoji="0" lang="es-MX" sz="2000" b="0" i="0" u="none" strike="noStrike" kern="1200" cap="none" spc="-5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implementación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del</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programa</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seguridad.</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8509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objetivos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desempeño</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permiten</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logro</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19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identificando</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las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prácticas</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definidas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por</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políticas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procedimientos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que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conducen</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implementación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constante</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controles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través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organización.</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3302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 pos="287020"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métricas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monitorean</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logro</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objetivos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cuantificando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nivel</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implementación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controles</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efectividad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0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eficiencia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controles de TI,</a:t>
            </a:r>
            <a:r>
              <a:rPr kumimoji="0" lang="es-MX" sz="2000" b="0" i="0" u="none" strike="noStrike" kern="1200" cap="none" spc="-10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analizando</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suficiencia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actividades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la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 identificando</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acciones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posibles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mejora.</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p:txBody>
      </p:sp>
      <p:sp>
        <p:nvSpPr>
          <p:cNvPr id="3" name="Marcador de número de diapositiva 2">
            <a:extLst>
              <a:ext uri="{FF2B5EF4-FFF2-40B4-BE49-F238E27FC236}">
                <a16:creationId xmlns:a16="http://schemas.microsoft.com/office/drawing/2014/main" id="{151B1471-4461-4AE0-8DA5-C25585C6348E}"/>
              </a:ext>
            </a:extLst>
          </p:cNvPr>
          <p:cNvSpPr>
            <a:spLocks noGrp="1"/>
          </p:cNvSpPr>
          <p:nvPr>
            <p:ph type="sldNum" sz="quarter" idx="12"/>
          </p:nvPr>
        </p:nvSpPr>
        <p:spPr/>
        <p:txBody>
          <a:bodyPr/>
          <a:lstStyle/>
          <a:p>
            <a:fld id="{0E40E506-8910-4A1D-9597-9E72BD293B97}" type="slidenum">
              <a:rPr lang="en-US" smtClean="0"/>
              <a:t>18</a:t>
            </a:fld>
            <a:endParaRPr lang="en-US"/>
          </a:p>
        </p:txBody>
      </p:sp>
    </p:spTree>
    <p:extLst>
      <p:ext uri="{BB962C8B-B14F-4D97-AF65-F5344CB8AC3E}">
        <p14:creationId xmlns:p14="http://schemas.microsoft.com/office/powerpoint/2010/main" val="1393581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D71F2B-9B72-E7FF-0E9E-22787D2BD83B}"/>
              </a:ext>
            </a:extLst>
          </p:cNvPr>
          <p:cNvSpPr>
            <a:spLocks noGrp="1"/>
          </p:cNvSpPr>
          <p:nvPr>
            <p:ph type="title"/>
          </p:nvPr>
        </p:nvSpPr>
        <p:spPr/>
        <p:txBody>
          <a:bodyPr>
            <a:normAutofit/>
          </a:bodyPr>
          <a:lstStyle/>
          <a:p>
            <a:r>
              <a:rPr lang="es-AR" altLang="es-AR" sz="3600" cap="none">
                <a:latin typeface="inherit"/>
              </a:rPr>
              <a:t>Q</a:t>
            </a:r>
            <a:r>
              <a:rPr kumimoji="0" lang="es-AR" altLang="es-AR" sz="3600" b="1" i="0" u="none" strike="noStrike" cap="none" normalizeH="0" baseline="0">
                <a:ln>
                  <a:noFill/>
                </a:ln>
                <a:effectLst/>
                <a:latin typeface="inherit"/>
              </a:rPr>
              <a:t>ué son los KPI</a:t>
            </a:r>
            <a:endParaRPr lang="es-AR" sz="3600"/>
          </a:p>
        </p:txBody>
      </p:sp>
      <p:sp>
        <p:nvSpPr>
          <p:cNvPr id="4" name="Rectangle 1">
            <a:extLst>
              <a:ext uri="{FF2B5EF4-FFF2-40B4-BE49-F238E27FC236}">
                <a16:creationId xmlns:a16="http://schemas.microsoft.com/office/drawing/2014/main" id="{C51E257A-C2C1-FD8E-A7A1-C454755EA871}"/>
              </a:ext>
            </a:extLst>
          </p:cNvPr>
          <p:cNvSpPr>
            <a:spLocks noGrp="1" noChangeArrowheads="1"/>
          </p:cNvSpPr>
          <p:nvPr>
            <p:ph idx="1"/>
          </p:nvPr>
        </p:nvSpPr>
        <p:spPr bwMode="auto">
          <a:xfrm>
            <a:off x="581193" y="1772215"/>
            <a:ext cx="1110249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lang="es-MX" sz="2400">
              <a:solidFill>
                <a:schemeClr val="accent1"/>
              </a:solidFill>
              <a:latin typeface="inherit"/>
            </a:endParaRP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s-MX" sz="2400">
                <a:solidFill>
                  <a:schemeClr val="accent1"/>
                </a:solidFill>
                <a:latin typeface="inherit"/>
              </a:rPr>
              <a:t>Del inglés, el acrónimo KPI significa Key Performance </a:t>
            </a:r>
            <a:r>
              <a:rPr lang="es-MX" sz="2400" err="1">
                <a:solidFill>
                  <a:schemeClr val="accent1"/>
                </a:solidFill>
                <a:latin typeface="inherit"/>
              </a:rPr>
              <a:t>Indicator</a:t>
            </a:r>
            <a:r>
              <a:rPr lang="es-MX" sz="2400">
                <a:solidFill>
                  <a:schemeClr val="accent1"/>
                </a:solidFill>
                <a:latin typeface="inherit"/>
              </a:rPr>
              <a:t>, es decir, </a:t>
            </a:r>
            <a:r>
              <a:rPr lang="es-MX" sz="2400" b="1">
                <a:solidFill>
                  <a:schemeClr val="accent1"/>
                </a:solidFill>
                <a:latin typeface="inherit"/>
              </a:rPr>
              <a:t>Indicador Clave de Desempeño.</a:t>
            </a: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s-AR" altLang="es-AR" sz="2400">
                <a:solidFill>
                  <a:schemeClr val="accent1"/>
                </a:solidFill>
                <a:latin typeface="inherit"/>
              </a:rPr>
              <a:t>Los KPI son indicadores que miden </a:t>
            </a:r>
            <a:r>
              <a:rPr kumimoji="0" lang="es-AR" altLang="es-AR" sz="2400" b="0" i="0" u="none" strike="noStrike" cap="none" normalizeH="0" baseline="0">
                <a:ln>
                  <a:noFill/>
                </a:ln>
                <a:solidFill>
                  <a:schemeClr val="accent1"/>
                </a:solidFill>
                <a:effectLst/>
                <a:latin typeface="inherit"/>
              </a:rPr>
              <a:t>el desempeño de la empresa en un proceso, estrategia o acción específica. </a:t>
            </a: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s-AR" altLang="es-AR" sz="2400" b="0" i="0" u="none" strike="noStrike" cap="none" normalizeH="0" baseline="0">
                <a:ln>
                  <a:noFill/>
                </a:ln>
                <a:solidFill>
                  <a:schemeClr val="accent1"/>
                </a:solidFill>
                <a:effectLst/>
                <a:latin typeface="inherit"/>
              </a:rPr>
              <a:t>La evaluación constante de los KPI es fundamental para que la empresa logre los resultados deseados y comprenda dónde está y cómo puede mejorar.</a:t>
            </a:r>
            <a:endParaRPr kumimoji="0" lang="es-AR" altLang="es-AR" sz="2400" b="0" i="0" u="none" strike="noStrike" cap="none" normalizeH="0" baseline="0">
              <a:ln>
                <a:noFill/>
              </a:ln>
              <a:solidFill>
                <a:schemeClr val="accent1"/>
              </a:solidFill>
              <a:effectLst/>
            </a:endParaRP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s-AR" altLang="es-AR" sz="2400" b="0" i="0" u="none" strike="noStrike" cap="none" normalizeH="0" baseline="0">
              <a:ln>
                <a:noFill/>
              </a:ln>
              <a:solidFill>
                <a:schemeClr val="accent1"/>
              </a:solidFill>
              <a:effectLst/>
              <a:latin typeface="inherit"/>
            </a:endParaRPr>
          </a:p>
          <a:p>
            <a:pPr marL="0" marR="0" lvl="0" indent="0" defTabSz="914400" rtl="0" eaLnBrk="0" fontAlgn="base" latinLnBrk="0" hangingPunct="0">
              <a:lnSpc>
                <a:spcPct val="100000"/>
              </a:lnSpc>
              <a:spcBef>
                <a:spcPct val="0"/>
              </a:spcBef>
              <a:spcAft>
                <a:spcPct val="0"/>
              </a:spcAft>
              <a:buClrTx/>
              <a:buSzTx/>
              <a:buFontTx/>
              <a:buNone/>
              <a:tabLst/>
            </a:pPr>
            <a:endParaRPr lang="es-AR" altLang="es-AR" sz="2400">
              <a:solidFill>
                <a:schemeClr val="accent1"/>
              </a:solidFill>
              <a:latin typeface="inherit"/>
            </a:endParaRPr>
          </a:p>
          <a:p>
            <a:pPr marL="0" marR="0" lvl="0" indent="0" defTabSz="914400" rtl="0" eaLnBrk="0" fontAlgn="base" latinLnBrk="0" hangingPunct="0">
              <a:lnSpc>
                <a:spcPct val="100000"/>
              </a:lnSpc>
              <a:spcBef>
                <a:spcPct val="0"/>
              </a:spcBef>
              <a:spcAft>
                <a:spcPct val="0"/>
              </a:spcAft>
              <a:buClrTx/>
              <a:buSzTx/>
              <a:buFontTx/>
              <a:buNone/>
              <a:tabLst/>
            </a:pPr>
            <a:r>
              <a:rPr kumimoji="0" lang="es-AR" altLang="es-AR" sz="2400" b="0" i="0" u="none" strike="noStrike" cap="none" normalizeH="0" baseline="0">
                <a:ln>
                  <a:noFill/>
                </a:ln>
                <a:solidFill>
                  <a:schemeClr val="accent1"/>
                </a:solidFill>
                <a:effectLst/>
                <a:latin typeface="inherit"/>
              </a:rPr>
              <a:t>Una  vieja cita de Peter Drucker:</a:t>
            </a:r>
            <a:endParaRPr kumimoji="0" lang="es-AR" altLang="es-AR" sz="2400" b="0" i="0" u="none" strike="noStrike" cap="none" normalizeH="0" baseline="0">
              <a:ln>
                <a:noFill/>
              </a:ln>
              <a:solidFill>
                <a:schemeClr val="accent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2400" b="1" i="0" u="none" strike="noStrike" cap="none" normalizeH="0" baseline="0">
                <a:ln>
                  <a:noFill/>
                </a:ln>
                <a:solidFill>
                  <a:schemeClr val="accent1"/>
                </a:solidFill>
                <a:effectLst/>
                <a:latin typeface="inherit"/>
              </a:rPr>
              <a:t>“Lo que no se puede medir no se puede gestionar”</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AR" altLang="es-AR" sz="2400" b="1" i="0" u="none" strike="noStrike" cap="none" normalizeH="0" baseline="0">
              <a:ln>
                <a:noFill/>
              </a:ln>
              <a:solidFill>
                <a:schemeClr val="accent1"/>
              </a:solidFill>
              <a:effectLst/>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s-AR" altLang="es-AR" sz="2400" b="0" i="0" u="none" strike="noStrike" cap="none" normalizeH="0" baseline="0">
              <a:ln>
                <a:noFill/>
              </a:ln>
              <a:solidFill>
                <a:schemeClr val="accent1"/>
              </a:solidFill>
              <a:effectLst/>
              <a:latin typeface="Arial" panose="020B0604020202020204" pitchFamily="34" charset="0"/>
            </a:endParaRPr>
          </a:p>
        </p:txBody>
      </p:sp>
      <p:sp>
        <p:nvSpPr>
          <p:cNvPr id="3" name="Marcador de número de diapositiva 2">
            <a:extLst>
              <a:ext uri="{FF2B5EF4-FFF2-40B4-BE49-F238E27FC236}">
                <a16:creationId xmlns:a16="http://schemas.microsoft.com/office/drawing/2014/main" id="{91428B96-661F-C101-844E-211011052447}"/>
              </a:ext>
            </a:extLst>
          </p:cNvPr>
          <p:cNvSpPr>
            <a:spLocks noGrp="1"/>
          </p:cNvSpPr>
          <p:nvPr>
            <p:ph type="sldNum" sz="quarter" idx="12"/>
          </p:nvPr>
        </p:nvSpPr>
        <p:spPr/>
        <p:txBody>
          <a:bodyPr/>
          <a:lstStyle/>
          <a:p>
            <a:fld id="{0E40E506-8910-4A1D-9597-9E72BD293B97}" type="slidenum">
              <a:rPr lang="en-US" smtClean="0"/>
              <a:t>19</a:t>
            </a:fld>
            <a:endParaRPr lang="en-US"/>
          </a:p>
        </p:txBody>
      </p:sp>
    </p:spTree>
    <p:extLst>
      <p:ext uri="{BB962C8B-B14F-4D97-AF65-F5344CB8AC3E}">
        <p14:creationId xmlns:p14="http://schemas.microsoft.com/office/powerpoint/2010/main" val="1035766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3FAC14-372F-B350-EA31-8256DC2E030E}"/>
              </a:ext>
            </a:extLst>
          </p:cNvPr>
          <p:cNvSpPr>
            <a:spLocks noGrp="1"/>
          </p:cNvSpPr>
          <p:nvPr>
            <p:ph type="title"/>
          </p:nvPr>
        </p:nvSpPr>
        <p:spPr/>
        <p:txBody>
          <a:bodyPr/>
          <a:lstStyle/>
          <a:p>
            <a:r>
              <a:rPr lang="es-AR" altLang="es-AR" sz="2800" cap="none">
                <a:latin typeface="inherit"/>
              </a:rPr>
              <a:t>Q</a:t>
            </a:r>
            <a:r>
              <a:rPr kumimoji="0" lang="es-AR" altLang="es-AR" sz="2800" b="1" i="0" u="none" strike="noStrike" cap="none" normalizeH="0" baseline="0">
                <a:ln>
                  <a:noFill/>
                </a:ln>
                <a:effectLst/>
                <a:latin typeface="inherit"/>
              </a:rPr>
              <a:t>ué son los KPI</a:t>
            </a:r>
            <a:endParaRPr lang="es-AR"/>
          </a:p>
        </p:txBody>
      </p:sp>
      <p:sp>
        <p:nvSpPr>
          <p:cNvPr id="3" name="Marcador de contenido 2">
            <a:extLst>
              <a:ext uri="{FF2B5EF4-FFF2-40B4-BE49-F238E27FC236}">
                <a16:creationId xmlns:a16="http://schemas.microsoft.com/office/drawing/2014/main" id="{7C47B710-D685-7C25-6762-19E9AE7C1C3D}"/>
              </a:ext>
            </a:extLst>
          </p:cNvPr>
          <p:cNvSpPr>
            <a:spLocks noGrp="1"/>
          </p:cNvSpPr>
          <p:nvPr>
            <p:ph idx="1"/>
          </p:nvPr>
        </p:nvSpPr>
        <p:spPr/>
        <p:txBody>
          <a:bodyPr>
            <a:normAutofit lnSpcReduction="10000"/>
          </a:bodyPr>
          <a:lstStyle/>
          <a:p>
            <a:pPr algn="l"/>
            <a:r>
              <a:rPr lang="es-MX">
                <a:solidFill>
                  <a:schemeClr val="accent1"/>
                </a:solidFill>
                <a:effectLst/>
                <a:latin typeface="inherit"/>
              </a:rPr>
              <a:t>Estos son los indicadores o valores cuantitativos que se </a:t>
            </a:r>
            <a:r>
              <a:rPr lang="es-MX" b="1">
                <a:solidFill>
                  <a:schemeClr val="accent1"/>
                </a:solidFill>
                <a:effectLst/>
                <a:latin typeface="inherit"/>
              </a:rPr>
              <a:t>pueden medir, comparar y monitorear</a:t>
            </a:r>
            <a:r>
              <a:rPr lang="es-MX">
                <a:solidFill>
                  <a:schemeClr val="accent1"/>
                </a:solidFill>
                <a:effectLst/>
                <a:latin typeface="inherit"/>
              </a:rPr>
              <a:t>, con el fin de exponer el desempeño de los procesos y trabajar en las estrategias de un negocio. </a:t>
            </a:r>
          </a:p>
          <a:p>
            <a:pPr algn="l"/>
            <a:r>
              <a:rPr lang="es-MX">
                <a:solidFill>
                  <a:schemeClr val="accent1"/>
                </a:solidFill>
                <a:effectLst/>
                <a:latin typeface="inherit"/>
              </a:rPr>
              <a:t>Trata de medir los resultados en números para aportar información real a las decisiones, no sólo percepciones y conjeturas.</a:t>
            </a:r>
          </a:p>
          <a:p>
            <a:pPr algn="l"/>
            <a:r>
              <a:rPr lang="es-MX" b="1">
                <a:solidFill>
                  <a:schemeClr val="accent1"/>
                </a:solidFill>
                <a:effectLst/>
                <a:latin typeface="inherit"/>
              </a:rPr>
              <a:t>Casi todos los procesos se pueden medir</a:t>
            </a:r>
            <a:endParaRPr lang="es-MX">
              <a:solidFill>
                <a:schemeClr val="accent1"/>
              </a:solidFill>
              <a:effectLst/>
              <a:latin typeface="inherit"/>
            </a:endParaRPr>
          </a:p>
          <a:p>
            <a:pPr lvl="1"/>
            <a:r>
              <a:rPr lang="es-MX">
                <a:solidFill>
                  <a:schemeClr val="accent1"/>
                </a:solidFill>
                <a:effectLst/>
                <a:latin typeface="inherit"/>
              </a:rPr>
              <a:t> Por ejemplo, cuántas personas accedieron a tu sitio, qué proveedores tienen la mejor relación costo-beneficio, qué empleados son más productivos y eficientes.</a:t>
            </a:r>
          </a:p>
          <a:p>
            <a:pPr algn="l"/>
            <a:r>
              <a:rPr lang="es-MX">
                <a:solidFill>
                  <a:schemeClr val="accent1"/>
                </a:solidFill>
                <a:effectLst/>
                <a:latin typeface="inherit"/>
              </a:rPr>
              <a:t>Los indicadores clave de desempeño son aquellas </a:t>
            </a:r>
            <a:r>
              <a:rPr lang="es-MX" b="1">
                <a:solidFill>
                  <a:schemeClr val="accent1"/>
                </a:solidFill>
                <a:effectLst/>
                <a:latin typeface="inherit"/>
              </a:rPr>
              <a:t>cifras o porcentajes que son realmente valiosos</a:t>
            </a:r>
            <a:r>
              <a:rPr lang="es-MX">
                <a:solidFill>
                  <a:schemeClr val="accent1"/>
                </a:solidFill>
                <a:effectLst/>
                <a:latin typeface="inherit"/>
              </a:rPr>
              <a:t> para la estrategia y competitividad de la organización.</a:t>
            </a:r>
          </a:p>
          <a:p>
            <a:pPr algn="l"/>
            <a:r>
              <a:rPr lang="es-MX">
                <a:solidFill>
                  <a:schemeClr val="accent1"/>
                </a:solidFill>
                <a:effectLst/>
                <a:latin typeface="inherit"/>
              </a:rPr>
              <a:t>Al establecer un plan con objetivos, la gerencia puede definir qué procesos se medirán y cómo se hará. Además de medirse, los KPI deben </a:t>
            </a:r>
            <a:r>
              <a:rPr lang="es-MX" b="1">
                <a:solidFill>
                  <a:schemeClr val="accent1"/>
                </a:solidFill>
                <a:effectLst/>
                <a:latin typeface="inherit"/>
              </a:rPr>
              <a:t>poder generar</a:t>
            </a:r>
            <a:r>
              <a:rPr lang="es-MX">
                <a:solidFill>
                  <a:schemeClr val="accent1"/>
                </a:solidFill>
                <a:effectLst/>
                <a:latin typeface="inherit"/>
              </a:rPr>
              <a:t> </a:t>
            </a:r>
            <a:r>
              <a:rPr lang="es-MX" b="1">
                <a:solidFill>
                  <a:schemeClr val="accent1"/>
                </a:solidFill>
                <a:latin typeface="inherit"/>
              </a:rPr>
              <a:t>conocimiento</a:t>
            </a:r>
            <a:r>
              <a:rPr lang="es-MX">
                <a:solidFill>
                  <a:schemeClr val="accent1"/>
                </a:solidFill>
                <a:effectLst/>
                <a:latin typeface="inherit"/>
              </a:rPr>
              <a:t> para la continua mejora empresarial.</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7D13E3E8-0F85-B566-6906-2F7927AAD198}"/>
              </a:ext>
            </a:extLst>
          </p:cNvPr>
          <p:cNvSpPr>
            <a:spLocks noGrp="1"/>
          </p:cNvSpPr>
          <p:nvPr>
            <p:ph type="sldNum" sz="quarter" idx="12"/>
          </p:nvPr>
        </p:nvSpPr>
        <p:spPr/>
        <p:txBody>
          <a:bodyPr/>
          <a:lstStyle/>
          <a:p>
            <a:fld id="{0E40E506-8910-4A1D-9597-9E72BD293B97}" type="slidenum">
              <a:rPr lang="en-US" smtClean="0"/>
              <a:t>20</a:t>
            </a:fld>
            <a:endParaRPr lang="en-US"/>
          </a:p>
        </p:txBody>
      </p:sp>
    </p:spTree>
    <p:extLst>
      <p:ext uri="{BB962C8B-B14F-4D97-AF65-F5344CB8AC3E}">
        <p14:creationId xmlns:p14="http://schemas.microsoft.com/office/powerpoint/2010/main" val="3819154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4B05A4-8562-A30A-820D-30144A26B7A6}"/>
              </a:ext>
            </a:extLst>
          </p:cNvPr>
          <p:cNvSpPr>
            <a:spLocks noGrp="1"/>
          </p:cNvSpPr>
          <p:nvPr>
            <p:ph type="title"/>
          </p:nvPr>
        </p:nvSpPr>
        <p:spPr/>
        <p:txBody>
          <a:bodyPr/>
          <a:lstStyle/>
          <a:p>
            <a:r>
              <a:rPr lang="es-MX" sz="3600" cap="none">
                <a:latin typeface="inherit"/>
              </a:rPr>
              <a:t>¿Cuál es la diferencia entre KPI y métrica?</a:t>
            </a:r>
            <a:endParaRPr lang="es-AR" sz="3600" cap="none">
              <a:latin typeface="inherit"/>
            </a:endParaRPr>
          </a:p>
        </p:txBody>
      </p:sp>
      <p:sp>
        <p:nvSpPr>
          <p:cNvPr id="3" name="Marcador de contenido 2">
            <a:extLst>
              <a:ext uri="{FF2B5EF4-FFF2-40B4-BE49-F238E27FC236}">
                <a16:creationId xmlns:a16="http://schemas.microsoft.com/office/drawing/2014/main" id="{F5EC5DB4-763C-8D89-312A-12DE654A0103}"/>
              </a:ext>
            </a:extLst>
          </p:cNvPr>
          <p:cNvSpPr>
            <a:spLocks noGrp="1"/>
          </p:cNvSpPr>
          <p:nvPr>
            <p:ph idx="1"/>
          </p:nvPr>
        </p:nvSpPr>
        <p:spPr/>
        <p:txBody>
          <a:bodyPr>
            <a:normAutofit/>
          </a:bodyPr>
          <a:lstStyle/>
          <a:p>
            <a:pPr algn="l"/>
            <a:r>
              <a:rPr lang="es-MX">
                <a:solidFill>
                  <a:schemeClr val="accent1"/>
                </a:solidFill>
                <a:effectLst/>
                <a:latin typeface="inherit"/>
              </a:rPr>
              <a:t>La métrica es información numérica, mientras que el KPI utiliza esta medida (uno es la base del otro), para medir los resultados de la empresa.</a:t>
            </a:r>
          </a:p>
          <a:p>
            <a:pPr algn="l"/>
            <a:r>
              <a:rPr lang="es-MX">
                <a:solidFill>
                  <a:schemeClr val="accent1"/>
                </a:solidFill>
                <a:effectLst/>
                <a:latin typeface="inherit"/>
              </a:rPr>
              <a:t>Ejemplos simples:</a:t>
            </a:r>
          </a:p>
          <a:p>
            <a:pPr algn="l">
              <a:buFont typeface="Arial" panose="020B0604020202020204" pitchFamily="34" charset="0"/>
              <a:buChar char="•"/>
            </a:pPr>
            <a:r>
              <a:rPr lang="es-MX" b="1" i="0">
                <a:solidFill>
                  <a:schemeClr val="accent1"/>
                </a:solidFill>
                <a:effectLst/>
                <a:latin typeface="inherit"/>
              </a:rPr>
              <a:t>Tasa de clics en el sitio web:</a:t>
            </a:r>
            <a:r>
              <a:rPr lang="es-MX" b="0" i="0">
                <a:solidFill>
                  <a:schemeClr val="accent1"/>
                </a:solidFill>
                <a:effectLst/>
                <a:latin typeface="inherit"/>
              </a:rPr>
              <a:t> </a:t>
            </a:r>
          </a:p>
          <a:p>
            <a:pPr lvl="1">
              <a:buFont typeface="Arial" panose="020B0604020202020204" pitchFamily="34" charset="0"/>
              <a:buChar char="•"/>
            </a:pPr>
            <a:r>
              <a:rPr lang="es-MX" b="0" i="0">
                <a:solidFill>
                  <a:schemeClr val="accent1"/>
                </a:solidFill>
                <a:effectLst/>
                <a:latin typeface="inherit"/>
              </a:rPr>
              <a:t>La métrica es el número de clics brutos en el sitio web de la empresa. </a:t>
            </a:r>
          </a:p>
          <a:p>
            <a:pPr lvl="1">
              <a:buFont typeface="Arial" panose="020B0604020202020204" pitchFamily="34" charset="0"/>
              <a:buChar char="•"/>
            </a:pPr>
            <a:r>
              <a:rPr lang="es-MX" b="0" i="0">
                <a:solidFill>
                  <a:schemeClr val="accent1"/>
                </a:solidFill>
                <a:effectLst/>
                <a:latin typeface="inherit"/>
              </a:rPr>
              <a:t>El indicador puede medir el porcentaje de aumento de clics en un período de tiempo determinado y qué tasa se convirtió en ventas.</a:t>
            </a:r>
            <a:endParaRPr lang="es-MX" b="0" i="0">
              <a:solidFill>
                <a:schemeClr val="accent1"/>
              </a:solidFill>
              <a:effectLst/>
              <a:latin typeface="Open Sans" panose="020B0606030504020204" pitchFamily="34" charset="0"/>
            </a:endParaRPr>
          </a:p>
          <a:p>
            <a:pPr algn="l">
              <a:buFont typeface="Arial" panose="020B0604020202020204" pitchFamily="34" charset="0"/>
              <a:buChar char="•"/>
            </a:pPr>
            <a:r>
              <a:rPr lang="es-MX" b="1" i="0">
                <a:solidFill>
                  <a:schemeClr val="accent1"/>
                </a:solidFill>
                <a:effectLst/>
                <a:latin typeface="inherit"/>
              </a:rPr>
              <a:t>Número de empleados:</a:t>
            </a:r>
            <a:r>
              <a:rPr lang="es-MX" b="0" i="0">
                <a:solidFill>
                  <a:schemeClr val="accent1"/>
                </a:solidFill>
                <a:effectLst/>
                <a:latin typeface="inherit"/>
              </a:rPr>
              <a:t> </a:t>
            </a:r>
          </a:p>
          <a:p>
            <a:pPr lvl="1">
              <a:buFont typeface="Arial" panose="020B0604020202020204" pitchFamily="34" charset="0"/>
              <a:buChar char="•"/>
            </a:pPr>
            <a:r>
              <a:rPr lang="es-MX">
                <a:solidFill>
                  <a:schemeClr val="accent1"/>
                </a:solidFill>
                <a:latin typeface="inherit"/>
              </a:rPr>
              <a:t>L</a:t>
            </a:r>
            <a:r>
              <a:rPr lang="es-MX" b="0" i="0">
                <a:solidFill>
                  <a:schemeClr val="accent1"/>
                </a:solidFill>
                <a:effectLst/>
                <a:latin typeface="inherit"/>
              </a:rPr>
              <a:t>a métrica dice que la empresa tiene 100 empleados. </a:t>
            </a:r>
          </a:p>
          <a:p>
            <a:pPr lvl="1">
              <a:buFont typeface="Arial" panose="020B0604020202020204" pitchFamily="34" charset="0"/>
              <a:buChar char="•"/>
            </a:pPr>
            <a:r>
              <a:rPr lang="es-MX">
                <a:solidFill>
                  <a:schemeClr val="accent1"/>
                </a:solidFill>
                <a:latin typeface="inherit"/>
              </a:rPr>
              <a:t>El </a:t>
            </a:r>
            <a:r>
              <a:rPr lang="es-MX" b="0" i="0">
                <a:solidFill>
                  <a:schemeClr val="accent1"/>
                </a:solidFill>
                <a:effectLst/>
                <a:latin typeface="inherit"/>
              </a:rPr>
              <a:t>KPI puede medir cuánto pueden producir estas personas en X horas.</a:t>
            </a:r>
            <a:endParaRPr lang="es-MX" b="0" i="0">
              <a:solidFill>
                <a:schemeClr val="accent1"/>
              </a:solidFill>
              <a:effectLst/>
              <a:latin typeface="Open Sans" panose="020B0606030504020204" pitchFamily="34" charset="0"/>
            </a:endParaRP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800B2286-D8F1-5C71-71D0-F0EA153243D3}"/>
              </a:ext>
            </a:extLst>
          </p:cNvPr>
          <p:cNvSpPr>
            <a:spLocks noGrp="1"/>
          </p:cNvSpPr>
          <p:nvPr>
            <p:ph type="sldNum" sz="quarter" idx="12"/>
          </p:nvPr>
        </p:nvSpPr>
        <p:spPr/>
        <p:txBody>
          <a:bodyPr/>
          <a:lstStyle/>
          <a:p>
            <a:fld id="{0E40E506-8910-4A1D-9597-9E72BD293B97}" type="slidenum">
              <a:rPr lang="en-US" smtClean="0"/>
              <a:t>21</a:t>
            </a:fld>
            <a:endParaRPr lang="en-US"/>
          </a:p>
        </p:txBody>
      </p:sp>
    </p:spTree>
    <p:extLst>
      <p:ext uri="{BB962C8B-B14F-4D97-AF65-F5344CB8AC3E}">
        <p14:creationId xmlns:p14="http://schemas.microsoft.com/office/powerpoint/2010/main" val="2088260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01869-217A-9135-87AB-107AC39718D5}"/>
              </a:ext>
            </a:extLst>
          </p:cNvPr>
          <p:cNvSpPr>
            <a:spLocks noGrp="1"/>
          </p:cNvSpPr>
          <p:nvPr>
            <p:ph type="title"/>
          </p:nvPr>
        </p:nvSpPr>
        <p:spPr/>
        <p:txBody>
          <a:bodyPr/>
          <a:lstStyle/>
          <a:p>
            <a:r>
              <a:rPr lang="es-MX" sz="2800" cap="none">
                <a:latin typeface="inherit"/>
              </a:rPr>
              <a:t>¿Cuál es la diferencia entre KPI y métrica?</a:t>
            </a:r>
            <a:endParaRPr lang="es-AR"/>
          </a:p>
        </p:txBody>
      </p:sp>
      <p:sp>
        <p:nvSpPr>
          <p:cNvPr id="3" name="Marcador de contenido 2">
            <a:extLst>
              <a:ext uri="{FF2B5EF4-FFF2-40B4-BE49-F238E27FC236}">
                <a16:creationId xmlns:a16="http://schemas.microsoft.com/office/drawing/2014/main" id="{765A78B6-1FAD-638C-73C4-91927F097A77}"/>
              </a:ext>
            </a:extLst>
          </p:cNvPr>
          <p:cNvSpPr>
            <a:spLocks noGrp="1"/>
          </p:cNvSpPr>
          <p:nvPr>
            <p:ph idx="1"/>
          </p:nvPr>
        </p:nvSpPr>
        <p:spPr/>
        <p:txBody>
          <a:bodyPr/>
          <a:lstStyle/>
          <a:p>
            <a:pPr marL="0" indent="0" algn="ctr">
              <a:buNone/>
            </a:pPr>
            <a:r>
              <a:rPr lang="es-MX" b="1">
                <a:solidFill>
                  <a:schemeClr val="accent1"/>
                </a:solidFill>
                <a:latin typeface="Open Sans" panose="020B0606030504020204" pitchFamily="34" charset="0"/>
              </a:rPr>
              <a:t>L</a:t>
            </a:r>
            <a:r>
              <a:rPr lang="es-MX" b="1" i="0">
                <a:solidFill>
                  <a:schemeClr val="accent1"/>
                </a:solidFill>
                <a:effectLst/>
                <a:latin typeface="Open Sans" panose="020B0606030504020204" pitchFamily="34" charset="0"/>
              </a:rPr>
              <a:t>as métricas son sólo algo que se debe medir, mientras que los indicadores miden realmente el desempeño del negocio.</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8C126CF8-2913-65B5-1B8D-9F970230752E}"/>
              </a:ext>
            </a:extLst>
          </p:cNvPr>
          <p:cNvSpPr>
            <a:spLocks noGrp="1"/>
          </p:cNvSpPr>
          <p:nvPr>
            <p:ph type="sldNum" sz="quarter" idx="12"/>
          </p:nvPr>
        </p:nvSpPr>
        <p:spPr/>
        <p:txBody>
          <a:bodyPr/>
          <a:lstStyle/>
          <a:p>
            <a:fld id="{0E40E506-8910-4A1D-9597-9E72BD293B97}" type="slidenum">
              <a:rPr lang="en-US" smtClean="0"/>
              <a:t>22</a:t>
            </a:fld>
            <a:endParaRPr lang="en-US"/>
          </a:p>
        </p:txBody>
      </p:sp>
    </p:spTree>
    <p:extLst>
      <p:ext uri="{BB962C8B-B14F-4D97-AF65-F5344CB8AC3E}">
        <p14:creationId xmlns:p14="http://schemas.microsoft.com/office/powerpoint/2010/main" val="2504307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
        <p:nvSpPr>
          <p:cNvPr id="4" name="Marcador de número de diapositiva 3">
            <a:extLst>
              <a:ext uri="{FF2B5EF4-FFF2-40B4-BE49-F238E27FC236}">
                <a16:creationId xmlns:a16="http://schemas.microsoft.com/office/drawing/2014/main" id="{E482AEE7-04F6-7996-CFE3-C285A1FAC175}"/>
              </a:ext>
            </a:extLst>
          </p:cNvPr>
          <p:cNvSpPr>
            <a:spLocks noGrp="1"/>
          </p:cNvSpPr>
          <p:nvPr>
            <p:ph type="sldNum" sz="quarter" idx="12"/>
          </p:nvPr>
        </p:nvSpPr>
        <p:spPr/>
        <p:txBody>
          <a:bodyPr/>
          <a:lstStyle/>
          <a:p>
            <a:fld id="{0E40E506-8910-4A1D-9597-9E72BD293B97}" type="slidenum">
              <a:rPr lang="en-US" smtClean="0"/>
              <a:t>23</a:t>
            </a:fld>
            <a:endParaRPr lang="en-US"/>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EC2D49-423B-4D29-9C96-BD1850D45F8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57430A9-3A25-419B-8F04-4EF5F821DEB5}">
  <ds:schemaRefs>
    <ds:schemaRef ds:uri="0fd8070d-56ff-4b43-b705-64ae6a3948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DB04446-3BF4-48D0-96E1-09C6A6A524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3</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Dividend</vt:lpstr>
      <vt:lpstr>PowerPoint Presentation</vt:lpstr>
      <vt:lpstr>PowerPoint Presentation</vt:lpstr>
      <vt:lpstr>PowerPoint Presentation</vt:lpstr>
      <vt:lpstr>Principios del BSC</vt:lpstr>
      <vt:lpstr>Principios del BSC</vt:lpstr>
      <vt:lpstr>Principios del BSC</vt:lpstr>
      <vt:lpstr>Principios del BSC</vt:lpstr>
      <vt:lpstr>Beneficios del cuadro de mandos -BSC-</vt:lpstr>
      <vt:lpstr>Desafíos del cuadro de mandos -BSC-</vt:lpstr>
      <vt:lpstr>cuadro de mandos -BSC-</vt:lpstr>
      <vt:lpstr>¿Cómo se hace un cuadro de mandos integral?</vt:lpstr>
      <vt:lpstr>Ejemplo de cuadro de mando integral</vt:lpstr>
      <vt:lpstr>Ejemplo de cuadro de mando integral –Continuación-</vt:lpstr>
      <vt:lpstr>Creando un BSC</vt:lpstr>
      <vt:lpstr>Cómo los objetivos de Negocio  orientan las Metas de  TI</vt:lpstr>
      <vt:lpstr>Enfoque de medición       Indicadores vs. Metas</vt:lpstr>
      <vt:lpstr>Mapa estratégico del Balanced Scorecard</vt:lpstr>
      <vt:lpstr>Conclusiones</vt:lpstr>
      <vt:lpstr>Qué son los KPI</vt:lpstr>
      <vt:lpstr>Qué son los KPI</vt:lpstr>
      <vt:lpstr>¿Cuál es la diferencia entre KPI y métrica?</vt:lpstr>
      <vt:lpstr>¿Cuál es la diferencia entre KPI y métrica?</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Daldin Susana</dc:creator>
  <cp:revision>1</cp:revision>
  <dcterms:created xsi:type="dcterms:W3CDTF">2024-10-23T17:17:02Z</dcterms:created>
  <dcterms:modified xsi:type="dcterms:W3CDTF">2026-09-22T10:01:31Z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