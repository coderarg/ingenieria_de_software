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4"/>
  </p:sldMasterIdLst>
  <p:notesMasterIdLst>
    <p:notesMasterId r:id="rId51"/>
  </p:notesMasterIdLst>
  <p:sldIdLst>
    <p:sldId id="264" r:id="rId5"/>
    <p:sldId id="364" r:id="rId6"/>
    <p:sldId id="367" r:id="rId7"/>
    <p:sldId id="365" r:id="rId8"/>
    <p:sldId id="366" r:id="rId9"/>
    <p:sldId id="368" r:id="rId10"/>
    <p:sldId id="369" r:id="rId11"/>
    <p:sldId id="382" r:id="rId12"/>
    <p:sldId id="354" r:id="rId13"/>
    <p:sldId id="381" r:id="rId14"/>
    <p:sldId id="356" r:id="rId15"/>
    <p:sldId id="279" r:id="rId16"/>
    <p:sldId id="357" r:id="rId17"/>
    <p:sldId id="280" r:id="rId18"/>
    <p:sldId id="380" r:id="rId19"/>
    <p:sldId id="288" r:id="rId20"/>
    <p:sldId id="292" r:id="rId21"/>
    <p:sldId id="289" r:id="rId22"/>
    <p:sldId id="371" r:id="rId23"/>
    <p:sldId id="378" r:id="rId24"/>
    <p:sldId id="372" r:id="rId25"/>
    <p:sldId id="383" r:id="rId26"/>
    <p:sldId id="291" r:id="rId27"/>
    <p:sldId id="384" r:id="rId28"/>
    <p:sldId id="299" r:id="rId29"/>
    <p:sldId id="377" r:id="rId30"/>
    <p:sldId id="345" r:id="rId31"/>
    <p:sldId id="259" r:id="rId32"/>
    <p:sldId id="260" r:id="rId33"/>
    <p:sldId id="261" r:id="rId34"/>
    <p:sldId id="262" r:id="rId35"/>
    <p:sldId id="263" r:id="rId36"/>
    <p:sldId id="351" r:id="rId37"/>
    <p:sldId id="265" r:id="rId38"/>
    <p:sldId id="266" r:id="rId39"/>
    <p:sldId id="267" r:id="rId40"/>
    <p:sldId id="352" r:id="rId41"/>
    <p:sldId id="269" r:id="rId42"/>
    <p:sldId id="270" r:id="rId43"/>
    <p:sldId id="271" r:id="rId44"/>
    <p:sldId id="272" r:id="rId45"/>
    <p:sldId id="273" r:id="rId46"/>
    <p:sldId id="274" r:id="rId47"/>
    <p:sldId id="275" r:id="rId48"/>
    <p:sldId id="276" r:id="rId49"/>
    <p:sldId id="268"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26F949-18FE-6F84-9E89-D6A1BC159F72}" v="229" dt="2026-07-27T18:36:23.022"/>
    <p1510:client id="{761B4ED2-0C02-72F8-DE8C-13611DBFD51A}" v="1" dt="2026-07-27T18:40:19.05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DIN GRACIELA SUSANA" userId="S::gdaldin@uade.edu.ar::4fdff1c9-ccbd-4515-a030-ff7d0f1057b2" providerId="AD" clId="Web-{761B4ED2-0C02-72F8-DE8C-13611DBFD51A}"/>
    <pc:docChg chg="modSld">
      <pc:chgData name="DALDIN GRACIELA SUSANA" userId="S::gdaldin@uade.edu.ar::4fdff1c9-ccbd-4515-a030-ff7d0f1057b2" providerId="AD" clId="Web-{761B4ED2-0C02-72F8-DE8C-13611DBFD51A}" dt="2026-07-27T18:40:19.055" v="0"/>
      <pc:docMkLst>
        <pc:docMk/>
      </pc:docMkLst>
      <pc:sldChg chg="delSp">
        <pc:chgData name="DALDIN GRACIELA SUSANA" userId="S::gdaldin@uade.edu.ar::4fdff1c9-ccbd-4515-a030-ff7d0f1057b2" providerId="AD" clId="Web-{761B4ED2-0C02-72F8-DE8C-13611DBFD51A}" dt="2026-07-27T18:40:19.055" v="0"/>
        <pc:sldMkLst>
          <pc:docMk/>
          <pc:sldMk cId="0" sldId="351"/>
        </pc:sldMkLst>
        <pc:spChg chg="del">
          <ac:chgData name="DALDIN GRACIELA SUSANA" userId="S::gdaldin@uade.edu.ar::4fdff1c9-ccbd-4515-a030-ff7d0f1057b2" providerId="AD" clId="Web-{761B4ED2-0C02-72F8-DE8C-13611DBFD51A}" dt="2026-07-27T18:40:19.055" v="0"/>
          <ac:spMkLst>
            <pc:docMk/>
            <pc:sldMk cId="0" sldId="351"/>
            <ac:spMk id="7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5D1F8-2D6D-42CD-BC05-9113129B8C36}"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F1DCF-C87F-465B-BF64-23520B1FCF43}" type="slidenum">
              <a:rPr lang="en-US" smtClean="0"/>
              <a:t>‹Nº›</a:t>
            </a:fld>
            <a:endParaRPr lang="en-US"/>
          </a:p>
        </p:txBody>
      </p:sp>
    </p:spTree>
    <p:extLst>
      <p:ext uri="{BB962C8B-B14F-4D97-AF65-F5344CB8AC3E}">
        <p14:creationId xmlns:p14="http://schemas.microsoft.com/office/powerpoint/2010/main" val="286131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1</a:t>
            </a:fld>
            <a:endParaRPr lang="es-ES" noProof="0"/>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g21c129c4305_0_6: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 name="Google Shape;38;g21c129c4305_0_6: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21c129c4305_0_12: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 name="Google Shape;45;g21c129c4305_0_12: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1c129c4305_0_18: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21c129c4305_0_18: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1c129c4305_0_24: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g21c129c4305_0_24: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1c129c4305_0_30: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g21c129c4305_0_30: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1c129c4305_0_36: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g21c129c4305_0_36: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1c129c4305_0_42: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21c129c4305_0_42: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1c129c4305_0_48: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21c129c4305_0_48: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1c129c4305_0_54: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21c129c4305_0_54: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1c129c4305_0_60: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21c129c4305_0_60: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1c129c4305_0_73: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21c129c4305_0_73: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1c129c4305_0_84: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21c129c4305_0_84: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1c129c4305_0_90: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1c129c4305_0_90: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1c129c4305_0_100: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21c129c4305_0_100: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1c129c4305_0_106: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21c129c4305_0_106: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1c129c4305_0_119: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21c129c4305_0_119: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1c129c4305_0_125: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1c129c4305_0_125: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1c129c4305_0_134:notes"/>
          <p:cNvSpPr>
            <a:spLocks noGrp="1" noRot="1" noChangeAspect="1"/>
          </p:cNvSpPr>
          <p:nvPr>
            <p:ph type="sldImg" idx="2"/>
          </p:nvPr>
        </p:nvSpPr>
        <p:spPr>
          <a:xfrm>
            <a:off x="423863" y="762000"/>
            <a:ext cx="6772275" cy="3810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g21c129c4305_0_134:notes"/>
          <p:cNvSpPr txBox="1">
            <a:spLocks noGrp="1"/>
          </p:cNvSpPr>
          <p:nvPr>
            <p:ph type="body" idx="1"/>
          </p:nvPr>
        </p:nvSpPr>
        <p:spPr>
          <a:xfrm>
            <a:off x="762000" y="4826000"/>
            <a:ext cx="6096000" cy="45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66"/>
              <a:buFont typeface="Arial"/>
              <a:buNone/>
            </a:pPr>
            <a:endParaRPr sz="1466"/>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46</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797642D-A9EB-465D-9B43-4975D1A9A9F5}" type="datetimeFigureOut">
              <a:rPr lang="en-US" smtClean="0"/>
              <a:t>7/27/2026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283839090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79970093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7/27/2026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125665038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97642D-A9EB-465D-9B43-4975D1A9A9F5}"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7361574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97642D-A9EB-465D-9B43-4975D1A9A9F5}"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89204698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97642D-A9EB-465D-9B43-4975D1A9A9F5}" type="datetimeFigureOut">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‹Nº›</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303779339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7642D-A9EB-465D-9B43-4975D1A9A9F5}" type="datetimeFigureOut">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93446760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7/27/2026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486713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97642D-A9EB-465D-9B43-4975D1A9A9F5}"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75098687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54775184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797642D-A9EB-465D-9B43-4975D1A9A9F5}" type="datetimeFigureOut">
              <a:rPr lang="en-US" smtClean="0"/>
              <a:t>7/27/2026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395144173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797642D-A9EB-465D-9B43-4975D1A9A9F5}" type="datetimeFigureOut">
              <a:rPr lang="en-US" smtClean="0"/>
              <a:t>7/27/2026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79083297"/>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1EB241-0852-428A-8A50-67737CA93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A23EDC2-E1E5-4C5D-9C74-714516AF5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B2781548-0E4F-4401-A909-82EDF50DB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33030110-5A0B-4476-9070-A890E1987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0" name="Rectangle 29">
            <a:extLst>
              <a:ext uri="{FF2B5EF4-FFF2-40B4-BE49-F238E27FC236}">
                <a16:creationId xmlns:a16="http://schemas.microsoft.com/office/drawing/2014/main" id="{0A08DAED-6222-40F8-97FA-1474D91F1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B9EA7D0C-D986-4DAE-813C-903CF7A31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2" y="641102"/>
            <a:ext cx="3666744" cy="36985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sp>
        <p:nvSpPr>
          <p:cNvPr id="34" name="Rectangle 33">
            <a:extLst>
              <a:ext uri="{FF2B5EF4-FFF2-40B4-BE49-F238E27FC236}">
                <a16:creationId xmlns:a16="http://schemas.microsoft.com/office/drawing/2014/main" id="{C0FEAC2C-4B4A-4DAB-9021-A01837447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8704" y="642071"/>
            <a:ext cx="7475220" cy="3701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D04E7CE-C66B-49FC-8E37-3A08EF9A5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48660" y="4432079"/>
            <a:ext cx="83731" cy="196077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Marcador de número de diapositiva 1">
            <a:extLst>
              <a:ext uri="{FF2B5EF4-FFF2-40B4-BE49-F238E27FC236}">
                <a16:creationId xmlns:a16="http://schemas.microsoft.com/office/drawing/2014/main" id="{32D6C023-80DD-BC76-7057-165E994401E7}"/>
              </a:ext>
            </a:extLst>
          </p:cNvPr>
          <p:cNvSpPr>
            <a:spLocks noGrp="1"/>
          </p:cNvSpPr>
          <p:nvPr>
            <p:ph type="sldNum" sz="quarter" idx="12"/>
          </p:nvPr>
        </p:nvSpPr>
        <p:spPr/>
        <p:txBody>
          <a:bodyPr/>
          <a:lstStyle/>
          <a:p>
            <a:fld id="{0E40E506-8910-4A1D-9597-9E72BD293B97}" type="slidenum">
              <a:rPr lang="en-US" smtClean="0"/>
              <a:t>1</a:t>
            </a:fld>
            <a:endParaRPr lang="es-ES"/>
          </a:p>
        </p:txBody>
      </p:sp>
    </p:spTree>
    <p:extLst>
      <p:ext uri="{BB962C8B-B14F-4D97-AF65-F5344CB8AC3E}">
        <p14:creationId xmlns:p14="http://schemas.microsoft.com/office/powerpoint/2010/main" val="326249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A9601C-0C00-7865-A77F-B2827BE82AF3}"/>
              </a:ext>
            </a:extLst>
          </p:cNvPr>
          <p:cNvSpPr>
            <a:spLocks noGrp="1"/>
          </p:cNvSpPr>
          <p:nvPr>
            <p:ph type="title"/>
          </p:nvPr>
        </p:nvSpPr>
        <p:spPr/>
        <p:txBody>
          <a:bodyPr>
            <a:normAutofit/>
          </a:bodyPr>
          <a:lstStyle/>
          <a:p>
            <a:r>
              <a:rPr lang="es-ES" sz="2400">
                <a:solidFill>
                  <a:srgbClr val="FFFFFF"/>
                </a:solidFill>
                <a:latin typeface="Gill Sans MT" panose="020B0502020104020203" pitchFamily="34" charset="0"/>
              </a:rPr>
              <a:t>Dominios de aplicación del software</a:t>
            </a:r>
            <a:endParaRPr lang="es-AR" sz="2400" b="1">
              <a:solidFill>
                <a:schemeClr val="accent2"/>
              </a:solidFill>
              <a:latin typeface="Amasis MT Pro Medium" panose="02040604050005020304" pitchFamily="18" charset="0"/>
              <a:ea typeface="+mn-ea"/>
              <a:cs typeface="Times New Roman" panose="02020603050405020304" pitchFamily="18" charset="0"/>
            </a:endParaRPr>
          </a:p>
        </p:txBody>
      </p:sp>
      <p:sp>
        <p:nvSpPr>
          <p:cNvPr id="4" name="CuadroTexto 3">
            <a:extLst>
              <a:ext uri="{FF2B5EF4-FFF2-40B4-BE49-F238E27FC236}">
                <a16:creationId xmlns:a16="http://schemas.microsoft.com/office/drawing/2014/main" id="{40AACE88-CDEC-F67D-495E-0AAD782A2D04}"/>
              </a:ext>
            </a:extLst>
          </p:cNvPr>
          <p:cNvSpPr txBox="1"/>
          <p:nvPr/>
        </p:nvSpPr>
        <p:spPr>
          <a:xfrm>
            <a:off x="451212" y="2096047"/>
            <a:ext cx="11026066" cy="3970318"/>
          </a:xfrm>
          <a:prstGeom prst="rect">
            <a:avLst/>
          </a:prstGeom>
          <a:noFill/>
        </p:spPr>
        <p:txBody>
          <a:bodyPr wrap="square">
            <a:spAutoFit/>
          </a:bodyPr>
          <a:lstStyle/>
          <a:p>
            <a:pPr marL="228600" algn="just">
              <a:spcBef>
                <a:spcPct val="0"/>
              </a:spcBef>
              <a:spcAft>
                <a:spcPts val="600"/>
              </a:spcAft>
              <a:buClr>
                <a:schemeClr val="accent2"/>
              </a:buClr>
              <a:buSzPct val="92000"/>
            </a:pPr>
            <a:r>
              <a:rPr lang="es-AR" sz="2000" b="1">
                <a:solidFill>
                  <a:srgbClr val="1A3260"/>
                </a:solidFill>
                <a:latin typeface="Amasis MT Pro Medium" panose="02040604050005020304" pitchFamily="18" charset="0"/>
                <a:cs typeface="Times New Roman" panose="02020603050405020304" pitchFamily="18" charset="0"/>
              </a:rPr>
              <a:t>Software de sistemas: </a:t>
            </a:r>
          </a:p>
          <a:p>
            <a:pPr marL="228600" algn="just">
              <a:spcBef>
                <a:spcPct val="0"/>
              </a:spcBef>
              <a:spcAft>
                <a:spcPts val="600"/>
              </a:spcAft>
              <a:buClr>
                <a:schemeClr val="accent2"/>
              </a:buClr>
              <a:buSzPct val="92000"/>
            </a:pPr>
            <a:r>
              <a:rPr lang="es-AR" sz="2000">
                <a:solidFill>
                  <a:srgbClr val="1A3260"/>
                </a:solidFill>
                <a:latin typeface="Amasis MT Pro Medium" panose="02040604050005020304" pitchFamily="18" charset="0"/>
                <a:cs typeface="Times New Roman" panose="02020603050405020304" pitchFamily="18" charset="0"/>
              </a:rPr>
              <a:t>C</a:t>
            </a:r>
            <a:r>
              <a:rPr lang="es-AR">
                <a:solidFill>
                  <a:srgbClr val="1A3260"/>
                </a:solidFill>
                <a:latin typeface="Amasis MT Pro Medium" panose="02040604050005020304" pitchFamily="18" charset="0"/>
                <a:cs typeface="Times New Roman" panose="02020603050405020304" pitchFamily="18" charset="0"/>
              </a:rPr>
              <a:t>onjunto de programas escritos para dar servicio a otros programas.</a:t>
            </a:r>
          </a:p>
          <a:p>
            <a:pPr marL="228600" algn="just">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Procesa estructuras de información complejas.</a:t>
            </a:r>
          </a:p>
          <a:p>
            <a:pPr marL="228600" algn="just">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Otras aplicaciones de sistemas (por ejemplo, componentes de sistemas operativos,</a:t>
            </a:r>
          </a:p>
          <a:p>
            <a:pPr marL="228600" algn="just">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manejadores, software de redes, procesadores de telecomunicaciones). </a:t>
            </a:r>
          </a:p>
          <a:p>
            <a:pPr marL="228600" algn="just">
              <a:spcBef>
                <a:spcPct val="0"/>
              </a:spcBef>
              <a:spcAft>
                <a:spcPts val="600"/>
              </a:spcAft>
              <a:buClr>
                <a:schemeClr val="accent2"/>
              </a:buClr>
              <a:buSzPct val="92000"/>
            </a:pPr>
            <a:endParaRPr lang="es-ES" b="1">
              <a:solidFill>
                <a:srgbClr val="1A3260"/>
              </a:solidFill>
              <a:latin typeface="Amasis MT Pro Medium" panose="02040604050005020304" pitchFamily="18" charset="0"/>
              <a:cs typeface="Times New Roman" panose="02020603050405020304" pitchFamily="18" charset="0"/>
            </a:endParaRPr>
          </a:p>
          <a:p>
            <a:pPr marL="228600" algn="just">
              <a:spcBef>
                <a:spcPct val="0"/>
              </a:spcBef>
              <a:spcAft>
                <a:spcPts val="600"/>
              </a:spcAft>
              <a:buClr>
                <a:schemeClr val="accent2"/>
              </a:buClr>
              <a:buSzPct val="92000"/>
            </a:pPr>
            <a:r>
              <a:rPr lang="es-ES" b="1">
                <a:solidFill>
                  <a:srgbClr val="1A3260"/>
                </a:solidFill>
                <a:latin typeface="Amasis MT Pro Medium" panose="02040604050005020304" pitchFamily="18" charset="0"/>
                <a:cs typeface="Times New Roman" panose="02020603050405020304" pitchFamily="18" charset="0"/>
              </a:rPr>
              <a:t>El área de software de sistemas se caracteriza por: </a:t>
            </a:r>
          </a:p>
          <a:p>
            <a:pPr marL="228600" algn="just">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gran interacción con el hardware de la computadora, uso intensivo por parte de usuarios</a:t>
            </a:r>
          </a:p>
          <a:p>
            <a:pPr marL="228600" algn="just">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múltiples, operación concurrente que requiere la secuenciación, recursos compartidos</a:t>
            </a:r>
          </a:p>
          <a:p>
            <a:pPr marL="228600" algn="just">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y administración de un proceso sofisticado, estructuras complejas de datos e interfaces externas</a:t>
            </a:r>
          </a:p>
          <a:p>
            <a:pPr marL="228600" algn="just">
              <a:spcBef>
                <a:spcPct val="0"/>
              </a:spcBef>
              <a:spcAft>
                <a:spcPts val="600"/>
              </a:spcAft>
              <a:buClr>
                <a:schemeClr val="accent2"/>
              </a:buClr>
              <a:buSzPct val="92000"/>
            </a:pPr>
            <a:r>
              <a:rPr lang="es-AR">
                <a:solidFill>
                  <a:srgbClr val="1A3260"/>
                </a:solidFill>
                <a:latin typeface="Amasis MT Pro Medium" panose="02040604050005020304" pitchFamily="18" charset="0"/>
                <a:cs typeface="Times New Roman" panose="02020603050405020304" pitchFamily="18" charset="0"/>
              </a:rPr>
              <a:t>múltiples.</a:t>
            </a:r>
          </a:p>
        </p:txBody>
      </p:sp>
      <p:sp>
        <p:nvSpPr>
          <p:cNvPr id="3" name="Marcador de número de diapositiva 2">
            <a:extLst>
              <a:ext uri="{FF2B5EF4-FFF2-40B4-BE49-F238E27FC236}">
                <a16:creationId xmlns:a16="http://schemas.microsoft.com/office/drawing/2014/main" id="{8A1064A9-64C8-579E-C1D2-7C9A53F471F2}"/>
              </a:ext>
            </a:extLst>
          </p:cNvPr>
          <p:cNvSpPr>
            <a:spLocks noGrp="1"/>
          </p:cNvSpPr>
          <p:nvPr>
            <p:ph type="sldNum" sz="quarter" idx="12"/>
          </p:nvPr>
        </p:nvSpPr>
        <p:spPr/>
        <p:txBody>
          <a:bodyPr/>
          <a:lstStyle/>
          <a:p>
            <a:fld id="{0E40E506-8910-4A1D-9597-9E72BD293B97}" type="slidenum">
              <a:rPr lang="en-US" smtClean="0"/>
              <a:t>2</a:t>
            </a:fld>
            <a:endParaRPr lang="es-ES"/>
          </a:p>
        </p:txBody>
      </p:sp>
    </p:spTree>
    <p:extLst>
      <p:ext uri="{BB962C8B-B14F-4D97-AF65-F5344CB8AC3E}">
        <p14:creationId xmlns:p14="http://schemas.microsoft.com/office/powerpoint/2010/main" val="158559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768106-65FC-4EE0-FD3E-144EDF87C2C6}"/>
              </a:ext>
            </a:extLst>
          </p:cNvPr>
          <p:cNvSpPr>
            <a:spLocks noGrp="1"/>
          </p:cNvSpPr>
          <p:nvPr>
            <p:ph type="title"/>
          </p:nvPr>
        </p:nvSpPr>
        <p:spPr/>
        <p:txBody>
          <a:bodyPr vert="horz" lIns="91440" tIns="45720" rIns="91440" bIns="45720" rtlCol="0" anchor="b">
            <a:normAutofit/>
          </a:bodyPr>
          <a:lstStyle/>
          <a:p>
            <a:r>
              <a:rPr lang="es-ES" sz="2400">
                <a:solidFill>
                  <a:srgbClr val="FFFFFF"/>
                </a:solidFill>
                <a:latin typeface="Gill Sans MT" panose="020B0502020104020203" pitchFamily="34" charset="0"/>
              </a:rPr>
              <a:t>Dominios de aplicación del software</a:t>
            </a:r>
            <a:endParaRPr lang="es-AR" sz="2400">
              <a:solidFill>
                <a:srgbClr val="FFFFFF"/>
              </a:solidFill>
              <a:latin typeface="Gill Sans MT" panose="020B0502020104020203" pitchFamily="34" charset="0"/>
            </a:endParaRPr>
          </a:p>
        </p:txBody>
      </p:sp>
      <p:sp>
        <p:nvSpPr>
          <p:cNvPr id="4" name="CuadroTexto 3">
            <a:extLst>
              <a:ext uri="{FF2B5EF4-FFF2-40B4-BE49-F238E27FC236}">
                <a16:creationId xmlns:a16="http://schemas.microsoft.com/office/drawing/2014/main" id="{41CFDC93-5E91-0CE2-F7A4-B5A7137364DB}"/>
              </a:ext>
            </a:extLst>
          </p:cNvPr>
          <p:cNvSpPr txBox="1"/>
          <p:nvPr/>
        </p:nvSpPr>
        <p:spPr>
          <a:xfrm>
            <a:off x="470517" y="2179247"/>
            <a:ext cx="10999433" cy="3075201"/>
          </a:xfrm>
          <a:prstGeom prst="rect">
            <a:avLst/>
          </a:prstGeom>
          <a:noFill/>
        </p:spPr>
        <p:txBody>
          <a:bodyPr wrap="square" lIns="91440" tIns="45720" rIns="91440" bIns="45720" anchor="t">
            <a:spAutoFit/>
          </a:bodyPr>
          <a:lstStyle/>
          <a:p>
            <a:pPr marL="228600" algn="just">
              <a:spcBef>
                <a:spcPct val="0"/>
              </a:spcBef>
              <a:spcAft>
                <a:spcPts val="600"/>
              </a:spcAft>
              <a:buClr>
                <a:schemeClr val="accent2"/>
              </a:buClr>
              <a:buSzPct val="92000"/>
            </a:pPr>
            <a:r>
              <a:rPr lang="es-ES" sz="2000" b="1">
                <a:solidFill>
                  <a:srgbClr val="1A3260"/>
                </a:solidFill>
                <a:latin typeface="Amasis MT Pro Medium" panose="02040604050005020304" pitchFamily="18" charset="0"/>
                <a:cs typeface="Times New Roman" panose="02020603050405020304" pitchFamily="18" charset="0"/>
              </a:rPr>
              <a:t>Software de aplicación: </a:t>
            </a:r>
          </a:p>
          <a:p>
            <a:pPr marL="228600" algn="just">
              <a:lnSpc>
                <a:spcPct val="150000"/>
              </a:lnSpc>
              <a:spcBef>
                <a:spcPct val="0"/>
              </a:spcBef>
              <a:spcAft>
                <a:spcPts val="600"/>
              </a:spcAft>
              <a:buClr>
                <a:schemeClr val="accent2"/>
              </a:buClr>
              <a:buSzPct val="92000"/>
            </a:pPr>
            <a:r>
              <a:rPr lang="es-ES">
                <a:solidFill>
                  <a:srgbClr val="1A3260"/>
                </a:solidFill>
                <a:latin typeface="Amasis MT Pro Medium"/>
                <a:cs typeface="Times New Roman"/>
              </a:rPr>
              <a:t>Programas aislados que resuelven una necesidad específica de negocios. Las aplicaciones en esta área procesan datos comerciales o técnicos en una </a:t>
            </a:r>
            <a:r>
              <a:rPr lang="es-AR">
                <a:solidFill>
                  <a:srgbClr val="1A3260"/>
                </a:solidFill>
                <a:latin typeface="Amasis MT Pro Medium"/>
                <a:cs typeface="Times New Roman"/>
              </a:rPr>
              <a:t>forma que facilita las operaciones de negocios o la toma de decisiones administrativas o </a:t>
            </a:r>
            <a:r>
              <a:rPr lang="es-ES">
                <a:solidFill>
                  <a:srgbClr val="1A3260"/>
                </a:solidFill>
                <a:latin typeface="Amasis MT Pro Medium"/>
                <a:cs typeface="Times New Roman"/>
              </a:rPr>
              <a:t>técnicas. </a:t>
            </a:r>
          </a:p>
          <a:p>
            <a:pPr marL="228600" algn="just">
              <a:lnSpc>
                <a:spcPct val="150000"/>
              </a:lnSpc>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Además de las aplicaciones convencionales de procesamiento de datos, el software de aplicación se usa para controlar funciones de negocios en tiempo real (por ejemplo, procesamiento de transacciones en punto de venta, control de procesos de manufactura </a:t>
            </a:r>
            <a:r>
              <a:rPr lang="es-AR">
                <a:solidFill>
                  <a:srgbClr val="1A3260"/>
                </a:solidFill>
                <a:latin typeface="Amasis MT Pro Medium" panose="02040604050005020304" pitchFamily="18" charset="0"/>
                <a:cs typeface="Times New Roman" panose="02020603050405020304" pitchFamily="18" charset="0"/>
              </a:rPr>
              <a:t>en tiempo real).</a:t>
            </a:r>
          </a:p>
        </p:txBody>
      </p:sp>
      <p:sp>
        <p:nvSpPr>
          <p:cNvPr id="3" name="Marcador de número de diapositiva 2">
            <a:extLst>
              <a:ext uri="{FF2B5EF4-FFF2-40B4-BE49-F238E27FC236}">
                <a16:creationId xmlns:a16="http://schemas.microsoft.com/office/drawing/2014/main" id="{FDFFF4ED-5B0E-00E4-94A9-CAF0B7360B05}"/>
              </a:ext>
            </a:extLst>
          </p:cNvPr>
          <p:cNvSpPr>
            <a:spLocks noGrp="1"/>
          </p:cNvSpPr>
          <p:nvPr>
            <p:ph type="sldNum" sz="quarter" idx="12"/>
          </p:nvPr>
        </p:nvSpPr>
        <p:spPr/>
        <p:txBody>
          <a:bodyPr/>
          <a:lstStyle/>
          <a:p>
            <a:fld id="{0E40E506-8910-4A1D-9597-9E72BD293B97}" type="slidenum">
              <a:rPr lang="en-US" smtClean="0"/>
              <a:t>3</a:t>
            </a:fld>
            <a:endParaRPr lang="es-ES"/>
          </a:p>
        </p:txBody>
      </p:sp>
    </p:spTree>
    <p:extLst>
      <p:ext uri="{BB962C8B-B14F-4D97-AF65-F5344CB8AC3E}">
        <p14:creationId xmlns:p14="http://schemas.microsoft.com/office/powerpoint/2010/main" val="738055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952A5FF-47D4-3C2F-C15D-AE96BE32C760}"/>
              </a:ext>
            </a:extLst>
          </p:cNvPr>
          <p:cNvSpPr txBox="1"/>
          <p:nvPr/>
        </p:nvSpPr>
        <p:spPr>
          <a:xfrm>
            <a:off x="390617" y="2044408"/>
            <a:ext cx="10608815" cy="4475584"/>
          </a:xfrm>
          <a:prstGeom prst="rect">
            <a:avLst/>
          </a:prstGeom>
          <a:noFill/>
        </p:spPr>
        <p:txBody>
          <a:bodyPr wrap="square">
            <a:spAutoFit/>
          </a:bodyPr>
          <a:lstStyle/>
          <a:p>
            <a:pPr marL="228600" algn="just">
              <a:spcBef>
                <a:spcPct val="0"/>
              </a:spcBef>
              <a:spcAft>
                <a:spcPts val="600"/>
              </a:spcAft>
              <a:buClr>
                <a:schemeClr val="accent2"/>
              </a:buClr>
              <a:buSzPct val="92000"/>
            </a:pPr>
            <a:r>
              <a:rPr lang="es-ES" sz="2000" b="1">
                <a:solidFill>
                  <a:srgbClr val="1A3260"/>
                </a:solidFill>
                <a:latin typeface="Amasis MT Pro Medium" panose="02040604050005020304" pitchFamily="18" charset="0"/>
                <a:cs typeface="Times New Roman" panose="02020603050405020304" pitchFamily="18" charset="0"/>
              </a:rPr>
              <a:t>Software de ingeniería y ciencias: </a:t>
            </a:r>
          </a:p>
          <a:p>
            <a:pPr marL="228600" algn="just">
              <a:lnSpc>
                <a:spcPct val="150000"/>
              </a:lnSpc>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Se ha caracterizado por algoritmos “devoradores de</a:t>
            </a:r>
          </a:p>
          <a:p>
            <a:pPr marL="228600" algn="just">
              <a:lnSpc>
                <a:spcPct val="150000"/>
              </a:lnSpc>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números”. Las aplicaciones van de la astronomía a la vulcanología, del análisis de tensiones en automóviles a la dinámica orbital del transbordador espacial, y de la biología molecular a la manufactura automatizada. </a:t>
            </a:r>
          </a:p>
          <a:p>
            <a:pPr marL="228600" algn="just">
              <a:lnSpc>
                <a:spcPct val="150000"/>
              </a:lnSpc>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Sin embargo, las aplicaciones modernas dentro del área de la ingeniería y las ciencias están abandonando los algoritmos numéricos convencionales.</a:t>
            </a:r>
          </a:p>
          <a:p>
            <a:pPr marL="228600" algn="just">
              <a:lnSpc>
                <a:spcPct val="150000"/>
              </a:lnSpc>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El diseño asistido por computadora, la simulación de sistemas y otras aplicaciones</a:t>
            </a:r>
          </a:p>
          <a:p>
            <a:pPr marL="228600" algn="just">
              <a:lnSpc>
                <a:spcPct val="150000"/>
              </a:lnSpc>
              <a:spcBef>
                <a:spcPct val="0"/>
              </a:spcBef>
              <a:spcAft>
                <a:spcPts val="600"/>
              </a:spcAft>
              <a:buClr>
                <a:schemeClr val="accent2"/>
              </a:buClr>
              <a:buSzPct val="92000"/>
            </a:pPr>
            <a:r>
              <a:rPr lang="es-ES">
                <a:solidFill>
                  <a:srgbClr val="1A3260"/>
                </a:solidFill>
                <a:latin typeface="Amasis MT Pro Medium" panose="02040604050005020304" pitchFamily="18" charset="0"/>
                <a:cs typeface="Times New Roman" panose="02020603050405020304" pitchFamily="18" charset="0"/>
              </a:rPr>
              <a:t>interactivas, han comenzado a hacerse en tiempo real e incluso han tomado características </a:t>
            </a:r>
            <a:r>
              <a:rPr lang="es-AR">
                <a:solidFill>
                  <a:srgbClr val="1A3260"/>
                </a:solidFill>
                <a:latin typeface="Amasis MT Pro Medium" panose="02040604050005020304" pitchFamily="18" charset="0"/>
                <a:cs typeface="Times New Roman" panose="02020603050405020304" pitchFamily="18" charset="0"/>
              </a:rPr>
              <a:t>del software de sistemas</a:t>
            </a:r>
          </a:p>
        </p:txBody>
      </p:sp>
      <p:sp>
        <p:nvSpPr>
          <p:cNvPr id="6" name="Título 1">
            <a:extLst>
              <a:ext uri="{FF2B5EF4-FFF2-40B4-BE49-F238E27FC236}">
                <a16:creationId xmlns:a16="http://schemas.microsoft.com/office/drawing/2014/main" id="{DC8DC2F2-A239-0D58-C39C-508E46E5604C}"/>
              </a:ext>
            </a:extLst>
          </p:cNvPr>
          <p:cNvSpPr>
            <a:spLocks noGrp="1"/>
          </p:cNvSpPr>
          <p:nvPr>
            <p:ph type="title"/>
          </p:nvPr>
        </p:nvSpPr>
        <p:spPr>
          <a:xfrm>
            <a:off x="576263" y="730250"/>
            <a:ext cx="11029950" cy="987425"/>
          </a:xfrm>
        </p:spPr>
        <p:txBody>
          <a:bodyPr vert="horz" lIns="91440" tIns="45720" rIns="91440" bIns="45720" rtlCol="0" anchor="b">
            <a:normAutofit/>
          </a:bodyPr>
          <a:lstStyle/>
          <a:p>
            <a:r>
              <a:rPr lang="es-ES" sz="2400">
                <a:solidFill>
                  <a:srgbClr val="FFFFFF"/>
                </a:solidFill>
                <a:latin typeface="Gill Sans MT" panose="020B0502020104020203" pitchFamily="34" charset="0"/>
              </a:rPr>
              <a:t>Dominios de aplicación del software</a:t>
            </a:r>
            <a:endParaRPr lang="es-AR" sz="2400">
              <a:solidFill>
                <a:srgbClr val="FFFFFF"/>
              </a:solidFill>
              <a:latin typeface="Gill Sans MT" panose="020B0502020104020203" pitchFamily="34" charset="0"/>
            </a:endParaRPr>
          </a:p>
        </p:txBody>
      </p:sp>
      <p:sp>
        <p:nvSpPr>
          <p:cNvPr id="2" name="Marcador de número de diapositiva 1">
            <a:extLst>
              <a:ext uri="{FF2B5EF4-FFF2-40B4-BE49-F238E27FC236}">
                <a16:creationId xmlns:a16="http://schemas.microsoft.com/office/drawing/2014/main" id="{4FF6D144-55CE-7E4C-9251-6C0316A32F17}"/>
              </a:ext>
            </a:extLst>
          </p:cNvPr>
          <p:cNvSpPr>
            <a:spLocks noGrp="1"/>
          </p:cNvSpPr>
          <p:nvPr>
            <p:ph type="sldNum" sz="quarter" idx="12"/>
          </p:nvPr>
        </p:nvSpPr>
        <p:spPr/>
        <p:txBody>
          <a:bodyPr/>
          <a:lstStyle/>
          <a:p>
            <a:fld id="{0E40E506-8910-4A1D-9597-9E72BD293B97}" type="slidenum">
              <a:rPr lang="en-US" smtClean="0"/>
              <a:t>4</a:t>
            </a:fld>
            <a:endParaRPr lang="es-ES"/>
          </a:p>
        </p:txBody>
      </p:sp>
    </p:spTree>
    <p:extLst>
      <p:ext uri="{BB962C8B-B14F-4D97-AF65-F5344CB8AC3E}">
        <p14:creationId xmlns:p14="http://schemas.microsoft.com/office/powerpoint/2010/main" val="213697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493442F6-AD42-BF6E-F08B-462F25BBC1C3}"/>
              </a:ext>
            </a:extLst>
          </p:cNvPr>
          <p:cNvSpPr txBox="1"/>
          <p:nvPr/>
        </p:nvSpPr>
        <p:spPr>
          <a:xfrm>
            <a:off x="550416" y="2486538"/>
            <a:ext cx="11159231" cy="3139321"/>
          </a:xfrm>
          <a:prstGeom prst="rect">
            <a:avLst/>
          </a:prstGeom>
          <a:noFill/>
        </p:spPr>
        <p:txBody>
          <a:bodyPr wrap="square" lIns="91440" tIns="45720" rIns="91440" bIns="45720" anchor="t">
            <a:spAutoFit/>
          </a:bodyPr>
          <a:lstStyle/>
          <a:p>
            <a:pPr marL="228600" algn="just">
              <a:spcBef>
                <a:spcPct val="0"/>
              </a:spcBef>
              <a:spcAft>
                <a:spcPts val="600"/>
              </a:spcAft>
              <a:buClr>
                <a:schemeClr val="accent2"/>
              </a:buClr>
              <a:buSzPct val="92000"/>
            </a:pPr>
            <a:r>
              <a:rPr lang="es-ES" sz="2000" b="1">
                <a:solidFill>
                  <a:srgbClr val="1A3260"/>
                </a:solidFill>
                <a:latin typeface="Amasis MT Pro Medium" panose="02040604050005020304" pitchFamily="18" charset="0"/>
                <a:cs typeface="Times New Roman" panose="02020603050405020304" pitchFamily="18" charset="0"/>
              </a:rPr>
              <a:t>Software incrustado: </a:t>
            </a:r>
          </a:p>
          <a:p>
            <a:pPr marL="228600" algn="just">
              <a:spcBef>
                <a:spcPct val="0"/>
              </a:spcBef>
              <a:spcAft>
                <a:spcPts val="600"/>
              </a:spcAft>
              <a:buClr>
                <a:schemeClr val="accent2"/>
              </a:buClr>
              <a:buSzPct val="92000"/>
            </a:pPr>
            <a:endParaRPr lang="es-ES" sz="2000" b="1">
              <a:solidFill>
                <a:srgbClr val="1A3260"/>
              </a:solidFill>
              <a:latin typeface="Amasis MT Pro Medium" panose="02040604050005020304" pitchFamily="18" charset="0"/>
              <a:cs typeface="Times New Roman" panose="02020603050405020304" pitchFamily="18" charset="0"/>
            </a:endParaRPr>
          </a:p>
          <a:p>
            <a:pPr marL="228600" algn="just">
              <a:spcBef>
                <a:spcPct val="0"/>
              </a:spcBef>
              <a:spcAft>
                <a:spcPts val="600"/>
              </a:spcAft>
              <a:buClr>
                <a:schemeClr val="accent2"/>
              </a:buClr>
              <a:buSzPct val="92000"/>
            </a:pPr>
            <a:r>
              <a:rPr lang="es-ES" sz="2000">
                <a:solidFill>
                  <a:srgbClr val="1A3260"/>
                </a:solidFill>
                <a:latin typeface="Amasis MT Pro Medium" panose="02040604050005020304" pitchFamily="18" charset="0"/>
                <a:cs typeface="Times New Roman" panose="02020603050405020304" pitchFamily="18" charset="0"/>
              </a:rPr>
              <a:t>Reside dentro de un producto o sistema y se usa para implementar y controlar características y funciones para el usuario final y para el sistema en sí.</a:t>
            </a:r>
          </a:p>
          <a:p>
            <a:pPr marL="228600" algn="just">
              <a:spcBef>
                <a:spcPct val="0"/>
              </a:spcBef>
              <a:spcAft>
                <a:spcPts val="600"/>
              </a:spcAft>
              <a:buClr>
                <a:schemeClr val="accent2"/>
              </a:buClr>
              <a:buSzPct val="92000"/>
            </a:pPr>
            <a:r>
              <a:rPr lang="es-ES" sz="2000">
                <a:solidFill>
                  <a:srgbClr val="1A3260"/>
                </a:solidFill>
                <a:latin typeface="Amasis MT Pro Medium"/>
                <a:cs typeface="Times New Roman"/>
              </a:rPr>
              <a:t>El software incrustado ejecuta funciones limitadas y particulares (por ejemplo, control del tablero de un </a:t>
            </a:r>
            <a:r>
              <a:rPr lang="es-AR" sz="2000">
                <a:solidFill>
                  <a:srgbClr val="1A3260"/>
                </a:solidFill>
                <a:latin typeface="Amasis MT Pro Medium"/>
                <a:cs typeface="Times New Roman"/>
              </a:rPr>
              <a:t>horno de microondas) o provee una capacidad significativa de funcionamiento y control </a:t>
            </a:r>
            <a:r>
              <a:rPr lang="es-ES" sz="2000">
                <a:solidFill>
                  <a:srgbClr val="1A3260"/>
                </a:solidFill>
                <a:latin typeface="Amasis MT Pro Medium"/>
                <a:cs typeface="Times New Roman"/>
              </a:rPr>
              <a:t>(funciones digitales en un automóvil, como el control del combustible, del tablero de control y de los sistemas de frenado).</a:t>
            </a:r>
          </a:p>
          <a:p>
            <a:pPr algn="l"/>
            <a:endParaRPr lang="es-AR">
              <a:solidFill>
                <a:srgbClr val="1A3260"/>
              </a:solidFill>
            </a:endParaRPr>
          </a:p>
        </p:txBody>
      </p:sp>
      <p:sp>
        <p:nvSpPr>
          <p:cNvPr id="11" name="Título 1">
            <a:extLst>
              <a:ext uri="{FF2B5EF4-FFF2-40B4-BE49-F238E27FC236}">
                <a16:creationId xmlns:a16="http://schemas.microsoft.com/office/drawing/2014/main" id="{07ACDDB7-E128-9938-8F90-1B2F3CDBFF62}"/>
              </a:ext>
            </a:extLst>
          </p:cNvPr>
          <p:cNvSpPr>
            <a:spLocks noGrp="1"/>
          </p:cNvSpPr>
          <p:nvPr>
            <p:ph type="title"/>
          </p:nvPr>
        </p:nvSpPr>
        <p:spPr>
          <a:xfrm>
            <a:off x="576263" y="730250"/>
            <a:ext cx="11029950" cy="987425"/>
          </a:xfrm>
        </p:spPr>
        <p:txBody>
          <a:bodyPr vert="horz" lIns="91440" tIns="45720" rIns="91440" bIns="45720" rtlCol="0" anchor="b">
            <a:normAutofit/>
          </a:bodyPr>
          <a:lstStyle/>
          <a:p>
            <a:r>
              <a:rPr lang="es-ES" sz="2400">
                <a:solidFill>
                  <a:srgbClr val="FFFFFF"/>
                </a:solidFill>
                <a:latin typeface="Gill Sans MT" panose="020B0502020104020203" pitchFamily="34" charset="0"/>
              </a:rPr>
              <a:t>Dominios de aplicación del software</a:t>
            </a:r>
            <a:endParaRPr lang="es-AR" sz="2400">
              <a:solidFill>
                <a:srgbClr val="FFFFFF"/>
              </a:solidFill>
              <a:latin typeface="Gill Sans MT" panose="020B0502020104020203" pitchFamily="34" charset="0"/>
            </a:endParaRPr>
          </a:p>
        </p:txBody>
      </p:sp>
      <p:sp>
        <p:nvSpPr>
          <p:cNvPr id="2" name="Marcador de número de diapositiva 1">
            <a:extLst>
              <a:ext uri="{FF2B5EF4-FFF2-40B4-BE49-F238E27FC236}">
                <a16:creationId xmlns:a16="http://schemas.microsoft.com/office/drawing/2014/main" id="{6779E10A-0015-0CC9-769E-6B08FF13BB96}"/>
              </a:ext>
            </a:extLst>
          </p:cNvPr>
          <p:cNvSpPr>
            <a:spLocks noGrp="1"/>
          </p:cNvSpPr>
          <p:nvPr>
            <p:ph type="sldNum" sz="quarter" idx="12"/>
          </p:nvPr>
        </p:nvSpPr>
        <p:spPr/>
        <p:txBody>
          <a:bodyPr/>
          <a:lstStyle/>
          <a:p>
            <a:fld id="{0E40E506-8910-4A1D-9597-9E72BD293B97}" type="slidenum">
              <a:rPr lang="en-US" smtClean="0"/>
              <a:t>5</a:t>
            </a:fld>
            <a:endParaRPr lang="es-ES"/>
          </a:p>
        </p:txBody>
      </p:sp>
    </p:spTree>
    <p:extLst>
      <p:ext uri="{BB962C8B-B14F-4D97-AF65-F5344CB8AC3E}">
        <p14:creationId xmlns:p14="http://schemas.microsoft.com/office/powerpoint/2010/main" val="4027652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91B5468-9895-3BA1-C62D-2A9395C2DA65}"/>
              </a:ext>
            </a:extLst>
          </p:cNvPr>
          <p:cNvSpPr txBox="1"/>
          <p:nvPr/>
        </p:nvSpPr>
        <p:spPr>
          <a:xfrm>
            <a:off x="683581" y="2255720"/>
            <a:ext cx="10520039" cy="3500702"/>
          </a:xfrm>
          <a:prstGeom prst="rect">
            <a:avLst/>
          </a:prstGeom>
          <a:noFill/>
        </p:spPr>
        <p:txBody>
          <a:bodyPr wrap="square">
            <a:spAutoFit/>
          </a:bodyPr>
          <a:lstStyle/>
          <a:p>
            <a:pPr marL="228600" algn="just">
              <a:lnSpc>
                <a:spcPct val="150000"/>
              </a:lnSpc>
              <a:spcBef>
                <a:spcPct val="0"/>
              </a:spcBef>
              <a:spcAft>
                <a:spcPts val="600"/>
              </a:spcAft>
              <a:buClr>
                <a:schemeClr val="accent2"/>
              </a:buClr>
              <a:buSzPct val="92000"/>
            </a:pPr>
            <a:r>
              <a:rPr lang="es-ES" sz="2000" b="1">
                <a:solidFill>
                  <a:srgbClr val="1A3260"/>
                </a:solidFill>
                <a:latin typeface="Amasis MT Pro Medium" panose="02040604050005020304" pitchFamily="18" charset="0"/>
                <a:cs typeface="Times New Roman" panose="02020603050405020304" pitchFamily="18" charset="0"/>
              </a:rPr>
              <a:t>Software de línea de productos: </a:t>
            </a:r>
          </a:p>
          <a:p>
            <a:pPr marL="228600" algn="just">
              <a:lnSpc>
                <a:spcPct val="150000"/>
              </a:lnSpc>
              <a:spcBef>
                <a:spcPct val="0"/>
              </a:spcBef>
              <a:spcAft>
                <a:spcPts val="600"/>
              </a:spcAft>
              <a:buClr>
                <a:schemeClr val="accent2"/>
              </a:buClr>
              <a:buSzPct val="92000"/>
            </a:pPr>
            <a:r>
              <a:rPr lang="es-ES" sz="2000">
                <a:solidFill>
                  <a:srgbClr val="1A3260"/>
                </a:solidFill>
                <a:latin typeface="Amasis MT Pro Medium" panose="02040604050005020304" pitchFamily="18" charset="0"/>
                <a:cs typeface="Times New Roman" panose="02020603050405020304" pitchFamily="18" charset="0"/>
              </a:rPr>
              <a:t>Es diseñado para proporcionar una capacidad específica</a:t>
            </a:r>
          </a:p>
          <a:p>
            <a:pPr marL="228600" algn="just">
              <a:lnSpc>
                <a:spcPct val="150000"/>
              </a:lnSpc>
              <a:spcBef>
                <a:spcPct val="0"/>
              </a:spcBef>
              <a:spcAft>
                <a:spcPts val="600"/>
              </a:spcAft>
              <a:buClr>
                <a:schemeClr val="accent2"/>
              </a:buClr>
              <a:buSzPct val="92000"/>
            </a:pPr>
            <a:r>
              <a:rPr lang="es-ES" sz="2000">
                <a:solidFill>
                  <a:srgbClr val="1A3260"/>
                </a:solidFill>
                <a:latin typeface="Amasis MT Pro Medium" panose="02040604050005020304" pitchFamily="18" charset="0"/>
                <a:cs typeface="Times New Roman" panose="02020603050405020304" pitchFamily="18" charset="0"/>
              </a:rPr>
              <a:t>para uso de muchos consumidores diferentes. El software de línea de productos se</a:t>
            </a:r>
          </a:p>
          <a:p>
            <a:pPr marL="228600" algn="just">
              <a:lnSpc>
                <a:spcPct val="150000"/>
              </a:lnSpc>
              <a:spcBef>
                <a:spcPct val="0"/>
              </a:spcBef>
              <a:spcAft>
                <a:spcPts val="600"/>
              </a:spcAft>
              <a:buClr>
                <a:schemeClr val="accent2"/>
              </a:buClr>
              <a:buSzPct val="92000"/>
            </a:pPr>
            <a:r>
              <a:rPr lang="es-ES" sz="2000">
                <a:solidFill>
                  <a:srgbClr val="1A3260"/>
                </a:solidFill>
                <a:latin typeface="Amasis MT Pro Medium" panose="02040604050005020304" pitchFamily="18" charset="0"/>
                <a:cs typeface="Times New Roman" panose="02020603050405020304" pitchFamily="18" charset="0"/>
              </a:rPr>
              <a:t>centra en algún mercado limitado y particular (por ejemplo, control del inventario de productos) </a:t>
            </a:r>
            <a:r>
              <a:rPr lang="es-AR" sz="2000">
                <a:solidFill>
                  <a:srgbClr val="1A3260"/>
                </a:solidFill>
                <a:latin typeface="Amasis MT Pro Medium" panose="02040604050005020304" pitchFamily="18" charset="0"/>
                <a:cs typeface="Times New Roman" panose="02020603050405020304" pitchFamily="18" charset="0"/>
              </a:rPr>
              <a:t>o se dirige a mercados masivos de consumidores (procesamiento de textos, hojas de cálculo, gráficas por computadora, multimedios, entretenimiento, administración de </a:t>
            </a:r>
            <a:r>
              <a:rPr lang="es-ES" sz="2000">
                <a:solidFill>
                  <a:srgbClr val="1A3260"/>
                </a:solidFill>
                <a:latin typeface="Amasis MT Pro Medium" panose="02040604050005020304" pitchFamily="18" charset="0"/>
                <a:cs typeface="Times New Roman" panose="02020603050405020304" pitchFamily="18" charset="0"/>
              </a:rPr>
              <a:t>base de datos y aplicaciones para finanzas personales o de negocios).</a:t>
            </a:r>
            <a:endParaRPr lang="es-AR" sz="2000">
              <a:solidFill>
                <a:srgbClr val="1A3260"/>
              </a:solidFill>
              <a:latin typeface="Amasis MT Pro Medium" panose="02040604050005020304" pitchFamily="18" charset="0"/>
              <a:cs typeface="Times New Roman" panose="02020603050405020304" pitchFamily="18" charset="0"/>
            </a:endParaRPr>
          </a:p>
        </p:txBody>
      </p:sp>
      <p:sp>
        <p:nvSpPr>
          <p:cNvPr id="5" name="Título 1">
            <a:extLst>
              <a:ext uri="{FF2B5EF4-FFF2-40B4-BE49-F238E27FC236}">
                <a16:creationId xmlns:a16="http://schemas.microsoft.com/office/drawing/2014/main" id="{0F58728E-8F1A-5D90-FA77-BFC8A68BA32D}"/>
              </a:ext>
            </a:extLst>
          </p:cNvPr>
          <p:cNvSpPr>
            <a:spLocks noGrp="1"/>
          </p:cNvSpPr>
          <p:nvPr>
            <p:ph type="title"/>
          </p:nvPr>
        </p:nvSpPr>
        <p:spPr>
          <a:xfrm>
            <a:off x="576263" y="730250"/>
            <a:ext cx="11029950" cy="987425"/>
          </a:xfrm>
        </p:spPr>
        <p:txBody>
          <a:bodyPr vert="horz" lIns="91440" tIns="45720" rIns="91440" bIns="45720" rtlCol="0" anchor="b">
            <a:normAutofit/>
          </a:bodyPr>
          <a:lstStyle/>
          <a:p>
            <a:r>
              <a:rPr lang="es-ES" sz="2400">
                <a:solidFill>
                  <a:srgbClr val="FFFFFF"/>
                </a:solidFill>
                <a:latin typeface="Gill Sans MT" panose="020B0502020104020203" pitchFamily="34" charset="0"/>
              </a:rPr>
              <a:t>Dominios de aplicación del software</a:t>
            </a:r>
            <a:endParaRPr lang="es-AR" sz="2400">
              <a:solidFill>
                <a:srgbClr val="FFFFFF"/>
              </a:solidFill>
              <a:latin typeface="Gill Sans MT" panose="020B0502020104020203" pitchFamily="34" charset="0"/>
            </a:endParaRPr>
          </a:p>
        </p:txBody>
      </p:sp>
      <p:sp>
        <p:nvSpPr>
          <p:cNvPr id="2" name="Marcador de número de diapositiva 1">
            <a:extLst>
              <a:ext uri="{FF2B5EF4-FFF2-40B4-BE49-F238E27FC236}">
                <a16:creationId xmlns:a16="http://schemas.microsoft.com/office/drawing/2014/main" id="{CC836159-6186-990B-0CDE-014545D32605}"/>
              </a:ext>
            </a:extLst>
          </p:cNvPr>
          <p:cNvSpPr>
            <a:spLocks noGrp="1"/>
          </p:cNvSpPr>
          <p:nvPr>
            <p:ph type="sldNum" sz="quarter" idx="12"/>
          </p:nvPr>
        </p:nvSpPr>
        <p:spPr/>
        <p:txBody>
          <a:bodyPr/>
          <a:lstStyle/>
          <a:p>
            <a:fld id="{0E40E506-8910-4A1D-9597-9E72BD293B97}" type="slidenum">
              <a:rPr lang="en-US" smtClean="0"/>
              <a:t>6</a:t>
            </a:fld>
            <a:endParaRPr lang="es-ES"/>
          </a:p>
        </p:txBody>
      </p:sp>
    </p:spTree>
    <p:extLst>
      <p:ext uri="{BB962C8B-B14F-4D97-AF65-F5344CB8AC3E}">
        <p14:creationId xmlns:p14="http://schemas.microsoft.com/office/powerpoint/2010/main" val="3812934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82839AD-C085-47EB-69A3-9F5285FF1F2B}"/>
              </a:ext>
            </a:extLst>
          </p:cNvPr>
          <p:cNvSpPr txBox="1"/>
          <p:nvPr/>
        </p:nvSpPr>
        <p:spPr>
          <a:xfrm>
            <a:off x="550416" y="2253928"/>
            <a:ext cx="10440139" cy="4347087"/>
          </a:xfrm>
          <a:prstGeom prst="rect">
            <a:avLst/>
          </a:prstGeom>
          <a:noFill/>
        </p:spPr>
        <p:txBody>
          <a:bodyPr wrap="square">
            <a:spAutoFit/>
          </a:bodyPr>
          <a:lstStyle/>
          <a:p>
            <a:pPr marL="228600" algn="just">
              <a:lnSpc>
                <a:spcPct val="150000"/>
              </a:lnSpc>
              <a:spcBef>
                <a:spcPct val="0"/>
              </a:spcBef>
              <a:spcAft>
                <a:spcPts val="600"/>
              </a:spcAft>
              <a:buClr>
                <a:schemeClr val="accent2"/>
              </a:buClr>
              <a:buSzPct val="92000"/>
            </a:pPr>
            <a:r>
              <a:rPr lang="es-ES" sz="2000" b="1">
                <a:solidFill>
                  <a:srgbClr val="1A3260"/>
                </a:solidFill>
                <a:latin typeface="Amasis MT Pro Medium" panose="02040604050005020304" pitchFamily="18" charset="0"/>
                <a:cs typeface="Times New Roman" panose="02020603050405020304" pitchFamily="18" charset="0"/>
              </a:rPr>
              <a:t>Aplicaciones web: </a:t>
            </a:r>
          </a:p>
          <a:p>
            <a:pPr marL="228600" algn="just">
              <a:lnSpc>
                <a:spcPct val="150000"/>
              </a:lnSpc>
              <a:spcBef>
                <a:spcPct val="0"/>
              </a:spcBef>
              <a:spcAft>
                <a:spcPts val="600"/>
              </a:spcAft>
              <a:buClr>
                <a:schemeClr val="accent2"/>
              </a:buClr>
              <a:buSzPct val="92000"/>
            </a:pPr>
            <a:r>
              <a:rPr lang="es-ES" sz="2000">
                <a:solidFill>
                  <a:srgbClr val="1A3260"/>
                </a:solidFill>
                <a:latin typeface="Amasis MT Pro Medium" panose="02040604050005020304" pitchFamily="18" charset="0"/>
                <a:cs typeface="Times New Roman" panose="02020603050405020304" pitchFamily="18" charset="0"/>
              </a:rPr>
              <a:t>Llamadas “</a:t>
            </a:r>
            <a:r>
              <a:rPr lang="es-ES" sz="2000" err="1">
                <a:solidFill>
                  <a:srgbClr val="1A3260"/>
                </a:solidFill>
                <a:latin typeface="Amasis MT Pro Medium" panose="02040604050005020304" pitchFamily="18" charset="0"/>
                <a:cs typeface="Times New Roman" panose="02020603050405020304" pitchFamily="18" charset="0"/>
              </a:rPr>
              <a:t>Webapps</a:t>
            </a:r>
            <a:r>
              <a:rPr lang="es-ES" sz="2000">
                <a:solidFill>
                  <a:srgbClr val="1A3260"/>
                </a:solidFill>
                <a:latin typeface="Amasis MT Pro Medium" panose="02040604050005020304" pitchFamily="18" charset="0"/>
                <a:cs typeface="Times New Roman" panose="02020603050405020304" pitchFamily="18" charset="0"/>
              </a:rPr>
              <a:t>”, esta categoría de software centrado en redes agrupa una amplia gama de aplicaciones. </a:t>
            </a:r>
          </a:p>
          <a:p>
            <a:pPr marL="228600" algn="just">
              <a:lnSpc>
                <a:spcPct val="150000"/>
              </a:lnSpc>
              <a:spcBef>
                <a:spcPct val="0"/>
              </a:spcBef>
              <a:spcAft>
                <a:spcPts val="600"/>
              </a:spcAft>
              <a:buClr>
                <a:schemeClr val="accent2"/>
              </a:buClr>
              <a:buSzPct val="92000"/>
            </a:pPr>
            <a:r>
              <a:rPr lang="es-ES" sz="2000">
                <a:solidFill>
                  <a:srgbClr val="1A3260"/>
                </a:solidFill>
                <a:latin typeface="Amasis MT Pro Medium" panose="02040604050005020304" pitchFamily="18" charset="0"/>
                <a:cs typeface="Times New Roman" panose="02020603050405020304" pitchFamily="18" charset="0"/>
              </a:rPr>
              <a:t>En su forma más sencilla, las </a:t>
            </a:r>
            <a:r>
              <a:rPr lang="es-ES" sz="2000" err="1">
                <a:solidFill>
                  <a:srgbClr val="1A3260"/>
                </a:solidFill>
                <a:latin typeface="Amasis MT Pro Medium" panose="02040604050005020304" pitchFamily="18" charset="0"/>
                <a:cs typeface="Times New Roman" panose="02020603050405020304" pitchFamily="18" charset="0"/>
              </a:rPr>
              <a:t>Webapps</a:t>
            </a:r>
            <a:r>
              <a:rPr lang="es-ES" sz="2000">
                <a:solidFill>
                  <a:srgbClr val="1A3260"/>
                </a:solidFill>
                <a:latin typeface="Amasis MT Pro Medium" panose="02040604050005020304" pitchFamily="18" charset="0"/>
                <a:cs typeface="Times New Roman" panose="02020603050405020304" pitchFamily="18" charset="0"/>
              </a:rPr>
              <a:t> son poco más que un conjunto de archivos de hipertexto vinculados que presentan información con uso de texto y gráficas limitadas. Las </a:t>
            </a:r>
            <a:r>
              <a:rPr lang="es-ES" sz="2000" err="1">
                <a:solidFill>
                  <a:srgbClr val="1A3260"/>
                </a:solidFill>
                <a:latin typeface="Amasis MT Pro Medium" panose="02040604050005020304" pitchFamily="18" charset="0"/>
                <a:cs typeface="Times New Roman" panose="02020603050405020304" pitchFamily="18" charset="0"/>
              </a:rPr>
              <a:t>Webapps</a:t>
            </a:r>
            <a:r>
              <a:rPr lang="es-ES" sz="2000">
                <a:solidFill>
                  <a:srgbClr val="1A3260"/>
                </a:solidFill>
                <a:latin typeface="Amasis MT Pro Medium" panose="02040604050005020304" pitchFamily="18" charset="0"/>
                <a:cs typeface="Times New Roman" panose="02020603050405020304" pitchFamily="18" charset="0"/>
              </a:rPr>
              <a:t> están </a:t>
            </a:r>
            <a:r>
              <a:rPr lang="es-AR" sz="2000">
                <a:solidFill>
                  <a:srgbClr val="1A3260"/>
                </a:solidFill>
                <a:latin typeface="Amasis MT Pro Medium" panose="02040604050005020304" pitchFamily="18" charset="0"/>
                <a:cs typeface="Times New Roman" panose="02020603050405020304" pitchFamily="18" charset="0"/>
              </a:rPr>
              <a:t>evolucionando hacia ambientes de cómputo sofisticados que no sólo proveen características </a:t>
            </a:r>
            <a:r>
              <a:rPr lang="es-ES" sz="2000">
                <a:solidFill>
                  <a:srgbClr val="1A3260"/>
                </a:solidFill>
                <a:latin typeface="Amasis MT Pro Medium" panose="02040604050005020304" pitchFamily="18" charset="0"/>
                <a:cs typeface="Times New Roman" panose="02020603050405020304" pitchFamily="18" charset="0"/>
              </a:rPr>
              <a:t>aisladas, funciones de cómputo y contenido para el usuario final, sino que también están integradas con bases de datos corporativas y aplicaciones de negocios.</a:t>
            </a:r>
            <a:endParaRPr lang="es-AR" sz="2000">
              <a:solidFill>
                <a:srgbClr val="1A3260"/>
              </a:solidFill>
              <a:latin typeface="Amasis MT Pro Medium" panose="02040604050005020304" pitchFamily="18" charset="0"/>
              <a:cs typeface="Times New Roman" panose="02020603050405020304" pitchFamily="18" charset="0"/>
            </a:endParaRPr>
          </a:p>
        </p:txBody>
      </p:sp>
      <p:sp>
        <p:nvSpPr>
          <p:cNvPr id="5" name="Título 1">
            <a:extLst>
              <a:ext uri="{FF2B5EF4-FFF2-40B4-BE49-F238E27FC236}">
                <a16:creationId xmlns:a16="http://schemas.microsoft.com/office/drawing/2014/main" id="{8BEAA818-4D97-0CA1-A9D2-FE381483618D}"/>
              </a:ext>
            </a:extLst>
          </p:cNvPr>
          <p:cNvSpPr>
            <a:spLocks noGrp="1"/>
          </p:cNvSpPr>
          <p:nvPr>
            <p:ph type="title"/>
          </p:nvPr>
        </p:nvSpPr>
        <p:spPr>
          <a:xfrm>
            <a:off x="576263" y="730250"/>
            <a:ext cx="11029950" cy="987425"/>
          </a:xfrm>
        </p:spPr>
        <p:txBody>
          <a:bodyPr vert="horz" lIns="91440" tIns="45720" rIns="91440" bIns="45720" rtlCol="0" anchor="b">
            <a:normAutofit/>
          </a:bodyPr>
          <a:lstStyle/>
          <a:p>
            <a:r>
              <a:rPr lang="es-ES" sz="2400">
                <a:solidFill>
                  <a:srgbClr val="FFFFFF"/>
                </a:solidFill>
                <a:latin typeface="Gill Sans MT" panose="020B0502020104020203" pitchFamily="34" charset="0"/>
              </a:rPr>
              <a:t>Dominios de aplicación del software</a:t>
            </a:r>
            <a:endParaRPr lang="es-AR" sz="2400">
              <a:solidFill>
                <a:srgbClr val="FFFFFF"/>
              </a:solidFill>
              <a:latin typeface="Gill Sans MT" panose="020B0502020104020203" pitchFamily="34" charset="0"/>
            </a:endParaRPr>
          </a:p>
        </p:txBody>
      </p:sp>
      <p:sp>
        <p:nvSpPr>
          <p:cNvPr id="2" name="Marcador de número de diapositiva 1">
            <a:extLst>
              <a:ext uri="{FF2B5EF4-FFF2-40B4-BE49-F238E27FC236}">
                <a16:creationId xmlns:a16="http://schemas.microsoft.com/office/drawing/2014/main" id="{2148BDC7-6F20-06F1-F0E5-8270DC0167A4}"/>
              </a:ext>
            </a:extLst>
          </p:cNvPr>
          <p:cNvSpPr>
            <a:spLocks noGrp="1"/>
          </p:cNvSpPr>
          <p:nvPr>
            <p:ph type="sldNum" sz="quarter" idx="12"/>
          </p:nvPr>
        </p:nvSpPr>
        <p:spPr/>
        <p:txBody>
          <a:bodyPr/>
          <a:lstStyle/>
          <a:p>
            <a:fld id="{0E40E506-8910-4A1D-9597-9E72BD293B97}" type="slidenum">
              <a:rPr lang="en-US" smtClean="0"/>
              <a:t>7</a:t>
            </a:fld>
            <a:endParaRPr lang="es-ES"/>
          </a:p>
        </p:txBody>
      </p:sp>
    </p:spTree>
    <p:extLst>
      <p:ext uri="{BB962C8B-B14F-4D97-AF65-F5344CB8AC3E}">
        <p14:creationId xmlns:p14="http://schemas.microsoft.com/office/powerpoint/2010/main" val="1353444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6689EC1-0260-1344-70E2-EC7342B35850}"/>
              </a:ext>
            </a:extLst>
          </p:cNvPr>
          <p:cNvSpPr>
            <a:spLocks noGrp="1"/>
          </p:cNvSpPr>
          <p:nvPr>
            <p:ph type="sldNum" sz="quarter" idx="12"/>
          </p:nvPr>
        </p:nvSpPr>
        <p:spPr/>
        <p:txBody>
          <a:bodyPr/>
          <a:lstStyle/>
          <a:p>
            <a:fld id="{0E40E506-8910-4A1D-9597-9E72BD293B97}" type="slidenum">
              <a:rPr lang="en-US" smtClean="0"/>
              <a:t>8</a:t>
            </a:fld>
            <a:endParaRPr lang="en-US"/>
          </a:p>
        </p:txBody>
      </p:sp>
      <p:sp>
        <p:nvSpPr>
          <p:cNvPr id="3" name="Título 2">
            <a:extLst>
              <a:ext uri="{FF2B5EF4-FFF2-40B4-BE49-F238E27FC236}">
                <a16:creationId xmlns:a16="http://schemas.microsoft.com/office/drawing/2014/main" id="{A49EE9F7-103D-DC78-0558-661ADE3A4740}"/>
              </a:ext>
            </a:extLst>
          </p:cNvPr>
          <p:cNvSpPr>
            <a:spLocks noGrp="1"/>
          </p:cNvSpPr>
          <p:nvPr>
            <p:ph type="title"/>
          </p:nvPr>
        </p:nvSpPr>
        <p:spPr/>
        <p:txBody>
          <a:bodyPr/>
          <a:lstStyle/>
          <a:p>
            <a:r>
              <a:rPr lang="es-ES" sz="2400"/>
              <a:t>Dominios de aplicación del software</a:t>
            </a:r>
            <a:endParaRPr lang="es-ES"/>
          </a:p>
        </p:txBody>
      </p:sp>
      <p:graphicFrame>
        <p:nvGraphicFramePr>
          <p:cNvPr id="5" name="Tabla 4">
            <a:extLst>
              <a:ext uri="{FF2B5EF4-FFF2-40B4-BE49-F238E27FC236}">
                <a16:creationId xmlns:a16="http://schemas.microsoft.com/office/drawing/2014/main" id="{104713BA-AAF6-7740-67BA-6812EB8DD449}"/>
              </a:ext>
            </a:extLst>
          </p:cNvPr>
          <p:cNvGraphicFramePr>
            <a:graphicFrameLocks noGrp="1"/>
          </p:cNvGraphicFramePr>
          <p:nvPr>
            <p:extLst>
              <p:ext uri="{D42A27DB-BD31-4B8C-83A1-F6EECF244321}">
                <p14:modId xmlns:p14="http://schemas.microsoft.com/office/powerpoint/2010/main" val="1158795938"/>
              </p:ext>
            </p:extLst>
          </p:nvPr>
        </p:nvGraphicFramePr>
        <p:xfrm>
          <a:off x="689429" y="2014583"/>
          <a:ext cx="10910842" cy="4450080"/>
        </p:xfrm>
        <a:graphic>
          <a:graphicData uri="http://schemas.openxmlformats.org/drawingml/2006/table">
            <a:tbl>
              <a:tblPr bandRow="1">
                <a:tableStyleId>{5C22544A-7EE6-4342-B048-85BDC9FD1C3A}</a:tableStyleId>
              </a:tblPr>
              <a:tblGrid>
                <a:gridCol w="5455421">
                  <a:extLst>
                    <a:ext uri="{9D8B030D-6E8A-4147-A177-3AD203B41FA5}">
                      <a16:colId xmlns:a16="http://schemas.microsoft.com/office/drawing/2014/main" val="2178745453"/>
                    </a:ext>
                  </a:extLst>
                </a:gridCol>
                <a:gridCol w="5455421">
                  <a:extLst>
                    <a:ext uri="{9D8B030D-6E8A-4147-A177-3AD203B41FA5}">
                      <a16:colId xmlns:a16="http://schemas.microsoft.com/office/drawing/2014/main" val="3268802938"/>
                    </a:ext>
                  </a:extLst>
                </a:gridCol>
              </a:tblGrid>
              <a:tr h="301019">
                <a:tc>
                  <a:txBody>
                    <a:bodyPr/>
                    <a:lstStyle/>
                    <a:p>
                      <a:pPr>
                        <a:buNone/>
                      </a:pPr>
                      <a:r>
                        <a:rPr lang="es-ES" sz="1400" b="1">
                          <a:solidFill>
                            <a:schemeClr val="accent1"/>
                          </a:solidFill>
                        </a:rPr>
                        <a:t>Dominio de aplicación</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b="1">
                          <a:solidFill>
                            <a:schemeClr val="accent1"/>
                          </a:solidFill>
                        </a:rPr>
                        <a:t>Ejemplo</a:t>
                      </a:r>
                      <a:endParaRPr lang="es-ES" sz="1400">
                        <a:solidFill>
                          <a:schemeClr val="accent1"/>
                        </a:solidFill>
                      </a:endParaRPr>
                    </a:p>
                  </a:txBody>
                  <a:tcPr anchor="ctr">
                    <a:lnL>
                      <a:noFill/>
                    </a:lnL>
                    <a:lnR>
                      <a:noFill/>
                    </a:lnR>
                    <a:lnT>
                      <a:noFill/>
                    </a:lnT>
                    <a:lnB>
                      <a:noFill/>
                    </a:lnB>
                    <a:noFill/>
                  </a:tcPr>
                </a:tc>
                <a:extLst>
                  <a:ext uri="{0D108BD9-81ED-4DB2-BD59-A6C34878D82A}">
                    <a16:rowId xmlns:a16="http://schemas.microsoft.com/office/drawing/2014/main" val="3486106541"/>
                  </a:ext>
                </a:extLst>
              </a:tr>
              <a:tr h="508619">
                <a:tc>
                  <a:txBody>
                    <a:bodyPr/>
                    <a:lstStyle/>
                    <a:p>
                      <a:pPr>
                        <a:buNone/>
                      </a:pPr>
                      <a:r>
                        <a:rPr lang="es-ES" sz="1400" b="1">
                          <a:solidFill>
                            <a:schemeClr val="accent1"/>
                          </a:solidFill>
                        </a:rPr>
                        <a:t>Software de sistemas</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a:solidFill>
                            <a:schemeClr val="accent1"/>
                          </a:solidFill>
                        </a:rPr>
                        <a:t>Sistema operativo </a:t>
                      </a:r>
                      <a:r>
                        <a:rPr lang="es-ES" sz="1400" b="1">
                          <a:solidFill>
                            <a:schemeClr val="accent1"/>
                          </a:solidFill>
                        </a:rPr>
                        <a:t>Windows</a:t>
                      </a:r>
                      <a:r>
                        <a:rPr lang="es-ES" sz="1400">
                          <a:solidFill>
                            <a:schemeClr val="accent1"/>
                          </a:solidFill>
                        </a:rPr>
                        <a:t>, </a:t>
                      </a:r>
                      <a:r>
                        <a:rPr lang="es-ES" sz="1400" b="1">
                          <a:solidFill>
                            <a:schemeClr val="accent1"/>
                          </a:solidFill>
                        </a:rPr>
                        <a:t>Linux</a:t>
                      </a:r>
                      <a:r>
                        <a:rPr lang="es-ES" sz="1400">
                          <a:solidFill>
                            <a:schemeClr val="accent1"/>
                          </a:solidFill>
                        </a:rPr>
                        <a:t> o controladores de dispositivos que administran los recursos de una computadora.</a:t>
                      </a:r>
                    </a:p>
                  </a:txBody>
                  <a:tcPr anchor="ctr">
                    <a:lnL>
                      <a:noFill/>
                    </a:lnL>
                    <a:lnR>
                      <a:noFill/>
                    </a:lnR>
                    <a:lnT>
                      <a:noFill/>
                    </a:lnT>
                    <a:lnB>
                      <a:noFill/>
                    </a:lnB>
                    <a:noFill/>
                  </a:tcPr>
                </a:tc>
                <a:extLst>
                  <a:ext uri="{0D108BD9-81ED-4DB2-BD59-A6C34878D82A}">
                    <a16:rowId xmlns:a16="http://schemas.microsoft.com/office/drawing/2014/main" val="1538842780"/>
                  </a:ext>
                </a:extLst>
              </a:tr>
              <a:tr h="508619">
                <a:tc>
                  <a:txBody>
                    <a:bodyPr/>
                    <a:lstStyle/>
                    <a:p>
                      <a:pPr>
                        <a:buNone/>
                      </a:pPr>
                      <a:r>
                        <a:rPr lang="es-ES" sz="1400" b="1">
                          <a:solidFill>
                            <a:schemeClr val="accent1"/>
                          </a:solidFill>
                        </a:rPr>
                        <a:t>Software de aplicación</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a:solidFill>
                            <a:schemeClr val="accent1"/>
                          </a:solidFill>
                        </a:rPr>
                        <a:t>Un sistema de gestión académica de una universidad o una aplicación de banca electrónica utilizada por los clientes.</a:t>
                      </a:r>
                    </a:p>
                  </a:txBody>
                  <a:tcPr anchor="ctr">
                    <a:lnL>
                      <a:noFill/>
                    </a:lnL>
                    <a:lnR>
                      <a:noFill/>
                    </a:lnR>
                    <a:lnT>
                      <a:noFill/>
                    </a:lnT>
                    <a:lnB>
                      <a:noFill/>
                    </a:lnB>
                    <a:noFill/>
                  </a:tcPr>
                </a:tc>
                <a:extLst>
                  <a:ext uri="{0D108BD9-81ED-4DB2-BD59-A6C34878D82A}">
                    <a16:rowId xmlns:a16="http://schemas.microsoft.com/office/drawing/2014/main" val="1860875042"/>
                  </a:ext>
                </a:extLst>
              </a:tr>
              <a:tr h="508619">
                <a:tc>
                  <a:txBody>
                    <a:bodyPr/>
                    <a:lstStyle/>
                    <a:p>
                      <a:pPr>
                        <a:buNone/>
                      </a:pPr>
                      <a:r>
                        <a:rPr lang="es-ES" sz="1400" b="1">
                          <a:solidFill>
                            <a:schemeClr val="accent1"/>
                          </a:solidFill>
                        </a:rPr>
                        <a:t>Software de ingeniería y científico</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a:solidFill>
                            <a:schemeClr val="accent1"/>
                          </a:solidFill>
                        </a:rPr>
                        <a:t>Un programa que simula el comportamiento de un puente antes de su construcción o calcula pronósticos meteorológicos.</a:t>
                      </a:r>
                    </a:p>
                  </a:txBody>
                  <a:tcPr anchor="ctr">
                    <a:lnL>
                      <a:noFill/>
                    </a:lnL>
                    <a:lnR>
                      <a:noFill/>
                    </a:lnR>
                    <a:lnT>
                      <a:noFill/>
                    </a:lnT>
                    <a:lnB>
                      <a:noFill/>
                    </a:lnB>
                    <a:noFill/>
                  </a:tcPr>
                </a:tc>
                <a:extLst>
                  <a:ext uri="{0D108BD9-81ED-4DB2-BD59-A6C34878D82A}">
                    <a16:rowId xmlns:a16="http://schemas.microsoft.com/office/drawing/2014/main" val="2294223058"/>
                  </a:ext>
                </a:extLst>
              </a:tr>
              <a:tr h="508619">
                <a:tc>
                  <a:txBody>
                    <a:bodyPr/>
                    <a:lstStyle/>
                    <a:p>
                      <a:pPr>
                        <a:buNone/>
                      </a:pPr>
                      <a:r>
                        <a:rPr lang="es-ES" sz="1400" b="1">
                          <a:solidFill>
                            <a:schemeClr val="accent1"/>
                          </a:solidFill>
                        </a:rPr>
                        <a:t>Software embebido (empotrado)</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a:solidFill>
                            <a:schemeClr val="accent1"/>
                          </a:solidFill>
                        </a:rPr>
                        <a:t>El software que controla el funcionamiento de un automóvil, un cajero automático o un horno microondas.</a:t>
                      </a:r>
                    </a:p>
                  </a:txBody>
                  <a:tcPr anchor="ctr">
                    <a:lnL>
                      <a:noFill/>
                    </a:lnL>
                    <a:lnR>
                      <a:noFill/>
                    </a:lnR>
                    <a:lnT>
                      <a:noFill/>
                    </a:lnT>
                    <a:lnB>
                      <a:noFill/>
                    </a:lnB>
                    <a:noFill/>
                  </a:tcPr>
                </a:tc>
                <a:extLst>
                  <a:ext uri="{0D108BD9-81ED-4DB2-BD59-A6C34878D82A}">
                    <a16:rowId xmlns:a16="http://schemas.microsoft.com/office/drawing/2014/main" val="1117647267"/>
                  </a:ext>
                </a:extLst>
              </a:tr>
              <a:tr h="508619">
                <a:tc>
                  <a:txBody>
                    <a:bodyPr/>
                    <a:lstStyle/>
                    <a:p>
                      <a:pPr>
                        <a:buNone/>
                      </a:pPr>
                      <a:r>
                        <a:rPr lang="es-ES" sz="1400" b="1">
                          <a:solidFill>
                            <a:schemeClr val="accent1"/>
                          </a:solidFill>
                        </a:rPr>
                        <a:t>Software para inteligencia artificial</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a:solidFill>
                            <a:schemeClr val="accent1"/>
                          </a:solidFill>
                        </a:rPr>
                        <a:t>Un asistente virtual como </a:t>
                      </a:r>
                      <a:r>
                        <a:rPr lang="es-ES" sz="1400" err="1">
                          <a:solidFill>
                            <a:schemeClr val="accent1"/>
                          </a:solidFill>
                        </a:rPr>
                        <a:t>ChatGPT</a:t>
                      </a:r>
                      <a:r>
                        <a:rPr lang="es-ES" sz="1400">
                          <a:solidFill>
                            <a:schemeClr val="accent1"/>
                          </a:solidFill>
                        </a:rPr>
                        <a:t>, un sistema de reconocimiento facial o un </a:t>
                      </a:r>
                      <a:r>
                        <a:rPr lang="es-ES" sz="1400" err="1">
                          <a:solidFill>
                            <a:schemeClr val="accent1"/>
                          </a:solidFill>
                        </a:rPr>
                        <a:t>recomendador</a:t>
                      </a:r>
                      <a:r>
                        <a:rPr lang="es-ES" sz="1400">
                          <a:solidFill>
                            <a:schemeClr val="accent1"/>
                          </a:solidFill>
                        </a:rPr>
                        <a:t> de películas en una plataforma de streaming.</a:t>
                      </a:r>
                    </a:p>
                  </a:txBody>
                  <a:tcPr anchor="ctr">
                    <a:lnL>
                      <a:noFill/>
                    </a:lnL>
                    <a:lnR>
                      <a:noFill/>
                    </a:lnR>
                    <a:lnT>
                      <a:noFill/>
                    </a:lnT>
                    <a:lnB>
                      <a:noFill/>
                    </a:lnB>
                    <a:noFill/>
                  </a:tcPr>
                </a:tc>
                <a:extLst>
                  <a:ext uri="{0D108BD9-81ED-4DB2-BD59-A6C34878D82A}">
                    <a16:rowId xmlns:a16="http://schemas.microsoft.com/office/drawing/2014/main" val="419598483"/>
                  </a:ext>
                </a:extLst>
              </a:tr>
              <a:tr h="508619">
                <a:tc>
                  <a:txBody>
                    <a:bodyPr/>
                    <a:lstStyle/>
                    <a:p>
                      <a:pPr>
                        <a:buNone/>
                      </a:pPr>
                      <a:r>
                        <a:rPr lang="es-ES" sz="1400" b="1">
                          <a:solidFill>
                            <a:schemeClr val="accent1"/>
                          </a:solidFill>
                        </a:rPr>
                        <a:t>Software para la Web</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a:solidFill>
                            <a:schemeClr val="accent1"/>
                          </a:solidFill>
                        </a:rPr>
                        <a:t>Un sitio de comercio electrónico como una tienda online o un sistema de gestión de cursos virtuales (Moodle).</a:t>
                      </a:r>
                    </a:p>
                  </a:txBody>
                  <a:tcPr anchor="ctr">
                    <a:lnL>
                      <a:noFill/>
                    </a:lnL>
                    <a:lnR>
                      <a:noFill/>
                    </a:lnR>
                    <a:lnT>
                      <a:noFill/>
                    </a:lnT>
                    <a:lnB>
                      <a:noFill/>
                    </a:lnB>
                    <a:noFill/>
                  </a:tcPr>
                </a:tc>
                <a:extLst>
                  <a:ext uri="{0D108BD9-81ED-4DB2-BD59-A6C34878D82A}">
                    <a16:rowId xmlns:a16="http://schemas.microsoft.com/office/drawing/2014/main" val="1368249073"/>
                  </a:ext>
                </a:extLst>
              </a:tr>
              <a:tr h="508619">
                <a:tc>
                  <a:txBody>
                    <a:bodyPr/>
                    <a:lstStyle/>
                    <a:p>
                      <a:pPr>
                        <a:buNone/>
                      </a:pPr>
                      <a:r>
                        <a:rPr lang="es-ES" sz="1400" b="1">
                          <a:solidFill>
                            <a:schemeClr val="accent1"/>
                          </a:solidFill>
                        </a:rPr>
                        <a:t>Software móvil</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a:solidFill>
                            <a:schemeClr val="accent1"/>
                          </a:solidFill>
                        </a:rPr>
                        <a:t>Aplicaciones para teléfonos inteligentes como WhatsApp, Mercado Pago o Google </a:t>
                      </a:r>
                      <a:r>
                        <a:rPr lang="es-ES" sz="1400" err="1">
                          <a:solidFill>
                            <a:schemeClr val="accent1"/>
                          </a:solidFill>
                        </a:rPr>
                        <a:t>Maps</a:t>
                      </a:r>
                      <a:r>
                        <a:rPr lang="es-ES" sz="1400">
                          <a:solidFill>
                            <a:schemeClr val="accent1"/>
                          </a:solidFill>
                        </a:rPr>
                        <a:t>.</a:t>
                      </a:r>
                    </a:p>
                  </a:txBody>
                  <a:tcPr anchor="ctr">
                    <a:lnL>
                      <a:noFill/>
                    </a:lnL>
                    <a:lnR>
                      <a:noFill/>
                    </a:lnR>
                    <a:lnT>
                      <a:noFill/>
                    </a:lnT>
                    <a:lnB>
                      <a:noFill/>
                    </a:lnB>
                    <a:noFill/>
                  </a:tcPr>
                </a:tc>
                <a:extLst>
                  <a:ext uri="{0D108BD9-81ED-4DB2-BD59-A6C34878D82A}">
                    <a16:rowId xmlns:a16="http://schemas.microsoft.com/office/drawing/2014/main" val="3057618313"/>
                  </a:ext>
                </a:extLst>
              </a:tr>
              <a:tr h="508619">
                <a:tc>
                  <a:txBody>
                    <a:bodyPr/>
                    <a:lstStyle/>
                    <a:p>
                      <a:pPr>
                        <a:buNone/>
                      </a:pPr>
                      <a:r>
                        <a:rPr lang="es-ES" sz="1400" b="1">
                          <a:solidFill>
                            <a:schemeClr val="accent1"/>
                          </a:solidFill>
                        </a:rPr>
                        <a:t>Software empresarial</a:t>
                      </a:r>
                      <a:endParaRPr lang="es-ES" sz="1400">
                        <a:solidFill>
                          <a:schemeClr val="accent1"/>
                        </a:solidFill>
                      </a:endParaRPr>
                    </a:p>
                  </a:txBody>
                  <a:tcPr anchor="ctr">
                    <a:lnL>
                      <a:noFill/>
                    </a:lnL>
                    <a:lnR>
                      <a:noFill/>
                    </a:lnR>
                    <a:lnT>
                      <a:noFill/>
                    </a:lnT>
                    <a:lnB>
                      <a:noFill/>
                    </a:lnB>
                    <a:noFill/>
                  </a:tcPr>
                </a:tc>
                <a:tc>
                  <a:txBody>
                    <a:bodyPr/>
                    <a:lstStyle/>
                    <a:p>
                      <a:pPr>
                        <a:buNone/>
                      </a:pPr>
                      <a:r>
                        <a:rPr lang="es-ES" sz="1400">
                          <a:solidFill>
                            <a:schemeClr val="accent1"/>
                          </a:solidFill>
                        </a:rPr>
                        <a:t>Un sistema ERP que integra compras, ventas, recursos humanos y contabilidad de una organización.</a:t>
                      </a:r>
                    </a:p>
                  </a:txBody>
                  <a:tcPr anchor="ctr">
                    <a:lnL>
                      <a:noFill/>
                    </a:lnL>
                    <a:lnR>
                      <a:noFill/>
                    </a:lnR>
                    <a:lnT>
                      <a:noFill/>
                    </a:lnT>
                    <a:lnB>
                      <a:noFill/>
                    </a:lnB>
                    <a:noFill/>
                  </a:tcPr>
                </a:tc>
                <a:extLst>
                  <a:ext uri="{0D108BD9-81ED-4DB2-BD59-A6C34878D82A}">
                    <a16:rowId xmlns:a16="http://schemas.microsoft.com/office/drawing/2014/main" val="689583757"/>
                  </a:ext>
                </a:extLst>
              </a:tr>
            </a:tbl>
          </a:graphicData>
        </a:graphic>
      </p:graphicFrame>
    </p:spTree>
    <p:extLst>
      <p:ext uri="{BB962C8B-B14F-4D97-AF65-F5344CB8AC3E}">
        <p14:creationId xmlns:p14="http://schemas.microsoft.com/office/powerpoint/2010/main" val="3577551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4BF7ED9B-8E28-E4F0-8436-653CB0B93E36}"/>
              </a:ext>
            </a:extLst>
          </p:cNvPr>
          <p:cNvSpPr>
            <a:spLocks noChangeArrowheads="1"/>
          </p:cNvSpPr>
          <p:nvPr/>
        </p:nvSpPr>
        <p:spPr bwMode="auto">
          <a:xfrm>
            <a:off x="853725" y="1898447"/>
            <a:ext cx="10489823" cy="451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marL="274638" indent="-274638"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15000"/>
              </a:lnSpc>
              <a:buSzPct val="60000"/>
              <a:buFont typeface="Wingdings" panose="05000000000000000000" pitchFamily="2" charset="2"/>
              <a:buNone/>
            </a:pPr>
            <a:endParaRPr lang="es-ES_tradnl" altLang="es-AR" sz="2800">
              <a:solidFill>
                <a:srgbClr val="1A3260"/>
              </a:solidFill>
              <a:latin typeface="Tahoma" panose="020B0604030504040204" pitchFamily="34" charset="0"/>
            </a:endParaRPr>
          </a:p>
          <a:p>
            <a:pPr marL="0" indent="0" algn="ctr">
              <a:lnSpc>
                <a:spcPct val="115000"/>
              </a:lnSpc>
              <a:buSzPct val="60000"/>
            </a:pPr>
            <a:r>
              <a:rPr lang="es-ES_tradnl" altLang="es-AR" sz="2800">
                <a:solidFill>
                  <a:srgbClr val="1A3260"/>
                </a:solidFill>
                <a:latin typeface="Amasis MT Pro Medium" panose="02040604050005020304" pitchFamily="18" charset="0"/>
                <a:cs typeface="Times New Roman" panose="02020603050405020304" pitchFamily="18" charset="0"/>
              </a:rPr>
              <a:t>Las empresas, en primer lugar, dejarán de escribir  aplicaciones, van a comprar paquetes para correr en ambientes cliente servidor.</a:t>
            </a:r>
          </a:p>
          <a:p>
            <a:pPr marL="0" indent="0" algn="ctr">
              <a:lnSpc>
                <a:spcPct val="115000"/>
              </a:lnSpc>
              <a:buSzPct val="60000"/>
            </a:pPr>
            <a:endParaRPr lang="es-ES_tradnl" altLang="es-AR" sz="2800">
              <a:solidFill>
                <a:srgbClr val="1A3260"/>
              </a:solidFill>
              <a:latin typeface="Amasis MT Pro Medium" panose="02040604050005020304" pitchFamily="18" charset="0"/>
              <a:cs typeface="Times New Roman" panose="02020603050405020304" pitchFamily="18" charset="0"/>
            </a:endParaRPr>
          </a:p>
          <a:p>
            <a:pPr marL="0" indent="0" algn="ctr">
              <a:lnSpc>
                <a:spcPct val="115000"/>
              </a:lnSpc>
              <a:buSzPct val="60000"/>
            </a:pPr>
            <a:r>
              <a:rPr lang="es-ES_tradnl" altLang="es-AR" sz="2800">
                <a:solidFill>
                  <a:srgbClr val="1A3260"/>
                </a:solidFill>
                <a:latin typeface="Amasis MT Pro Medium" panose="02040604050005020304" pitchFamily="18" charset="0"/>
                <a:cs typeface="Times New Roman" panose="02020603050405020304" pitchFamily="18" charset="0"/>
              </a:rPr>
              <a:t>En segundo lugar, van a usar internet.</a:t>
            </a:r>
          </a:p>
          <a:p>
            <a:pPr marL="0" indent="0" algn="ctr">
              <a:lnSpc>
                <a:spcPct val="115000"/>
              </a:lnSpc>
              <a:buSzPct val="60000"/>
            </a:pPr>
            <a:endParaRPr lang="es-ES_tradnl" altLang="es-AR" sz="2800">
              <a:solidFill>
                <a:srgbClr val="1A3260"/>
              </a:solidFill>
              <a:latin typeface="Amasis MT Pro Medium" panose="02040604050005020304" pitchFamily="18" charset="0"/>
              <a:cs typeface="Times New Roman" panose="02020603050405020304" pitchFamily="18" charset="0"/>
            </a:endParaRPr>
          </a:p>
          <a:p>
            <a:pPr marL="0" indent="0" algn="ctr">
              <a:lnSpc>
                <a:spcPct val="115000"/>
              </a:lnSpc>
              <a:buSzPct val="60000"/>
            </a:pPr>
            <a:r>
              <a:rPr lang="es-ES_tradnl" altLang="es-AR" sz="2800">
                <a:solidFill>
                  <a:srgbClr val="1A3260"/>
                </a:solidFill>
                <a:latin typeface="Amasis MT Pro Medium" panose="02040604050005020304" pitchFamily="18" charset="0"/>
                <a:cs typeface="Times New Roman" panose="02020603050405020304" pitchFamily="18" charset="0"/>
              </a:rPr>
              <a:t>Por último, van a construir grandes </a:t>
            </a:r>
            <a:r>
              <a:rPr lang="es-ES_tradnl" altLang="es-AR" sz="2800" err="1">
                <a:solidFill>
                  <a:srgbClr val="1A3260"/>
                </a:solidFill>
                <a:latin typeface="Amasis MT Pro Medium" panose="02040604050005020304" pitchFamily="18" charset="0"/>
                <a:cs typeface="Times New Roman" panose="02020603050405020304" pitchFamily="18" charset="0"/>
              </a:rPr>
              <a:t>datawarehouses</a:t>
            </a:r>
            <a:r>
              <a:rPr lang="es-ES_tradnl" altLang="es-AR" sz="2800">
                <a:solidFill>
                  <a:srgbClr val="1A3260"/>
                </a:solidFill>
                <a:latin typeface="Amasis MT Pro Medium" panose="02040604050005020304" pitchFamily="18" charset="0"/>
                <a:cs typeface="Times New Roman" panose="02020603050405020304" pitchFamily="18" charset="0"/>
              </a:rPr>
              <a:t>. </a:t>
            </a:r>
          </a:p>
          <a:p>
            <a:pPr marL="0" indent="0" algn="ctr">
              <a:lnSpc>
                <a:spcPct val="115000"/>
              </a:lnSpc>
              <a:buSzPct val="60000"/>
            </a:pPr>
            <a:endParaRPr lang="es-ES_tradnl" altLang="es-AR" sz="2800">
              <a:solidFill>
                <a:srgbClr val="1A3260"/>
              </a:solidFill>
              <a:latin typeface="Amasis MT Pro Medium" panose="02040604050005020304" pitchFamily="18" charset="0"/>
              <a:cs typeface="Times New Roman" panose="02020603050405020304" pitchFamily="18" charset="0"/>
            </a:endParaRPr>
          </a:p>
        </p:txBody>
      </p:sp>
      <p:sp>
        <p:nvSpPr>
          <p:cNvPr id="3" name="Título 1">
            <a:extLst>
              <a:ext uri="{FF2B5EF4-FFF2-40B4-BE49-F238E27FC236}">
                <a16:creationId xmlns:a16="http://schemas.microsoft.com/office/drawing/2014/main" id="{CE90AB85-28CF-8273-59AA-8CF3400BED81}"/>
              </a:ext>
            </a:extLst>
          </p:cNvPr>
          <p:cNvSpPr txBox="1">
            <a:spLocks/>
          </p:cNvSpPr>
          <p:nvPr/>
        </p:nvSpPr>
        <p:spPr>
          <a:xfrm>
            <a:off x="575894" y="729658"/>
            <a:ext cx="11029616" cy="988332"/>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2400">
                <a:solidFill>
                  <a:srgbClr val="FFFFFF"/>
                </a:solidFill>
                <a:latin typeface="Gill Sans MT" panose="020B0502020104020203" pitchFamily="34" charset="0"/>
              </a:rPr>
              <a:t>Dominios de aplicación del software   -</a:t>
            </a:r>
            <a:r>
              <a:rPr lang="es-ES_tradnl" altLang="es-AR" sz="2400">
                <a:solidFill>
                  <a:srgbClr val="FFFFFF"/>
                </a:solidFill>
                <a:latin typeface="Gill Sans MT" panose="020B0502020104020203" pitchFamily="34" charset="0"/>
              </a:rPr>
              <a:t>Visión- </a:t>
            </a:r>
            <a:endParaRPr lang="es-AR" sz="2400">
              <a:solidFill>
                <a:srgbClr val="FFFFFF"/>
              </a:solidFill>
              <a:latin typeface="Gill Sans MT" panose="020B0502020104020203" pitchFamily="34" charset="0"/>
            </a:endParaRPr>
          </a:p>
        </p:txBody>
      </p:sp>
      <p:sp>
        <p:nvSpPr>
          <p:cNvPr id="2" name="Marcador de número de diapositiva 1">
            <a:extLst>
              <a:ext uri="{FF2B5EF4-FFF2-40B4-BE49-F238E27FC236}">
                <a16:creationId xmlns:a16="http://schemas.microsoft.com/office/drawing/2014/main" id="{B0B660C8-2076-F7E2-7607-78967DFAA37D}"/>
              </a:ext>
            </a:extLst>
          </p:cNvPr>
          <p:cNvSpPr>
            <a:spLocks noGrp="1"/>
          </p:cNvSpPr>
          <p:nvPr>
            <p:ph type="sldNum" sz="quarter" idx="12"/>
          </p:nvPr>
        </p:nvSpPr>
        <p:spPr/>
        <p:txBody>
          <a:bodyPr/>
          <a:lstStyle/>
          <a:p>
            <a:fld id="{0E40E506-8910-4A1D-9597-9E72BD293B97}" type="slidenum">
              <a:rPr lang="en-US" smtClean="0"/>
              <a:t>9</a:t>
            </a:fld>
            <a:endParaRPr lang="es-E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0D2569-30ED-8B44-E11B-BA82E7DC9D4F}"/>
              </a:ext>
            </a:extLst>
          </p:cNvPr>
          <p:cNvSpPr>
            <a:spLocks noGrp="1"/>
          </p:cNvSpPr>
          <p:nvPr>
            <p:ph type="title"/>
          </p:nvPr>
        </p:nvSpPr>
        <p:spPr/>
        <p:txBody>
          <a:bodyPr/>
          <a:lstStyle/>
          <a:p>
            <a:r>
              <a:rPr lang="es-ES" sz="2400"/>
              <a:t>Dominios de aplicación del software -Visión- </a:t>
            </a:r>
            <a:endParaRPr lang="es-ES"/>
          </a:p>
        </p:txBody>
      </p:sp>
      <p:sp>
        <p:nvSpPr>
          <p:cNvPr id="4" name="CuadroTexto 3">
            <a:extLst>
              <a:ext uri="{FF2B5EF4-FFF2-40B4-BE49-F238E27FC236}">
                <a16:creationId xmlns:a16="http://schemas.microsoft.com/office/drawing/2014/main" id="{CA04255E-2430-98D5-7DE4-1CF5AFEAB004}"/>
              </a:ext>
            </a:extLst>
          </p:cNvPr>
          <p:cNvSpPr txBox="1"/>
          <p:nvPr/>
        </p:nvSpPr>
        <p:spPr>
          <a:xfrm>
            <a:off x="1544715" y="2880738"/>
            <a:ext cx="9126243" cy="2246769"/>
          </a:xfrm>
          <a:prstGeom prst="rect">
            <a:avLst/>
          </a:prstGeom>
          <a:noFill/>
        </p:spPr>
        <p:txBody>
          <a:bodyPr wrap="square">
            <a:spAutoFit/>
          </a:bodyPr>
          <a:lstStyle/>
          <a:p>
            <a:pPr algn="ctr"/>
            <a:r>
              <a:rPr lang="es-ES_tradnl" altLang="es-AR" sz="1800">
                <a:solidFill>
                  <a:srgbClr val="1A3260"/>
                </a:solidFill>
                <a:latin typeface="Amasis MT Pro Medium" panose="02040604050005020304" pitchFamily="18" charset="0"/>
                <a:cs typeface="Times New Roman" panose="02020603050405020304" pitchFamily="18" charset="0"/>
              </a:rPr>
              <a:t>Estrategia, </a:t>
            </a:r>
          </a:p>
          <a:p>
            <a:pPr algn="ctr"/>
            <a:endParaRPr lang="es-ES_tradnl" altLang="es-AR" sz="1800">
              <a:solidFill>
                <a:srgbClr val="1A3260"/>
              </a:solidFill>
              <a:latin typeface="Amasis MT Pro Medium" panose="02040604050005020304" pitchFamily="18" charset="0"/>
              <a:cs typeface="Times New Roman" panose="02020603050405020304" pitchFamily="18" charset="0"/>
            </a:endParaRPr>
          </a:p>
          <a:p>
            <a:pPr algn="ctr"/>
            <a:r>
              <a:rPr lang="es-ES_tradnl" altLang="es-AR" sz="1800">
                <a:solidFill>
                  <a:srgbClr val="1A3260"/>
                </a:solidFill>
                <a:latin typeface="Amasis MT Pro Medium" panose="02040604050005020304" pitchFamily="18" charset="0"/>
                <a:cs typeface="Times New Roman" panose="02020603050405020304" pitchFamily="18" charset="0"/>
              </a:rPr>
              <a:t>Software = se pueden copiar</a:t>
            </a:r>
          </a:p>
          <a:p>
            <a:endParaRPr lang="es-ES_tradnl" altLang="es-AR" sz="1800">
              <a:solidFill>
                <a:srgbClr val="1A3260"/>
              </a:solidFill>
              <a:latin typeface="Amasis MT Pro Medium" panose="02040604050005020304" pitchFamily="18" charset="0"/>
              <a:cs typeface="Times New Roman" panose="02020603050405020304" pitchFamily="18" charset="0"/>
            </a:endParaRPr>
          </a:p>
          <a:p>
            <a:r>
              <a:rPr lang="es-ES_tradnl" altLang="es-AR" sz="1800">
                <a:solidFill>
                  <a:srgbClr val="1A3260"/>
                </a:solidFill>
                <a:latin typeface="Amasis MT Pro Medium" panose="02040604050005020304" pitchFamily="18" charset="0"/>
                <a:cs typeface="Times New Roman" panose="02020603050405020304" pitchFamily="18" charset="0"/>
              </a:rPr>
              <a:t>					Producto malo + buena tecnología = buen producto</a:t>
            </a:r>
          </a:p>
          <a:p>
            <a:endParaRPr lang="es-ES_tradnl" altLang="es-AR" sz="1800">
              <a:solidFill>
                <a:srgbClr val="1A3260"/>
              </a:solidFill>
              <a:latin typeface="Amasis MT Pro Medium" panose="02040604050005020304" pitchFamily="18" charset="0"/>
              <a:cs typeface="Times New Roman" panose="02020603050405020304" pitchFamily="18" charset="0"/>
            </a:endParaRPr>
          </a:p>
          <a:p>
            <a:pPr algn="ctr"/>
            <a:r>
              <a:rPr lang="es-ES_tradnl" altLang="es-AR" sz="3200">
                <a:solidFill>
                  <a:srgbClr val="1A3260"/>
                </a:solidFill>
                <a:latin typeface="Amasis MT Pro Medium" panose="02040604050005020304" pitchFamily="18" charset="0"/>
                <a:cs typeface="Times New Roman" panose="02020603050405020304" pitchFamily="18" charset="0"/>
              </a:rPr>
              <a:t>¿Dónde está la característica diferenciadora? </a:t>
            </a:r>
          </a:p>
        </p:txBody>
      </p:sp>
      <p:sp>
        <p:nvSpPr>
          <p:cNvPr id="3" name="Marcador de número de diapositiva 2">
            <a:extLst>
              <a:ext uri="{FF2B5EF4-FFF2-40B4-BE49-F238E27FC236}">
                <a16:creationId xmlns:a16="http://schemas.microsoft.com/office/drawing/2014/main" id="{2C2C5B79-407E-AE7D-65EB-54714F9DF9C2}"/>
              </a:ext>
            </a:extLst>
          </p:cNvPr>
          <p:cNvSpPr>
            <a:spLocks noGrp="1"/>
          </p:cNvSpPr>
          <p:nvPr>
            <p:ph type="sldNum" sz="quarter" idx="12"/>
          </p:nvPr>
        </p:nvSpPr>
        <p:spPr/>
        <p:txBody>
          <a:bodyPr/>
          <a:lstStyle/>
          <a:p>
            <a:fld id="{0E40E506-8910-4A1D-9597-9E72BD293B97}" type="slidenum">
              <a:rPr lang="en-US" smtClean="0"/>
              <a:t>10</a:t>
            </a:fld>
            <a:endParaRPr lang="es-ES"/>
          </a:p>
        </p:txBody>
      </p:sp>
    </p:spTree>
    <p:extLst>
      <p:ext uri="{BB962C8B-B14F-4D97-AF65-F5344CB8AC3E}">
        <p14:creationId xmlns:p14="http://schemas.microsoft.com/office/powerpoint/2010/main" val="4270018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6E111FC-F7D8-0431-6EC0-9A8B5BD75170}"/>
              </a:ext>
            </a:extLst>
          </p:cNvPr>
          <p:cNvSpPr>
            <a:spLocks noGrp="1" noChangeArrowheads="1"/>
          </p:cNvSpPr>
          <p:nvPr>
            <p:ph type="title"/>
          </p:nvPr>
        </p:nvSpPr>
        <p:spPr>
          <a:xfrm>
            <a:off x="603744" y="652108"/>
            <a:ext cx="7483475" cy="1004888"/>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vert="horz" lIns="92075" tIns="46038" rIns="92075" bIns="46038" rtlCol="0" anchor="ctr">
            <a:normAutofit/>
          </a:bodyPr>
          <a:lstStyle/>
          <a:p>
            <a:r>
              <a:rPr lang="es-ES_tradnl" altLang="es-AR" sz="2400">
                <a:solidFill>
                  <a:srgbClr val="FFFFFF"/>
                </a:solidFill>
                <a:latin typeface="Gill Sans MT" panose="020B0502020104020203" pitchFamily="34" charset="0"/>
              </a:rPr>
              <a:t>Empresas</a:t>
            </a:r>
          </a:p>
        </p:txBody>
      </p:sp>
      <p:sp>
        <p:nvSpPr>
          <p:cNvPr id="19459" name="Rectangle 3">
            <a:extLst>
              <a:ext uri="{FF2B5EF4-FFF2-40B4-BE49-F238E27FC236}">
                <a16:creationId xmlns:a16="http://schemas.microsoft.com/office/drawing/2014/main" id="{756CA3E4-01F4-FE91-1263-44B364023A36}"/>
              </a:ext>
            </a:extLst>
          </p:cNvPr>
          <p:cNvSpPr>
            <a:spLocks noChangeArrowheads="1"/>
          </p:cNvSpPr>
          <p:nvPr/>
        </p:nvSpPr>
        <p:spPr bwMode="auto">
          <a:xfrm>
            <a:off x="4681766" y="2906486"/>
            <a:ext cx="4261304" cy="21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t">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buSzPct val="60000"/>
            </a:pPr>
            <a:r>
              <a:rPr lang="es-ES_tradnl" altLang="es-AR" sz="4400">
                <a:solidFill>
                  <a:srgbClr val="1A3260"/>
                </a:solidFill>
                <a:latin typeface="Amasis MT Pro Medium" panose="02040604050005020304" pitchFamily="18" charset="0"/>
                <a:cs typeface="Times New Roman" panose="02020603050405020304" pitchFamily="18" charset="0"/>
              </a:rPr>
              <a:t>Servicio</a:t>
            </a:r>
            <a:endParaRPr lang="es-ES"/>
          </a:p>
          <a:p>
            <a:pPr>
              <a:buSzPct val="60000"/>
            </a:pPr>
            <a:endParaRPr lang="es-ES_tradnl" altLang="es-AR" sz="4400">
              <a:solidFill>
                <a:srgbClr val="1A3260"/>
              </a:solidFill>
              <a:latin typeface="Amasis MT Pro Medium" panose="02040604050005020304" pitchFamily="18" charset="0"/>
              <a:cs typeface="Times New Roman" panose="02020603050405020304" pitchFamily="18" charset="0"/>
            </a:endParaRPr>
          </a:p>
          <a:p>
            <a:pPr>
              <a:buSzPct val="60000"/>
            </a:pPr>
            <a:r>
              <a:rPr lang="es-ES_tradnl" altLang="es-AR" sz="4400">
                <a:solidFill>
                  <a:srgbClr val="1A3260"/>
                </a:solidFill>
                <a:latin typeface="Amasis MT Pro Medium" panose="02040604050005020304" pitchFamily="18" charset="0"/>
                <a:cs typeface="Times New Roman" panose="02020603050405020304" pitchFamily="18" charset="0"/>
              </a:rPr>
              <a:t>Gente</a:t>
            </a:r>
          </a:p>
        </p:txBody>
      </p:sp>
      <p:sp>
        <p:nvSpPr>
          <p:cNvPr id="2" name="Marcador de número de diapositiva 1">
            <a:extLst>
              <a:ext uri="{FF2B5EF4-FFF2-40B4-BE49-F238E27FC236}">
                <a16:creationId xmlns:a16="http://schemas.microsoft.com/office/drawing/2014/main" id="{0B849344-B0AA-9F17-E9AB-3EF953415809}"/>
              </a:ext>
            </a:extLst>
          </p:cNvPr>
          <p:cNvSpPr>
            <a:spLocks noGrp="1"/>
          </p:cNvSpPr>
          <p:nvPr>
            <p:ph type="sldNum" sz="quarter" idx="12"/>
          </p:nvPr>
        </p:nvSpPr>
        <p:spPr/>
        <p:txBody>
          <a:bodyPr/>
          <a:lstStyle/>
          <a:p>
            <a:fld id="{0E40E506-8910-4A1D-9597-9E72BD293B97}" type="slidenum">
              <a:rPr lang="en-US" smtClean="0"/>
              <a:t>11</a:t>
            </a:fld>
            <a:endParaRPr lang="es-E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5D70561-D719-6467-F68A-64DA0648373E}"/>
              </a:ext>
            </a:extLst>
          </p:cNvPr>
          <p:cNvSpPr>
            <a:spLocks noGrp="1" noChangeArrowheads="1"/>
          </p:cNvSpPr>
          <p:nvPr>
            <p:ph type="title"/>
          </p:nvPr>
        </p:nvSpPr>
        <p:spPr>
          <a:xfrm>
            <a:off x="612622" y="838539"/>
            <a:ext cx="7483475" cy="1004888"/>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vert="horz" lIns="92075" tIns="46038" rIns="92075" bIns="46038" rtlCol="0" anchor="ctr">
            <a:normAutofit/>
          </a:bodyPr>
          <a:lstStyle/>
          <a:p>
            <a:r>
              <a:rPr lang="es-ES_tradnl" altLang="es-AR" sz="4000"/>
              <a:t>Dirección de Proyectos</a:t>
            </a:r>
          </a:p>
        </p:txBody>
      </p:sp>
      <p:sp>
        <p:nvSpPr>
          <p:cNvPr id="20483" name="Rectangle 3">
            <a:extLst>
              <a:ext uri="{FF2B5EF4-FFF2-40B4-BE49-F238E27FC236}">
                <a16:creationId xmlns:a16="http://schemas.microsoft.com/office/drawing/2014/main" id="{0F480CB8-9469-CBA9-731C-B9F849BA2650}"/>
              </a:ext>
            </a:extLst>
          </p:cNvPr>
          <p:cNvSpPr>
            <a:spLocks noChangeArrowheads="1"/>
          </p:cNvSpPr>
          <p:nvPr/>
        </p:nvSpPr>
        <p:spPr bwMode="auto">
          <a:xfrm>
            <a:off x="2059682" y="3176757"/>
            <a:ext cx="7483475"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s-ES_tradnl" altLang="es-AR" sz="4800">
                <a:solidFill>
                  <a:srgbClr val="1A3260"/>
                </a:solidFill>
                <a:latin typeface="Amasis MT Pro Medium" panose="02040604050005020304" pitchFamily="18" charset="0"/>
                <a:cs typeface="Times New Roman" panose="02020603050405020304" pitchFamily="18" charset="0"/>
              </a:rPr>
              <a:t>¿Conocemos a la gente ?</a:t>
            </a:r>
          </a:p>
        </p:txBody>
      </p:sp>
      <p:sp>
        <p:nvSpPr>
          <p:cNvPr id="2" name="Marcador de número de diapositiva 1">
            <a:extLst>
              <a:ext uri="{FF2B5EF4-FFF2-40B4-BE49-F238E27FC236}">
                <a16:creationId xmlns:a16="http://schemas.microsoft.com/office/drawing/2014/main" id="{B40E5846-9A4D-4F85-97AD-302B67380A01}"/>
              </a:ext>
            </a:extLst>
          </p:cNvPr>
          <p:cNvSpPr>
            <a:spLocks noGrp="1"/>
          </p:cNvSpPr>
          <p:nvPr>
            <p:ph type="sldNum" sz="quarter" idx="12"/>
          </p:nvPr>
        </p:nvSpPr>
        <p:spPr/>
        <p:txBody>
          <a:bodyPr/>
          <a:lstStyle/>
          <a:p>
            <a:fld id="{0E40E506-8910-4A1D-9597-9E72BD293B97}" type="slidenum">
              <a:rPr lang="en-US" smtClean="0"/>
              <a:t>12</a:t>
            </a:fld>
            <a:endParaRPr lang="es-E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4">
            <a:extLst>
              <a:ext uri="{FF2B5EF4-FFF2-40B4-BE49-F238E27FC236}">
                <a16:creationId xmlns:a16="http://schemas.microsoft.com/office/drawing/2014/main" id="{28082E6E-D434-67BA-E30B-6DE4430E3EEF}"/>
              </a:ext>
            </a:extLst>
          </p:cNvPr>
          <p:cNvSpPr>
            <a:spLocks noGrp="1"/>
          </p:cNvSpPr>
          <p:nvPr>
            <p:ph type="sldNum" sz="quarter" idx="12"/>
          </p:nvPr>
        </p:nvSpPr>
        <p:spPr/>
        <p:txBody>
          <a:bodyPr/>
          <a:lstStyle/>
          <a:p>
            <a:fld id="{093B9931-1A1B-46F0-924A-31EBFB4D5BBD}" type="slidenum">
              <a:rPr lang="en-US" altLang="es-AR"/>
              <a:pPr/>
              <a:t>13</a:t>
            </a:fld>
            <a:endParaRPr lang="en-US" altLang="es-AR"/>
          </a:p>
        </p:txBody>
      </p:sp>
      <p:sp>
        <p:nvSpPr>
          <p:cNvPr id="21506" name="Rectangle 2">
            <a:extLst>
              <a:ext uri="{FF2B5EF4-FFF2-40B4-BE49-F238E27FC236}">
                <a16:creationId xmlns:a16="http://schemas.microsoft.com/office/drawing/2014/main" id="{C4E454DD-77CC-DA98-BE15-497FEE70345D}"/>
              </a:ext>
            </a:extLst>
          </p:cNvPr>
          <p:cNvSpPr>
            <a:spLocks noGrp="1" noChangeArrowheads="1"/>
          </p:cNvSpPr>
          <p:nvPr>
            <p:ph type="title"/>
          </p:nvPr>
        </p:nvSpPr>
        <p:spPr>
          <a:xfrm>
            <a:off x="470579" y="856294"/>
            <a:ext cx="7483475" cy="1004888"/>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vert="horz" lIns="92075" tIns="46038" rIns="92075" bIns="46038" rtlCol="0" anchor="ctr">
            <a:normAutofit/>
          </a:bodyPr>
          <a:lstStyle/>
          <a:p>
            <a:r>
              <a:rPr lang="es-ES_tradnl" altLang="es-AR" sz="4000"/>
              <a:t>Necesidades</a:t>
            </a:r>
          </a:p>
        </p:txBody>
      </p:sp>
      <p:sp>
        <p:nvSpPr>
          <p:cNvPr id="21507" name="Rectangle 3">
            <a:extLst>
              <a:ext uri="{FF2B5EF4-FFF2-40B4-BE49-F238E27FC236}">
                <a16:creationId xmlns:a16="http://schemas.microsoft.com/office/drawing/2014/main" id="{37E01437-B41D-6972-5515-766EF9ABECC2}"/>
              </a:ext>
            </a:extLst>
          </p:cNvPr>
          <p:cNvSpPr>
            <a:spLocks noChangeArrowheads="1"/>
          </p:cNvSpPr>
          <p:nvPr/>
        </p:nvSpPr>
        <p:spPr bwMode="auto">
          <a:xfrm>
            <a:off x="914400" y="2613735"/>
            <a:ext cx="10857390" cy="2308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t">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buSzPct val="60000"/>
            </a:pPr>
            <a:r>
              <a:rPr lang="es-ES_tradnl" altLang="es-AR" sz="4800">
                <a:solidFill>
                  <a:srgbClr val="1A3260"/>
                </a:solidFill>
                <a:latin typeface="Amasis MT Pro Medium" panose="02040604050005020304" pitchFamily="18" charset="0"/>
                <a:cs typeface="Times New Roman" panose="02020603050405020304" pitchFamily="18" charset="0"/>
              </a:rPr>
              <a:t>Básicas de subsistencia</a:t>
            </a:r>
            <a:endParaRPr lang="es-ES"/>
          </a:p>
          <a:p>
            <a:pPr>
              <a:buSzPct val="60000"/>
            </a:pPr>
            <a:r>
              <a:rPr lang="es-ES_tradnl" altLang="es-AR" sz="4800">
                <a:solidFill>
                  <a:srgbClr val="1A3260"/>
                </a:solidFill>
                <a:latin typeface="Amasis MT Pro Medium" panose="02040604050005020304" pitchFamily="18" charset="0"/>
                <a:cs typeface="Times New Roman" panose="02020603050405020304" pitchFamily="18" charset="0"/>
              </a:rPr>
              <a:t>Seguridad</a:t>
            </a:r>
          </a:p>
          <a:p>
            <a:pPr>
              <a:buSzPct val="60000"/>
            </a:pPr>
            <a:r>
              <a:rPr lang="es-ES_tradnl" altLang="es-AR" sz="4800">
                <a:solidFill>
                  <a:srgbClr val="1A3260"/>
                </a:solidFill>
                <a:latin typeface="Amasis MT Pro Medium" panose="02040604050005020304" pitchFamily="18" charset="0"/>
                <a:cs typeface="Times New Roman" panose="02020603050405020304" pitchFamily="18" charset="0"/>
              </a:rPr>
              <a:t>Pertenencia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4C5388E8-E96F-84E4-1336-EF1CAAD8C744}"/>
              </a:ext>
            </a:extLst>
          </p:cNvPr>
          <p:cNvSpPr>
            <a:spLocks noChangeArrowheads="1"/>
          </p:cNvSpPr>
          <p:nvPr/>
        </p:nvSpPr>
        <p:spPr bwMode="auto">
          <a:xfrm>
            <a:off x="3391331" y="2414727"/>
            <a:ext cx="4298950" cy="3478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Comunicación </a:t>
            </a:r>
          </a:p>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Gestión Gerencial</a:t>
            </a:r>
          </a:p>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Organización del trabajo</a:t>
            </a:r>
          </a:p>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Capacitación</a:t>
            </a:r>
          </a:p>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Espacio físico y recursos</a:t>
            </a:r>
          </a:p>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Tecnología</a:t>
            </a:r>
          </a:p>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Mejoras económicas</a:t>
            </a:r>
          </a:p>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Valoración del trabajo</a:t>
            </a:r>
          </a:p>
          <a:p>
            <a:endParaRPr lang="es-ES_tradnl" altLang="es-AR" sz="2800">
              <a:solidFill>
                <a:srgbClr val="1A3260"/>
              </a:solidFill>
              <a:latin typeface="Tahoma" panose="020B0604030504040204" pitchFamily="34" charset="0"/>
            </a:endParaRPr>
          </a:p>
        </p:txBody>
      </p:sp>
      <p:sp>
        <p:nvSpPr>
          <p:cNvPr id="22532" name="Rectangle 4">
            <a:extLst>
              <a:ext uri="{FF2B5EF4-FFF2-40B4-BE49-F238E27FC236}">
                <a16:creationId xmlns:a16="http://schemas.microsoft.com/office/drawing/2014/main" id="{A38458FC-0BD0-D82D-F251-BA7C585796F1}"/>
              </a:ext>
            </a:extLst>
          </p:cNvPr>
          <p:cNvSpPr>
            <a:spLocks noChangeArrowheads="1"/>
          </p:cNvSpPr>
          <p:nvPr/>
        </p:nvSpPr>
        <p:spPr bwMode="auto">
          <a:xfrm>
            <a:off x="514968" y="945071"/>
            <a:ext cx="74834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cap="all">
                <a:solidFill>
                  <a:schemeClr val="bg1"/>
                </a:solidFill>
                <a:latin typeface="+mj-lt"/>
                <a:ea typeface="+mj-ea"/>
                <a:cs typeface="+mj-cs"/>
              </a:rPr>
              <a:t>Dirección de Proyectos</a:t>
            </a:r>
          </a:p>
        </p:txBody>
      </p:sp>
      <p:sp>
        <p:nvSpPr>
          <p:cNvPr id="2" name="Marcador de número de diapositiva 1">
            <a:extLst>
              <a:ext uri="{FF2B5EF4-FFF2-40B4-BE49-F238E27FC236}">
                <a16:creationId xmlns:a16="http://schemas.microsoft.com/office/drawing/2014/main" id="{31C8ECBC-EC9D-22B9-5C37-9FE82DA4A73C}"/>
              </a:ext>
            </a:extLst>
          </p:cNvPr>
          <p:cNvSpPr>
            <a:spLocks noGrp="1"/>
          </p:cNvSpPr>
          <p:nvPr>
            <p:ph type="sldNum" sz="quarter" idx="12"/>
          </p:nvPr>
        </p:nvSpPr>
        <p:spPr/>
        <p:txBody>
          <a:bodyPr/>
          <a:lstStyle/>
          <a:p>
            <a:fld id="{0E40E506-8910-4A1D-9597-9E72BD293B97}" type="slidenum">
              <a:rPr lang="en-US" smtClean="0"/>
              <a:t>14</a:t>
            </a:fld>
            <a:endParaRPr lang="es-E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F983B2AA-D847-5E02-E1D2-288CC920BF5F}"/>
              </a:ext>
            </a:extLst>
          </p:cNvPr>
          <p:cNvSpPr>
            <a:spLocks noChangeArrowheads="1"/>
          </p:cNvSpPr>
          <p:nvPr/>
        </p:nvSpPr>
        <p:spPr bwMode="auto">
          <a:xfrm>
            <a:off x="461701" y="581087"/>
            <a:ext cx="7483475"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rgbClr val="1A3260"/>
                </a:solidFill>
                <a:latin typeface="Amasis MT Pro Medium" panose="02040604050005020304" pitchFamily="18" charset="0"/>
                <a:cs typeface="Times New Roman" panose="02020603050405020304" pitchFamily="18" charset="0"/>
              </a:rPr>
              <a:t>Métricas</a:t>
            </a:r>
          </a:p>
        </p:txBody>
      </p:sp>
      <p:sp>
        <p:nvSpPr>
          <p:cNvPr id="28676" name="Rectangle 4">
            <a:extLst>
              <a:ext uri="{FF2B5EF4-FFF2-40B4-BE49-F238E27FC236}">
                <a16:creationId xmlns:a16="http://schemas.microsoft.com/office/drawing/2014/main" id="{59AE47E8-A47F-6F38-CF8C-F3B2D39B28C4}"/>
              </a:ext>
            </a:extLst>
          </p:cNvPr>
          <p:cNvSpPr>
            <a:spLocks noChangeArrowheads="1"/>
          </p:cNvSpPr>
          <p:nvPr/>
        </p:nvSpPr>
        <p:spPr bwMode="auto">
          <a:xfrm>
            <a:off x="639192" y="1941784"/>
            <a:ext cx="11126679" cy="296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50000"/>
              </a:lnSpc>
            </a:pPr>
            <a:r>
              <a:rPr lang="es-ES" sz="3200">
                <a:solidFill>
                  <a:srgbClr val="1A3260"/>
                </a:solidFill>
                <a:latin typeface="Amasis MT Pro Medium" panose="02040604050005020304" pitchFamily="18" charset="0"/>
                <a:cs typeface="Times New Roman" panose="02020603050405020304" pitchFamily="18" charset="0"/>
              </a:rPr>
              <a:t>Una métrica de software debe ser simple y calculable,</a:t>
            </a:r>
          </a:p>
          <a:p>
            <a:pPr algn="ctr">
              <a:lnSpc>
                <a:spcPct val="150000"/>
              </a:lnSpc>
            </a:pPr>
            <a:r>
              <a:rPr lang="es-ES" sz="3200">
                <a:solidFill>
                  <a:srgbClr val="1A3260"/>
                </a:solidFill>
                <a:latin typeface="Amasis MT Pro Medium" panose="02040604050005020304" pitchFamily="18" charset="0"/>
                <a:cs typeface="Times New Roman" panose="02020603050405020304" pitchFamily="18" charset="0"/>
              </a:rPr>
              <a:t>convincente, congruente y objetiva. Debe ser independiente del lenguaje de programación</a:t>
            </a:r>
          </a:p>
          <a:p>
            <a:pPr algn="ctr">
              <a:lnSpc>
                <a:spcPct val="150000"/>
              </a:lnSpc>
            </a:pPr>
            <a:r>
              <a:rPr lang="es-AR" sz="3200">
                <a:solidFill>
                  <a:srgbClr val="1A3260"/>
                </a:solidFill>
                <a:latin typeface="Amasis MT Pro Medium" panose="02040604050005020304" pitchFamily="18" charset="0"/>
                <a:cs typeface="Times New Roman" panose="02020603050405020304" pitchFamily="18" charset="0"/>
              </a:rPr>
              <a:t>y ofrecer retroalimentación efectiva.</a:t>
            </a:r>
          </a:p>
        </p:txBody>
      </p:sp>
      <p:sp>
        <p:nvSpPr>
          <p:cNvPr id="2" name="Marcador de número de diapositiva 1">
            <a:extLst>
              <a:ext uri="{FF2B5EF4-FFF2-40B4-BE49-F238E27FC236}">
                <a16:creationId xmlns:a16="http://schemas.microsoft.com/office/drawing/2014/main" id="{7E158D7E-6CF7-9714-A095-1A0941A2F453}"/>
              </a:ext>
            </a:extLst>
          </p:cNvPr>
          <p:cNvSpPr>
            <a:spLocks noGrp="1"/>
          </p:cNvSpPr>
          <p:nvPr>
            <p:ph type="sldNum" sz="quarter" idx="12"/>
          </p:nvPr>
        </p:nvSpPr>
        <p:spPr/>
        <p:txBody>
          <a:bodyPr/>
          <a:lstStyle/>
          <a:p>
            <a:fld id="{0E40E506-8910-4A1D-9597-9E72BD293B97}" type="slidenum">
              <a:rPr lang="en-US" smtClean="0"/>
              <a:t>15</a:t>
            </a:fld>
            <a:endParaRPr lang="es-ES"/>
          </a:p>
        </p:txBody>
      </p:sp>
    </p:spTree>
    <p:extLst>
      <p:ext uri="{BB962C8B-B14F-4D97-AF65-F5344CB8AC3E}">
        <p14:creationId xmlns:p14="http://schemas.microsoft.com/office/powerpoint/2010/main" val="1240637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3B98650F-0973-214F-BFDC-DD31B28A7EBF}"/>
              </a:ext>
            </a:extLst>
          </p:cNvPr>
          <p:cNvSpPr>
            <a:spLocks noChangeArrowheads="1"/>
          </p:cNvSpPr>
          <p:nvPr/>
        </p:nvSpPr>
        <p:spPr bwMode="auto">
          <a:xfrm>
            <a:off x="594804" y="1892300"/>
            <a:ext cx="10777491" cy="376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t">
            <a:spAutoFit/>
          </a:bodyPr>
          <a:lstStyle>
            <a:lvl1pPr marL="274638" indent="-274638" defTabSz="762000">
              <a:defRPr sz="2400">
                <a:solidFill>
                  <a:schemeClr val="tx1"/>
                </a:solidFill>
                <a:latin typeface="Times New Roman" panose="02020603050405020304" pitchFamily="18" charset="0"/>
              </a:defRPr>
            </a:lvl1pPr>
            <a:lvl2pPr marL="620713"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buSzPct val="60000"/>
            </a:pPr>
            <a:r>
              <a:rPr lang="es-ES_tradnl" altLang="es-AR" sz="3200">
                <a:solidFill>
                  <a:srgbClr val="1A3260"/>
                </a:solidFill>
                <a:latin typeface="Amasis MT Pro Medium" panose="02040604050005020304" pitchFamily="18" charset="0"/>
                <a:cs typeface="Times New Roman" panose="02020603050405020304" pitchFamily="18" charset="0"/>
              </a:rPr>
              <a:t>Factores clave para estimar bien:</a:t>
            </a:r>
          </a:p>
          <a:p>
            <a:pPr marL="0" indent="-457200">
              <a:lnSpc>
                <a:spcPct val="55000"/>
              </a:lnSpc>
              <a:buSzPct val="60000"/>
              <a:buFont typeface="Wingdings" panose="05000000000000000000" pitchFamily="2" charset="2"/>
              <a:buChar char="n"/>
            </a:pPr>
            <a:endParaRPr lang="es-ES_tradnl" altLang="es-AR" sz="3200">
              <a:solidFill>
                <a:srgbClr val="1A3260"/>
              </a:solidFill>
              <a:latin typeface="Amasis MT Pro Medium" panose="02040604050005020304" pitchFamily="18" charset="0"/>
              <a:cs typeface="Times New Roman" panose="02020603050405020304" pitchFamily="18" charset="0"/>
            </a:endParaRPr>
          </a:p>
          <a:p>
            <a:pPr marL="0" indent="-457200">
              <a:lnSpc>
                <a:spcPct val="130000"/>
              </a:lnSpc>
              <a:buSzPct val="60000"/>
              <a:buFont typeface="Wingdings" panose="05000000000000000000" pitchFamily="2" charset="2"/>
              <a:buChar char="n"/>
            </a:pPr>
            <a:r>
              <a:rPr lang="es-ES_tradnl" altLang="es-AR" sz="3200">
                <a:solidFill>
                  <a:srgbClr val="1A3260"/>
                </a:solidFill>
                <a:latin typeface="Amasis MT Pro Medium" panose="02040604050005020304" pitchFamily="18" charset="0"/>
                <a:cs typeface="Times New Roman" panose="02020603050405020304" pitchFamily="18" charset="0"/>
              </a:rPr>
              <a:t>Disponibilidad de registros precisos sobre proyectos anteriores.</a:t>
            </a:r>
          </a:p>
          <a:p>
            <a:pPr marL="0" indent="-457200">
              <a:lnSpc>
                <a:spcPct val="130000"/>
              </a:lnSpc>
              <a:buSzPct val="60000"/>
              <a:buFont typeface="Wingdings" panose="05000000000000000000" pitchFamily="2" charset="2"/>
              <a:buChar char="n"/>
            </a:pPr>
            <a:r>
              <a:rPr lang="es-ES_tradnl" altLang="es-AR" sz="3200">
                <a:solidFill>
                  <a:srgbClr val="1A3260"/>
                </a:solidFill>
                <a:latin typeface="Amasis MT Pro Medium" panose="02040604050005020304" pitchFamily="18" charset="0"/>
                <a:cs typeface="Times New Roman" panose="02020603050405020304" pitchFamily="18" charset="0"/>
              </a:rPr>
              <a:t>Adopción de metodologías estándar.</a:t>
            </a:r>
          </a:p>
          <a:p>
            <a:pPr marL="0" indent="-457200">
              <a:buSzPct val="60000"/>
              <a:buFont typeface="Wingdings" panose="05000000000000000000" pitchFamily="2" charset="2"/>
              <a:buChar char="n"/>
            </a:pPr>
            <a:endParaRPr lang="es-ES_tradnl" altLang="es-AR" sz="3200">
              <a:solidFill>
                <a:srgbClr val="1A3260"/>
              </a:solidFill>
              <a:latin typeface="Amasis MT Pro Medium" panose="02040604050005020304" pitchFamily="18" charset="0"/>
              <a:cs typeface="Times New Roman" panose="02020603050405020304" pitchFamily="18" charset="0"/>
            </a:endParaRPr>
          </a:p>
          <a:p>
            <a:pPr marL="0" indent="0">
              <a:buSzPct val="60000"/>
            </a:pPr>
            <a:r>
              <a:rPr lang="es-ES_tradnl" altLang="es-AR" sz="3200">
                <a:solidFill>
                  <a:srgbClr val="1A3260"/>
                </a:solidFill>
                <a:latin typeface="Amasis MT Pro Medium"/>
                <a:cs typeface="Times New Roman"/>
              </a:rPr>
              <a:t>Estos factores ayudaran a concebir las métricas</a:t>
            </a:r>
          </a:p>
        </p:txBody>
      </p:sp>
      <p:sp>
        <p:nvSpPr>
          <p:cNvPr id="27652" name="Text Box 4">
            <a:extLst>
              <a:ext uri="{FF2B5EF4-FFF2-40B4-BE49-F238E27FC236}">
                <a16:creationId xmlns:a16="http://schemas.microsoft.com/office/drawing/2014/main" id="{70CAE19A-877E-1A6D-F00D-759DCDB6A9A5}"/>
              </a:ext>
            </a:extLst>
          </p:cNvPr>
          <p:cNvSpPr txBox="1">
            <a:spLocks noChangeArrowheads="1"/>
          </p:cNvSpPr>
          <p:nvPr/>
        </p:nvSpPr>
        <p:spPr bwMode="auto">
          <a:xfrm>
            <a:off x="2879725" y="117475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571500">
              <a:defRPr sz="2400">
                <a:solidFill>
                  <a:schemeClr val="tx1"/>
                </a:solidFill>
                <a:latin typeface="Times New Roman" panose="02020603050405020304" pitchFamily="18" charset="0"/>
              </a:defRPr>
            </a:lvl2pPr>
            <a:lvl3pPr marL="1143000">
              <a:defRPr sz="2400">
                <a:solidFill>
                  <a:schemeClr val="tx1"/>
                </a:solidFill>
                <a:latin typeface="Times New Roman" panose="02020603050405020304" pitchFamily="18" charset="0"/>
              </a:defRPr>
            </a:lvl3pPr>
            <a:lvl4pPr marL="1714500">
              <a:defRPr sz="2400">
                <a:solidFill>
                  <a:schemeClr val="tx1"/>
                </a:solidFill>
                <a:latin typeface="Times New Roman" panose="02020603050405020304" pitchFamily="18" charset="0"/>
              </a:defRPr>
            </a:lvl4pPr>
            <a:lvl5pPr marL="2286000">
              <a:defRPr sz="2400">
                <a:solidFill>
                  <a:schemeClr val="tx1"/>
                </a:solidFill>
                <a:latin typeface="Times New Roman" panose="02020603050405020304" pitchFamily="18" charset="0"/>
              </a:defRPr>
            </a:lvl5pPr>
            <a:lvl6pPr marL="2743200" eaLnBrk="0" fontAlgn="base" hangingPunct="0">
              <a:spcBef>
                <a:spcPct val="0"/>
              </a:spcBef>
              <a:spcAft>
                <a:spcPct val="0"/>
              </a:spcAft>
              <a:defRPr sz="2400">
                <a:solidFill>
                  <a:schemeClr val="tx1"/>
                </a:solidFill>
                <a:latin typeface="Times New Roman" panose="02020603050405020304" pitchFamily="18" charset="0"/>
              </a:defRPr>
            </a:lvl6pPr>
            <a:lvl7pPr marL="3200400" eaLnBrk="0" fontAlgn="base" hangingPunct="0">
              <a:spcBef>
                <a:spcPct val="0"/>
              </a:spcBef>
              <a:spcAft>
                <a:spcPct val="0"/>
              </a:spcAft>
              <a:defRPr sz="2400">
                <a:solidFill>
                  <a:schemeClr val="tx1"/>
                </a:solidFill>
                <a:latin typeface="Times New Roman" panose="02020603050405020304" pitchFamily="18" charset="0"/>
              </a:defRPr>
            </a:lvl7pPr>
            <a:lvl8pPr marL="3657600" eaLnBrk="0" fontAlgn="base" hangingPunct="0">
              <a:spcBef>
                <a:spcPct val="0"/>
              </a:spcBef>
              <a:spcAft>
                <a:spcPct val="0"/>
              </a:spcAft>
              <a:defRPr sz="2400">
                <a:solidFill>
                  <a:schemeClr val="tx1"/>
                </a:solidFill>
                <a:latin typeface="Times New Roman" panose="02020603050405020304" pitchFamily="18" charset="0"/>
              </a:defRPr>
            </a:lvl8pPr>
            <a:lvl9pPr marL="41148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s-AR" sz="1800">
              <a:latin typeface="Tahoma" panose="020B0604030504040204" pitchFamily="34" charset="0"/>
            </a:endParaRPr>
          </a:p>
        </p:txBody>
      </p:sp>
      <p:sp>
        <p:nvSpPr>
          <p:cNvPr id="27653" name="Rectangle 5">
            <a:extLst>
              <a:ext uri="{FF2B5EF4-FFF2-40B4-BE49-F238E27FC236}">
                <a16:creationId xmlns:a16="http://schemas.microsoft.com/office/drawing/2014/main" id="{3BE1EC4F-4026-B766-5711-AD4868D3B9EF}"/>
              </a:ext>
            </a:extLst>
          </p:cNvPr>
          <p:cNvSpPr>
            <a:spLocks noChangeArrowheads="1"/>
          </p:cNvSpPr>
          <p:nvPr/>
        </p:nvSpPr>
        <p:spPr bwMode="auto">
          <a:xfrm>
            <a:off x="497212" y="572209"/>
            <a:ext cx="74834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rgbClr val="1A3260"/>
                </a:solidFill>
                <a:latin typeface="Amasis MT Pro Medium" panose="02040604050005020304" pitchFamily="18" charset="0"/>
                <a:cs typeface="Times New Roman" panose="02020603050405020304" pitchFamily="18" charset="0"/>
              </a:rPr>
              <a:t>Dirección de Proyectos</a:t>
            </a:r>
          </a:p>
        </p:txBody>
      </p:sp>
      <p:sp>
        <p:nvSpPr>
          <p:cNvPr id="2" name="Marcador de número de diapositiva 1">
            <a:extLst>
              <a:ext uri="{FF2B5EF4-FFF2-40B4-BE49-F238E27FC236}">
                <a16:creationId xmlns:a16="http://schemas.microsoft.com/office/drawing/2014/main" id="{9DC680EF-BDFF-42AA-0CCB-41C0916730BB}"/>
              </a:ext>
            </a:extLst>
          </p:cNvPr>
          <p:cNvSpPr>
            <a:spLocks noGrp="1"/>
          </p:cNvSpPr>
          <p:nvPr>
            <p:ph type="sldNum" sz="quarter" idx="12"/>
          </p:nvPr>
        </p:nvSpPr>
        <p:spPr/>
        <p:txBody>
          <a:bodyPr/>
          <a:lstStyle/>
          <a:p>
            <a:fld id="{0E40E506-8910-4A1D-9597-9E72BD293B97}" type="slidenum">
              <a:rPr lang="en-US" smtClean="0"/>
              <a:t>16</a:t>
            </a:fld>
            <a:endParaRPr 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F983B2AA-D847-5E02-E1D2-288CC920BF5F}"/>
              </a:ext>
            </a:extLst>
          </p:cNvPr>
          <p:cNvSpPr>
            <a:spLocks noChangeArrowheads="1"/>
          </p:cNvSpPr>
          <p:nvPr/>
        </p:nvSpPr>
        <p:spPr bwMode="auto">
          <a:xfrm>
            <a:off x="461701" y="581087"/>
            <a:ext cx="7483475"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chemeClr val="accent2"/>
                </a:solidFill>
                <a:latin typeface="Amasis MT Pro Medium" panose="02040604050005020304" pitchFamily="18" charset="0"/>
                <a:cs typeface="Times New Roman" panose="02020603050405020304" pitchFamily="18" charset="0"/>
              </a:rPr>
              <a:t>Métricas</a:t>
            </a:r>
          </a:p>
        </p:txBody>
      </p:sp>
      <p:sp>
        <p:nvSpPr>
          <p:cNvPr id="28676" name="Rectangle 4">
            <a:extLst>
              <a:ext uri="{FF2B5EF4-FFF2-40B4-BE49-F238E27FC236}">
                <a16:creationId xmlns:a16="http://schemas.microsoft.com/office/drawing/2014/main" id="{59AE47E8-A47F-6F38-CF8C-F3B2D39B28C4}"/>
              </a:ext>
            </a:extLst>
          </p:cNvPr>
          <p:cNvSpPr>
            <a:spLocks noChangeArrowheads="1"/>
          </p:cNvSpPr>
          <p:nvPr/>
        </p:nvSpPr>
        <p:spPr bwMode="auto">
          <a:xfrm>
            <a:off x="1352365" y="1409124"/>
            <a:ext cx="10839635" cy="5386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s-ES_tradnl" altLang="es-AR" sz="3200">
                <a:solidFill>
                  <a:schemeClr val="accent2"/>
                </a:solidFill>
                <a:latin typeface="Amasis MT Pro Medium" panose="02040604050005020304" pitchFamily="18" charset="0"/>
                <a:cs typeface="Times New Roman" panose="02020603050405020304" pitchFamily="18" charset="0"/>
              </a:rPr>
              <a:t>Que miden</a:t>
            </a:r>
          </a:p>
          <a:p>
            <a:r>
              <a:rPr lang="es-ES_tradnl" altLang="es-AR">
                <a:solidFill>
                  <a:schemeClr val="tx2"/>
                </a:solidFill>
                <a:latin typeface="Tahoma" panose="020B0604030504040204" pitchFamily="34" charset="0"/>
              </a:rPr>
              <a:t>				</a:t>
            </a:r>
            <a:r>
              <a:rPr lang="es-ES_tradnl" altLang="es-AR" sz="3200">
                <a:solidFill>
                  <a:srgbClr val="C00000"/>
                </a:solidFill>
                <a:latin typeface="Amasis MT Pro Medium" panose="02040604050005020304" pitchFamily="18" charset="0"/>
                <a:cs typeface="Times New Roman" panose="02020603050405020304" pitchFamily="18" charset="0"/>
              </a:rPr>
              <a:t>Productividad</a:t>
            </a:r>
          </a:p>
          <a:p>
            <a:r>
              <a:rPr lang="es-ES_tradnl" altLang="es-AR" sz="3200">
                <a:solidFill>
                  <a:srgbClr val="C00000"/>
                </a:solidFill>
                <a:latin typeface="Amasis MT Pro Medium" panose="02040604050005020304" pitchFamily="18" charset="0"/>
                <a:cs typeface="Times New Roman" panose="02020603050405020304" pitchFamily="18" charset="0"/>
              </a:rPr>
              <a:t>				Calidad</a:t>
            </a:r>
          </a:p>
          <a:p>
            <a:r>
              <a:rPr lang="es-ES_tradnl" altLang="es-AR" sz="3200">
                <a:solidFill>
                  <a:schemeClr val="accent2"/>
                </a:solidFill>
                <a:latin typeface="Amasis MT Pro Medium" panose="02040604050005020304" pitchFamily="18" charset="0"/>
                <a:cs typeface="Times New Roman" panose="02020603050405020304" pitchFamily="18" charset="0"/>
              </a:rPr>
              <a:t>                                                                  </a:t>
            </a:r>
          </a:p>
          <a:p>
            <a:r>
              <a:rPr lang="es-ES_tradnl" altLang="es-AR" sz="3200">
                <a:solidFill>
                  <a:schemeClr val="accent2"/>
                </a:solidFill>
                <a:latin typeface="Amasis MT Pro Medium" panose="02040604050005020304" pitchFamily="18" charset="0"/>
                <a:cs typeface="Times New Roman" panose="02020603050405020304" pitchFamily="18" charset="0"/>
              </a:rPr>
              <a:t>Beneficios</a:t>
            </a:r>
          </a:p>
          <a:p>
            <a:r>
              <a:rPr lang="es-ES_tradnl" altLang="es-AR" sz="3200">
                <a:solidFill>
                  <a:schemeClr val="accent2"/>
                </a:solidFill>
                <a:latin typeface="Amasis MT Pro Medium" panose="02040604050005020304" pitchFamily="18" charset="0"/>
                <a:cs typeface="Times New Roman" panose="02020603050405020304" pitchFamily="18" charset="0"/>
              </a:rPr>
              <a:t>				</a:t>
            </a:r>
            <a:r>
              <a:rPr lang="es-ES_tradnl" altLang="es-AR" sz="3200">
                <a:solidFill>
                  <a:srgbClr val="C00000"/>
                </a:solidFill>
                <a:latin typeface="Amasis MT Pro Medium" panose="02040604050005020304" pitchFamily="18" charset="0"/>
                <a:cs typeface="Times New Roman" panose="02020603050405020304" pitchFamily="18" charset="0"/>
              </a:rPr>
              <a:t>Futuras Estimaciones</a:t>
            </a:r>
          </a:p>
          <a:p>
            <a:r>
              <a:rPr lang="es-ES_tradnl" altLang="es-AR" sz="3200">
                <a:solidFill>
                  <a:schemeClr val="accent2"/>
                </a:solidFill>
                <a:latin typeface="Amasis MT Pro Medium" panose="02040604050005020304" pitchFamily="18" charset="0"/>
                <a:cs typeface="Times New Roman" panose="02020603050405020304" pitchFamily="18" charset="0"/>
              </a:rPr>
              <a:t>                                                                  </a:t>
            </a:r>
          </a:p>
          <a:p>
            <a:r>
              <a:rPr lang="es-ES_tradnl" altLang="es-AR" sz="3200">
                <a:solidFill>
                  <a:schemeClr val="accent2"/>
                </a:solidFill>
                <a:latin typeface="Amasis MT Pro Medium" panose="02040604050005020304" pitchFamily="18" charset="0"/>
                <a:cs typeface="Times New Roman" panose="02020603050405020304" pitchFamily="18" charset="0"/>
              </a:rPr>
              <a:t>Medidas </a:t>
            </a:r>
          </a:p>
          <a:p>
            <a:r>
              <a:rPr lang="es-ES_tradnl" altLang="es-AR" sz="3200">
                <a:solidFill>
                  <a:schemeClr val="accent2"/>
                </a:solidFill>
                <a:latin typeface="Amasis MT Pro Medium" panose="02040604050005020304" pitchFamily="18" charset="0"/>
                <a:cs typeface="Times New Roman" panose="02020603050405020304" pitchFamily="18" charset="0"/>
              </a:rPr>
              <a:t>				</a:t>
            </a:r>
            <a:r>
              <a:rPr lang="es-ES_tradnl" altLang="es-AR" sz="3200">
                <a:solidFill>
                  <a:srgbClr val="C00000"/>
                </a:solidFill>
                <a:latin typeface="Amasis MT Pro Medium" panose="02040604050005020304" pitchFamily="18" charset="0"/>
                <a:cs typeface="Times New Roman" panose="02020603050405020304" pitchFamily="18" charset="0"/>
              </a:rPr>
              <a:t>Directas</a:t>
            </a:r>
          </a:p>
          <a:p>
            <a:r>
              <a:rPr lang="es-ES_tradnl" altLang="es-AR" sz="3200">
                <a:solidFill>
                  <a:srgbClr val="C00000"/>
                </a:solidFill>
                <a:latin typeface="Amasis MT Pro Medium" panose="02040604050005020304" pitchFamily="18" charset="0"/>
                <a:cs typeface="Times New Roman" panose="02020603050405020304" pitchFamily="18" charset="0"/>
              </a:rPr>
              <a:t>				Indirectas</a:t>
            </a:r>
          </a:p>
          <a:p>
            <a:r>
              <a:rPr lang="es-ES_tradnl" altLang="es-AR" u="sng">
                <a:solidFill>
                  <a:schemeClr val="tx2"/>
                </a:solidFill>
                <a:latin typeface="Tahoma" panose="020B0604030504040204" pitchFamily="34" charset="0"/>
              </a:rPr>
              <a:t>                                                                  </a:t>
            </a:r>
          </a:p>
        </p:txBody>
      </p:sp>
      <p:sp>
        <p:nvSpPr>
          <p:cNvPr id="2" name="Marcador de número de diapositiva 1">
            <a:extLst>
              <a:ext uri="{FF2B5EF4-FFF2-40B4-BE49-F238E27FC236}">
                <a16:creationId xmlns:a16="http://schemas.microsoft.com/office/drawing/2014/main" id="{5D53F7DE-1D71-7584-6BD3-0B76B4034136}"/>
              </a:ext>
            </a:extLst>
          </p:cNvPr>
          <p:cNvSpPr>
            <a:spLocks noGrp="1"/>
          </p:cNvSpPr>
          <p:nvPr>
            <p:ph type="sldNum" sz="quarter" idx="12"/>
          </p:nvPr>
        </p:nvSpPr>
        <p:spPr/>
        <p:txBody>
          <a:bodyPr/>
          <a:lstStyle/>
          <a:p>
            <a:fld id="{0E40E506-8910-4A1D-9597-9E72BD293B97}" type="slidenum">
              <a:rPr lang="en-US" smtClean="0"/>
              <a:t>17</a:t>
            </a:fld>
            <a:endParaRPr lang="es-E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192ABEAE-33EE-886E-C260-3ED973033AE9}"/>
              </a:ext>
            </a:extLst>
          </p:cNvPr>
          <p:cNvSpPr>
            <a:spLocks noChangeArrowheads="1"/>
          </p:cNvSpPr>
          <p:nvPr/>
        </p:nvSpPr>
        <p:spPr bwMode="auto">
          <a:xfrm>
            <a:off x="985421" y="2209801"/>
            <a:ext cx="10235954" cy="3032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buSzPct val="60000"/>
            </a:pPr>
            <a:r>
              <a:rPr lang="es-ES_tradnl" altLang="es-AR" sz="3200">
                <a:solidFill>
                  <a:srgbClr val="1A3260"/>
                </a:solidFill>
                <a:latin typeface="Amasis MT Pro Medium" panose="02040604050005020304" pitchFamily="18" charset="0"/>
                <a:cs typeface="Times New Roman" panose="02020603050405020304" pitchFamily="18" charset="0"/>
              </a:rPr>
              <a:t>Técnicas para la estimación de tiempos</a:t>
            </a:r>
          </a:p>
          <a:p>
            <a:pPr indent="-457200">
              <a:buSzPct val="60000"/>
              <a:buFont typeface="Wingdings" panose="05000000000000000000" pitchFamily="2" charset="2"/>
              <a:buChar char="n"/>
            </a:pPr>
            <a:endParaRPr lang="es-ES_tradnl" altLang="es-AR" sz="3200">
              <a:solidFill>
                <a:srgbClr val="1A3260"/>
              </a:solidFill>
              <a:latin typeface="Amasis MT Pro Medium" panose="02040604050005020304" pitchFamily="18" charset="0"/>
              <a:cs typeface="Times New Roman" panose="02020603050405020304" pitchFamily="18" charset="0"/>
            </a:endParaRPr>
          </a:p>
          <a:p>
            <a:pPr indent="-457200">
              <a:buSzPct val="60000"/>
              <a:buFont typeface="Wingdings" panose="05000000000000000000" pitchFamily="2" charset="2"/>
              <a:buChar char="n"/>
            </a:pPr>
            <a:r>
              <a:rPr lang="es-ES_tradnl" altLang="es-AR" sz="3200">
                <a:solidFill>
                  <a:srgbClr val="1A3260"/>
                </a:solidFill>
                <a:latin typeface="Amasis MT Pro Medium" panose="02040604050005020304" pitchFamily="18" charset="0"/>
                <a:cs typeface="Times New Roman" panose="02020603050405020304" pitchFamily="18" charset="0"/>
              </a:rPr>
              <a:t>Puntos Funcionales</a:t>
            </a:r>
          </a:p>
          <a:p>
            <a:pPr indent="-457200">
              <a:buSzPct val="60000"/>
              <a:buFont typeface="Wingdings" panose="05000000000000000000" pitchFamily="2" charset="2"/>
              <a:buChar char="n"/>
            </a:pPr>
            <a:endParaRPr lang="es-ES_tradnl" altLang="es-AR" sz="3200">
              <a:solidFill>
                <a:srgbClr val="1A3260"/>
              </a:solidFill>
              <a:latin typeface="Amasis MT Pro Medium" panose="02040604050005020304" pitchFamily="18" charset="0"/>
              <a:cs typeface="Times New Roman" panose="02020603050405020304" pitchFamily="18" charset="0"/>
            </a:endParaRPr>
          </a:p>
          <a:p>
            <a:pPr indent="-457200">
              <a:buSzPct val="60000"/>
              <a:buFont typeface="Wingdings" panose="05000000000000000000" pitchFamily="2" charset="2"/>
              <a:buChar char="n"/>
            </a:pPr>
            <a:r>
              <a:rPr lang="es-ES_tradnl" altLang="es-AR" sz="3200">
                <a:solidFill>
                  <a:srgbClr val="1A3260"/>
                </a:solidFill>
                <a:latin typeface="Amasis MT Pro Medium" panose="02040604050005020304" pitchFamily="18" charset="0"/>
                <a:cs typeface="Times New Roman" panose="02020603050405020304" pitchFamily="18" charset="0"/>
              </a:rPr>
              <a:t>COCOMO (</a:t>
            </a:r>
            <a:r>
              <a:rPr lang="es-ES_tradnl" altLang="es-AR" sz="3200" err="1">
                <a:solidFill>
                  <a:srgbClr val="1A3260"/>
                </a:solidFill>
                <a:latin typeface="Amasis MT Pro Medium" panose="02040604050005020304" pitchFamily="18" charset="0"/>
                <a:cs typeface="Times New Roman" panose="02020603050405020304" pitchFamily="18" charset="0"/>
              </a:rPr>
              <a:t>cost</a:t>
            </a:r>
            <a:r>
              <a:rPr lang="es-ES_tradnl" altLang="es-AR" sz="3200">
                <a:solidFill>
                  <a:srgbClr val="1A3260"/>
                </a:solidFill>
                <a:latin typeface="Amasis MT Pro Medium" panose="02040604050005020304" pitchFamily="18" charset="0"/>
                <a:cs typeface="Times New Roman" panose="02020603050405020304" pitchFamily="18" charset="0"/>
              </a:rPr>
              <a:t> </a:t>
            </a:r>
            <a:r>
              <a:rPr lang="es-ES_tradnl" altLang="es-AR" sz="3200" err="1">
                <a:solidFill>
                  <a:srgbClr val="1A3260"/>
                </a:solidFill>
                <a:latin typeface="Amasis MT Pro Medium" panose="02040604050005020304" pitchFamily="18" charset="0"/>
                <a:cs typeface="Times New Roman" panose="02020603050405020304" pitchFamily="18" charset="0"/>
              </a:rPr>
              <a:t>construction</a:t>
            </a:r>
            <a:r>
              <a:rPr lang="es-ES_tradnl" altLang="es-AR" sz="3200">
                <a:solidFill>
                  <a:srgbClr val="1A3260"/>
                </a:solidFill>
                <a:latin typeface="Amasis MT Pro Medium" panose="02040604050005020304" pitchFamily="18" charset="0"/>
                <a:cs typeface="Times New Roman" panose="02020603050405020304" pitchFamily="18" charset="0"/>
              </a:rPr>
              <a:t> </a:t>
            </a:r>
            <a:r>
              <a:rPr lang="es-ES_tradnl" altLang="es-AR" sz="3200" err="1">
                <a:solidFill>
                  <a:srgbClr val="1A3260"/>
                </a:solidFill>
                <a:latin typeface="Amasis MT Pro Medium" panose="02040604050005020304" pitchFamily="18" charset="0"/>
                <a:cs typeface="Times New Roman" panose="02020603050405020304" pitchFamily="18" charset="0"/>
              </a:rPr>
              <a:t>model</a:t>
            </a:r>
            <a:r>
              <a:rPr lang="es-ES_tradnl" altLang="es-AR" sz="3200">
                <a:solidFill>
                  <a:srgbClr val="1A3260"/>
                </a:solidFill>
                <a:latin typeface="Amasis MT Pro Medium" panose="02040604050005020304" pitchFamily="18" charset="0"/>
                <a:cs typeface="Times New Roman" panose="02020603050405020304" pitchFamily="18" charset="0"/>
              </a:rPr>
              <a:t>)</a:t>
            </a:r>
          </a:p>
          <a:p>
            <a:pPr>
              <a:buSzPct val="60000"/>
              <a:buFont typeface="Wingdings" panose="05000000000000000000" pitchFamily="2" charset="2"/>
              <a:buChar char="n"/>
            </a:pPr>
            <a:endParaRPr lang="es-ES_tradnl" altLang="es-AR" sz="3100">
              <a:solidFill>
                <a:srgbClr val="1A3260"/>
              </a:solidFill>
              <a:latin typeface="Tahoma" panose="020B0604030504040204" pitchFamily="34" charset="0"/>
            </a:endParaRPr>
          </a:p>
        </p:txBody>
      </p:sp>
      <p:sp>
        <p:nvSpPr>
          <p:cNvPr id="30724" name="Text Box 4">
            <a:extLst>
              <a:ext uri="{FF2B5EF4-FFF2-40B4-BE49-F238E27FC236}">
                <a16:creationId xmlns:a16="http://schemas.microsoft.com/office/drawing/2014/main" id="{98E8BFAF-1BC9-5F39-1A99-943EC3C5E667}"/>
              </a:ext>
            </a:extLst>
          </p:cNvPr>
          <p:cNvSpPr txBox="1">
            <a:spLocks noChangeArrowheads="1"/>
          </p:cNvSpPr>
          <p:nvPr/>
        </p:nvSpPr>
        <p:spPr bwMode="auto">
          <a:xfrm>
            <a:off x="2727325" y="132715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571500">
              <a:defRPr sz="2400">
                <a:solidFill>
                  <a:schemeClr val="tx1"/>
                </a:solidFill>
                <a:latin typeface="Times New Roman" panose="02020603050405020304" pitchFamily="18" charset="0"/>
              </a:defRPr>
            </a:lvl2pPr>
            <a:lvl3pPr marL="1143000">
              <a:defRPr sz="2400">
                <a:solidFill>
                  <a:schemeClr val="tx1"/>
                </a:solidFill>
                <a:latin typeface="Times New Roman" panose="02020603050405020304" pitchFamily="18" charset="0"/>
              </a:defRPr>
            </a:lvl3pPr>
            <a:lvl4pPr marL="1714500">
              <a:defRPr sz="2400">
                <a:solidFill>
                  <a:schemeClr val="tx1"/>
                </a:solidFill>
                <a:latin typeface="Times New Roman" panose="02020603050405020304" pitchFamily="18" charset="0"/>
              </a:defRPr>
            </a:lvl4pPr>
            <a:lvl5pPr marL="2286000">
              <a:defRPr sz="2400">
                <a:solidFill>
                  <a:schemeClr val="tx1"/>
                </a:solidFill>
                <a:latin typeface="Times New Roman" panose="02020603050405020304" pitchFamily="18" charset="0"/>
              </a:defRPr>
            </a:lvl5pPr>
            <a:lvl6pPr marL="2743200" eaLnBrk="0" fontAlgn="base" hangingPunct="0">
              <a:spcBef>
                <a:spcPct val="0"/>
              </a:spcBef>
              <a:spcAft>
                <a:spcPct val="0"/>
              </a:spcAft>
              <a:defRPr sz="2400">
                <a:solidFill>
                  <a:schemeClr val="tx1"/>
                </a:solidFill>
                <a:latin typeface="Times New Roman" panose="02020603050405020304" pitchFamily="18" charset="0"/>
              </a:defRPr>
            </a:lvl6pPr>
            <a:lvl7pPr marL="3200400" eaLnBrk="0" fontAlgn="base" hangingPunct="0">
              <a:spcBef>
                <a:spcPct val="0"/>
              </a:spcBef>
              <a:spcAft>
                <a:spcPct val="0"/>
              </a:spcAft>
              <a:defRPr sz="2400">
                <a:solidFill>
                  <a:schemeClr val="tx1"/>
                </a:solidFill>
                <a:latin typeface="Times New Roman" panose="02020603050405020304" pitchFamily="18" charset="0"/>
              </a:defRPr>
            </a:lvl7pPr>
            <a:lvl8pPr marL="3657600" eaLnBrk="0" fontAlgn="base" hangingPunct="0">
              <a:spcBef>
                <a:spcPct val="0"/>
              </a:spcBef>
              <a:spcAft>
                <a:spcPct val="0"/>
              </a:spcAft>
              <a:defRPr sz="2400">
                <a:solidFill>
                  <a:schemeClr val="tx1"/>
                </a:solidFill>
                <a:latin typeface="Times New Roman" panose="02020603050405020304" pitchFamily="18" charset="0"/>
              </a:defRPr>
            </a:lvl8pPr>
            <a:lvl9pPr marL="41148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s-AR" sz="1800">
              <a:latin typeface="Tahoma" panose="020B0604030504040204" pitchFamily="34" charset="0"/>
            </a:endParaRPr>
          </a:p>
        </p:txBody>
      </p:sp>
      <p:sp>
        <p:nvSpPr>
          <p:cNvPr id="30725" name="Rectangle 5">
            <a:extLst>
              <a:ext uri="{FF2B5EF4-FFF2-40B4-BE49-F238E27FC236}">
                <a16:creationId xmlns:a16="http://schemas.microsoft.com/office/drawing/2014/main" id="{869E140B-0C23-EC49-91E4-F6D7FB8E21E0}"/>
              </a:ext>
            </a:extLst>
          </p:cNvPr>
          <p:cNvSpPr>
            <a:spLocks noChangeArrowheads="1"/>
          </p:cNvSpPr>
          <p:nvPr/>
        </p:nvSpPr>
        <p:spPr bwMode="auto">
          <a:xfrm>
            <a:off x="355170" y="598842"/>
            <a:ext cx="74834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rgbClr val="1A3260"/>
                </a:solidFill>
                <a:latin typeface="Amasis MT Pro Medium" panose="02040604050005020304" pitchFamily="18" charset="0"/>
                <a:cs typeface="Times New Roman" panose="02020603050405020304" pitchFamily="18" charset="0"/>
              </a:rPr>
              <a:t>Dirección de Proyectos</a:t>
            </a:r>
          </a:p>
        </p:txBody>
      </p:sp>
      <p:sp>
        <p:nvSpPr>
          <p:cNvPr id="2" name="Marcador de número de diapositiva 1">
            <a:extLst>
              <a:ext uri="{FF2B5EF4-FFF2-40B4-BE49-F238E27FC236}">
                <a16:creationId xmlns:a16="http://schemas.microsoft.com/office/drawing/2014/main" id="{29D745FF-E793-47DF-E3EE-350ABFC78E9E}"/>
              </a:ext>
            </a:extLst>
          </p:cNvPr>
          <p:cNvSpPr>
            <a:spLocks noGrp="1"/>
          </p:cNvSpPr>
          <p:nvPr>
            <p:ph type="sldNum" sz="quarter" idx="12"/>
          </p:nvPr>
        </p:nvSpPr>
        <p:spPr/>
        <p:txBody>
          <a:bodyPr/>
          <a:lstStyle/>
          <a:p>
            <a:fld id="{0E40E506-8910-4A1D-9597-9E72BD293B97}" type="slidenum">
              <a:rPr lang="en-US" smtClean="0"/>
              <a:t>18</a:t>
            </a:fld>
            <a:endParaRPr lang="es-E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CE49E25-3E54-47C6-8347-D76D8B9CB197}"/>
              </a:ext>
            </a:extLst>
          </p:cNvPr>
          <p:cNvSpPr txBox="1"/>
          <p:nvPr/>
        </p:nvSpPr>
        <p:spPr>
          <a:xfrm>
            <a:off x="1127464" y="1808371"/>
            <a:ext cx="10014012" cy="2992871"/>
          </a:xfrm>
          <a:prstGeom prst="rect">
            <a:avLst/>
          </a:prstGeom>
          <a:noFill/>
        </p:spPr>
        <p:txBody>
          <a:bodyPr wrap="square" lIns="91440" tIns="45720" rIns="91440" bIns="45720" anchor="t">
            <a:spAutoFit/>
          </a:bodyPr>
          <a:lstStyle/>
          <a:p>
            <a:pPr>
              <a:buSzPct val="60000"/>
            </a:pPr>
            <a:r>
              <a:rPr lang="es-ES_tradnl" altLang="es-AR" sz="2400" b="1">
                <a:solidFill>
                  <a:srgbClr val="1A3260"/>
                </a:solidFill>
                <a:latin typeface="Amasis MT Pro Medium"/>
                <a:cs typeface="Times New Roman"/>
              </a:rPr>
              <a:t>Puntos Funcionales </a:t>
            </a:r>
            <a:endParaRPr lang="es-ES">
              <a:solidFill>
                <a:srgbClr val="1A3260"/>
              </a:solidFill>
              <a:latin typeface="Amasis MT Pro Medium"/>
              <a:cs typeface="Times New Roman"/>
            </a:endParaRPr>
          </a:p>
          <a:p>
            <a:pPr>
              <a:buSzPct val="60000"/>
            </a:pPr>
            <a:endParaRPr lang="es-ES_tradnl" altLang="es-AR" sz="1800">
              <a:solidFill>
                <a:srgbClr val="1A3260"/>
              </a:solidFill>
              <a:latin typeface="Tahoma" panose="020B0604030504040204" pitchFamily="34" charset="0"/>
            </a:endParaRPr>
          </a:p>
          <a:p>
            <a:pPr algn="just">
              <a:lnSpc>
                <a:spcPct val="150000"/>
              </a:lnSpc>
              <a:buSzPct val="60000"/>
              <a:buFont typeface="Wingdings" panose="05000000000000000000" pitchFamily="2" charset="2"/>
              <a:buChar char="n"/>
            </a:pPr>
            <a:r>
              <a:rPr lang="es-ES" sz="2000">
                <a:solidFill>
                  <a:srgbClr val="1A3260"/>
                </a:solidFill>
                <a:latin typeface="Amasis MT Pro Medium"/>
                <a:cs typeface="Times New Roman"/>
              </a:rPr>
              <a:t>Los puntos de función miden el tamaño de un sistema de aplicación basándose en la vista funcional del sistema . </a:t>
            </a:r>
          </a:p>
          <a:p>
            <a:pPr algn="just">
              <a:lnSpc>
                <a:spcPct val="150000"/>
              </a:lnSpc>
              <a:buSzPct val="60000"/>
              <a:buFont typeface="Wingdings" panose="05000000000000000000" pitchFamily="2" charset="2"/>
              <a:buChar char="n"/>
            </a:pPr>
            <a:r>
              <a:rPr lang="es-ES" sz="2000">
                <a:solidFill>
                  <a:srgbClr val="1A3260"/>
                </a:solidFill>
                <a:latin typeface="Amasis MT Pro Medium"/>
                <a:cs typeface="Times New Roman"/>
              </a:rPr>
              <a:t>El tamaño se determina contando el número de entradas, salidas, consultas, archivos internos y archivos externos en el sistema y ajustando ese total a la complejidad funcional del sistema.</a:t>
            </a:r>
            <a:endParaRPr lang="es-ES_tradnl" altLang="es-AR" sz="2000">
              <a:solidFill>
                <a:srgbClr val="1A3260"/>
              </a:solidFill>
              <a:latin typeface="Amasis MT Pro Medium"/>
              <a:cs typeface="Times New Roman"/>
            </a:endParaRPr>
          </a:p>
        </p:txBody>
      </p:sp>
      <p:sp>
        <p:nvSpPr>
          <p:cNvPr id="4" name="Rectangle 5">
            <a:extLst>
              <a:ext uri="{FF2B5EF4-FFF2-40B4-BE49-F238E27FC236}">
                <a16:creationId xmlns:a16="http://schemas.microsoft.com/office/drawing/2014/main" id="{5BD05668-46B1-F8D2-6940-69F84D122BC6}"/>
              </a:ext>
            </a:extLst>
          </p:cNvPr>
          <p:cNvSpPr>
            <a:spLocks noChangeArrowheads="1"/>
          </p:cNvSpPr>
          <p:nvPr/>
        </p:nvSpPr>
        <p:spPr bwMode="auto">
          <a:xfrm>
            <a:off x="355170" y="598842"/>
            <a:ext cx="74834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rgbClr val="1A3260"/>
                </a:solidFill>
                <a:latin typeface="Amasis MT Pro Medium" panose="02040604050005020304" pitchFamily="18" charset="0"/>
                <a:cs typeface="Times New Roman" panose="02020603050405020304" pitchFamily="18" charset="0"/>
              </a:rPr>
              <a:t>Dirección de Proyectos</a:t>
            </a:r>
          </a:p>
        </p:txBody>
      </p:sp>
      <p:sp>
        <p:nvSpPr>
          <p:cNvPr id="2" name="Marcador de número de diapositiva 1">
            <a:extLst>
              <a:ext uri="{FF2B5EF4-FFF2-40B4-BE49-F238E27FC236}">
                <a16:creationId xmlns:a16="http://schemas.microsoft.com/office/drawing/2014/main" id="{6FEF22DD-BC48-E8DF-EA59-632C544564F5}"/>
              </a:ext>
            </a:extLst>
          </p:cNvPr>
          <p:cNvSpPr>
            <a:spLocks noGrp="1"/>
          </p:cNvSpPr>
          <p:nvPr>
            <p:ph type="sldNum" sz="quarter" idx="12"/>
          </p:nvPr>
        </p:nvSpPr>
        <p:spPr/>
        <p:txBody>
          <a:bodyPr/>
          <a:lstStyle/>
          <a:p>
            <a:fld id="{0E40E506-8910-4A1D-9597-9E72BD293B97}" type="slidenum">
              <a:rPr lang="en-US" smtClean="0"/>
              <a:t>19</a:t>
            </a:fld>
            <a:endParaRPr lang="es-ES"/>
          </a:p>
        </p:txBody>
      </p:sp>
    </p:spTree>
    <p:extLst>
      <p:ext uri="{BB962C8B-B14F-4D97-AF65-F5344CB8AC3E}">
        <p14:creationId xmlns:p14="http://schemas.microsoft.com/office/powerpoint/2010/main" val="270590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CE0D39B-A328-C923-2709-8A6D922D7CCA}"/>
              </a:ext>
            </a:extLst>
          </p:cNvPr>
          <p:cNvSpPr txBox="1"/>
          <p:nvPr/>
        </p:nvSpPr>
        <p:spPr>
          <a:xfrm>
            <a:off x="621437" y="1506529"/>
            <a:ext cx="10670959" cy="4339650"/>
          </a:xfrm>
          <a:prstGeom prst="rect">
            <a:avLst/>
          </a:prstGeom>
          <a:noFill/>
        </p:spPr>
        <p:txBody>
          <a:bodyPr wrap="square">
            <a:spAutoFit/>
          </a:bodyPr>
          <a:lstStyle/>
          <a:p>
            <a:pPr>
              <a:buSzPct val="60000"/>
            </a:pPr>
            <a:r>
              <a:rPr lang="es-ES_tradnl" altLang="es-AR" sz="2400" b="1">
                <a:solidFill>
                  <a:srgbClr val="1A3260"/>
                </a:solidFill>
                <a:latin typeface="Amasis MT Pro Medium" panose="02040604050005020304" pitchFamily="18" charset="0"/>
                <a:cs typeface="Times New Roman" panose="02020603050405020304" pitchFamily="18" charset="0"/>
              </a:rPr>
              <a:t>COCOMO (</a:t>
            </a:r>
            <a:r>
              <a:rPr lang="es-ES_tradnl" altLang="es-AR" sz="2400" b="1" err="1">
                <a:solidFill>
                  <a:srgbClr val="1A3260"/>
                </a:solidFill>
                <a:latin typeface="Amasis MT Pro Medium" panose="02040604050005020304" pitchFamily="18" charset="0"/>
                <a:cs typeface="Times New Roman" panose="02020603050405020304" pitchFamily="18" charset="0"/>
              </a:rPr>
              <a:t>cost</a:t>
            </a:r>
            <a:r>
              <a:rPr lang="es-ES_tradnl" altLang="es-AR" sz="2400" b="1">
                <a:solidFill>
                  <a:srgbClr val="1A3260"/>
                </a:solidFill>
                <a:latin typeface="Amasis MT Pro Medium" panose="02040604050005020304" pitchFamily="18" charset="0"/>
                <a:cs typeface="Times New Roman" panose="02020603050405020304" pitchFamily="18" charset="0"/>
              </a:rPr>
              <a:t> </a:t>
            </a:r>
            <a:r>
              <a:rPr lang="es-ES_tradnl" altLang="es-AR" sz="2400" b="1" err="1">
                <a:solidFill>
                  <a:srgbClr val="1A3260"/>
                </a:solidFill>
                <a:latin typeface="Amasis MT Pro Medium" panose="02040604050005020304" pitchFamily="18" charset="0"/>
                <a:cs typeface="Times New Roman" panose="02020603050405020304" pitchFamily="18" charset="0"/>
              </a:rPr>
              <a:t>construction</a:t>
            </a:r>
            <a:r>
              <a:rPr lang="es-ES_tradnl" altLang="es-AR" sz="2400" b="1">
                <a:solidFill>
                  <a:srgbClr val="1A3260"/>
                </a:solidFill>
                <a:latin typeface="Amasis MT Pro Medium" panose="02040604050005020304" pitchFamily="18" charset="0"/>
                <a:cs typeface="Times New Roman" panose="02020603050405020304" pitchFamily="18" charset="0"/>
              </a:rPr>
              <a:t> </a:t>
            </a:r>
            <a:r>
              <a:rPr lang="es-ES_tradnl" altLang="es-AR" sz="2400" b="1" err="1">
                <a:solidFill>
                  <a:srgbClr val="1A3260"/>
                </a:solidFill>
                <a:latin typeface="Amasis MT Pro Medium" panose="02040604050005020304" pitchFamily="18" charset="0"/>
                <a:cs typeface="Times New Roman" panose="02020603050405020304" pitchFamily="18" charset="0"/>
              </a:rPr>
              <a:t>model</a:t>
            </a:r>
            <a:r>
              <a:rPr lang="es-ES_tradnl" altLang="es-AR" sz="2400" b="1">
                <a:solidFill>
                  <a:srgbClr val="1A3260"/>
                </a:solidFill>
                <a:latin typeface="Amasis MT Pro Medium" panose="02040604050005020304" pitchFamily="18" charset="0"/>
                <a:cs typeface="Times New Roman" panose="02020603050405020304" pitchFamily="18" charset="0"/>
              </a:rPr>
              <a:t>)</a:t>
            </a:r>
          </a:p>
          <a:p>
            <a:pPr indent="-457200">
              <a:buSzPct val="60000"/>
              <a:buFont typeface="Wingdings" panose="05000000000000000000" pitchFamily="2" charset="2"/>
              <a:buChar char="n"/>
            </a:pPr>
            <a:endParaRPr lang="es-ES_tradnl" altLang="es-AR">
              <a:solidFill>
                <a:srgbClr val="1A3260"/>
              </a:solidFill>
              <a:latin typeface="Amasis MT Pro Medium" panose="02040604050005020304" pitchFamily="18" charset="0"/>
              <a:cs typeface="Times New Roman" panose="02020603050405020304" pitchFamily="18" charset="0"/>
            </a:endParaRPr>
          </a:p>
          <a:p>
            <a:pPr>
              <a:buSzPct val="60000"/>
            </a:pPr>
            <a:r>
              <a:rPr lang="es-ES_tradnl" altLang="es-AR" sz="1800" b="1">
                <a:solidFill>
                  <a:srgbClr val="1A3260"/>
                </a:solidFill>
                <a:latin typeface="Amasis MT Pro Medium" panose="02040604050005020304" pitchFamily="18" charset="0"/>
                <a:cs typeface="Times New Roman" panose="02020603050405020304" pitchFamily="18" charset="0"/>
              </a:rPr>
              <a:t>COCOMO BASICO:</a:t>
            </a:r>
          </a:p>
          <a:p>
            <a:pPr>
              <a:buSzPct val="60000"/>
            </a:pPr>
            <a:endParaRPr lang="es-ES_tradnl" altLang="es-AR" sz="1800" b="1">
              <a:solidFill>
                <a:srgbClr val="1A3260"/>
              </a:solidFill>
              <a:latin typeface="Amasis MT Pro Medium" panose="02040604050005020304" pitchFamily="18" charset="0"/>
              <a:cs typeface="Times New Roman" panose="02020603050405020304" pitchFamily="18" charset="0"/>
            </a:endParaRPr>
          </a:p>
          <a:p>
            <a:pPr indent="-457200">
              <a:buSzPct val="60000"/>
              <a:buFont typeface="Wingdings" panose="05000000000000000000" pitchFamily="2" charset="2"/>
              <a:buChar char="n"/>
            </a:pPr>
            <a:r>
              <a:rPr lang="es-ES_tradnl" altLang="es-AR" sz="1800">
                <a:solidFill>
                  <a:srgbClr val="1A3260"/>
                </a:solidFill>
                <a:latin typeface="Amasis MT Pro Medium" panose="02040604050005020304" pitchFamily="18" charset="0"/>
                <a:cs typeface="Times New Roman" panose="02020603050405020304" pitchFamily="18" charset="0"/>
              </a:rPr>
              <a:t>Calcula esfuerz</a:t>
            </a:r>
            <a:r>
              <a:rPr lang="es-ES_tradnl" altLang="es-AR">
                <a:solidFill>
                  <a:srgbClr val="1A3260"/>
                </a:solidFill>
                <a:latin typeface="Amasis MT Pro Medium" panose="02040604050005020304" pitchFamily="18" charset="0"/>
                <a:cs typeface="Times New Roman" panose="02020603050405020304" pitchFamily="18" charset="0"/>
              </a:rPr>
              <a:t>o y costo del desarrollo en función del programa, expresados en LDC</a:t>
            </a:r>
          </a:p>
          <a:p>
            <a:pPr indent="-457200">
              <a:buSzPct val="60000"/>
              <a:buFont typeface="Wingdings" panose="05000000000000000000" pitchFamily="2" charset="2"/>
              <a:buChar char="n"/>
            </a:pPr>
            <a:endParaRPr lang="es-ES_tradnl" altLang="es-AR" sz="1800">
              <a:solidFill>
                <a:srgbClr val="1A3260"/>
              </a:solidFill>
              <a:latin typeface="Amasis MT Pro Medium" panose="02040604050005020304" pitchFamily="18" charset="0"/>
              <a:cs typeface="Times New Roman" panose="02020603050405020304" pitchFamily="18" charset="0"/>
            </a:endParaRPr>
          </a:p>
          <a:p>
            <a:pPr>
              <a:buSzPct val="60000"/>
            </a:pPr>
            <a:r>
              <a:rPr lang="es-ES_tradnl" altLang="es-AR" b="1">
                <a:solidFill>
                  <a:srgbClr val="1A3260"/>
                </a:solidFill>
                <a:latin typeface="Amasis MT Pro Medium" panose="02040604050005020304" pitchFamily="18" charset="0"/>
                <a:cs typeface="Times New Roman" panose="02020603050405020304" pitchFamily="18" charset="0"/>
              </a:rPr>
              <a:t>COCOMO INTERMEDIO:</a:t>
            </a:r>
          </a:p>
          <a:p>
            <a:pPr>
              <a:buSzPct val="60000"/>
            </a:pPr>
            <a:endParaRPr lang="es-ES_tradnl" altLang="es-AR" b="1">
              <a:solidFill>
                <a:srgbClr val="1A3260"/>
              </a:solidFill>
              <a:latin typeface="Amasis MT Pro Medium" panose="02040604050005020304" pitchFamily="18" charset="0"/>
              <a:cs typeface="Times New Roman" panose="02020603050405020304" pitchFamily="18" charset="0"/>
            </a:endParaRPr>
          </a:p>
          <a:p>
            <a:pPr indent="-457200">
              <a:buSzPct val="60000"/>
              <a:buFont typeface="Wingdings" panose="05000000000000000000" pitchFamily="2" charset="2"/>
              <a:buChar char="n"/>
            </a:pPr>
            <a:r>
              <a:rPr lang="es-ES_tradnl" altLang="es-AR" sz="1800">
                <a:solidFill>
                  <a:srgbClr val="1A3260"/>
                </a:solidFill>
                <a:latin typeface="Amasis MT Pro Medium" panose="02040604050005020304" pitchFamily="18" charset="0"/>
                <a:cs typeface="Times New Roman" panose="02020603050405020304" pitchFamily="18" charset="0"/>
              </a:rPr>
              <a:t>Calcula es</a:t>
            </a:r>
            <a:r>
              <a:rPr lang="es-ES_tradnl" altLang="es-AR">
                <a:solidFill>
                  <a:srgbClr val="1A3260"/>
                </a:solidFill>
                <a:latin typeface="Amasis MT Pro Medium" panose="02040604050005020304" pitchFamily="18" charset="0"/>
                <a:cs typeface="Times New Roman" panose="02020603050405020304" pitchFamily="18" charset="0"/>
              </a:rPr>
              <a:t>fuerzo y costo en función de costo con atributos del producto del HW, del personal y 	del proyecto.</a:t>
            </a:r>
          </a:p>
          <a:p>
            <a:pPr indent="-457200">
              <a:buSzPct val="60000"/>
              <a:buFont typeface="Wingdings" panose="05000000000000000000" pitchFamily="2" charset="2"/>
              <a:buChar char="n"/>
            </a:pPr>
            <a:endParaRPr lang="es-ES_tradnl" altLang="es-AR" sz="1800">
              <a:solidFill>
                <a:srgbClr val="1A3260"/>
              </a:solidFill>
              <a:latin typeface="Amasis MT Pro Medium" panose="02040604050005020304" pitchFamily="18" charset="0"/>
              <a:cs typeface="Times New Roman" panose="02020603050405020304" pitchFamily="18" charset="0"/>
            </a:endParaRPr>
          </a:p>
          <a:p>
            <a:pPr>
              <a:buSzPct val="60000"/>
            </a:pPr>
            <a:r>
              <a:rPr lang="es-ES_tradnl" altLang="es-AR" b="1">
                <a:solidFill>
                  <a:srgbClr val="1A3260"/>
                </a:solidFill>
                <a:latin typeface="Amasis MT Pro Medium" panose="02040604050005020304" pitchFamily="18" charset="0"/>
                <a:cs typeface="Times New Roman" panose="02020603050405020304" pitchFamily="18" charset="0"/>
              </a:rPr>
              <a:t>COCOMO DETALLADO:</a:t>
            </a:r>
          </a:p>
          <a:p>
            <a:pPr>
              <a:buSzPct val="60000"/>
            </a:pPr>
            <a:endParaRPr lang="es-ES_tradnl" altLang="es-AR" b="1">
              <a:solidFill>
                <a:srgbClr val="1A3260"/>
              </a:solidFill>
              <a:latin typeface="Amasis MT Pro Medium" panose="02040604050005020304" pitchFamily="18" charset="0"/>
              <a:cs typeface="Times New Roman" panose="02020603050405020304" pitchFamily="18" charset="0"/>
            </a:endParaRPr>
          </a:p>
          <a:p>
            <a:pPr indent="-457200">
              <a:buSzPct val="60000"/>
              <a:buFont typeface="Wingdings" panose="05000000000000000000" pitchFamily="2" charset="2"/>
              <a:buChar char="n"/>
            </a:pPr>
            <a:r>
              <a:rPr lang="es-ES_tradnl" altLang="es-AR">
                <a:solidFill>
                  <a:srgbClr val="1A3260"/>
                </a:solidFill>
                <a:latin typeface="Amasis MT Pro Medium" panose="02040604050005020304" pitchFamily="18" charset="0"/>
                <a:cs typeface="Times New Roman" panose="02020603050405020304" pitchFamily="18" charset="0"/>
              </a:rPr>
              <a:t>Incorpora las características del intermedio + evaluación de las condiciones de costo en cada 	fase del proyecto.</a:t>
            </a:r>
            <a:endParaRPr lang="es-ES_tradnl" altLang="es-AR" sz="1800">
              <a:solidFill>
                <a:srgbClr val="1A3260"/>
              </a:solidFill>
              <a:latin typeface="Amasis MT Pro Medium" panose="02040604050005020304" pitchFamily="18" charset="0"/>
              <a:cs typeface="Times New Roman" panose="02020603050405020304" pitchFamily="18" charset="0"/>
            </a:endParaRPr>
          </a:p>
        </p:txBody>
      </p:sp>
      <p:sp>
        <p:nvSpPr>
          <p:cNvPr id="4" name="Rectangle 5">
            <a:extLst>
              <a:ext uri="{FF2B5EF4-FFF2-40B4-BE49-F238E27FC236}">
                <a16:creationId xmlns:a16="http://schemas.microsoft.com/office/drawing/2014/main" id="{B6BA083A-A9B3-4313-EF71-EFE08EDB1467}"/>
              </a:ext>
            </a:extLst>
          </p:cNvPr>
          <p:cNvSpPr>
            <a:spLocks noChangeArrowheads="1"/>
          </p:cNvSpPr>
          <p:nvPr/>
        </p:nvSpPr>
        <p:spPr bwMode="auto">
          <a:xfrm>
            <a:off x="355170" y="499056"/>
            <a:ext cx="74834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rgbClr val="1A3260"/>
                </a:solidFill>
                <a:latin typeface="Amasis MT Pro Medium" panose="02040604050005020304" pitchFamily="18" charset="0"/>
                <a:cs typeface="Times New Roman" panose="02020603050405020304" pitchFamily="18" charset="0"/>
              </a:rPr>
              <a:t>Dirección de Proyectos</a:t>
            </a:r>
          </a:p>
        </p:txBody>
      </p:sp>
      <p:sp>
        <p:nvSpPr>
          <p:cNvPr id="2" name="Marcador de número de diapositiva 1">
            <a:extLst>
              <a:ext uri="{FF2B5EF4-FFF2-40B4-BE49-F238E27FC236}">
                <a16:creationId xmlns:a16="http://schemas.microsoft.com/office/drawing/2014/main" id="{6E0C40D7-A64F-7A93-007E-0970A7F525AB}"/>
              </a:ext>
            </a:extLst>
          </p:cNvPr>
          <p:cNvSpPr>
            <a:spLocks noGrp="1"/>
          </p:cNvSpPr>
          <p:nvPr>
            <p:ph type="sldNum" sz="quarter" idx="12"/>
          </p:nvPr>
        </p:nvSpPr>
        <p:spPr/>
        <p:txBody>
          <a:bodyPr/>
          <a:lstStyle/>
          <a:p>
            <a:fld id="{0E40E506-8910-4A1D-9597-9E72BD293B97}" type="slidenum">
              <a:rPr lang="en-US" smtClean="0"/>
              <a:t>20</a:t>
            </a:fld>
            <a:endParaRPr lang="es-ES"/>
          </a:p>
        </p:txBody>
      </p:sp>
    </p:spTree>
    <p:extLst>
      <p:ext uri="{BB962C8B-B14F-4D97-AF65-F5344CB8AC3E}">
        <p14:creationId xmlns:p14="http://schemas.microsoft.com/office/powerpoint/2010/main" val="1686835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4B89100-3614-9A97-A4E0-62C1F4ADB7A2}"/>
              </a:ext>
            </a:extLst>
          </p:cNvPr>
          <p:cNvSpPr txBox="1"/>
          <p:nvPr/>
        </p:nvSpPr>
        <p:spPr>
          <a:xfrm>
            <a:off x="585926" y="2143733"/>
            <a:ext cx="10315853" cy="3231654"/>
          </a:xfrm>
          <a:prstGeom prst="rect">
            <a:avLst/>
          </a:prstGeom>
          <a:noFill/>
        </p:spPr>
        <p:txBody>
          <a:bodyPr wrap="square">
            <a:spAutoFit/>
          </a:bodyPr>
          <a:lstStyle/>
          <a:p>
            <a:pPr>
              <a:buSzPct val="60000"/>
            </a:pPr>
            <a:r>
              <a:rPr lang="es-ES_tradnl" altLang="es-AR" sz="2400" b="1">
                <a:solidFill>
                  <a:srgbClr val="1A3260"/>
                </a:solidFill>
                <a:latin typeface="Amasis MT Pro Medium" panose="02040604050005020304" pitchFamily="18" charset="0"/>
                <a:cs typeface="Times New Roman" panose="02020603050405020304" pitchFamily="18" charset="0"/>
              </a:rPr>
              <a:t>Estimación LDC y PF</a:t>
            </a:r>
          </a:p>
          <a:p>
            <a:pPr>
              <a:buSzPct val="60000"/>
            </a:pPr>
            <a:endParaRPr lang="es-ES_tradnl" altLang="es-AR">
              <a:solidFill>
                <a:srgbClr val="1A3260"/>
              </a:solidFill>
              <a:latin typeface="Amasis MT Pro Medium" panose="02040604050005020304" pitchFamily="18" charset="0"/>
              <a:cs typeface="Times New Roman" panose="02020603050405020304" pitchFamily="18" charset="0"/>
            </a:endParaRPr>
          </a:p>
          <a:p>
            <a:pPr>
              <a:buSzPct val="60000"/>
            </a:pPr>
            <a:r>
              <a:rPr lang="es-ES_tradnl" altLang="es-AR">
                <a:solidFill>
                  <a:srgbClr val="1A3260"/>
                </a:solidFill>
                <a:latin typeface="Amasis MT Pro Medium" panose="02040604050005020304" pitchFamily="18" charset="0"/>
                <a:cs typeface="Times New Roman" panose="02020603050405020304" pitchFamily="18" charset="0"/>
              </a:rPr>
              <a:t>Las estimaciones de LDC y PF son técnicas de estimación diferentes:</a:t>
            </a:r>
          </a:p>
          <a:p>
            <a:pPr>
              <a:buSzPct val="60000"/>
            </a:pPr>
            <a:endParaRPr lang="es-ES_tradnl" altLang="es-AR">
              <a:solidFill>
                <a:srgbClr val="1A3260"/>
              </a:solidFill>
              <a:latin typeface="Amasis MT Pro Medium" panose="02040604050005020304" pitchFamily="18" charset="0"/>
              <a:cs typeface="Times New Roman" panose="02020603050405020304" pitchFamily="18" charset="0"/>
            </a:endParaRPr>
          </a:p>
          <a:p>
            <a:pPr>
              <a:buSzPct val="60000"/>
            </a:pPr>
            <a:endParaRPr lang="es-ES_tradnl" altLang="es-AR">
              <a:solidFill>
                <a:srgbClr val="1A3260"/>
              </a:solidFill>
              <a:latin typeface="Amasis MT Pro Medium" panose="02040604050005020304" pitchFamily="18" charset="0"/>
              <a:cs typeface="Times New Roman" panose="02020603050405020304" pitchFamily="18" charset="0"/>
            </a:endParaRPr>
          </a:p>
          <a:p>
            <a:pPr marL="1657350" lvl="3" indent="-285750">
              <a:buSzPct val="60000"/>
              <a:buFont typeface="Wingdings" panose="05000000000000000000" pitchFamily="2" charset="2"/>
              <a:buChar char="§"/>
            </a:pPr>
            <a:r>
              <a:rPr lang="es-ES_tradnl" altLang="es-AR">
                <a:solidFill>
                  <a:srgbClr val="1A3260"/>
                </a:solidFill>
                <a:latin typeface="Amasis MT Pro Medium" panose="02040604050005020304" pitchFamily="18" charset="0"/>
                <a:cs typeface="Times New Roman" panose="02020603050405020304" pitchFamily="18" charset="0"/>
              </a:rPr>
              <a:t>LDC (Orientadas al tamaño)</a:t>
            </a:r>
          </a:p>
          <a:p>
            <a:pPr marL="1657350" lvl="3" indent="-285750">
              <a:buSzPct val="60000"/>
              <a:buFont typeface="Wingdings" panose="05000000000000000000" pitchFamily="2" charset="2"/>
              <a:buChar char="§"/>
            </a:pPr>
            <a:r>
              <a:rPr lang="es-ES_tradnl" altLang="es-AR">
                <a:solidFill>
                  <a:srgbClr val="1A3260"/>
                </a:solidFill>
                <a:latin typeface="Amasis MT Pro Medium" panose="02040604050005020304" pitchFamily="18" charset="0"/>
                <a:cs typeface="Times New Roman" panose="02020603050405020304" pitchFamily="18" charset="0"/>
              </a:rPr>
              <a:t>PF (Orientadas a la función)</a:t>
            </a:r>
          </a:p>
          <a:p>
            <a:pPr>
              <a:buSzPct val="60000"/>
            </a:pPr>
            <a:endParaRPr lang="es-ES_tradnl" altLang="es-AR">
              <a:solidFill>
                <a:srgbClr val="1A3260"/>
              </a:solidFill>
              <a:latin typeface="Amasis MT Pro Medium" panose="02040604050005020304" pitchFamily="18" charset="0"/>
              <a:cs typeface="Times New Roman" panose="02020603050405020304" pitchFamily="18" charset="0"/>
            </a:endParaRPr>
          </a:p>
          <a:p>
            <a:pPr>
              <a:buSzPct val="60000"/>
            </a:pPr>
            <a:endParaRPr lang="es-ES_tradnl" altLang="es-AR">
              <a:solidFill>
                <a:srgbClr val="1A3260"/>
              </a:solidFill>
              <a:latin typeface="Amasis MT Pro Medium" panose="02040604050005020304" pitchFamily="18" charset="0"/>
              <a:cs typeface="Times New Roman" panose="02020603050405020304" pitchFamily="18" charset="0"/>
            </a:endParaRPr>
          </a:p>
          <a:p>
            <a:pPr>
              <a:buSzPct val="60000"/>
            </a:pPr>
            <a:r>
              <a:rPr lang="es-ES_tradnl" altLang="es-AR">
                <a:solidFill>
                  <a:srgbClr val="1A3260"/>
                </a:solidFill>
                <a:latin typeface="Amasis MT Pro Medium" panose="02040604050005020304" pitchFamily="18" charset="0"/>
                <a:cs typeface="Times New Roman" panose="02020603050405020304" pitchFamily="18" charset="0"/>
              </a:rPr>
              <a:t>Los datos de LDC y PF se utilizan de dos formas durante la estimación del proyecto de software.</a:t>
            </a:r>
          </a:p>
          <a:p>
            <a:pPr>
              <a:buSzPct val="60000"/>
              <a:buFont typeface="Wingdings" panose="05000000000000000000" pitchFamily="2" charset="2"/>
              <a:buChar char="n"/>
            </a:pPr>
            <a:endParaRPr lang="es-ES_tradnl" altLang="es-AR" sz="1800">
              <a:solidFill>
                <a:srgbClr val="1A3260"/>
              </a:solidFill>
              <a:latin typeface="Tahoma" panose="020B0604030504040204" pitchFamily="34" charset="0"/>
            </a:endParaRPr>
          </a:p>
        </p:txBody>
      </p:sp>
      <p:sp>
        <p:nvSpPr>
          <p:cNvPr id="7" name="Rectangle 5">
            <a:extLst>
              <a:ext uri="{FF2B5EF4-FFF2-40B4-BE49-F238E27FC236}">
                <a16:creationId xmlns:a16="http://schemas.microsoft.com/office/drawing/2014/main" id="{491147EB-295A-D8FE-C484-AF62DCED8509}"/>
              </a:ext>
            </a:extLst>
          </p:cNvPr>
          <p:cNvSpPr>
            <a:spLocks noChangeArrowheads="1"/>
          </p:cNvSpPr>
          <p:nvPr/>
        </p:nvSpPr>
        <p:spPr bwMode="auto">
          <a:xfrm>
            <a:off x="355170" y="598842"/>
            <a:ext cx="74834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rgbClr val="1A3260"/>
                </a:solidFill>
                <a:latin typeface="Amasis MT Pro Medium" panose="02040604050005020304" pitchFamily="18" charset="0"/>
                <a:cs typeface="Times New Roman" panose="02020603050405020304" pitchFamily="18" charset="0"/>
              </a:rPr>
              <a:t>Dirección de Proyectos</a:t>
            </a:r>
          </a:p>
        </p:txBody>
      </p:sp>
      <p:sp>
        <p:nvSpPr>
          <p:cNvPr id="2" name="Marcador de número de diapositiva 1">
            <a:extLst>
              <a:ext uri="{FF2B5EF4-FFF2-40B4-BE49-F238E27FC236}">
                <a16:creationId xmlns:a16="http://schemas.microsoft.com/office/drawing/2014/main" id="{F0CFA043-4DEA-27B4-1EC1-D86B0948F6FF}"/>
              </a:ext>
            </a:extLst>
          </p:cNvPr>
          <p:cNvSpPr>
            <a:spLocks noGrp="1"/>
          </p:cNvSpPr>
          <p:nvPr>
            <p:ph type="sldNum" sz="quarter" idx="12"/>
          </p:nvPr>
        </p:nvSpPr>
        <p:spPr/>
        <p:txBody>
          <a:bodyPr/>
          <a:lstStyle/>
          <a:p>
            <a:fld id="{0E40E506-8910-4A1D-9597-9E72BD293B97}" type="slidenum">
              <a:rPr lang="en-US" smtClean="0"/>
              <a:t>21</a:t>
            </a:fld>
            <a:endParaRPr lang="es-ES"/>
          </a:p>
        </p:txBody>
      </p:sp>
    </p:spTree>
    <p:extLst>
      <p:ext uri="{BB962C8B-B14F-4D97-AF65-F5344CB8AC3E}">
        <p14:creationId xmlns:p14="http://schemas.microsoft.com/office/powerpoint/2010/main" val="3172981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75E94424-9098-E42B-856A-D4C475257CDC}"/>
              </a:ext>
            </a:extLst>
          </p:cNvPr>
          <p:cNvSpPr>
            <a:spLocks noGrp="1"/>
          </p:cNvSpPr>
          <p:nvPr>
            <p:ph type="sldNum" sz="quarter" idx="12"/>
          </p:nvPr>
        </p:nvSpPr>
        <p:spPr/>
        <p:txBody>
          <a:bodyPr/>
          <a:lstStyle/>
          <a:p>
            <a:fld id="{0E40E506-8910-4A1D-9597-9E72BD293B97}" type="slidenum">
              <a:rPr lang="en-US" smtClean="0"/>
              <a:t>22</a:t>
            </a:fld>
            <a:endParaRPr lang="en-US"/>
          </a:p>
        </p:txBody>
      </p:sp>
      <p:sp>
        <p:nvSpPr>
          <p:cNvPr id="3" name="CuadroTexto 2">
            <a:extLst>
              <a:ext uri="{FF2B5EF4-FFF2-40B4-BE49-F238E27FC236}">
                <a16:creationId xmlns:a16="http://schemas.microsoft.com/office/drawing/2014/main" id="{1696A8EA-B931-088C-F374-3BFC75DE9215}"/>
              </a:ext>
            </a:extLst>
          </p:cNvPr>
          <p:cNvSpPr txBox="1"/>
          <p:nvPr/>
        </p:nvSpPr>
        <p:spPr>
          <a:xfrm>
            <a:off x="1139372" y="1288143"/>
            <a:ext cx="1016725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1A3260"/>
                </a:solidFill>
              </a:rPr>
              <a:t>Técnica de Puntos </a:t>
            </a:r>
            <a:r>
              <a:rPr lang="en-US" b="1" err="1">
                <a:solidFill>
                  <a:srgbClr val="1A3260"/>
                </a:solidFill>
              </a:rPr>
              <a:t>Funcionales</a:t>
            </a:r>
            <a:r>
              <a:rPr lang="en-US" b="1">
                <a:solidFill>
                  <a:srgbClr val="1A3260"/>
                </a:solidFill>
              </a:rPr>
              <a:t> (PF)</a:t>
            </a:r>
          </a:p>
          <a:p>
            <a:endParaRPr lang="en-US" b="1">
              <a:solidFill>
                <a:srgbClr val="1A3260"/>
              </a:solidFill>
            </a:endParaRPr>
          </a:p>
          <a:p>
            <a:r>
              <a:rPr lang="en-US" b="1">
                <a:solidFill>
                  <a:srgbClr val="1A3260"/>
                </a:solidFill>
              </a:rPr>
              <a:t>¿</a:t>
            </a:r>
            <a:r>
              <a:rPr lang="en-US" b="1" err="1">
                <a:solidFill>
                  <a:srgbClr val="1A3260"/>
                </a:solidFill>
              </a:rPr>
              <a:t>Qué</a:t>
            </a:r>
            <a:r>
              <a:rPr lang="en-US" b="1">
                <a:solidFill>
                  <a:srgbClr val="1A3260"/>
                </a:solidFill>
              </a:rPr>
              <a:t> es?</a:t>
            </a:r>
          </a:p>
          <a:p>
            <a:endParaRPr lang="en-US" b="1">
              <a:solidFill>
                <a:srgbClr val="1A3260"/>
              </a:solidFill>
            </a:endParaRPr>
          </a:p>
          <a:p>
            <a:r>
              <a:rPr lang="en-US">
                <a:solidFill>
                  <a:srgbClr val="1A3260"/>
                </a:solidFill>
              </a:rPr>
              <a:t>La </a:t>
            </a:r>
            <a:r>
              <a:rPr lang="en-US" b="1">
                <a:solidFill>
                  <a:srgbClr val="1A3260"/>
                </a:solidFill>
              </a:rPr>
              <a:t>Técnica de Puntos </a:t>
            </a:r>
            <a:r>
              <a:rPr lang="en-US" b="1" err="1">
                <a:solidFill>
                  <a:srgbClr val="1A3260"/>
                </a:solidFill>
              </a:rPr>
              <a:t>Funcionales</a:t>
            </a:r>
            <a:r>
              <a:rPr lang="en-US">
                <a:solidFill>
                  <a:srgbClr val="1A3260"/>
                </a:solidFill>
              </a:rPr>
              <a:t> es </a:t>
            </a:r>
            <a:r>
              <a:rPr lang="en-US" err="1">
                <a:solidFill>
                  <a:srgbClr val="1A3260"/>
                </a:solidFill>
              </a:rPr>
              <a:t>una</a:t>
            </a:r>
            <a:r>
              <a:rPr lang="en-US">
                <a:solidFill>
                  <a:srgbClr val="1A3260"/>
                </a:solidFill>
              </a:rPr>
              <a:t> </a:t>
            </a:r>
            <a:r>
              <a:rPr lang="en-US" err="1">
                <a:solidFill>
                  <a:srgbClr val="1A3260"/>
                </a:solidFill>
              </a:rPr>
              <a:t>métrica</a:t>
            </a:r>
            <a:r>
              <a:rPr lang="en-US">
                <a:solidFill>
                  <a:srgbClr val="1A3260"/>
                </a:solidFill>
              </a:rPr>
              <a:t> </a:t>
            </a:r>
            <a:r>
              <a:rPr lang="en-US" err="1">
                <a:solidFill>
                  <a:srgbClr val="1A3260"/>
                </a:solidFill>
              </a:rPr>
              <a:t>que</a:t>
            </a:r>
            <a:r>
              <a:rPr lang="en-US">
                <a:solidFill>
                  <a:srgbClr val="1A3260"/>
                </a:solidFill>
              </a:rPr>
              <a:t> </a:t>
            </a:r>
            <a:r>
              <a:rPr lang="en-US" b="1" err="1">
                <a:solidFill>
                  <a:srgbClr val="1A3260"/>
                </a:solidFill>
              </a:rPr>
              <a:t>mide</a:t>
            </a:r>
            <a:r>
              <a:rPr lang="en-US" b="1">
                <a:solidFill>
                  <a:srgbClr val="1A3260"/>
                </a:solidFill>
              </a:rPr>
              <a:t> el </a:t>
            </a:r>
            <a:r>
              <a:rPr lang="en-US" b="1" err="1">
                <a:solidFill>
                  <a:srgbClr val="1A3260"/>
                </a:solidFill>
              </a:rPr>
              <a:t>tamaño</a:t>
            </a:r>
            <a:r>
              <a:rPr lang="en-US" b="1">
                <a:solidFill>
                  <a:srgbClr val="1A3260"/>
                </a:solidFill>
              </a:rPr>
              <a:t> de un </a:t>
            </a:r>
            <a:r>
              <a:rPr lang="en-US" b="1" err="1">
                <a:solidFill>
                  <a:srgbClr val="1A3260"/>
                </a:solidFill>
              </a:rPr>
              <a:t>sistema</a:t>
            </a:r>
            <a:r>
              <a:rPr lang="en-US" b="1">
                <a:solidFill>
                  <a:srgbClr val="1A3260"/>
                </a:solidFill>
              </a:rPr>
              <a:t> </a:t>
            </a:r>
            <a:r>
              <a:rPr lang="en-US" b="1" err="1">
                <a:solidFill>
                  <a:srgbClr val="1A3260"/>
                </a:solidFill>
              </a:rPr>
              <a:t>según</a:t>
            </a:r>
            <a:r>
              <a:rPr lang="en-US" b="1">
                <a:solidFill>
                  <a:srgbClr val="1A3260"/>
                </a:solidFill>
              </a:rPr>
              <a:t> las </a:t>
            </a:r>
            <a:r>
              <a:rPr lang="en-US" b="1" err="1">
                <a:solidFill>
                  <a:srgbClr val="1A3260"/>
                </a:solidFill>
              </a:rPr>
              <a:t>funciones</a:t>
            </a:r>
            <a:r>
              <a:rPr lang="en-US" b="1">
                <a:solidFill>
                  <a:srgbClr val="1A3260"/>
                </a:solidFill>
              </a:rPr>
              <a:t> </a:t>
            </a:r>
            <a:r>
              <a:rPr lang="en-US" b="1" err="1">
                <a:solidFill>
                  <a:srgbClr val="1A3260"/>
                </a:solidFill>
              </a:rPr>
              <a:t>que</a:t>
            </a:r>
            <a:r>
              <a:rPr lang="en-US" b="1">
                <a:solidFill>
                  <a:srgbClr val="1A3260"/>
                </a:solidFill>
              </a:rPr>
              <a:t> </a:t>
            </a:r>
            <a:r>
              <a:rPr lang="en-US" b="1" err="1">
                <a:solidFill>
                  <a:srgbClr val="1A3260"/>
                </a:solidFill>
              </a:rPr>
              <a:t>ofrece</a:t>
            </a:r>
            <a:r>
              <a:rPr lang="en-US" b="1">
                <a:solidFill>
                  <a:srgbClr val="1A3260"/>
                </a:solidFill>
              </a:rPr>
              <a:t> al </a:t>
            </a:r>
            <a:r>
              <a:rPr lang="en-US" b="1" err="1">
                <a:solidFill>
                  <a:srgbClr val="1A3260"/>
                </a:solidFill>
              </a:rPr>
              <a:t>usuario</a:t>
            </a:r>
            <a:r>
              <a:rPr lang="en-US">
                <a:solidFill>
                  <a:srgbClr val="1A3260"/>
                </a:solidFill>
              </a:rPr>
              <a:t>, y no </a:t>
            </a:r>
            <a:r>
              <a:rPr lang="en-US" err="1">
                <a:solidFill>
                  <a:srgbClr val="1A3260"/>
                </a:solidFill>
              </a:rPr>
              <a:t>según</a:t>
            </a:r>
            <a:r>
              <a:rPr lang="en-US">
                <a:solidFill>
                  <a:srgbClr val="1A3260"/>
                </a:solidFill>
              </a:rPr>
              <a:t> la </a:t>
            </a:r>
            <a:r>
              <a:rPr lang="en-US" err="1">
                <a:solidFill>
                  <a:srgbClr val="1A3260"/>
                </a:solidFill>
              </a:rPr>
              <a:t>cantidad</a:t>
            </a:r>
            <a:r>
              <a:rPr lang="en-US">
                <a:solidFill>
                  <a:srgbClr val="1A3260"/>
                </a:solidFill>
              </a:rPr>
              <a:t> de </a:t>
            </a:r>
            <a:r>
              <a:rPr lang="en-US" err="1">
                <a:solidFill>
                  <a:srgbClr val="1A3260"/>
                </a:solidFill>
              </a:rPr>
              <a:t>líneas</a:t>
            </a:r>
            <a:r>
              <a:rPr lang="en-US">
                <a:solidFill>
                  <a:srgbClr val="1A3260"/>
                </a:solidFill>
              </a:rPr>
              <a:t> de </a:t>
            </a:r>
            <a:r>
              <a:rPr lang="en-US" err="1">
                <a:solidFill>
                  <a:srgbClr val="1A3260"/>
                </a:solidFill>
              </a:rPr>
              <a:t>código</a:t>
            </a:r>
            <a:r>
              <a:rPr lang="en-US">
                <a:solidFill>
                  <a:srgbClr val="1A3260"/>
                </a:solidFill>
              </a:rPr>
              <a:t>.</a:t>
            </a:r>
          </a:p>
          <a:p>
            <a:r>
              <a:rPr lang="en-US">
                <a:solidFill>
                  <a:srgbClr val="1A3260"/>
                </a:solidFill>
              </a:rPr>
              <a:t>En </a:t>
            </a:r>
            <a:r>
              <a:rPr lang="en-US" err="1">
                <a:solidFill>
                  <a:srgbClr val="1A3260"/>
                </a:solidFill>
              </a:rPr>
              <a:t>otras</a:t>
            </a:r>
            <a:r>
              <a:rPr lang="en-US">
                <a:solidFill>
                  <a:srgbClr val="1A3260"/>
                </a:solidFill>
              </a:rPr>
              <a:t> palabras:</a:t>
            </a:r>
          </a:p>
          <a:p>
            <a:pPr lvl="1">
              <a:buFont typeface=""/>
              <a:buNone/>
            </a:pPr>
            <a:r>
              <a:rPr lang="en-US" b="1">
                <a:solidFill>
                  <a:srgbClr val="1A3260"/>
                </a:solidFill>
              </a:rPr>
              <a:t>No </a:t>
            </a:r>
            <a:r>
              <a:rPr lang="en-US" b="1" err="1">
                <a:solidFill>
                  <a:srgbClr val="1A3260"/>
                </a:solidFill>
              </a:rPr>
              <a:t>importa</a:t>
            </a:r>
            <a:r>
              <a:rPr lang="en-US" b="1">
                <a:solidFill>
                  <a:srgbClr val="1A3260"/>
                </a:solidFill>
              </a:rPr>
              <a:t> </a:t>
            </a:r>
            <a:r>
              <a:rPr lang="en-US" b="1" err="1">
                <a:solidFill>
                  <a:srgbClr val="1A3260"/>
                </a:solidFill>
              </a:rPr>
              <a:t>cómo</a:t>
            </a:r>
            <a:r>
              <a:rPr lang="en-US" b="1">
                <a:solidFill>
                  <a:srgbClr val="1A3260"/>
                </a:solidFill>
              </a:rPr>
              <a:t> se </a:t>
            </a:r>
            <a:r>
              <a:rPr lang="en-US" b="1" err="1">
                <a:solidFill>
                  <a:srgbClr val="1A3260"/>
                </a:solidFill>
              </a:rPr>
              <a:t>programe</a:t>
            </a:r>
            <a:r>
              <a:rPr lang="en-US" b="1">
                <a:solidFill>
                  <a:srgbClr val="1A3260"/>
                </a:solidFill>
              </a:rPr>
              <a:t> el </a:t>
            </a:r>
            <a:r>
              <a:rPr lang="en-US" b="1" err="1">
                <a:solidFill>
                  <a:srgbClr val="1A3260"/>
                </a:solidFill>
              </a:rPr>
              <a:t>sistema</a:t>
            </a:r>
            <a:r>
              <a:rPr lang="en-US" b="1">
                <a:solidFill>
                  <a:srgbClr val="1A3260"/>
                </a:solidFill>
              </a:rPr>
              <a:t>, </a:t>
            </a:r>
            <a:r>
              <a:rPr lang="en-US" b="1" err="1">
                <a:solidFill>
                  <a:srgbClr val="1A3260"/>
                </a:solidFill>
              </a:rPr>
              <a:t>sino</a:t>
            </a:r>
            <a:r>
              <a:rPr lang="en-US" b="1">
                <a:solidFill>
                  <a:srgbClr val="1A3260"/>
                </a:solidFill>
              </a:rPr>
              <a:t> </a:t>
            </a:r>
            <a:r>
              <a:rPr lang="en-US" b="1" err="1">
                <a:solidFill>
                  <a:srgbClr val="1A3260"/>
                </a:solidFill>
              </a:rPr>
              <a:t>qué</a:t>
            </a:r>
            <a:r>
              <a:rPr lang="en-US" b="1">
                <a:solidFill>
                  <a:srgbClr val="1A3260"/>
                </a:solidFill>
              </a:rPr>
              <a:t> </a:t>
            </a:r>
            <a:r>
              <a:rPr lang="en-US" b="1" err="1">
                <a:solidFill>
                  <a:srgbClr val="1A3260"/>
                </a:solidFill>
              </a:rPr>
              <a:t>funcionalidades</a:t>
            </a:r>
            <a:r>
              <a:rPr lang="en-US" b="1">
                <a:solidFill>
                  <a:srgbClr val="1A3260"/>
                </a:solidFill>
              </a:rPr>
              <a:t> </a:t>
            </a:r>
            <a:r>
              <a:rPr lang="en-US" b="1" err="1">
                <a:solidFill>
                  <a:srgbClr val="1A3260"/>
                </a:solidFill>
              </a:rPr>
              <a:t>brinda</a:t>
            </a:r>
            <a:r>
              <a:rPr lang="en-US" b="1">
                <a:solidFill>
                  <a:srgbClr val="1A3260"/>
                </a:solidFill>
              </a:rPr>
              <a:t> al </a:t>
            </a:r>
            <a:r>
              <a:rPr lang="en-US" b="1" err="1">
                <a:solidFill>
                  <a:srgbClr val="1A3260"/>
                </a:solidFill>
              </a:rPr>
              <a:t>usuario</a:t>
            </a:r>
            <a:r>
              <a:rPr lang="en-US" b="1">
                <a:solidFill>
                  <a:srgbClr val="1A3260"/>
                </a:solidFill>
              </a:rPr>
              <a:t>.</a:t>
            </a:r>
          </a:p>
          <a:p>
            <a:r>
              <a:rPr lang="en-US">
                <a:solidFill>
                  <a:srgbClr val="1A3260"/>
                </a:solidFill>
              </a:rPr>
              <a:t>  Esta </a:t>
            </a:r>
            <a:r>
              <a:rPr lang="en-US" err="1">
                <a:solidFill>
                  <a:srgbClr val="1A3260"/>
                </a:solidFill>
              </a:rPr>
              <a:t>técnica</a:t>
            </a:r>
            <a:r>
              <a:rPr lang="en-US">
                <a:solidFill>
                  <a:srgbClr val="1A3260"/>
                </a:solidFill>
              </a:rPr>
              <a:t> </a:t>
            </a:r>
            <a:r>
              <a:rPr lang="en-US" err="1">
                <a:solidFill>
                  <a:srgbClr val="1A3260"/>
                </a:solidFill>
              </a:rPr>
              <a:t>fue</a:t>
            </a:r>
            <a:r>
              <a:rPr lang="en-US">
                <a:solidFill>
                  <a:srgbClr val="1A3260"/>
                </a:solidFill>
              </a:rPr>
              <a:t> </a:t>
            </a:r>
            <a:r>
              <a:rPr lang="en-US" err="1">
                <a:solidFill>
                  <a:srgbClr val="1A3260"/>
                </a:solidFill>
              </a:rPr>
              <a:t>desarrollada</a:t>
            </a:r>
            <a:r>
              <a:rPr lang="en-US">
                <a:solidFill>
                  <a:srgbClr val="1A3260"/>
                </a:solidFill>
              </a:rPr>
              <a:t> </a:t>
            </a:r>
            <a:r>
              <a:rPr lang="en-US" err="1">
                <a:solidFill>
                  <a:srgbClr val="1A3260"/>
                </a:solidFill>
              </a:rPr>
              <a:t>por</a:t>
            </a:r>
            <a:r>
              <a:rPr lang="en-US">
                <a:solidFill>
                  <a:srgbClr val="1A3260"/>
                </a:solidFill>
              </a:rPr>
              <a:t> </a:t>
            </a:r>
            <a:r>
              <a:rPr lang="en-US" b="1">
                <a:solidFill>
                  <a:srgbClr val="1A3260"/>
                </a:solidFill>
              </a:rPr>
              <a:t>Allan Albrecht (IBM)</a:t>
            </a:r>
            <a:r>
              <a:rPr lang="en-US">
                <a:solidFill>
                  <a:srgbClr val="1A3260"/>
                </a:solidFill>
              </a:rPr>
              <a:t> y </a:t>
            </a:r>
            <a:r>
              <a:rPr lang="en-US" err="1">
                <a:solidFill>
                  <a:srgbClr val="1A3260"/>
                </a:solidFill>
              </a:rPr>
              <a:t>actualmente</a:t>
            </a:r>
            <a:r>
              <a:rPr lang="en-US">
                <a:solidFill>
                  <a:srgbClr val="1A3260"/>
                </a:solidFill>
              </a:rPr>
              <a:t> es </a:t>
            </a:r>
            <a:r>
              <a:rPr lang="en-US" err="1">
                <a:solidFill>
                  <a:srgbClr val="1A3260"/>
                </a:solidFill>
              </a:rPr>
              <a:t>utilizada</a:t>
            </a:r>
            <a:r>
              <a:rPr lang="en-US">
                <a:solidFill>
                  <a:srgbClr val="1A3260"/>
                </a:solidFill>
              </a:rPr>
              <a:t> para:</a:t>
            </a:r>
          </a:p>
          <a:p>
            <a:endParaRPr lang="en-US">
              <a:solidFill>
                <a:srgbClr val="1A3260"/>
              </a:solidFill>
            </a:endParaRPr>
          </a:p>
          <a:p>
            <a:pPr>
              <a:buFont typeface=""/>
              <a:buChar char="•"/>
            </a:pPr>
            <a:r>
              <a:rPr lang="en-US">
                <a:solidFill>
                  <a:srgbClr val="1A3260"/>
                </a:solidFill>
              </a:rPr>
              <a:t>Estimar el </a:t>
            </a:r>
            <a:r>
              <a:rPr lang="en-US" err="1">
                <a:solidFill>
                  <a:srgbClr val="1A3260"/>
                </a:solidFill>
              </a:rPr>
              <a:t>esfuerzo</a:t>
            </a:r>
            <a:r>
              <a:rPr lang="en-US">
                <a:solidFill>
                  <a:srgbClr val="1A3260"/>
                </a:solidFill>
              </a:rPr>
              <a:t> de </a:t>
            </a:r>
            <a:r>
              <a:rPr lang="en-US" err="1">
                <a:solidFill>
                  <a:srgbClr val="1A3260"/>
                </a:solidFill>
              </a:rPr>
              <a:t>desarrollo</a:t>
            </a:r>
            <a:r>
              <a:rPr lang="en-US">
                <a:solidFill>
                  <a:srgbClr val="1A3260"/>
                </a:solidFill>
              </a:rPr>
              <a:t>. </a:t>
            </a:r>
          </a:p>
          <a:p>
            <a:pPr>
              <a:buFont typeface=""/>
              <a:buChar char="•"/>
            </a:pPr>
            <a:r>
              <a:rPr lang="en-US" err="1">
                <a:solidFill>
                  <a:srgbClr val="1A3260"/>
                </a:solidFill>
              </a:rPr>
              <a:t>Calcular</a:t>
            </a:r>
            <a:r>
              <a:rPr lang="en-US">
                <a:solidFill>
                  <a:srgbClr val="1A3260"/>
                </a:solidFill>
              </a:rPr>
              <a:t> </a:t>
            </a:r>
            <a:r>
              <a:rPr lang="en-US" err="1">
                <a:solidFill>
                  <a:srgbClr val="1A3260"/>
                </a:solidFill>
              </a:rPr>
              <a:t>costos</a:t>
            </a:r>
            <a:r>
              <a:rPr lang="en-US">
                <a:solidFill>
                  <a:srgbClr val="1A3260"/>
                </a:solidFill>
              </a:rPr>
              <a:t>. </a:t>
            </a:r>
          </a:p>
          <a:p>
            <a:pPr>
              <a:buFont typeface=""/>
              <a:buChar char="•"/>
            </a:pPr>
            <a:r>
              <a:rPr lang="en-US" err="1">
                <a:solidFill>
                  <a:srgbClr val="1A3260"/>
                </a:solidFill>
              </a:rPr>
              <a:t>Estimar</a:t>
            </a:r>
            <a:r>
              <a:rPr lang="en-US">
                <a:solidFill>
                  <a:srgbClr val="1A3260"/>
                </a:solidFill>
              </a:rPr>
              <a:t> </a:t>
            </a:r>
            <a:r>
              <a:rPr lang="en-US" err="1">
                <a:solidFill>
                  <a:srgbClr val="1A3260"/>
                </a:solidFill>
              </a:rPr>
              <a:t>tiempos</a:t>
            </a:r>
            <a:r>
              <a:rPr lang="en-US">
                <a:solidFill>
                  <a:srgbClr val="1A3260"/>
                </a:solidFill>
              </a:rPr>
              <a:t>. </a:t>
            </a:r>
          </a:p>
          <a:p>
            <a:pPr>
              <a:buFont typeface=""/>
              <a:buChar char="•"/>
            </a:pPr>
            <a:r>
              <a:rPr lang="en-US" err="1">
                <a:solidFill>
                  <a:srgbClr val="1A3260"/>
                </a:solidFill>
              </a:rPr>
              <a:t>Medir</a:t>
            </a:r>
            <a:r>
              <a:rPr lang="en-US">
                <a:solidFill>
                  <a:srgbClr val="1A3260"/>
                </a:solidFill>
              </a:rPr>
              <a:t> </a:t>
            </a:r>
            <a:r>
              <a:rPr lang="en-US" err="1">
                <a:solidFill>
                  <a:srgbClr val="1A3260"/>
                </a:solidFill>
              </a:rPr>
              <a:t>productividad</a:t>
            </a:r>
            <a:r>
              <a:rPr lang="en-US">
                <a:solidFill>
                  <a:srgbClr val="1A3260"/>
                </a:solidFill>
              </a:rPr>
              <a:t>. </a:t>
            </a:r>
          </a:p>
          <a:p>
            <a:pPr>
              <a:buFont typeface=""/>
              <a:buChar char="•"/>
            </a:pPr>
            <a:r>
              <a:rPr lang="en-US" err="1">
                <a:solidFill>
                  <a:srgbClr val="1A3260"/>
                </a:solidFill>
              </a:rPr>
              <a:t>Comparar</a:t>
            </a:r>
            <a:r>
              <a:rPr lang="en-US">
                <a:solidFill>
                  <a:srgbClr val="1A3260"/>
                </a:solidFill>
              </a:rPr>
              <a:t> </a:t>
            </a:r>
            <a:r>
              <a:rPr lang="en-US" err="1">
                <a:solidFill>
                  <a:srgbClr val="1A3260"/>
                </a:solidFill>
              </a:rPr>
              <a:t>proyectos</a:t>
            </a:r>
            <a:r>
              <a:rPr lang="en-US">
                <a:solidFill>
                  <a:srgbClr val="1A3260"/>
                </a:solidFill>
              </a:rPr>
              <a:t>.</a:t>
            </a:r>
          </a:p>
          <a:p>
            <a:pPr algn="ctr"/>
            <a:endParaRPr lang="es-ES">
              <a:solidFill>
                <a:srgbClr val="1A3260"/>
              </a:solidFill>
            </a:endParaRPr>
          </a:p>
        </p:txBody>
      </p:sp>
    </p:spTree>
    <p:extLst>
      <p:ext uri="{BB962C8B-B14F-4D97-AF65-F5344CB8AC3E}">
        <p14:creationId xmlns:p14="http://schemas.microsoft.com/office/powerpoint/2010/main" val="2261850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7A9D3FB5-4FB2-A21D-2E09-63486D253F5F}"/>
              </a:ext>
            </a:extLst>
          </p:cNvPr>
          <p:cNvSpPr>
            <a:spLocks noGrp="1"/>
          </p:cNvSpPr>
          <p:nvPr>
            <p:ph type="sldNum" sz="quarter" idx="12"/>
          </p:nvPr>
        </p:nvSpPr>
        <p:spPr/>
        <p:txBody>
          <a:bodyPr/>
          <a:lstStyle/>
          <a:p>
            <a:fld id="{56949543-09E7-41CD-8D3F-23CAAA1D1489}" type="slidenum">
              <a:rPr lang="en-US" altLang="es-AR"/>
              <a:pPr/>
              <a:t>23</a:t>
            </a:fld>
            <a:endParaRPr lang="en-US" altLang="es-AR"/>
          </a:p>
        </p:txBody>
      </p:sp>
      <p:sp>
        <p:nvSpPr>
          <p:cNvPr id="32771" name="Rectangle 3">
            <a:extLst>
              <a:ext uri="{FF2B5EF4-FFF2-40B4-BE49-F238E27FC236}">
                <a16:creationId xmlns:a16="http://schemas.microsoft.com/office/drawing/2014/main" id="{D823C492-E9B3-C23A-CADE-DA0BA9801E20}"/>
              </a:ext>
            </a:extLst>
          </p:cNvPr>
          <p:cNvSpPr>
            <a:spLocks noChangeArrowheads="1"/>
          </p:cNvSpPr>
          <p:nvPr/>
        </p:nvSpPr>
        <p:spPr bwMode="auto">
          <a:xfrm>
            <a:off x="3181804" y="1981201"/>
            <a:ext cx="737235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t">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s-ES_tradnl" altLang="es-AR">
                <a:solidFill>
                  <a:srgbClr val="1A3260"/>
                </a:solidFill>
                <a:latin typeface="Tahoma"/>
                <a:ea typeface="Tahoma"/>
                <a:cs typeface="Tahoma"/>
              </a:rPr>
              <a:t>Técnica de puntos funcionales </a:t>
            </a:r>
          </a:p>
        </p:txBody>
      </p:sp>
      <p:graphicFrame>
        <p:nvGraphicFramePr>
          <p:cNvPr id="32772" name="Object 4">
            <a:extLst>
              <a:ext uri="{FF2B5EF4-FFF2-40B4-BE49-F238E27FC236}">
                <a16:creationId xmlns:a16="http://schemas.microsoft.com/office/drawing/2014/main" id="{4E0CF7DE-9659-6218-0EC5-2BD66175135E}"/>
              </a:ext>
            </a:extLst>
          </p:cNvPr>
          <p:cNvGraphicFramePr>
            <a:graphicFrameLocks/>
          </p:cNvGraphicFramePr>
          <p:nvPr/>
        </p:nvGraphicFramePr>
        <p:xfrm>
          <a:off x="2819401" y="2667000"/>
          <a:ext cx="7345363" cy="3352800"/>
        </p:xfrm>
        <a:graphic>
          <a:graphicData uri="http://schemas.openxmlformats.org/presentationml/2006/ole">
            <mc:AlternateContent xmlns:mc="http://schemas.openxmlformats.org/markup-compatibility/2006">
              <mc:Choice xmlns:v="urn:schemas-microsoft-com:vml" Requires="v">
                <p:oleObj name="Hoja de cálculo" r:id="rId2" imgW="3922560" imgH="2108160" progId="Excel.Sheet.5">
                  <p:embed/>
                </p:oleObj>
              </mc:Choice>
              <mc:Fallback>
                <p:oleObj name="Hoja de cálculo" r:id="rId2" imgW="3922560" imgH="2108160" progId="Excel.Sheet.5">
                  <p:embed/>
                  <p:pic>
                    <p:nvPicPr>
                      <p:cNvPr id="32772" name="Object 4">
                        <a:extLst>
                          <a:ext uri="{FF2B5EF4-FFF2-40B4-BE49-F238E27FC236}">
                            <a16:creationId xmlns:a16="http://schemas.microsoft.com/office/drawing/2014/main" id="{4E0CF7DE-9659-6218-0EC5-2BD66175135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1" y="2667000"/>
                        <a:ext cx="7345363"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3" name="Text Box 5">
            <a:extLst>
              <a:ext uri="{FF2B5EF4-FFF2-40B4-BE49-F238E27FC236}">
                <a16:creationId xmlns:a16="http://schemas.microsoft.com/office/drawing/2014/main" id="{3AEB7D52-2C23-4033-9CB4-1DDE06520601}"/>
              </a:ext>
            </a:extLst>
          </p:cNvPr>
          <p:cNvSpPr txBox="1">
            <a:spLocks noChangeArrowheads="1"/>
          </p:cNvSpPr>
          <p:nvPr/>
        </p:nvSpPr>
        <p:spPr bwMode="auto">
          <a:xfrm>
            <a:off x="3032125" y="140335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571500">
              <a:defRPr sz="2400">
                <a:solidFill>
                  <a:schemeClr val="tx1"/>
                </a:solidFill>
                <a:latin typeface="Times New Roman" panose="02020603050405020304" pitchFamily="18" charset="0"/>
              </a:defRPr>
            </a:lvl2pPr>
            <a:lvl3pPr marL="1143000">
              <a:defRPr sz="2400">
                <a:solidFill>
                  <a:schemeClr val="tx1"/>
                </a:solidFill>
                <a:latin typeface="Times New Roman" panose="02020603050405020304" pitchFamily="18" charset="0"/>
              </a:defRPr>
            </a:lvl3pPr>
            <a:lvl4pPr marL="1714500">
              <a:defRPr sz="2400">
                <a:solidFill>
                  <a:schemeClr val="tx1"/>
                </a:solidFill>
                <a:latin typeface="Times New Roman" panose="02020603050405020304" pitchFamily="18" charset="0"/>
              </a:defRPr>
            </a:lvl4pPr>
            <a:lvl5pPr marL="2286000">
              <a:defRPr sz="2400">
                <a:solidFill>
                  <a:schemeClr val="tx1"/>
                </a:solidFill>
                <a:latin typeface="Times New Roman" panose="02020603050405020304" pitchFamily="18" charset="0"/>
              </a:defRPr>
            </a:lvl5pPr>
            <a:lvl6pPr marL="2743200" eaLnBrk="0" fontAlgn="base" hangingPunct="0">
              <a:spcBef>
                <a:spcPct val="0"/>
              </a:spcBef>
              <a:spcAft>
                <a:spcPct val="0"/>
              </a:spcAft>
              <a:defRPr sz="2400">
                <a:solidFill>
                  <a:schemeClr val="tx1"/>
                </a:solidFill>
                <a:latin typeface="Times New Roman" panose="02020603050405020304" pitchFamily="18" charset="0"/>
              </a:defRPr>
            </a:lvl6pPr>
            <a:lvl7pPr marL="3200400" eaLnBrk="0" fontAlgn="base" hangingPunct="0">
              <a:spcBef>
                <a:spcPct val="0"/>
              </a:spcBef>
              <a:spcAft>
                <a:spcPct val="0"/>
              </a:spcAft>
              <a:defRPr sz="2400">
                <a:solidFill>
                  <a:schemeClr val="tx1"/>
                </a:solidFill>
                <a:latin typeface="Times New Roman" panose="02020603050405020304" pitchFamily="18" charset="0"/>
              </a:defRPr>
            </a:lvl7pPr>
            <a:lvl8pPr marL="3657600" eaLnBrk="0" fontAlgn="base" hangingPunct="0">
              <a:spcBef>
                <a:spcPct val="0"/>
              </a:spcBef>
              <a:spcAft>
                <a:spcPct val="0"/>
              </a:spcAft>
              <a:defRPr sz="2400">
                <a:solidFill>
                  <a:schemeClr val="tx1"/>
                </a:solidFill>
                <a:latin typeface="Times New Roman" panose="02020603050405020304" pitchFamily="18" charset="0"/>
              </a:defRPr>
            </a:lvl8pPr>
            <a:lvl9pPr marL="41148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s-AR" sz="1800">
              <a:latin typeface="Tahoma" panose="020B0604030504040204" pitchFamily="34" charset="0"/>
            </a:endParaRPr>
          </a:p>
        </p:txBody>
      </p:sp>
      <p:sp>
        <p:nvSpPr>
          <p:cNvPr id="3" name="Rectangle 5">
            <a:extLst>
              <a:ext uri="{FF2B5EF4-FFF2-40B4-BE49-F238E27FC236}">
                <a16:creationId xmlns:a16="http://schemas.microsoft.com/office/drawing/2014/main" id="{5EE1197E-9BD5-FADC-6932-18E2F733C73B}"/>
              </a:ext>
            </a:extLst>
          </p:cNvPr>
          <p:cNvSpPr>
            <a:spLocks noChangeArrowheads="1"/>
          </p:cNvSpPr>
          <p:nvPr/>
        </p:nvSpPr>
        <p:spPr bwMode="auto">
          <a:xfrm>
            <a:off x="355170" y="598842"/>
            <a:ext cx="74834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rgbClr val="1A3260"/>
                </a:solidFill>
                <a:latin typeface="Amasis MT Pro Medium" panose="02040604050005020304" pitchFamily="18" charset="0"/>
                <a:cs typeface="Times New Roman" panose="02020603050405020304" pitchFamily="18" charset="0"/>
              </a:rPr>
              <a:t>Dirección de Proyectos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1C49FEA-753B-63C5-AA2C-A6B273850CFB}"/>
              </a:ext>
            </a:extLst>
          </p:cNvPr>
          <p:cNvSpPr>
            <a:spLocks noGrp="1"/>
          </p:cNvSpPr>
          <p:nvPr>
            <p:ph type="sldNum" sz="quarter" idx="12"/>
          </p:nvPr>
        </p:nvSpPr>
        <p:spPr/>
        <p:txBody>
          <a:bodyPr/>
          <a:lstStyle/>
          <a:p>
            <a:fld id="{0E40E506-8910-4A1D-9597-9E72BD293B97}" type="slidenum">
              <a:rPr lang="en-US" smtClean="0"/>
              <a:t>24</a:t>
            </a:fld>
            <a:endParaRPr lang="en-US"/>
          </a:p>
        </p:txBody>
      </p:sp>
      <p:sp>
        <p:nvSpPr>
          <p:cNvPr id="3" name="CuadroTexto 2">
            <a:extLst>
              <a:ext uri="{FF2B5EF4-FFF2-40B4-BE49-F238E27FC236}">
                <a16:creationId xmlns:a16="http://schemas.microsoft.com/office/drawing/2014/main" id="{4D1BDE89-3FE5-F383-A252-0FD445D266EC}"/>
              </a:ext>
            </a:extLst>
          </p:cNvPr>
          <p:cNvSpPr txBox="1"/>
          <p:nvPr/>
        </p:nvSpPr>
        <p:spPr>
          <a:xfrm>
            <a:off x="856343" y="1462314"/>
            <a:ext cx="1100182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solidFill>
                  <a:srgbClr val="1A3260"/>
                </a:solidFill>
              </a:rPr>
              <a:t>Líneas</a:t>
            </a:r>
            <a:r>
              <a:rPr lang="en-US" b="1">
                <a:solidFill>
                  <a:srgbClr val="1A3260"/>
                </a:solidFill>
              </a:rPr>
              <a:t> de Código (LDC) </a:t>
            </a:r>
            <a:r>
              <a:rPr lang="en-US" b="1" err="1">
                <a:solidFill>
                  <a:srgbClr val="1A3260"/>
                </a:solidFill>
              </a:rPr>
              <a:t>necesarias</a:t>
            </a:r>
            <a:r>
              <a:rPr lang="en-US" b="1">
                <a:solidFill>
                  <a:srgbClr val="1A3260"/>
                </a:solidFill>
              </a:rPr>
              <a:t> para </a:t>
            </a:r>
            <a:r>
              <a:rPr lang="en-US" b="1" err="1">
                <a:solidFill>
                  <a:srgbClr val="1A3260"/>
                </a:solidFill>
              </a:rPr>
              <a:t>implementar</a:t>
            </a:r>
            <a:r>
              <a:rPr lang="en-US" b="1">
                <a:solidFill>
                  <a:srgbClr val="1A3260"/>
                </a:solidFill>
              </a:rPr>
              <a:t> un Punto de </a:t>
            </a:r>
            <a:r>
              <a:rPr lang="en-US" b="1" err="1">
                <a:solidFill>
                  <a:srgbClr val="1A3260"/>
                </a:solidFill>
              </a:rPr>
              <a:t>Función</a:t>
            </a:r>
            <a:endParaRPr lang="en-US" b="1">
              <a:solidFill>
                <a:srgbClr val="1A3260"/>
              </a:solidFill>
            </a:endParaRPr>
          </a:p>
          <a:p>
            <a:endParaRPr lang="en-US">
              <a:solidFill>
                <a:srgbClr val="1A3260"/>
              </a:solidFill>
            </a:endParaRPr>
          </a:p>
          <a:p>
            <a:r>
              <a:rPr lang="en-US">
                <a:solidFill>
                  <a:srgbClr val="1A3260"/>
                </a:solidFill>
              </a:rPr>
              <a:t>¿</a:t>
            </a:r>
            <a:r>
              <a:rPr lang="en-US" err="1">
                <a:solidFill>
                  <a:srgbClr val="1A3260"/>
                </a:solidFill>
              </a:rPr>
              <a:t>Qué</a:t>
            </a:r>
            <a:r>
              <a:rPr lang="en-US">
                <a:solidFill>
                  <a:srgbClr val="1A3260"/>
                </a:solidFill>
              </a:rPr>
              <a:t> </a:t>
            </a:r>
            <a:r>
              <a:rPr lang="en-US" err="1">
                <a:solidFill>
                  <a:srgbClr val="1A3260"/>
                </a:solidFill>
              </a:rPr>
              <a:t>significa</a:t>
            </a:r>
            <a:r>
              <a:rPr lang="en-US">
                <a:solidFill>
                  <a:srgbClr val="1A3260"/>
                </a:solidFill>
              </a:rPr>
              <a:t>?</a:t>
            </a:r>
          </a:p>
          <a:p>
            <a:endParaRPr lang="en-US">
              <a:solidFill>
                <a:srgbClr val="1A3260"/>
              </a:solidFill>
            </a:endParaRPr>
          </a:p>
          <a:p>
            <a:r>
              <a:rPr lang="en-US">
                <a:solidFill>
                  <a:srgbClr val="1A3260"/>
                </a:solidFill>
              </a:rPr>
              <a:t>Los Puntos de </a:t>
            </a:r>
            <a:r>
              <a:rPr lang="en-US" err="1">
                <a:solidFill>
                  <a:srgbClr val="1A3260"/>
                </a:solidFill>
              </a:rPr>
              <a:t>Función</a:t>
            </a:r>
            <a:r>
              <a:rPr lang="en-US">
                <a:solidFill>
                  <a:srgbClr val="1A3260"/>
                </a:solidFill>
              </a:rPr>
              <a:t> (PF) </a:t>
            </a:r>
            <a:r>
              <a:rPr lang="en-US" err="1">
                <a:solidFill>
                  <a:srgbClr val="1A3260"/>
                </a:solidFill>
              </a:rPr>
              <a:t>miden</a:t>
            </a:r>
            <a:r>
              <a:rPr lang="en-US">
                <a:solidFill>
                  <a:srgbClr val="1A3260"/>
                </a:solidFill>
              </a:rPr>
              <a:t> el </a:t>
            </a:r>
            <a:r>
              <a:rPr lang="en-US" err="1">
                <a:solidFill>
                  <a:srgbClr val="1A3260"/>
                </a:solidFill>
              </a:rPr>
              <a:t>tamaño</a:t>
            </a:r>
            <a:r>
              <a:rPr lang="en-US">
                <a:solidFill>
                  <a:srgbClr val="1A3260"/>
                </a:solidFill>
              </a:rPr>
              <a:t> </a:t>
            </a:r>
            <a:r>
              <a:rPr lang="en-US" err="1">
                <a:solidFill>
                  <a:srgbClr val="1A3260"/>
                </a:solidFill>
              </a:rPr>
              <a:t>funcional</a:t>
            </a:r>
            <a:r>
              <a:rPr lang="en-US">
                <a:solidFill>
                  <a:srgbClr val="1A3260"/>
                </a:solidFill>
              </a:rPr>
              <a:t> de un software, es </a:t>
            </a:r>
            <a:r>
              <a:rPr lang="en-US" err="1">
                <a:solidFill>
                  <a:srgbClr val="1A3260"/>
                </a:solidFill>
              </a:rPr>
              <a:t>decir</a:t>
            </a:r>
            <a:r>
              <a:rPr lang="en-US">
                <a:solidFill>
                  <a:srgbClr val="1A3260"/>
                </a:solidFill>
              </a:rPr>
              <a:t>, </a:t>
            </a:r>
            <a:r>
              <a:rPr lang="en-US" err="1">
                <a:solidFill>
                  <a:srgbClr val="1A3260"/>
                </a:solidFill>
              </a:rPr>
              <a:t>qué</a:t>
            </a:r>
            <a:r>
              <a:rPr lang="en-US">
                <a:solidFill>
                  <a:srgbClr val="1A3260"/>
                </a:solidFill>
              </a:rPr>
              <a:t> </a:t>
            </a:r>
            <a:r>
              <a:rPr lang="en-US" err="1">
                <a:solidFill>
                  <a:srgbClr val="1A3260"/>
                </a:solidFill>
              </a:rPr>
              <a:t>hace</a:t>
            </a:r>
            <a:r>
              <a:rPr lang="en-US">
                <a:solidFill>
                  <a:srgbClr val="1A3260"/>
                </a:solidFill>
              </a:rPr>
              <a:t> el </a:t>
            </a:r>
            <a:r>
              <a:rPr lang="en-US" err="1">
                <a:solidFill>
                  <a:srgbClr val="1A3260"/>
                </a:solidFill>
              </a:rPr>
              <a:t>sistema</a:t>
            </a:r>
            <a:r>
              <a:rPr lang="en-US">
                <a:solidFill>
                  <a:srgbClr val="1A3260"/>
                </a:solidFill>
              </a:rPr>
              <a:t> para el </a:t>
            </a:r>
            <a:r>
              <a:rPr lang="en-US" err="1">
                <a:solidFill>
                  <a:srgbClr val="1A3260"/>
                </a:solidFill>
              </a:rPr>
              <a:t>usuario</a:t>
            </a:r>
            <a:r>
              <a:rPr lang="en-US">
                <a:solidFill>
                  <a:srgbClr val="1A3260"/>
                </a:solidFill>
              </a:rPr>
              <a:t>, </a:t>
            </a:r>
            <a:r>
              <a:rPr lang="en-US" err="1">
                <a:solidFill>
                  <a:srgbClr val="1A3260"/>
                </a:solidFill>
              </a:rPr>
              <a:t>independientemente</a:t>
            </a:r>
            <a:r>
              <a:rPr lang="en-US">
                <a:solidFill>
                  <a:srgbClr val="1A3260"/>
                </a:solidFill>
              </a:rPr>
              <a:t> del </a:t>
            </a:r>
            <a:r>
              <a:rPr lang="en-US" err="1">
                <a:solidFill>
                  <a:srgbClr val="1A3260"/>
                </a:solidFill>
              </a:rPr>
              <a:t>lenguaje</a:t>
            </a:r>
            <a:r>
              <a:rPr lang="en-US">
                <a:solidFill>
                  <a:srgbClr val="1A3260"/>
                </a:solidFill>
              </a:rPr>
              <a:t> de </a:t>
            </a:r>
            <a:r>
              <a:rPr lang="en-US" err="1">
                <a:solidFill>
                  <a:srgbClr val="1A3260"/>
                </a:solidFill>
              </a:rPr>
              <a:t>programación</a:t>
            </a:r>
            <a:r>
              <a:rPr lang="en-US">
                <a:solidFill>
                  <a:srgbClr val="1A3260"/>
                </a:solidFill>
              </a:rPr>
              <a:t>. </a:t>
            </a:r>
          </a:p>
          <a:p>
            <a:endParaRPr lang="en-US">
              <a:solidFill>
                <a:srgbClr val="1A3260"/>
              </a:solidFill>
            </a:endParaRPr>
          </a:p>
          <a:p>
            <a:pPr algn="ctr"/>
            <a:r>
              <a:rPr lang="en-US">
                <a:solidFill>
                  <a:srgbClr val="1A3260"/>
                </a:solidFill>
              </a:rPr>
              <a:t> </a:t>
            </a:r>
            <a:r>
              <a:rPr lang="en-US" b="1">
                <a:solidFill>
                  <a:srgbClr val="1A3260"/>
                </a:solidFill>
                <a:ea typeface="+mn-lt"/>
                <a:cs typeface="+mn-lt"/>
              </a:rPr>
              <a:t>El </a:t>
            </a:r>
            <a:r>
              <a:rPr lang="en-US" b="1" err="1">
                <a:solidFill>
                  <a:srgbClr val="1A3260"/>
                </a:solidFill>
                <a:ea typeface="+mn-lt"/>
                <a:cs typeface="+mn-lt"/>
              </a:rPr>
              <a:t>tamaño</a:t>
            </a:r>
            <a:r>
              <a:rPr lang="en-US" b="1">
                <a:solidFill>
                  <a:srgbClr val="1A3260"/>
                </a:solidFill>
                <a:ea typeface="+mn-lt"/>
                <a:cs typeface="+mn-lt"/>
              </a:rPr>
              <a:t> </a:t>
            </a:r>
            <a:r>
              <a:rPr lang="en-US" b="1" err="1">
                <a:solidFill>
                  <a:srgbClr val="1A3260"/>
                </a:solidFill>
                <a:ea typeface="+mn-lt"/>
                <a:cs typeface="+mn-lt"/>
              </a:rPr>
              <a:t>funcional</a:t>
            </a:r>
            <a:r>
              <a:rPr lang="en-US" b="1">
                <a:solidFill>
                  <a:srgbClr val="1A3260"/>
                </a:solidFill>
                <a:ea typeface="+mn-lt"/>
                <a:cs typeface="+mn-lt"/>
              </a:rPr>
              <a:t> </a:t>
            </a:r>
            <a:r>
              <a:rPr lang="en-US" b="1" err="1">
                <a:solidFill>
                  <a:srgbClr val="1A3260"/>
                </a:solidFill>
                <a:ea typeface="+mn-lt"/>
                <a:cs typeface="+mn-lt"/>
              </a:rPr>
              <a:t>mide</a:t>
            </a:r>
            <a:r>
              <a:rPr lang="en-US" b="1">
                <a:solidFill>
                  <a:srgbClr val="1A3260"/>
                </a:solidFill>
                <a:ea typeface="+mn-lt"/>
                <a:cs typeface="+mn-lt"/>
              </a:rPr>
              <a:t> "</a:t>
            </a:r>
            <a:r>
              <a:rPr lang="en-US" b="1" err="1">
                <a:solidFill>
                  <a:srgbClr val="1A3260"/>
                </a:solidFill>
                <a:ea typeface="+mn-lt"/>
                <a:cs typeface="+mn-lt"/>
              </a:rPr>
              <a:t>qué</a:t>
            </a:r>
            <a:r>
              <a:rPr lang="en-US" b="1">
                <a:solidFill>
                  <a:srgbClr val="1A3260"/>
                </a:solidFill>
                <a:ea typeface="+mn-lt"/>
                <a:cs typeface="+mn-lt"/>
              </a:rPr>
              <a:t> </a:t>
            </a:r>
            <a:r>
              <a:rPr lang="en-US" b="1" err="1">
                <a:solidFill>
                  <a:srgbClr val="1A3260"/>
                </a:solidFill>
                <a:ea typeface="+mn-lt"/>
                <a:cs typeface="+mn-lt"/>
              </a:rPr>
              <a:t>hace</a:t>
            </a:r>
            <a:r>
              <a:rPr lang="en-US" b="1">
                <a:solidFill>
                  <a:srgbClr val="1A3260"/>
                </a:solidFill>
                <a:ea typeface="+mn-lt"/>
                <a:cs typeface="+mn-lt"/>
              </a:rPr>
              <a:t>" el software, no "</a:t>
            </a:r>
            <a:r>
              <a:rPr lang="en-US" b="1" err="1">
                <a:solidFill>
                  <a:srgbClr val="1A3260"/>
                </a:solidFill>
                <a:ea typeface="+mn-lt"/>
                <a:cs typeface="+mn-lt"/>
              </a:rPr>
              <a:t>cómo</a:t>
            </a:r>
            <a:r>
              <a:rPr lang="en-US" b="1">
                <a:solidFill>
                  <a:srgbClr val="1A3260"/>
                </a:solidFill>
                <a:ea typeface="+mn-lt"/>
                <a:cs typeface="+mn-lt"/>
              </a:rPr>
              <a:t> </a:t>
            </a:r>
            <a:r>
              <a:rPr lang="en-US" b="1" err="1">
                <a:solidFill>
                  <a:srgbClr val="1A3260"/>
                </a:solidFill>
                <a:ea typeface="+mn-lt"/>
                <a:cs typeface="+mn-lt"/>
              </a:rPr>
              <a:t>está</a:t>
            </a:r>
            <a:r>
              <a:rPr lang="en-US" b="1">
                <a:solidFill>
                  <a:srgbClr val="1A3260"/>
                </a:solidFill>
                <a:ea typeface="+mn-lt"/>
                <a:cs typeface="+mn-lt"/>
              </a:rPr>
              <a:t> </a:t>
            </a:r>
            <a:r>
              <a:rPr lang="en-US" b="1" err="1">
                <a:solidFill>
                  <a:srgbClr val="1A3260"/>
                </a:solidFill>
                <a:ea typeface="+mn-lt"/>
                <a:cs typeface="+mn-lt"/>
              </a:rPr>
              <a:t>construido</a:t>
            </a:r>
            <a:r>
              <a:rPr lang="en-US" b="1">
                <a:solidFill>
                  <a:srgbClr val="1A3260"/>
                </a:solidFill>
                <a:ea typeface="+mn-lt"/>
                <a:cs typeface="+mn-lt"/>
              </a:rPr>
              <a:t>".</a:t>
            </a:r>
            <a:endParaRPr lang="en-US" b="1"/>
          </a:p>
          <a:p>
            <a:endParaRPr lang="en-US" b="1">
              <a:solidFill>
                <a:srgbClr val="1A3260"/>
              </a:solidFill>
            </a:endParaRPr>
          </a:p>
          <a:p>
            <a:r>
              <a:rPr lang="en-US">
                <a:solidFill>
                  <a:srgbClr val="1A3260"/>
                </a:solidFill>
              </a:rPr>
              <a:t>Las </a:t>
            </a:r>
            <a:r>
              <a:rPr lang="en-US" err="1">
                <a:solidFill>
                  <a:srgbClr val="1A3260"/>
                </a:solidFill>
              </a:rPr>
              <a:t>Líneas</a:t>
            </a:r>
            <a:r>
              <a:rPr lang="en-US">
                <a:solidFill>
                  <a:srgbClr val="1A3260"/>
                </a:solidFill>
              </a:rPr>
              <a:t> de Código (LDC) </a:t>
            </a:r>
            <a:r>
              <a:rPr lang="en-US" err="1">
                <a:solidFill>
                  <a:srgbClr val="1A3260"/>
                </a:solidFill>
              </a:rPr>
              <a:t>miden</a:t>
            </a:r>
            <a:r>
              <a:rPr lang="en-US">
                <a:solidFill>
                  <a:srgbClr val="1A3260"/>
                </a:solidFill>
              </a:rPr>
              <a:t> </a:t>
            </a:r>
            <a:r>
              <a:rPr lang="en-US" err="1">
                <a:solidFill>
                  <a:srgbClr val="1A3260"/>
                </a:solidFill>
              </a:rPr>
              <a:t>cuánto</a:t>
            </a:r>
            <a:r>
              <a:rPr lang="en-US">
                <a:solidFill>
                  <a:srgbClr val="1A3260"/>
                </a:solidFill>
              </a:rPr>
              <a:t> </a:t>
            </a:r>
            <a:r>
              <a:rPr lang="en-US" err="1">
                <a:solidFill>
                  <a:srgbClr val="1A3260"/>
                </a:solidFill>
              </a:rPr>
              <a:t>código</a:t>
            </a:r>
            <a:r>
              <a:rPr lang="en-US">
                <a:solidFill>
                  <a:srgbClr val="1A3260"/>
                </a:solidFill>
              </a:rPr>
              <a:t> </a:t>
            </a:r>
            <a:r>
              <a:rPr lang="en-US" err="1">
                <a:solidFill>
                  <a:srgbClr val="1A3260"/>
                </a:solidFill>
              </a:rPr>
              <a:t>debe</a:t>
            </a:r>
            <a:r>
              <a:rPr lang="en-US">
                <a:solidFill>
                  <a:srgbClr val="1A3260"/>
                </a:solidFill>
              </a:rPr>
              <a:t> </a:t>
            </a:r>
            <a:r>
              <a:rPr lang="en-US" err="1">
                <a:solidFill>
                  <a:srgbClr val="1A3260"/>
                </a:solidFill>
              </a:rPr>
              <a:t>escribir</a:t>
            </a:r>
            <a:r>
              <a:rPr lang="en-US">
                <a:solidFill>
                  <a:srgbClr val="1A3260"/>
                </a:solidFill>
              </a:rPr>
              <a:t> el </a:t>
            </a:r>
            <a:r>
              <a:rPr lang="en-US" err="1">
                <a:solidFill>
                  <a:srgbClr val="1A3260"/>
                </a:solidFill>
              </a:rPr>
              <a:t>programador</a:t>
            </a:r>
            <a:r>
              <a:rPr lang="en-US">
                <a:solidFill>
                  <a:srgbClr val="1A3260"/>
                </a:solidFill>
              </a:rPr>
              <a:t> para </a:t>
            </a:r>
            <a:r>
              <a:rPr lang="en-US" err="1">
                <a:solidFill>
                  <a:srgbClr val="1A3260"/>
                </a:solidFill>
              </a:rPr>
              <a:t>implementar</a:t>
            </a:r>
            <a:r>
              <a:rPr lang="en-US">
                <a:solidFill>
                  <a:srgbClr val="1A3260"/>
                </a:solidFill>
              </a:rPr>
              <a:t> </a:t>
            </a:r>
            <a:r>
              <a:rPr lang="en-US" err="1">
                <a:solidFill>
                  <a:srgbClr val="1A3260"/>
                </a:solidFill>
              </a:rPr>
              <a:t>esas</a:t>
            </a:r>
            <a:r>
              <a:rPr lang="en-US">
                <a:solidFill>
                  <a:srgbClr val="1A3260"/>
                </a:solidFill>
              </a:rPr>
              <a:t> </a:t>
            </a:r>
            <a:r>
              <a:rPr lang="en-US" err="1">
                <a:solidFill>
                  <a:srgbClr val="1A3260"/>
                </a:solidFill>
              </a:rPr>
              <a:t>funcionalidades</a:t>
            </a:r>
            <a:r>
              <a:rPr lang="en-US">
                <a:solidFill>
                  <a:srgbClr val="1A3260"/>
                </a:solidFill>
              </a:rPr>
              <a:t>.</a:t>
            </a:r>
          </a:p>
          <a:p>
            <a:endParaRPr lang="en-US">
              <a:solidFill>
                <a:srgbClr val="1A3260"/>
              </a:solidFill>
            </a:endParaRPr>
          </a:p>
          <a:p>
            <a:r>
              <a:rPr lang="en-US">
                <a:solidFill>
                  <a:srgbClr val="1A3260"/>
                </a:solidFill>
              </a:rPr>
              <a:t>Por </a:t>
            </a:r>
            <a:r>
              <a:rPr lang="en-US" err="1">
                <a:solidFill>
                  <a:srgbClr val="1A3260"/>
                </a:solidFill>
              </a:rPr>
              <a:t>eso</a:t>
            </a:r>
            <a:r>
              <a:rPr lang="en-US">
                <a:solidFill>
                  <a:srgbClr val="1A3260"/>
                </a:solidFill>
              </a:rPr>
              <a:t>, </a:t>
            </a:r>
            <a:r>
              <a:rPr lang="en-US" err="1">
                <a:solidFill>
                  <a:srgbClr val="1A3260"/>
                </a:solidFill>
              </a:rPr>
              <a:t>existe</a:t>
            </a:r>
            <a:r>
              <a:rPr lang="en-US">
                <a:solidFill>
                  <a:srgbClr val="1A3260"/>
                </a:solidFill>
              </a:rPr>
              <a:t> </a:t>
            </a:r>
            <a:r>
              <a:rPr lang="en-US" err="1">
                <a:solidFill>
                  <a:srgbClr val="1A3260"/>
                </a:solidFill>
              </a:rPr>
              <a:t>una</a:t>
            </a:r>
            <a:r>
              <a:rPr lang="en-US">
                <a:solidFill>
                  <a:srgbClr val="1A3260"/>
                </a:solidFill>
              </a:rPr>
              <a:t> </a:t>
            </a:r>
            <a:r>
              <a:rPr lang="en-US" err="1">
                <a:solidFill>
                  <a:srgbClr val="1A3260"/>
                </a:solidFill>
              </a:rPr>
              <a:t>relación</a:t>
            </a:r>
            <a:r>
              <a:rPr lang="en-US">
                <a:solidFill>
                  <a:srgbClr val="1A3260"/>
                </a:solidFill>
              </a:rPr>
              <a:t> </a:t>
            </a:r>
            <a:r>
              <a:rPr lang="en-US" err="1">
                <a:solidFill>
                  <a:srgbClr val="1A3260"/>
                </a:solidFill>
              </a:rPr>
              <a:t>aproximada</a:t>
            </a:r>
            <a:r>
              <a:rPr lang="en-US">
                <a:solidFill>
                  <a:srgbClr val="1A3260"/>
                </a:solidFill>
              </a:rPr>
              <a:t> entre ambas </a:t>
            </a:r>
            <a:r>
              <a:rPr lang="en-US" err="1">
                <a:solidFill>
                  <a:srgbClr val="1A3260"/>
                </a:solidFill>
              </a:rPr>
              <a:t>métricas</a:t>
            </a:r>
            <a:r>
              <a:rPr lang="en-US">
                <a:solidFill>
                  <a:srgbClr val="1A3260"/>
                </a:solidFill>
              </a:rPr>
              <a:t>.</a:t>
            </a:r>
          </a:p>
          <a:p>
            <a:pPr lvl="1">
              <a:buFont typeface=""/>
              <a:buNone/>
            </a:pPr>
            <a:r>
              <a:rPr lang="en-US">
                <a:solidFill>
                  <a:srgbClr val="1A3260"/>
                </a:solidFill>
              </a:rPr>
              <a:t>Un Punto de </a:t>
            </a:r>
            <a:r>
              <a:rPr lang="en-US" err="1">
                <a:solidFill>
                  <a:srgbClr val="1A3260"/>
                </a:solidFill>
              </a:rPr>
              <a:t>Función</a:t>
            </a:r>
            <a:r>
              <a:rPr lang="en-US">
                <a:solidFill>
                  <a:srgbClr val="1A3260"/>
                </a:solidFill>
              </a:rPr>
              <a:t> </a:t>
            </a:r>
            <a:r>
              <a:rPr lang="en-US" err="1">
                <a:solidFill>
                  <a:srgbClr val="1A3260"/>
                </a:solidFill>
              </a:rPr>
              <a:t>puede</a:t>
            </a:r>
            <a:r>
              <a:rPr lang="en-US">
                <a:solidFill>
                  <a:srgbClr val="1A3260"/>
                </a:solidFill>
              </a:rPr>
              <a:t> </a:t>
            </a:r>
            <a:r>
              <a:rPr lang="en-US" err="1">
                <a:solidFill>
                  <a:srgbClr val="1A3260"/>
                </a:solidFill>
              </a:rPr>
              <a:t>requerir</a:t>
            </a:r>
            <a:r>
              <a:rPr lang="en-US">
                <a:solidFill>
                  <a:srgbClr val="1A3260"/>
                </a:solidFill>
              </a:rPr>
              <a:t> </a:t>
            </a:r>
            <a:r>
              <a:rPr lang="en-US" err="1">
                <a:solidFill>
                  <a:srgbClr val="1A3260"/>
                </a:solidFill>
              </a:rPr>
              <a:t>una</a:t>
            </a:r>
            <a:r>
              <a:rPr lang="en-US">
                <a:solidFill>
                  <a:srgbClr val="1A3260"/>
                </a:solidFill>
              </a:rPr>
              <a:t> </a:t>
            </a:r>
            <a:r>
              <a:rPr lang="en-US" err="1">
                <a:solidFill>
                  <a:srgbClr val="1A3260"/>
                </a:solidFill>
              </a:rPr>
              <a:t>determinada</a:t>
            </a:r>
            <a:r>
              <a:rPr lang="en-US">
                <a:solidFill>
                  <a:srgbClr val="1A3260"/>
                </a:solidFill>
              </a:rPr>
              <a:t> </a:t>
            </a:r>
            <a:r>
              <a:rPr lang="en-US" err="1">
                <a:solidFill>
                  <a:srgbClr val="1A3260"/>
                </a:solidFill>
              </a:rPr>
              <a:t>cantidad</a:t>
            </a:r>
            <a:r>
              <a:rPr lang="en-US">
                <a:solidFill>
                  <a:srgbClr val="1A3260"/>
                </a:solidFill>
              </a:rPr>
              <a:t> de </a:t>
            </a:r>
            <a:r>
              <a:rPr lang="en-US" err="1">
                <a:solidFill>
                  <a:srgbClr val="1A3260"/>
                </a:solidFill>
              </a:rPr>
              <a:t>líneas</a:t>
            </a:r>
            <a:r>
              <a:rPr lang="en-US">
                <a:solidFill>
                  <a:srgbClr val="1A3260"/>
                </a:solidFill>
              </a:rPr>
              <a:t> de </a:t>
            </a:r>
            <a:r>
              <a:rPr lang="en-US" err="1">
                <a:solidFill>
                  <a:srgbClr val="1A3260"/>
                </a:solidFill>
              </a:rPr>
              <a:t>código</a:t>
            </a:r>
            <a:r>
              <a:rPr lang="en-US">
                <a:solidFill>
                  <a:srgbClr val="1A3260"/>
                </a:solidFill>
              </a:rPr>
              <a:t>, </a:t>
            </a:r>
            <a:r>
              <a:rPr lang="en-US" err="1">
                <a:solidFill>
                  <a:srgbClr val="1A3260"/>
                </a:solidFill>
              </a:rPr>
              <a:t>dependiendo</a:t>
            </a:r>
            <a:r>
              <a:rPr lang="en-US">
                <a:solidFill>
                  <a:srgbClr val="1A3260"/>
                </a:solidFill>
              </a:rPr>
              <a:t> del </a:t>
            </a:r>
            <a:r>
              <a:rPr lang="en-US" err="1">
                <a:solidFill>
                  <a:srgbClr val="1A3260"/>
                </a:solidFill>
              </a:rPr>
              <a:t>lenguaje</a:t>
            </a:r>
            <a:r>
              <a:rPr lang="en-US">
                <a:solidFill>
                  <a:srgbClr val="1A3260"/>
                </a:solidFill>
              </a:rPr>
              <a:t> de </a:t>
            </a:r>
            <a:r>
              <a:rPr lang="en-US" err="1">
                <a:solidFill>
                  <a:srgbClr val="1A3260"/>
                </a:solidFill>
              </a:rPr>
              <a:t>programación</a:t>
            </a:r>
            <a:r>
              <a:rPr lang="en-US">
                <a:solidFill>
                  <a:srgbClr val="1A3260"/>
                </a:solidFill>
              </a:rPr>
              <a:t> </a:t>
            </a:r>
            <a:r>
              <a:rPr lang="en-US" err="1">
                <a:solidFill>
                  <a:srgbClr val="1A3260"/>
                </a:solidFill>
              </a:rPr>
              <a:t>utilizado</a:t>
            </a:r>
            <a:r>
              <a:rPr lang="en-US">
                <a:solidFill>
                  <a:srgbClr val="1A3260"/>
                </a:solidFill>
              </a:rPr>
              <a:t>.</a:t>
            </a:r>
          </a:p>
          <a:p>
            <a:pPr algn="ctr"/>
            <a:endParaRPr lang="es-ES">
              <a:solidFill>
                <a:srgbClr val="1A3260"/>
              </a:solidFill>
            </a:endParaRPr>
          </a:p>
        </p:txBody>
      </p:sp>
    </p:spTree>
    <p:extLst>
      <p:ext uri="{BB962C8B-B14F-4D97-AF65-F5344CB8AC3E}">
        <p14:creationId xmlns:p14="http://schemas.microsoft.com/office/powerpoint/2010/main" val="2929273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A4ADBE0F-047A-C05B-9AF9-D1CBD35EDC60}"/>
              </a:ext>
            </a:extLst>
          </p:cNvPr>
          <p:cNvSpPr>
            <a:spLocks noGrp="1"/>
          </p:cNvSpPr>
          <p:nvPr>
            <p:ph type="sldNum" sz="quarter" idx="12"/>
          </p:nvPr>
        </p:nvSpPr>
        <p:spPr/>
        <p:txBody>
          <a:bodyPr/>
          <a:lstStyle/>
          <a:p>
            <a:fld id="{781540D8-A350-43A5-847A-DA9D2C044D33}" type="slidenum">
              <a:rPr lang="en-US" altLang="es-AR"/>
              <a:pPr/>
              <a:t>25</a:t>
            </a:fld>
            <a:endParaRPr lang="en-US" altLang="es-AR"/>
          </a:p>
        </p:txBody>
      </p:sp>
      <p:graphicFrame>
        <p:nvGraphicFramePr>
          <p:cNvPr id="36866" name="Object 2">
            <a:extLst>
              <a:ext uri="{FF2B5EF4-FFF2-40B4-BE49-F238E27FC236}">
                <a16:creationId xmlns:a16="http://schemas.microsoft.com/office/drawing/2014/main" id="{A39BE505-7142-2830-39A2-8E85A6DF369A}"/>
              </a:ext>
            </a:extLst>
          </p:cNvPr>
          <p:cNvGraphicFramePr>
            <a:graphicFrameLocks/>
          </p:cNvGraphicFramePr>
          <p:nvPr/>
        </p:nvGraphicFramePr>
        <p:xfrm>
          <a:off x="4038600" y="2919414"/>
          <a:ext cx="4044950" cy="3252787"/>
        </p:xfrm>
        <a:graphic>
          <a:graphicData uri="http://schemas.openxmlformats.org/presentationml/2006/ole">
            <mc:AlternateContent xmlns:mc="http://schemas.openxmlformats.org/markup-compatibility/2006">
              <mc:Choice xmlns:v="urn:schemas-microsoft-com:vml" Requires="v">
                <p:oleObj name="Hoja de cálculo" r:id="rId2" imgW="1568160" imgH="1298520" progId="Excel.Sheet.5">
                  <p:embed/>
                </p:oleObj>
              </mc:Choice>
              <mc:Fallback>
                <p:oleObj name="Hoja de cálculo" r:id="rId2" imgW="1568160" imgH="1298520" progId="Excel.Sheet.5">
                  <p:embed/>
                  <p:pic>
                    <p:nvPicPr>
                      <p:cNvPr id="36866" name="Object 2">
                        <a:extLst>
                          <a:ext uri="{FF2B5EF4-FFF2-40B4-BE49-F238E27FC236}">
                            <a16:creationId xmlns:a16="http://schemas.microsoft.com/office/drawing/2014/main" id="{A39BE505-7142-2830-39A2-8E85A6DF369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919414"/>
                        <a:ext cx="4044950" cy="325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68" name="Rectangle 4">
            <a:extLst>
              <a:ext uri="{FF2B5EF4-FFF2-40B4-BE49-F238E27FC236}">
                <a16:creationId xmlns:a16="http://schemas.microsoft.com/office/drawing/2014/main" id="{04A12E6B-7B59-7B95-98A6-860232BFA2BE}"/>
              </a:ext>
            </a:extLst>
          </p:cNvPr>
          <p:cNvSpPr>
            <a:spLocks noChangeArrowheads="1"/>
          </p:cNvSpPr>
          <p:nvPr/>
        </p:nvSpPr>
        <p:spPr bwMode="auto">
          <a:xfrm>
            <a:off x="2787651" y="1905001"/>
            <a:ext cx="7483475"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s-ES_tradnl" altLang="es-AR" i="1">
                <a:solidFill>
                  <a:schemeClr val="tx2"/>
                </a:solidFill>
                <a:latin typeface="Tahoma" panose="020B0604030504040204" pitchFamily="34" charset="0"/>
              </a:rPr>
              <a:t>Líneas de código (LDC) necesarias para implementar </a:t>
            </a:r>
          </a:p>
          <a:p>
            <a:pPr algn="ctr"/>
            <a:r>
              <a:rPr lang="es-ES_tradnl" altLang="es-AR" i="1">
                <a:solidFill>
                  <a:schemeClr val="tx2"/>
                </a:solidFill>
                <a:latin typeface="Tahoma" panose="020B0604030504040204" pitchFamily="34" charset="0"/>
              </a:rPr>
              <a:t>un punto de función</a:t>
            </a:r>
          </a:p>
        </p:txBody>
      </p:sp>
      <p:sp>
        <p:nvSpPr>
          <p:cNvPr id="36869" name="Text Box 5">
            <a:extLst>
              <a:ext uri="{FF2B5EF4-FFF2-40B4-BE49-F238E27FC236}">
                <a16:creationId xmlns:a16="http://schemas.microsoft.com/office/drawing/2014/main" id="{24041205-D07E-00D8-BCFA-9C025EC4B583}"/>
              </a:ext>
            </a:extLst>
          </p:cNvPr>
          <p:cNvSpPr txBox="1">
            <a:spLocks noChangeArrowheads="1"/>
          </p:cNvSpPr>
          <p:nvPr/>
        </p:nvSpPr>
        <p:spPr bwMode="auto">
          <a:xfrm>
            <a:off x="2879725" y="147955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571500">
              <a:defRPr sz="2400">
                <a:solidFill>
                  <a:schemeClr val="tx1"/>
                </a:solidFill>
                <a:latin typeface="Times New Roman" panose="02020603050405020304" pitchFamily="18" charset="0"/>
              </a:defRPr>
            </a:lvl2pPr>
            <a:lvl3pPr marL="1143000">
              <a:defRPr sz="2400">
                <a:solidFill>
                  <a:schemeClr val="tx1"/>
                </a:solidFill>
                <a:latin typeface="Times New Roman" panose="02020603050405020304" pitchFamily="18" charset="0"/>
              </a:defRPr>
            </a:lvl3pPr>
            <a:lvl4pPr marL="1714500">
              <a:defRPr sz="2400">
                <a:solidFill>
                  <a:schemeClr val="tx1"/>
                </a:solidFill>
                <a:latin typeface="Times New Roman" panose="02020603050405020304" pitchFamily="18" charset="0"/>
              </a:defRPr>
            </a:lvl4pPr>
            <a:lvl5pPr marL="2286000">
              <a:defRPr sz="2400">
                <a:solidFill>
                  <a:schemeClr val="tx1"/>
                </a:solidFill>
                <a:latin typeface="Times New Roman" panose="02020603050405020304" pitchFamily="18" charset="0"/>
              </a:defRPr>
            </a:lvl5pPr>
            <a:lvl6pPr marL="2743200" eaLnBrk="0" fontAlgn="base" hangingPunct="0">
              <a:spcBef>
                <a:spcPct val="0"/>
              </a:spcBef>
              <a:spcAft>
                <a:spcPct val="0"/>
              </a:spcAft>
              <a:defRPr sz="2400">
                <a:solidFill>
                  <a:schemeClr val="tx1"/>
                </a:solidFill>
                <a:latin typeface="Times New Roman" panose="02020603050405020304" pitchFamily="18" charset="0"/>
              </a:defRPr>
            </a:lvl6pPr>
            <a:lvl7pPr marL="3200400" eaLnBrk="0" fontAlgn="base" hangingPunct="0">
              <a:spcBef>
                <a:spcPct val="0"/>
              </a:spcBef>
              <a:spcAft>
                <a:spcPct val="0"/>
              </a:spcAft>
              <a:defRPr sz="2400">
                <a:solidFill>
                  <a:schemeClr val="tx1"/>
                </a:solidFill>
                <a:latin typeface="Times New Roman" panose="02020603050405020304" pitchFamily="18" charset="0"/>
              </a:defRPr>
            </a:lvl7pPr>
            <a:lvl8pPr marL="3657600" eaLnBrk="0" fontAlgn="base" hangingPunct="0">
              <a:spcBef>
                <a:spcPct val="0"/>
              </a:spcBef>
              <a:spcAft>
                <a:spcPct val="0"/>
              </a:spcAft>
              <a:defRPr sz="2400">
                <a:solidFill>
                  <a:schemeClr val="tx1"/>
                </a:solidFill>
                <a:latin typeface="Times New Roman" panose="02020603050405020304" pitchFamily="18" charset="0"/>
              </a:defRPr>
            </a:lvl8pPr>
            <a:lvl9pPr marL="41148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s-AR" sz="1800">
              <a:latin typeface="Tahoma" panose="020B0604030504040204" pitchFamily="34" charset="0"/>
            </a:endParaRPr>
          </a:p>
        </p:txBody>
      </p:sp>
      <p:sp>
        <p:nvSpPr>
          <p:cNvPr id="36870" name="Rectangle 6">
            <a:extLst>
              <a:ext uri="{FF2B5EF4-FFF2-40B4-BE49-F238E27FC236}">
                <a16:creationId xmlns:a16="http://schemas.microsoft.com/office/drawing/2014/main" id="{5D922A62-85B5-E530-F1DA-761505C4711A}"/>
              </a:ext>
            </a:extLst>
          </p:cNvPr>
          <p:cNvSpPr>
            <a:spLocks noChangeArrowheads="1"/>
          </p:cNvSpPr>
          <p:nvPr/>
        </p:nvSpPr>
        <p:spPr bwMode="auto">
          <a:xfrm>
            <a:off x="2819400" y="625475"/>
            <a:ext cx="73914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chemeClr val="tx2"/>
                </a:solidFill>
                <a:latin typeface="Tahoma" panose="020B0604030504040204" pitchFamily="34" charset="0"/>
              </a:rPr>
              <a:t>Dirección de Proyectos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9F72E31-58D9-F3F1-6E8C-452E923B123D}"/>
              </a:ext>
            </a:extLst>
          </p:cNvPr>
          <p:cNvPicPr>
            <a:picLocks noChangeAspect="1"/>
          </p:cNvPicPr>
          <p:nvPr/>
        </p:nvPicPr>
        <p:blipFill>
          <a:blip r:embed="rId2"/>
          <a:stretch>
            <a:fillRect/>
          </a:stretch>
        </p:blipFill>
        <p:spPr>
          <a:xfrm>
            <a:off x="3320249" y="1736837"/>
            <a:ext cx="5521910" cy="4542125"/>
          </a:xfrm>
          <a:prstGeom prst="rect">
            <a:avLst/>
          </a:prstGeom>
        </p:spPr>
      </p:pic>
      <p:sp>
        <p:nvSpPr>
          <p:cNvPr id="4" name="Rectangle 5">
            <a:extLst>
              <a:ext uri="{FF2B5EF4-FFF2-40B4-BE49-F238E27FC236}">
                <a16:creationId xmlns:a16="http://schemas.microsoft.com/office/drawing/2014/main" id="{57F0B08E-FF39-6BA8-87C0-8ABC27F5BB92}"/>
              </a:ext>
            </a:extLst>
          </p:cNvPr>
          <p:cNvSpPr>
            <a:spLocks noChangeArrowheads="1"/>
          </p:cNvSpPr>
          <p:nvPr/>
        </p:nvSpPr>
        <p:spPr bwMode="auto">
          <a:xfrm>
            <a:off x="355170" y="598842"/>
            <a:ext cx="74834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s-ES_tradnl" altLang="es-AR" sz="4000">
                <a:solidFill>
                  <a:schemeClr val="accent2"/>
                </a:solidFill>
                <a:latin typeface="Amasis MT Pro Medium" panose="02040604050005020304" pitchFamily="18" charset="0"/>
                <a:cs typeface="Times New Roman" panose="02020603050405020304" pitchFamily="18" charset="0"/>
              </a:rPr>
              <a:t>Dirección de Proyectos</a:t>
            </a:r>
          </a:p>
        </p:txBody>
      </p:sp>
      <p:sp>
        <p:nvSpPr>
          <p:cNvPr id="2" name="Marcador de número de diapositiva 1">
            <a:extLst>
              <a:ext uri="{FF2B5EF4-FFF2-40B4-BE49-F238E27FC236}">
                <a16:creationId xmlns:a16="http://schemas.microsoft.com/office/drawing/2014/main" id="{0C10454C-7C42-D12C-9798-089DDDC56DE1}"/>
              </a:ext>
            </a:extLst>
          </p:cNvPr>
          <p:cNvSpPr>
            <a:spLocks noGrp="1"/>
          </p:cNvSpPr>
          <p:nvPr>
            <p:ph type="sldNum" sz="quarter" idx="12"/>
          </p:nvPr>
        </p:nvSpPr>
        <p:spPr/>
        <p:txBody>
          <a:bodyPr/>
          <a:lstStyle/>
          <a:p>
            <a:fld id="{0E40E506-8910-4A1D-9597-9E72BD293B97}" type="slidenum">
              <a:rPr lang="en-US" smtClean="0"/>
              <a:t>26</a:t>
            </a:fld>
            <a:endParaRPr lang="es-ES"/>
          </a:p>
        </p:txBody>
      </p:sp>
    </p:spTree>
    <p:extLst>
      <p:ext uri="{BB962C8B-B14F-4D97-AF65-F5344CB8AC3E}">
        <p14:creationId xmlns:p14="http://schemas.microsoft.com/office/powerpoint/2010/main" val="1407988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67DA5566-8DC4-6E72-4F8E-D5C281C86871}"/>
              </a:ext>
            </a:extLst>
          </p:cNvPr>
          <p:cNvSpPr txBox="1">
            <a:spLocks/>
          </p:cNvSpPr>
          <p:nvPr/>
        </p:nvSpPr>
        <p:spPr>
          <a:xfrm>
            <a:off x="-361637" y="5299897"/>
            <a:ext cx="10392328" cy="689515"/>
          </a:xfrm>
          <a:prstGeom prst="rect">
            <a:avLst/>
          </a:prstGeom>
        </p:spPr>
        <p:txBody>
          <a:bodyPr vert="horz" lIns="91440" tIns="45720" rIns="91440" bIns="45720" rtlCol="0" anchor="ctr">
            <a:normAutofit/>
          </a:bodyPr>
          <a:lstStyle>
            <a:lvl1pPr marL="0" indent="0" algn="r" defTabSz="457200" rtl="0" eaLnBrk="1" latinLnBrk="0" hangingPunct="1">
              <a:spcBef>
                <a:spcPct val="20000"/>
              </a:spcBef>
              <a:spcAft>
                <a:spcPts val="600"/>
              </a:spcAft>
              <a:buClr>
                <a:schemeClr val="accent2"/>
              </a:buClr>
              <a:buSzPct val="92000"/>
              <a:buFont typeface="Wingdings 2" panose="05020102010507070707" pitchFamily="18" charset="2"/>
              <a:buNone/>
              <a:defRPr sz="1100" kern="1200">
                <a:solidFill>
                  <a:schemeClr val="bg1"/>
                </a:solidFill>
                <a:latin typeface="+mn-lt"/>
                <a:ea typeface="+mn-ea"/>
                <a:cs typeface="+mn-cs"/>
              </a:defRPr>
            </a:lvl1pPr>
            <a:lvl2pPr marL="457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100" kern="1200">
                <a:solidFill>
                  <a:schemeClr val="tx2"/>
                </a:solidFill>
                <a:latin typeface="+mn-lt"/>
                <a:ea typeface="+mn-ea"/>
                <a:cs typeface="+mn-cs"/>
              </a:defRPr>
            </a:lvl2pPr>
            <a:lvl3pPr marL="914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000" kern="1200">
                <a:solidFill>
                  <a:schemeClr val="tx2"/>
                </a:solidFill>
                <a:latin typeface="+mn-lt"/>
                <a:ea typeface="+mn-ea"/>
                <a:cs typeface="+mn-cs"/>
              </a:defRPr>
            </a:lvl3pPr>
            <a:lvl4pPr marL="1371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4pPr>
            <a:lvl5pPr marL="18288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9pPr>
          </a:lstStyle>
          <a:p>
            <a:r>
              <a:rPr lang="es-AR" sz="1800" cap="all">
                <a:latin typeface="+mj-lt"/>
                <a:ea typeface="+mj-ea"/>
                <a:cs typeface="+mj-cs"/>
              </a:rPr>
              <a:t>Herramientas de Planificación – </a:t>
            </a:r>
            <a:r>
              <a:rPr lang="es-AR" sz="1500" cap="all">
                <a:latin typeface="+mj-lt"/>
                <a:ea typeface="+mj-ea"/>
                <a:cs typeface="+mj-cs"/>
              </a:rPr>
              <a:t>Microsoft </a:t>
            </a:r>
            <a:r>
              <a:rPr lang="es-AR" sz="1500" cap="all" err="1">
                <a:latin typeface="+mj-lt"/>
                <a:ea typeface="+mj-ea"/>
                <a:cs typeface="+mj-cs"/>
              </a:rPr>
              <a:t>Planner</a:t>
            </a:r>
            <a:r>
              <a:rPr lang="es-AR" sz="1500" cap="all">
                <a:latin typeface="+mj-lt"/>
                <a:ea typeface="+mj-ea"/>
                <a:cs typeface="+mj-cs"/>
              </a:rPr>
              <a:t> / </a:t>
            </a:r>
            <a:r>
              <a:rPr lang="es-AR" sz="1500" cap="all" err="1">
                <a:latin typeface="+mj-lt"/>
                <a:ea typeface="+mj-ea"/>
                <a:cs typeface="+mj-cs"/>
              </a:rPr>
              <a:t>Teams</a:t>
            </a:r>
            <a:r>
              <a:rPr lang="es-AR" sz="1500" cap="all">
                <a:latin typeface="+mj-lt"/>
                <a:ea typeface="+mj-ea"/>
                <a:cs typeface="+mj-cs"/>
              </a:rPr>
              <a:t> </a:t>
            </a:r>
            <a:r>
              <a:rPr lang="es-AR" sz="1500" cap="all" err="1">
                <a:latin typeface="+mj-lt"/>
                <a:ea typeface="+mj-ea"/>
                <a:cs typeface="+mj-cs"/>
              </a:rPr>
              <a:t>planner</a:t>
            </a:r>
            <a:r>
              <a:rPr lang="es-AR" sz="1500" cap="all">
                <a:latin typeface="+mj-lt"/>
                <a:ea typeface="+mj-ea"/>
                <a:cs typeface="+mj-cs"/>
              </a:rPr>
              <a:t>/LUCIDCHART</a:t>
            </a:r>
            <a:endParaRPr lang="en-US" sz="1500" cap="all">
              <a:latin typeface="+mj-lt"/>
              <a:ea typeface="+mj-ea"/>
              <a:cs typeface="+mj-cs"/>
            </a:endParaRPr>
          </a:p>
        </p:txBody>
      </p:sp>
      <p:pic>
        <p:nvPicPr>
          <p:cNvPr id="7172" name="Picture 4" descr="Ganttpro">
            <a:extLst>
              <a:ext uri="{FF2B5EF4-FFF2-40B4-BE49-F238E27FC236}">
                <a16:creationId xmlns:a16="http://schemas.microsoft.com/office/drawing/2014/main" id="{7DE91B5B-9126-E3FC-6946-55E312693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8877" y="906189"/>
            <a:ext cx="6592748" cy="40451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E02D4F-79ED-8F2E-522C-7BBD9DC06C99}"/>
              </a:ext>
            </a:extLst>
          </p:cNvPr>
          <p:cNvSpPr txBox="1"/>
          <p:nvPr/>
        </p:nvSpPr>
        <p:spPr>
          <a:xfrm>
            <a:off x="7043765" y="646423"/>
            <a:ext cx="4973782" cy="369332"/>
          </a:xfrm>
          <a:prstGeom prst="rect">
            <a:avLst/>
          </a:prstGeom>
          <a:noFill/>
        </p:spPr>
        <p:txBody>
          <a:bodyPr wrap="square" rtlCol="0">
            <a:spAutoFit/>
          </a:bodyPr>
          <a:lstStyle/>
          <a:p>
            <a:r>
              <a:rPr lang="es-AR"/>
              <a:t>Diagrama de Gantt</a:t>
            </a:r>
            <a:endParaRPr lang="en-US"/>
          </a:p>
        </p:txBody>
      </p:sp>
      <p:pic>
        <p:nvPicPr>
          <p:cNvPr id="8194" name="Picture 2" descr="Project Management 102 (o parte II) | Proyectos y Empresas">
            <a:extLst>
              <a:ext uri="{FF2B5EF4-FFF2-40B4-BE49-F238E27FC236}">
                <a16:creationId xmlns:a16="http://schemas.microsoft.com/office/drawing/2014/main" id="{063BE6AF-EC48-3D58-44BA-9B9419671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087" y="1213345"/>
            <a:ext cx="4112868" cy="3430835"/>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número de diapositiva 1">
            <a:extLst>
              <a:ext uri="{FF2B5EF4-FFF2-40B4-BE49-F238E27FC236}">
                <a16:creationId xmlns:a16="http://schemas.microsoft.com/office/drawing/2014/main" id="{DB8AEC0D-FDDF-BE10-4C33-F76F42A5F612}"/>
              </a:ext>
            </a:extLst>
          </p:cNvPr>
          <p:cNvSpPr>
            <a:spLocks noGrp="1"/>
          </p:cNvSpPr>
          <p:nvPr>
            <p:ph type="sldNum" sz="quarter" idx="12"/>
          </p:nvPr>
        </p:nvSpPr>
        <p:spPr/>
        <p:txBody>
          <a:bodyPr/>
          <a:lstStyle/>
          <a:p>
            <a:fld id="{0E40E506-8910-4A1D-9597-9E72BD293B97}" type="slidenum">
              <a:rPr lang="en-US" smtClean="0"/>
              <a:t>27</a:t>
            </a:fld>
            <a:endParaRPr lang="es-ES"/>
          </a:p>
        </p:txBody>
      </p:sp>
    </p:spTree>
    <p:extLst>
      <p:ext uri="{BB962C8B-B14F-4D97-AF65-F5344CB8AC3E}">
        <p14:creationId xmlns:p14="http://schemas.microsoft.com/office/powerpoint/2010/main" val="410508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pic>
        <p:nvPicPr>
          <p:cNvPr id="41" name="Google Shape;41;g21c129c4305_0_6"/>
          <p:cNvPicPr preferRelativeResize="0"/>
          <p:nvPr/>
        </p:nvPicPr>
        <p:blipFill rotWithShape="1">
          <a:blip r:embed="rId3">
            <a:alphaModFix/>
          </a:blip>
          <a:srcRect/>
          <a:stretch/>
        </p:blipFill>
        <p:spPr>
          <a:xfrm>
            <a:off x="2805415" y="2682221"/>
            <a:ext cx="7570168" cy="2695567"/>
          </a:xfrm>
          <a:prstGeom prst="rect">
            <a:avLst/>
          </a:prstGeom>
          <a:noFill/>
          <a:ln w="228600" cap="sq" cmpd="thickThin">
            <a:solidFill>
              <a:schemeClr val="lt1"/>
            </a:solidFill>
            <a:prstDash val="solid"/>
            <a:miter lim="800000"/>
            <a:headEnd type="none" w="sm" len="sm"/>
            <a:tailEnd type="none" w="sm" len="sm"/>
          </a:ln>
        </p:spPr>
      </p:pic>
      <p:sp>
        <p:nvSpPr>
          <p:cNvPr id="42" name="Google Shape;42;g21c129c4305_0_6"/>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333399"/>
                </a:solidFill>
                <a:latin typeface="Arial"/>
                <a:ea typeface="Arial"/>
                <a:cs typeface="Arial"/>
                <a:sym typeface="Arial"/>
              </a:rPr>
              <a:t>Funciones y responsabilidades</a:t>
            </a:r>
            <a:endParaRPr sz="1620"/>
          </a:p>
        </p:txBody>
      </p:sp>
      <p:sp>
        <p:nvSpPr>
          <p:cNvPr id="2" name="Marcador de número de diapositiva 1">
            <a:extLst>
              <a:ext uri="{FF2B5EF4-FFF2-40B4-BE49-F238E27FC236}">
                <a16:creationId xmlns:a16="http://schemas.microsoft.com/office/drawing/2014/main" id="{8B2105BB-54AB-613A-E0C9-F2068A540793}"/>
              </a:ext>
            </a:extLst>
          </p:cNvPr>
          <p:cNvSpPr>
            <a:spLocks noGrp="1"/>
          </p:cNvSpPr>
          <p:nvPr>
            <p:ph type="sldNum" sz="quarter" idx="12"/>
          </p:nvPr>
        </p:nvSpPr>
        <p:spPr/>
        <p:txBody>
          <a:bodyPr/>
          <a:lstStyle/>
          <a:p>
            <a:fld id="{0E40E506-8910-4A1D-9597-9E72BD293B97}" type="slidenum">
              <a:rPr lang="en-US" smtClean="0"/>
              <a:t>28</a:t>
            </a:fld>
            <a:endParaRPr lang="es-E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8" name="Google Shape;48;g21c129c4305_0_12"/>
          <p:cNvSpPr txBox="1">
            <a:spLocks noGrp="1"/>
          </p:cNvSpPr>
          <p:nvPr>
            <p:ph type="body" idx="1"/>
          </p:nvPr>
        </p:nvSpPr>
        <p:spPr>
          <a:xfrm>
            <a:off x="2524845" y="2255828"/>
            <a:ext cx="7493580" cy="4091310"/>
          </a:xfrm>
          <a:prstGeom prst="rect">
            <a:avLst/>
          </a:prstGeom>
          <a:noFill/>
          <a:ln>
            <a:noFill/>
          </a:ln>
        </p:spPr>
        <p:txBody>
          <a:bodyPr spcFirstLastPara="1" wrap="square" lIns="34290" tIns="34290" rIns="34290" bIns="34290" anchor="t" anchorCtr="0">
            <a:noAutofit/>
          </a:bodyPr>
          <a:lstStyle/>
          <a:p>
            <a:pPr marL="0" indent="0" algn="ctr">
              <a:lnSpc>
                <a:spcPct val="119921"/>
              </a:lnSpc>
              <a:spcBef>
                <a:spcPts val="0"/>
              </a:spcBef>
              <a:spcAft>
                <a:spcPts val="0"/>
              </a:spcAft>
              <a:buClr>
                <a:srgbClr val="333399"/>
              </a:buClr>
              <a:buSzPts val="3555"/>
              <a:buNone/>
            </a:pPr>
            <a:r>
              <a:rPr lang="en-US" sz="3200" b="1" err="1">
                <a:solidFill>
                  <a:srgbClr val="1A3260"/>
                </a:solidFill>
                <a:latin typeface="Arial"/>
                <a:ea typeface="Arial"/>
                <a:cs typeface="Arial"/>
                <a:sym typeface="Arial"/>
              </a:rPr>
              <a:t>Gerente</a:t>
            </a:r>
            <a:endParaRPr sz="3200" b="1">
              <a:solidFill>
                <a:srgbClr val="1A3260"/>
              </a:solidFill>
              <a:latin typeface="Arial"/>
              <a:ea typeface="Arial"/>
              <a:cs typeface="Arial"/>
              <a:sym typeface="Arial"/>
            </a:endParaRPr>
          </a:p>
          <a:p>
            <a:pPr marL="0" indent="0" algn="ctr">
              <a:lnSpc>
                <a:spcPct val="119921"/>
              </a:lnSpc>
              <a:spcBef>
                <a:spcPts val="0"/>
              </a:spcBef>
              <a:spcAft>
                <a:spcPts val="0"/>
              </a:spcAft>
              <a:buClr>
                <a:srgbClr val="000000"/>
              </a:buClr>
              <a:buSzPts val="3555"/>
              <a:buNone/>
            </a:pPr>
            <a:endParaRPr sz="3200" b="1" u="sng">
              <a:solidFill>
                <a:srgbClr val="1A3260"/>
              </a:solidFill>
              <a:latin typeface="Arial"/>
              <a:ea typeface="Arial"/>
              <a:cs typeface="Arial"/>
              <a:sym typeface="Arial"/>
            </a:endParaRPr>
          </a:p>
          <a:p>
            <a:pPr marL="0" indent="0" algn="ctr">
              <a:lnSpc>
                <a:spcPct val="155859"/>
              </a:lnSpc>
              <a:spcBef>
                <a:spcPts val="572"/>
              </a:spcBef>
              <a:spcAft>
                <a:spcPts val="0"/>
              </a:spcAft>
              <a:buClr>
                <a:srgbClr val="333399"/>
              </a:buClr>
              <a:buSzPts val="3555"/>
              <a:buNone/>
            </a:pPr>
            <a:r>
              <a:rPr lang="en-US" sz="3200" err="1">
                <a:solidFill>
                  <a:srgbClr val="1A3260"/>
                </a:solidFill>
                <a:latin typeface="Arial"/>
                <a:ea typeface="Arial"/>
                <a:cs typeface="Arial"/>
                <a:sym typeface="Arial"/>
              </a:rPr>
              <a:t>Planifica</a:t>
            </a:r>
            <a:r>
              <a:rPr lang="en-US" sz="3200">
                <a:solidFill>
                  <a:srgbClr val="1A3260"/>
                </a:solidFill>
                <a:latin typeface="Arial"/>
                <a:ea typeface="Arial"/>
                <a:cs typeface="Arial"/>
                <a:sym typeface="Arial"/>
              </a:rPr>
              <a:t>, </a:t>
            </a:r>
            <a:r>
              <a:rPr lang="en-US" sz="3200" err="1">
                <a:solidFill>
                  <a:srgbClr val="1A3260"/>
                </a:solidFill>
                <a:latin typeface="Arial"/>
                <a:ea typeface="Arial"/>
                <a:cs typeface="Arial"/>
                <a:sym typeface="Arial"/>
              </a:rPr>
              <a:t>presupuesta</a:t>
            </a:r>
            <a:r>
              <a:rPr lang="en-US" sz="3200">
                <a:solidFill>
                  <a:srgbClr val="1A3260"/>
                </a:solidFill>
                <a:latin typeface="Arial"/>
                <a:ea typeface="Arial"/>
                <a:cs typeface="Arial"/>
                <a:sym typeface="Arial"/>
              </a:rPr>
              <a:t>, </a:t>
            </a:r>
            <a:r>
              <a:rPr lang="en-US" sz="3200" err="1">
                <a:solidFill>
                  <a:srgbClr val="1A3260"/>
                </a:solidFill>
                <a:latin typeface="Arial"/>
                <a:ea typeface="Arial"/>
                <a:cs typeface="Arial"/>
                <a:sym typeface="Arial"/>
              </a:rPr>
              <a:t>optimiza</a:t>
            </a:r>
            <a:r>
              <a:rPr lang="en-US" sz="3200">
                <a:solidFill>
                  <a:srgbClr val="1A3260"/>
                </a:solidFill>
                <a:latin typeface="Arial"/>
                <a:ea typeface="Arial"/>
                <a:cs typeface="Arial"/>
                <a:sym typeface="Arial"/>
              </a:rPr>
              <a:t> </a:t>
            </a:r>
            <a:r>
              <a:rPr lang="en-US" sz="3200" err="1">
                <a:solidFill>
                  <a:srgbClr val="1A3260"/>
                </a:solidFill>
                <a:latin typeface="Arial"/>
                <a:ea typeface="Arial"/>
                <a:cs typeface="Arial"/>
                <a:sym typeface="Arial"/>
              </a:rPr>
              <a:t>recursos,trata</a:t>
            </a:r>
            <a:r>
              <a:rPr lang="en-US" sz="3200">
                <a:solidFill>
                  <a:srgbClr val="1A3260"/>
                </a:solidFill>
                <a:latin typeface="Arial"/>
                <a:ea typeface="Arial"/>
                <a:cs typeface="Arial"/>
                <a:sym typeface="Arial"/>
              </a:rPr>
              <a:t> con </a:t>
            </a:r>
            <a:r>
              <a:rPr lang="en-US" sz="3200" err="1">
                <a:solidFill>
                  <a:srgbClr val="1A3260"/>
                </a:solidFill>
                <a:latin typeface="Arial"/>
                <a:ea typeface="Arial"/>
                <a:cs typeface="Arial"/>
                <a:sym typeface="Arial"/>
              </a:rPr>
              <a:t>proveedores</a:t>
            </a:r>
            <a:endParaRPr sz="3200">
              <a:solidFill>
                <a:srgbClr val="1A3260"/>
              </a:solidFill>
              <a:latin typeface="Arial"/>
              <a:ea typeface="Arial"/>
              <a:cs typeface="Arial"/>
              <a:sym typeface="Arial"/>
            </a:endParaRPr>
          </a:p>
        </p:txBody>
      </p:sp>
      <p:sp>
        <p:nvSpPr>
          <p:cNvPr id="49" name="Google Shape;49;g21c129c4305_0_12"/>
          <p:cNvSpPr txBox="1">
            <a:spLocks noGrp="1"/>
          </p:cNvSpPr>
          <p:nvPr>
            <p:ph type="title"/>
          </p:nvPr>
        </p:nvSpPr>
        <p:spPr>
          <a:xfrm>
            <a:off x="2523383" y="952493"/>
            <a:ext cx="7479000" cy="747900"/>
          </a:xfrm>
          <a:prstGeom prst="rect">
            <a:avLst/>
          </a:prstGeom>
          <a:noFill/>
          <a:ln>
            <a:noFill/>
          </a:ln>
        </p:spPr>
        <p:txBody>
          <a:bodyPr spcFirstLastPara="1" wrap="square" lIns="34290" tIns="34290" rIns="34290" bIns="34290" anchor="ctr" anchorCtr="0">
            <a:noAutofit/>
          </a:bodyPr>
          <a:lstStyle/>
          <a:p>
            <a:pPr>
              <a:lnSpc>
                <a:spcPct val="120138"/>
              </a:lnSpc>
              <a:spcBef>
                <a:spcPts val="0"/>
              </a:spcBef>
              <a:buClr>
                <a:srgbClr val="333399"/>
              </a:buClr>
              <a:buSzPts val="4000"/>
            </a:pPr>
            <a:r>
              <a:rPr lang="en-US" sz="3600" cap="none">
                <a:solidFill>
                  <a:srgbClr val="1A3260"/>
                </a:solidFill>
                <a:latin typeface="Arial"/>
                <a:ea typeface="Arial"/>
                <a:cs typeface="Arial"/>
                <a:sym typeface="Arial"/>
              </a:rPr>
              <a:t>Funciones y responsabilidades</a:t>
            </a:r>
            <a:endParaRPr sz="3600" cap="none">
              <a:solidFill>
                <a:srgbClr val="1A3260"/>
              </a:solidFill>
              <a:latin typeface="Arial"/>
              <a:ea typeface="Arial"/>
              <a:cs typeface="Arial"/>
              <a:sym typeface="Arial"/>
            </a:endParaRPr>
          </a:p>
        </p:txBody>
      </p:sp>
      <p:sp>
        <p:nvSpPr>
          <p:cNvPr id="2" name="Marcador de número de diapositiva 1">
            <a:extLst>
              <a:ext uri="{FF2B5EF4-FFF2-40B4-BE49-F238E27FC236}">
                <a16:creationId xmlns:a16="http://schemas.microsoft.com/office/drawing/2014/main" id="{416F6DE1-73B3-2112-5606-F160E7AA7970}"/>
              </a:ext>
            </a:extLst>
          </p:cNvPr>
          <p:cNvSpPr>
            <a:spLocks noGrp="1"/>
          </p:cNvSpPr>
          <p:nvPr>
            <p:ph type="sldNum" sz="quarter" idx="12"/>
          </p:nvPr>
        </p:nvSpPr>
        <p:spPr/>
        <p:txBody>
          <a:bodyPr/>
          <a:lstStyle/>
          <a:p>
            <a:fld id="{0E40E506-8910-4A1D-9597-9E72BD293B97}" type="slidenum">
              <a:rPr lang="en-US" smtClean="0"/>
              <a:t>29</a:t>
            </a:fld>
            <a:endParaRPr lang="es-E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g21c129c4305_0_18"/>
          <p:cNvSpPr txBox="1">
            <a:spLocks noGrp="1"/>
          </p:cNvSpPr>
          <p:nvPr>
            <p:ph type="body" idx="1"/>
          </p:nvPr>
        </p:nvSpPr>
        <p:spPr>
          <a:xfrm>
            <a:off x="2524845" y="2068050"/>
            <a:ext cx="7493580" cy="4278960"/>
          </a:xfrm>
          <a:prstGeom prst="rect">
            <a:avLst/>
          </a:prstGeom>
          <a:noFill/>
          <a:ln>
            <a:noFill/>
          </a:ln>
        </p:spPr>
        <p:txBody>
          <a:bodyPr spcFirstLastPara="1" wrap="square" lIns="34290" tIns="34290" rIns="34290" bIns="34290" anchor="t" anchorCtr="0">
            <a:noAutofit/>
          </a:bodyPr>
          <a:lstStyle/>
          <a:p>
            <a:pPr marL="0" indent="0" algn="ctr">
              <a:lnSpc>
                <a:spcPct val="155859"/>
              </a:lnSpc>
              <a:spcBef>
                <a:spcPts val="0"/>
              </a:spcBef>
              <a:spcAft>
                <a:spcPts val="0"/>
              </a:spcAft>
              <a:buClr>
                <a:srgbClr val="333399"/>
              </a:buClr>
              <a:buSzPts val="3555"/>
              <a:buNone/>
            </a:pPr>
            <a:r>
              <a:rPr lang="en-US" sz="3200" b="1">
                <a:solidFill>
                  <a:srgbClr val="1A3260"/>
                </a:solidFill>
                <a:latin typeface="Arial"/>
                <a:ea typeface="Arial"/>
                <a:cs typeface="Arial"/>
                <a:sym typeface="Arial"/>
              </a:rPr>
              <a:t>Jefe de Soporte</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Mantiene el hardware de PC’s, estudia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nuevos productos, atiende requerimientos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de usuarios, aplica estándares de seguridad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de los datos (resguardos de acceso-veracidad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de los datos). Implementa sistemas de</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backup.</a:t>
            </a:r>
            <a:endParaRPr sz="2520">
              <a:solidFill>
                <a:srgbClr val="1A3260"/>
              </a:solidFill>
              <a:latin typeface="Arial"/>
              <a:ea typeface="Arial"/>
              <a:cs typeface="Arial"/>
              <a:sym typeface="Arial"/>
            </a:endParaRPr>
          </a:p>
        </p:txBody>
      </p:sp>
      <p:sp>
        <p:nvSpPr>
          <p:cNvPr id="56" name="Google Shape;56;g21c129c4305_0_18"/>
          <p:cNvSpPr txBox="1">
            <a:spLocks noGrp="1"/>
          </p:cNvSpPr>
          <p:nvPr>
            <p:ph type="title"/>
          </p:nvPr>
        </p:nvSpPr>
        <p:spPr>
          <a:xfrm>
            <a:off x="2523383" y="952493"/>
            <a:ext cx="7479000" cy="747900"/>
          </a:xfrm>
          <a:prstGeom prst="rect">
            <a:avLst/>
          </a:prstGeom>
          <a:noFill/>
          <a:ln>
            <a:noFill/>
          </a:ln>
        </p:spPr>
        <p:txBody>
          <a:bodyPr spcFirstLastPara="1" wrap="square" lIns="34290" tIns="34290" rIns="34290" bIns="34290" anchor="ctr" anchorCtr="0">
            <a:noAutofit/>
          </a:bodyPr>
          <a:lstStyle/>
          <a:p>
            <a:pPr>
              <a:lnSpc>
                <a:spcPct val="120138"/>
              </a:lnSpc>
              <a:spcBef>
                <a:spcPts val="0"/>
              </a:spcBef>
              <a:buClr>
                <a:srgbClr val="333399"/>
              </a:buClr>
              <a:buSzPts val="4000"/>
            </a:pPr>
            <a:r>
              <a:rPr lang="en-US" sz="3600" cap="none">
                <a:solidFill>
                  <a:srgbClr val="1A3260"/>
                </a:solidFill>
                <a:latin typeface="Arial"/>
                <a:ea typeface="Arial"/>
                <a:cs typeface="Arial"/>
                <a:sym typeface="Arial"/>
              </a:rPr>
              <a:t>Funciones y responsabilidades</a:t>
            </a:r>
            <a:endParaRPr>
              <a:solidFill>
                <a:srgbClr val="1A3260"/>
              </a:solidFill>
            </a:endParaRPr>
          </a:p>
        </p:txBody>
      </p:sp>
      <p:sp>
        <p:nvSpPr>
          <p:cNvPr id="2" name="Marcador de número de diapositiva 1">
            <a:extLst>
              <a:ext uri="{FF2B5EF4-FFF2-40B4-BE49-F238E27FC236}">
                <a16:creationId xmlns:a16="http://schemas.microsoft.com/office/drawing/2014/main" id="{6331C442-746F-2E59-8C3E-C09BEE819D77}"/>
              </a:ext>
            </a:extLst>
          </p:cNvPr>
          <p:cNvSpPr>
            <a:spLocks noGrp="1"/>
          </p:cNvSpPr>
          <p:nvPr>
            <p:ph type="sldNum" sz="quarter" idx="12"/>
          </p:nvPr>
        </p:nvSpPr>
        <p:spPr/>
        <p:txBody>
          <a:bodyPr/>
          <a:lstStyle/>
          <a:p>
            <a:fld id="{0E40E506-8910-4A1D-9597-9E72BD293B97}" type="slidenum">
              <a:rPr lang="en-US" smtClean="0"/>
              <a:t>30</a:t>
            </a:fld>
            <a:endParaRPr lang="es-E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Google Shape;62;g21c129c4305_0_24"/>
          <p:cNvSpPr txBox="1">
            <a:spLocks noGrp="1"/>
          </p:cNvSpPr>
          <p:nvPr>
            <p:ph type="body" idx="1"/>
          </p:nvPr>
        </p:nvSpPr>
        <p:spPr>
          <a:xfrm>
            <a:off x="2531604" y="2068049"/>
            <a:ext cx="7493580" cy="4091310"/>
          </a:xfrm>
          <a:prstGeom prst="rect">
            <a:avLst/>
          </a:prstGeom>
          <a:noFill/>
          <a:ln>
            <a:noFill/>
          </a:ln>
        </p:spPr>
        <p:txBody>
          <a:bodyPr spcFirstLastPara="1" wrap="square" lIns="34290" tIns="34290" rIns="34290" bIns="34290" anchor="t" anchorCtr="0">
            <a:noAutofit/>
          </a:bodyPr>
          <a:lstStyle/>
          <a:p>
            <a:pPr marL="0" indent="0" algn="ctr">
              <a:lnSpc>
                <a:spcPct val="132142"/>
              </a:lnSpc>
              <a:spcBef>
                <a:spcPts val="0"/>
              </a:spcBef>
              <a:spcAft>
                <a:spcPts val="0"/>
              </a:spcAft>
              <a:buClr>
                <a:srgbClr val="333399"/>
              </a:buClr>
              <a:buSzPts val="2800"/>
              <a:buNone/>
            </a:pPr>
            <a:r>
              <a:rPr lang="en-US" sz="2520" b="1">
                <a:solidFill>
                  <a:srgbClr val="1A3260"/>
                </a:solidFill>
                <a:latin typeface="Arial"/>
                <a:ea typeface="Arial"/>
                <a:cs typeface="Arial"/>
                <a:sym typeface="Arial"/>
              </a:rPr>
              <a:t>Jefe de Desarrollo</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Optimiza recursos humanos y técnicos.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Planifica. Realiza seguimiento y control de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proyectos, administra base de datos.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Implementa sistemas de seguridad para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los datos. Controla interconectividad entre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los diferentes sistemas. </a:t>
            </a:r>
            <a:endParaRPr sz="2520">
              <a:solidFill>
                <a:srgbClr val="1A3260"/>
              </a:solidFill>
              <a:latin typeface="Arial"/>
              <a:ea typeface="Arial"/>
              <a:cs typeface="Arial"/>
              <a:sym typeface="Arial"/>
            </a:endParaRPr>
          </a:p>
        </p:txBody>
      </p:sp>
      <p:sp>
        <p:nvSpPr>
          <p:cNvPr id="63" name="Google Shape;63;g21c129c4305_0_24"/>
          <p:cNvSpPr txBox="1">
            <a:spLocks noGrp="1"/>
          </p:cNvSpPr>
          <p:nvPr>
            <p:ph type="title"/>
          </p:nvPr>
        </p:nvSpPr>
        <p:spPr>
          <a:xfrm>
            <a:off x="2523383" y="952493"/>
            <a:ext cx="7479000" cy="747900"/>
          </a:xfrm>
          <a:prstGeom prst="rect">
            <a:avLst/>
          </a:prstGeom>
          <a:noFill/>
          <a:ln>
            <a:noFill/>
          </a:ln>
        </p:spPr>
        <p:txBody>
          <a:bodyPr spcFirstLastPara="1" wrap="square" lIns="34290" tIns="34290" rIns="34290" bIns="34290" anchor="ctr" anchorCtr="0">
            <a:noAutofit/>
          </a:bodyPr>
          <a:lstStyle/>
          <a:p>
            <a:pPr>
              <a:lnSpc>
                <a:spcPct val="120138"/>
              </a:lnSpc>
              <a:spcBef>
                <a:spcPts val="0"/>
              </a:spcBef>
              <a:buClr>
                <a:srgbClr val="333399"/>
              </a:buClr>
              <a:buSzPts val="4000"/>
            </a:pPr>
            <a:r>
              <a:rPr lang="en-US" sz="3600" cap="none">
                <a:solidFill>
                  <a:srgbClr val="1A3260"/>
                </a:solidFill>
                <a:latin typeface="Arial"/>
                <a:ea typeface="Arial"/>
                <a:cs typeface="Arial"/>
                <a:sym typeface="Arial"/>
              </a:rPr>
              <a:t>Funciones y responsabilidades</a:t>
            </a:r>
            <a:endParaRPr>
              <a:solidFill>
                <a:srgbClr val="1A3260"/>
              </a:solidFill>
            </a:endParaRPr>
          </a:p>
        </p:txBody>
      </p:sp>
      <p:sp>
        <p:nvSpPr>
          <p:cNvPr id="2" name="Marcador de número de diapositiva 1">
            <a:extLst>
              <a:ext uri="{FF2B5EF4-FFF2-40B4-BE49-F238E27FC236}">
                <a16:creationId xmlns:a16="http://schemas.microsoft.com/office/drawing/2014/main" id="{644433E6-8EB6-9A89-507B-A978F79543F0}"/>
              </a:ext>
            </a:extLst>
          </p:cNvPr>
          <p:cNvSpPr>
            <a:spLocks noGrp="1"/>
          </p:cNvSpPr>
          <p:nvPr>
            <p:ph type="sldNum" sz="quarter" idx="12"/>
          </p:nvPr>
        </p:nvSpPr>
        <p:spPr/>
        <p:txBody>
          <a:bodyPr/>
          <a:lstStyle/>
          <a:p>
            <a:fld id="{0E40E506-8910-4A1D-9597-9E72BD293B97}" type="slidenum">
              <a:rPr lang="en-US" smtClean="0"/>
              <a:t>31</a:t>
            </a:fld>
            <a:endParaRPr lang="es-E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g21c129c4305_0_30"/>
          <p:cNvSpPr txBox="1">
            <a:spLocks noGrp="1"/>
          </p:cNvSpPr>
          <p:nvPr>
            <p:ph type="body" idx="1"/>
          </p:nvPr>
        </p:nvSpPr>
        <p:spPr>
          <a:xfrm>
            <a:off x="2524845" y="2243733"/>
            <a:ext cx="7493580" cy="4091310"/>
          </a:xfrm>
          <a:prstGeom prst="rect">
            <a:avLst/>
          </a:prstGeom>
          <a:noFill/>
          <a:ln>
            <a:noFill/>
          </a:ln>
        </p:spPr>
        <p:txBody>
          <a:bodyPr spcFirstLastPara="1" wrap="square" lIns="34290" tIns="34290" rIns="34290" bIns="34290" anchor="t" anchorCtr="0">
            <a:noAutofit/>
          </a:bodyPr>
          <a:lstStyle/>
          <a:p>
            <a:pPr marL="0" indent="0" algn="ctr">
              <a:lnSpc>
                <a:spcPct val="132031"/>
              </a:lnSpc>
              <a:spcBef>
                <a:spcPts val="0"/>
              </a:spcBef>
              <a:spcAft>
                <a:spcPts val="0"/>
              </a:spcAft>
              <a:buClr>
                <a:srgbClr val="333399"/>
              </a:buClr>
              <a:buSzPts val="3200"/>
              <a:buNone/>
            </a:pPr>
            <a:r>
              <a:rPr lang="en-US" sz="2880" b="1">
                <a:solidFill>
                  <a:srgbClr val="1A3260"/>
                </a:solidFill>
                <a:latin typeface="Arial"/>
                <a:ea typeface="Arial"/>
                <a:cs typeface="Arial"/>
                <a:sym typeface="Arial"/>
              </a:rPr>
              <a:t>Analista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Interpreta los requerimientos de los usuarios,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emplea técnicas adecuadas para traducir a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términos adecuados el valor que el usuario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asigna a dichos requerimientos. Modela.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Controla (prueba). Instala. Documenta el </a:t>
            </a:r>
            <a:endParaRPr>
              <a:solidFill>
                <a:srgbClr val="1A3260"/>
              </a:solidFill>
            </a:endParaRPr>
          </a:p>
          <a:p>
            <a:pPr marL="0" indent="0" algn="ctr">
              <a:lnSpc>
                <a:spcPct val="132142"/>
              </a:lnSpc>
              <a:spcBef>
                <a:spcPts val="507"/>
              </a:spcBef>
              <a:spcAft>
                <a:spcPts val="0"/>
              </a:spcAft>
              <a:buClr>
                <a:srgbClr val="333399"/>
              </a:buClr>
              <a:buSzPts val="2800"/>
              <a:buNone/>
            </a:pPr>
            <a:r>
              <a:rPr lang="en-US" sz="2520">
                <a:solidFill>
                  <a:srgbClr val="1A3260"/>
                </a:solidFill>
                <a:latin typeface="Arial"/>
                <a:ea typeface="Arial"/>
                <a:cs typeface="Arial"/>
                <a:sym typeface="Arial"/>
              </a:rPr>
              <a:t>sistema.</a:t>
            </a:r>
            <a:endParaRPr sz="2520">
              <a:solidFill>
                <a:srgbClr val="1A3260"/>
              </a:solidFill>
              <a:latin typeface="Arial"/>
              <a:ea typeface="Arial"/>
              <a:cs typeface="Arial"/>
              <a:sym typeface="Arial"/>
            </a:endParaRPr>
          </a:p>
        </p:txBody>
      </p:sp>
      <p:sp>
        <p:nvSpPr>
          <p:cNvPr id="70" name="Google Shape;70;g21c129c4305_0_30"/>
          <p:cNvSpPr txBox="1">
            <a:spLocks noGrp="1"/>
          </p:cNvSpPr>
          <p:nvPr>
            <p:ph type="title"/>
          </p:nvPr>
        </p:nvSpPr>
        <p:spPr>
          <a:xfrm>
            <a:off x="2523383" y="952493"/>
            <a:ext cx="7479000" cy="747900"/>
          </a:xfrm>
          <a:prstGeom prst="rect">
            <a:avLst/>
          </a:prstGeom>
          <a:noFill/>
          <a:ln>
            <a:noFill/>
          </a:ln>
        </p:spPr>
        <p:txBody>
          <a:bodyPr spcFirstLastPara="1" wrap="square" lIns="34290" tIns="34290" rIns="34290" bIns="34290" anchor="ctr" anchorCtr="0">
            <a:noAutofit/>
          </a:bodyPr>
          <a:lstStyle/>
          <a:p>
            <a:pPr>
              <a:lnSpc>
                <a:spcPct val="120138"/>
              </a:lnSpc>
              <a:spcBef>
                <a:spcPts val="0"/>
              </a:spcBef>
              <a:buClr>
                <a:srgbClr val="333399"/>
              </a:buClr>
              <a:buSzPts val="4000"/>
            </a:pPr>
            <a:r>
              <a:rPr lang="en-US" sz="3600" cap="none">
                <a:solidFill>
                  <a:srgbClr val="1A3260"/>
                </a:solidFill>
                <a:latin typeface="Arial"/>
                <a:ea typeface="Arial"/>
                <a:cs typeface="Arial"/>
                <a:sym typeface="Arial"/>
              </a:rPr>
              <a:t>Funciones y responsabilidades</a:t>
            </a:r>
            <a:endParaRPr>
              <a:solidFill>
                <a:srgbClr val="1A3260"/>
              </a:solidFill>
            </a:endParaRPr>
          </a:p>
        </p:txBody>
      </p:sp>
      <p:sp>
        <p:nvSpPr>
          <p:cNvPr id="2" name="Marcador de número de diapositiva 1">
            <a:extLst>
              <a:ext uri="{FF2B5EF4-FFF2-40B4-BE49-F238E27FC236}">
                <a16:creationId xmlns:a16="http://schemas.microsoft.com/office/drawing/2014/main" id="{3582316B-297B-EA1C-53A5-3BAE41C58794}"/>
              </a:ext>
            </a:extLst>
          </p:cNvPr>
          <p:cNvSpPr>
            <a:spLocks noGrp="1"/>
          </p:cNvSpPr>
          <p:nvPr>
            <p:ph type="sldNum" sz="quarter" idx="12"/>
          </p:nvPr>
        </p:nvSpPr>
        <p:spPr/>
        <p:txBody>
          <a:bodyPr/>
          <a:lstStyle/>
          <a:p>
            <a:fld id="{0E40E506-8910-4A1D-9597-9E72BD293B97}" type="slidenum">
              <a:rPr lang="en-US" smtClean="0"/>
              <a:t>32</a:t>
            </a:fld>
            <a:endParaRPr lang="es-E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6" name="Google Shape;76;g21c129c4305_0_36"/>
          <p:cNvSpPr txBox="1">
            <a:spLocks noGrp="1"/>
          </p:cNvSpPr>
          <p:nvPr>
            <p:ph type="body" idx="1"/>
          </p:nvPr>
        </p:nvSpPr>
        <p:spPr>
          <a:xfrm>
            <a:off x="2272375" y="2068049"/>
            <a:ext cx="7776540" cy="3746790"/>
          </a:xfrm>
          <a:prstGeom prst="rect">
            <a:avLst/>
          </a:prstGeom>
          <a:noFill/>
          <a:ln>
            <a:noFill/>
          </a:ln>
        </p:spPr>
        <p:txBody>
          <a:bodyPr spcFirstLastPara="1" wrap="square" lIns="34290" tIns="34290" rIns="34290" bIns="34290" anchor="t" anchorCtr="0">
            <a:noAutofit/>
          </a:bodyPr>
          <a:lstStyle/>
          <a:p>
            <a:pPr marL="0" indent="0" algn="ctr">
              <a:lnSpc>
                <a:spcPct val="132142"/>
              </a:lnSpc>
              <a:spcBef>
                <a:spcPts val="0"/>
              </a:spcBef>
              <a:spcAft>
                <a:spcPts val="0"/>
              </a:spcAft>
              <a:buClr>
                <a:srgbClr val="333399"/>
              </a:buClr>
              <a:buSzPts val="3111"/>
              <a:buNone/>
            </a:pPr>
            <a:r>
              <a:rPr lang="en-US" sz="2800" b="1">
                <a:solidFill>
                  <a:srgbClr val="1A3260"/>
                </a:solidFill>
                <a:latin typeface="Arial"/>
                <a:ea typeface="Arial"/>
                <a:cs typeface="Arial"/>
                <a:sym typeface="Arial"/>
              </a:rPr>
              <a:t>Programador</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Convierte en programa de operación los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requerimientos planteados por el analista,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para ello debe recibir información precisa del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analista para cada módulo o acción del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proceso: Datos de ingreso, tratamiento, datos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de salida.</a:t>
            </a:r>
            <a:endParaRPr sz="2800">
              <a:solidFill>
                <a:srgbClr val="1A3260"/>
              </a:solidFill>
              <a:latin typeface="Arial"/>
              <a:ea typeface="Arial"/>
              <a:cs typeface="Arial"/>
              <a:sym typeface="Arial"/>
            </a:endParaRPr>
          </a:p>
        </p:txBody>
      </p:sp>
      <p:sp>
        <p:nvSpPr>
          <p:cNvPr id="77" name="Google Shape;77;g21c129c4305_0_36"/>
          <p:cNvSpPr txBox="1">
            <a:spLocks noGrp="1"/>
          </p:cNvSpPr>
          <p:nvPr>
            <p:ph type="title"/>
          </p:nvPr>
        </p:nvSpPr>
        <p:spPr>
          <a:xfrm>
            <a:off x="2523383" y="952493"/>
            <a:ext cx="7479000" cy="747900"/>
          </a:xfrm>
          <a:prstGeom prst="rect">
            <a:avLst/>
          </a:prstGeom>
          <a:noFill/>
          <a:ln>
            <a:noFill/>
          </a:ln>
        </p:spPr>
        <p:txBody>
          <a:bodyPr spcFirstLastPara="1" wrap="square" lIns="34290" tIns="34290" rIns="34290" bIns="34290" anchor="ctr" anchorCtr="0">
            <a:noAutofit/>
          </a:bodyPr>
          <a:lstStyle/>
          <a:p>
            <a:pPr>
              <a:lnSpc>
                <a:spcPct val="120138"/>
              </a:lnSpc>
              <a:spcBef>
                <a:spcPts val="0"/>
              </a:spcBef>
              <a:buClr>
                <a:srgbClr val="333399"/>
              </a:buClr>
              <a:buSzPts val="4000"/>
            </a:pPr>
            <a:r>
              <a:rPr lang="en-US" sz="3600" cap="none">
                <a:solidFill>
                  <a:srgbClr val="1A3260"/>
                </a:solidFill>
                <a:latin typeface="Arial"/>
                <a:ea typeface="Arial"/>
                <a:cs typeface="Arial"/>
                <a:sym typeface="Arial"/>
              </a:rPr>
              <a:t>Funciones y responsabilidades</a:t>
            </a:r>
            <a:endParaRPr>
              <a:solidFill>
                <a:srgbClr val="1A3260"/>
              </a:solidFill>
            </a:endParaRPr>
          </a:p>
        </p:txBody>
      </p:sp>
      <p:sp>
        <p:nvSpPr>
          <p:cNvPr id="2" name="Marcador de número de diapositiva 1">
            <a:extLst>
              <a:ext uri="{FF2B5EF4-FFF2-40B4-BE49-F238E27FC236}">
                <a16:creationId xmlns:a16="http://schemas.microsoft.com/office/drawing/2014/main" id="{260D9A3A-4643-A462-F63E-D4BB2098F2A2}"/>
              </a:ext>
            </a:extLst>
          </p:cNvPr>
          <p:cNvSpPr>
            <a:spLocks noGrp="1"/>
          </p:cNvSpPr>
          <p:nvPr>
            <p:ph type="sldNum" sz="quarter" idx="12"/>
          </p:nvPr>
        </p:nvSpPr>
        <p:spPr/>
        <p:txBody>
          <a:bodyPr/>
          <a:lstStyle/>
          <a:p>
            <a:fld id="{0E40E506-8910-4A1D-9597-9E72BD293B97}" type="slidenum">
              <a:rPr lang="en-US" smtClean="0"/>
              <a:t>33</a:t>
            </a:fld>
            <a:endParaRPr lang="es-E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3" name="Google Shape;83;g21c129c4305_0_42"/>
          <p:cNvSpPr txBox="1">
            <a:spLocks noGrp="1"/>
          </p:cNvSpPr>
          <p:nvPr>
            <p:ph type="body" idx="1"/>
          </p:nvPr>
        </p:nvSpPr>
        <p:spPr>
          <a:xfrm>
            <a:off x="2524845" y="2255828"/>
            <a:ext cx="7493580" cy="4091310"/>
          </a:xfrm>
          <a:prstGeom prst="rect">
            <a:avLst/>
          </a:prstGeom>
          <a:noFill/>
          <a:ln>
            <a:noFill/>
          </a:ln>
        </p:spPr>
        <p:txBody>
          <a:bodyPr spcFirstLastPara="1" wrap="square" lIns="34290" tIns="34290" rIns="34290" bIns="34290" anchor="t" anchorCtr="0">
            <a:noAutofit/>
          </a:bodyPr>
          <a:lstStyle/>
          <a:p>
            <a:pPr marL="0" indent="0" algn="ctr">
              <a:lnSpc>
                <a:spcPct val="132142"/>
              </a:lnSpc>
              <a:spcBef>
                <a:spcPts val="0"/>
              </a:spcBef>
              <a:spcAft>
                <a:spcPts val="0"/>
              </a:spcAft>
              <a:buClr>
                <a:srgbClr val="333399"/>
              </a:buClr>
              <a:buSzPts val="3111"/>
              <a:buNone/>
            </a:pPr>
            <a:r>
              <a:rPr lang="en-US" sz="2800" b="1">
                <a:solidFill>
                  <a:srgbClr val="1A3260"/>
                </a:solidFill>
                <a:latin typeface="Arial"/>
                <a:ea typeface="Arial"/>
                <a:cs typeface="Arial"/>
                <a:sym typeface="Arial"/>
              </a:rPr>
              <a:t>Analista de organización y métodos</a:t>
            </a:r>
            <a:endParaRPr sz="2800" b="1">
              <a:solidFill>
                <a:srgbClr val="1A3260"/>
              </a:solidFill>
              <a:latin typeface="Arial"/>
              <a:ea typeface="Arial"/>
              <a:cs typeface="Arial"/>
              <a:sym typeface="Aria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Análisis de la circulación de la información,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optimización de circuitos administrativos,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diseño de formularios. Estudios de la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información legal para los distintos tipos de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negocios.</a:t>
            </a:r>
            <a:endParaRPr>
              <a:solidFill>
                <a:srgbClr val="1A3260"/>
              </a:solidFill>
            </a:endParaRPr>
          </a:p>
        </p:txBody>
      </p:sp>
      <p:sp>
        <p:nvSpPr>
          <p:cNvPr id="84" name="Google Shape;84;g21c129c4305_0_42"/>
          <p:cNvSpPr txBox="1">
            <a:spLocks noGrp="1"/>
          </p:cNvSpPr>
          <p:nvPr>
            <p:ph type="title"/>
          </p:nvPr>
        </p:nvSpPr>
        <p:spPr>
          <a:xfrm>
            <a:off x="2523383" y="952493"/>
            <a:ext cx="7479000" cy="747900"/>
          </a:xfrm>
          <a:prstGeom prst="rect">
            <a:avLst/>
          </a:prstGeom>
          <a:noFill/>
          <a:ln>
            <a:noFill/>
          </a:ln>
        </p:spPr>
        <p:txBody>
          <a:bodyPr spcFirstLastPara="1" wrap="square" lIns="34290" tIns="34290" rIns="34290" bIns="34290" anchor="ctr" anchorCtr="0">
            <a:noAutofit/>
          </a:bodyPr>
          <a:lstStyle/>
          <a:p>
            <a:pPr>
              <a:lnSpc>
                <a:spcPct val="120138"/>
              </a:lnSpc>
              <a:spcBef>
                <a:spcPts val="0"/>
              </a:spcBef>
              <a:buClr>
                <a:srgbClr val="333399"/>
              </a:buClr>
              <a:buSzPts val="4000"/>
            </a:pPr>
            <a:r>
              <a:rPr lang="en-US" sz="3600" cap="none">
                <a:solidFill>
                  <a:srgbClr val="1A3260"/>
                </a:solidFill>
                <a:latin typeface="Arial"/>
                <a:ea typeface="Arial"/>
                <a:cs typeface="Arial"/>
                <a:sym typeface="Arial"/>
              </a:rPr>
              <a:t>Funciones y responsabilidades</a:t>
            </a:r>
            <a:endParaRPr>
              <a:solidFill>
                <a:srgbClr val="1A3260"/>
              </a:solidFill>
            </a:endParaRPr>
          </a:p>
        </p:txBody>
      </p:sp>
      <p:sp>
        <p:nvSpPr>
          <p:cNvPr id="2" name="Marcador de número de diapositiva 1">
            <a:extLst>
              <a:ext uri="{FF2B5EF4-FFF2-40B4-BE49-F238E27FC236}">
                <a16:creationId xmlns:a16="http://schemas.microsoft.com/office/drawing/2014/main" id="{97F651ED-F0C8-5039-93DF-D1DBAF1DC47E}"/>
              </a:ext>
            </a:extLst>
          </p:cNvPr>
          <p:cNvSpPr>
            <a:spLocks noGrp="1"/>
          </p:cNvSpPr>
          <p:nvPr>
            <p:ph type="sldNum" sz="quarter" idx="12"/>
          </p:nvPr>
        </p:nvSpPr>
        <p:spPr/>
        <p:txBody>
          <a:bodyPr/>
          <a:lstStyle/>
          <a:p>
            <a:fld id="{0E40E506-8910-4A1D-9597-9E72BD293B97}" type="slidenum">
              <a:rPr lang="en-US" smtClean="0"/>
              <a:t>34</a:t>
            </a:fld>
            <a:endParaRPr lang="es-E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0" name="Google Shape;90;g21c129c4305_0_48"/>
          <p:cNvSpPr txBox="1">
            <a:spLocks noGrp="1"/>
          </p:cNvSpPr>
          <p:nvPr>
            <p:ph type="body" idx="1"/>
          </p:nvPr>
        </p:nvSpPr>
        <p:spPr>
          <a:xfrm>
            <a:off x="2524845" y="2255828"/>
            <a:ext cx="7493580" cy="4091310"/>
          </a:xfrm>
          <a:prstGeom prst="rect">
            <a:avLst/>
          </a:prstGeom>
          <a:noFill/>
          <a:ln>
            <a:noFill/>
          </a:ln>
        </p:spPr>
        <p:txBody>
          <a:bodyPr spcFirstLastPara="1" wrap="square" lIns="34290" tIns="34290" rIns="34290" bIns="34290" anchor="t" anchorCtr="0">
            <a:noAutofit/>
          </a:bodyPr>
          <a:lstStyle/>
          <a:p>
            <a:pPr marL="0" indent="0" algn="ctr">
              <a:lnSpc>
                <a:spcPct val="132142"/>
              </a:lnSpc>
              <a:spcBef>
                <a:spcPts val="0"/>
              </a:spcBef>
              <a:spcAft>
                <a:spcPts val="0"/>
              </a:spcAft>
              <a:buClr>
                <a:srgbClr val="333399"/>
              </a:buClr>
              <a:buSzPts val="3111"/>
              <a:buNone/>
            </a:pPr>
            <a:r>
              <a:rPr lang="en-US" sz="2800" b="1">
                <a:solidFill>
                  <a:srgbClr val="1A3260"/>
                </a:solidFill>
                <a:latin typeface="Arial"/>
                <a:ea typeface="Arial"/>
                <a:cs typeface="Arial"/>
                <a:sym typeface="Arial"/>
              </a:rPr>
              <a:t>Documentadores</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Escribe los manuales de usuario para la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operación de los sistemas. Describe los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circuitos administrativos para la circulación de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la información. Escribe los manuales del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sistema.</a:t>
            </a:r>
            <a:endParaRPr sz="2800">
              <a:solidFill>
                <a:srgbClr val="1A3260"/>
              </a:solidFill>
              <a:latin typeface="Arial"/>
              <a:ea typeface="Arial"/>
              <a:cs typeface="Arial"/>
              <a:sym typeface="Arial"/>
            </a:endParaRPr>
          </a:p>
        </p:txBody>
      </p:sp>
      <p:sp>
        <p:nvSpPr>
          <p:cNvPr id="91" name="Google Shape;91;g21c129c4305_0_48"/>
          <p:cNvSpPr txBox="1">
            <a:spLocks noGrp="1"/>
          </p:cNvSpPr>
          <p:nvPr>
            <p:ph type="title"/>
          </p:nvPr>
        </p:nvSpPr>
        <p:spPr>
          <a:xfrm>
            <a:off x="2523383" y="952493"/>
            <a:ext cx="7479000" cy="747900"/>
          </a:xfrm>
          <a:prstGeom prst="rect">
            <a:avLst/>
          </a:prstGeom>
          <a:noFill/>
          <a:ln>
            <a:noFill/>
          </a:ln>
        </p:spPr>
        <p:txBody>
          <a:bodyPr spcFirstLastPara="1" wrap="square" lIns="34290" tIns="34290" rIns="34290" bIns="34290" anchor="ctr" anchorCtr="0">
            <a:noAutofit/>
          </a:bodyPr>
          <a:lstStyle/>
          <a:p>
            <a:pPr>
              <a:lnSpc>
                <a:spcPct val="120138"/>
              </a:lnSpc>
              <a:spcBef>
                <a:spcPts val="0"/>
              </a:spcBef>
              <a:buClr>
                <a:srgbClr val="333399"/>
              </a:buClr>
              <a:buSzPts val="4000"/>
            </a:pPr>
            <a:r>
              <a:rPr lang="en-US" sz="3600" cap="none">
                <a:solidFill>
                  <a:srgbClr val="1A3260"/>
                </a:solidFill>
                <a:latin typeface="Arial"/>
                <a:ea typeface="Arial"/>
                <a:cs typeface="Arial"/>
                <a:sym typeface="Arial"/>
              </a:rPr>
              <a:t>Funciones y responsabilidades</a:t>
            </a:r>
            <a:endParaRPr>
              <a:solidFill>
                <a:srgbClr val="1A3260"/>
              </a:solidFill>
            </a:endParaRPr>
          </a:p>
        </p:txBody>
      </p:sp>
      <p:sp>
        <p:nvSpPr>
          <p:cNvPr id="2" name="Marcador de número de diapositiva 1">
            <a:extLst>
              <a:ext uri="{FF2B5EF4-FFF2-40B4-BE49-F238E27FC236}">
                <a16:creationId xmlns:a16="http://schemas.microsoft.com/office/drawing/2014/main" id="{BC198E16-52E1-9EA1-7CC7-53418C2F372D}"/>
              </a:ext>
            </a:extLst>
          </p:cNvPr>
          <p:cNvSpPr>
            <a:spLocks noGrp="1"/>
          </p:cNvSpPr>
          <p:nvPr>
            <p:ph type="sldNum" sz="quarter" idx="12"/>
          </p:nvPr>
        </p:nvSpPr>
        <p:spPr/>
        <p:txBody>
          <a:bodyPr/>
          <a:lstStyle/>
          <a:p>
            <a:fld id="{0E40E506-8910-4A1D-9597-9E72BD293B97}" type="slidenum">
              <a:rPr lang="en-US" smtClean="0"/>
              <a:t>35</a:t>
            </a:fld>
            <a:endParaRPr lang="es-E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g21c129c4305_0_54"/>
          <p:cNvSpPr txBox="1">
            <a:spLocks noGrp="1"/>
          </p:cNvSpPr>
          <p:nvPr>
            <p:ph type="body" idx="1"/>
          </p:nvPr>
        </p:nvSpPr>
        <p:spPr>
          <a:xfrm>
            <a:off x="2242020" y="2255828"/>
            <a:ext cx="7776540" cy="4091310"/>
          </a:xfrm>
          <a:prstGeom prst="rect">
            <a:avLst/>
          </a:prstGeom>
          <a:noFill/>
          <a:ln>
            <a:noFill/>
          </a:ln>
        </p:spPr>
        <p:txBody>
          <a:bodyPr spcFirstLastPara="1" wrap="square" lIns="34290" tIns="34290" rIns="34290" bIns="34290" anchor="t" anchorCtr="0">
            <a:noAutofit/>
          </a:bodyPr>
          <a:lstStyle/>
          <a:p>
            <a:pPr marL="0" indent="0" algn="ctr">
              <a:lnSpc>
                <a:spcPct val="132142"/>
              </a:lnSpc>
              <a:spcBef>
                <a:spcPts val="0"/>
              </a:spcBef>
              <a:spcAft>
                <a:spcPts val="0"/>
              </a:spcAft>
              <a:buClr>
                <a:srgbClr val="333399"/>
              </a:buClr>
              <a:buSzPts val="3111"/>
              <a:buNone/>
            </a:pPr>
            <a:r>
              <a:rPr lang="en-US" sz="2800" b="1">
                <a:solidFill>
                  <a:srgbClr val="1A3260"/>
                </a:solidFill>
                <a:latin typeface="Arial"/>
                <a:ea typeface="Arial"/>
                <a:cs typeface="Arial"/>
                <a:sym typeface="Arial"/>
              </a:rPr>
              <a:t>Jefe de Centro de Cómputos</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Organiza recursos. Prueba corridas de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sistemas. Controla estándares. Planifica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sistemas de backups. Organiza y administra </a:t>
            </a:r>
            <a:endParaRPr>
              <a:solidFill>
                <a:srgbClr val="1A3260"/>
              </a:solidFill>
            </a:endParaRPr>
          </a:p>
          <a:p>
            <a:pPr marL="0" indent="0" algn="ctr">
              <a:lnSpc>
                <a:spcPct val="132142"/>
              </a:lnSpc>
              <a:spcBef>
                <a:spcPts val="507"/>
              </a:spcBef>
              <a:spcAft>
                <a:spcPts val="0"/>
              </a:spcAft>
              <a:buClr>
                <a:srgbClr val="333399"/>
              </a:buClr>
              <a:buSzPts val="3111"/>
              <a:buNone/>
            </a:pPr>
            <a:r>
              <a:rPr lang="en-US" sz="2800">
                <a:solidFill>
                  <a:srgbClr val="1A3260"/>
                </a:solidFill>
                <a:latin typeface="Arial"/>
                <a:ea typeface="Arial"/>
                <a:cs typeface="Arial"/>
                <a:sym typeface="Arial"/>
              </a:rPr>
              <a:t>soportes magnéticos.</a:t>
            </a:r>
            <a:endParaRPr sz="2800">
              <a:solidFill>
                <a:srgbClr val="1A3260"/>
              </a:solidFill>
              <a:latin typeface="Arial"/>
              <a:ea typeface="Arial"/>
              <a:cs typeface="Arial"/>
              <a:sym typeface="Arial"/>
            </a:endParaRPr>
          </a:p>
        </p:txBody>
      </p:sp>
      <p:sp>
        <p:nvSpPr>
          <p:cNvPr id="98" name="Google Shape;98;g21c129c4305_0_54"/>
          <p:cNvSpPr txBox="1">
            <a:spLocks noGrp="1"/>
          </p:cNvSpPr>
          <p:nvPr>
            <p:ph type="title"/>
          </p:nvPr>
        </p:nvSpPr>
        <p:spPr>
          <a:xfrm>
            <a:off x="2523383" y="952493"/>
            <a:ext cx="7479000" cy="747900"/>
          </a:xfrm>
          <a:prstGeom prst="rect">
            <a:avLst/>
          </a:prstGeom>
          <a:noFill/>
          <a:ln>
            <a:noFill/>
          </a:ln>
        </p:spPr>
        <p:txBody>
          <a:bodyPr spcFirstLastPara="1" wrap="square" lIns="34290" tIns="34290" rIns="34290" bIns="34290" anchor="ctr" anchorCtr="0">
            <a:noAutofit/>
          </a:bodyPr>
          <a:lstStyle/>
          <a:p>
            <a:pPr>
              <a:lnSpc>
                <a:spcPct val="120138"/>
              </a:lnSpc>
              <a:spcBef>
                <a:spcPts val="0"/>
              </a:spcBef>
              <a:buClr>
                <a:srgbClr val="333399"/>
              </a:buClr>
              <a:buSzPts val="4000"/>
            </a:pPr>
            <a:r>
              <a:rPr lang="en-US" sz="3600" cap="none">
                <a:solidFill>
                  <a:srgbClr val="1A3260"/>
                </a:solidFill>
                <a:latin typeface="Arial"/>
                <a:ea typeface="Arial"/>
                <a:cs typeface="Arial"/>
                <a:sym typeface="Arial"/>
              </a:rPr>
              <a:t>Funciones y responsabilidades</a:t>
            </a:r>
            <a:endParaRPr>
              <a:solidFill>
                <a:srgbClr val="1A3260"/>
              </a:solidFill>
            </a:endParaRPr>
          </a:p>
        </p:txBody>
      </p:sp>
      <p:sp>
        <p:nvSpPr>
          <p:cNvPr id="2" name="Marcador de número de diapositiva 1">
            <a:extLst>
              <a:ext uri="{FF2B5EF4-FFF2-40B4-BE49-F238E27FC236}">
                <a16:creationId xmlns:a16="http://schemas.microsoft.com/office/drawing/2014/main" id="{979E6B15-577C-239B-03EE-662DB5EA33A1}"/>
              </a:ext>
            </a:extLst>
          </p:cNvPr>
          <p:cNvSpPr>
            <a:spLocks noGrp="1"/>
          </p:cNvSpPr>
          <p:nvPr>
            <p:ph type="sldNum" sz="quarter" idx="12"/>
          </p:nvPr>
        </p:nvSpPr>
        <p:spPr/>
        <p:txBody>
          <a:bodyPr/>
          <a:lstStyle/>
          <a:p>
            <a:fld id="{0E40E506-8910-4A1D-9597-9E72BD293B97}" type="slidenum">
              <a:rPr lang="en-US" smtClean="0"/>
              <a:t>36</a:t>
            </a:fld>
            <a:endParaRPr lang="es-E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4" name="Google Shape;104;g21c129c4305_0_60"/>
          <p:cNvPicPr preferRelativeResize="0"/>
          <p:nvPr/>
        </p:nvPicPr>
        <p:blipFill rotWithShape="1">
          <a:blip r:embed="rId3">
            <a:alphaModFix/>
          </a:blip>
          <a:srcRect/>
          <a:stretch/>
        </p:blipFill>
        <p:spPr>
          <a:xfrm>
            <a:off x="2337183" y="2256317"/>
            <a:ext cx="7302095" cy="3959393"/>
          </a:xfrm>
          <a:prstGeom prst="rect">
            <a:avLst/>
          </a:prstGeom>
          <a:noFill/>
          <a:ln>
            <a:noFill/>
          </a:ln>
        </p:spPr>
      </p:pic>
      <p:sp>
        <p:nvSpPr>
          <p:cNvPr id="105" name="Google Shape;105;g21c129c4305_0_60"/>
          <p:cNvSpPr txBox="1"/>
          <p:nvPr/>
        </p:nvSpPr>
        <p:spPr>
          <a:xfrm>
            <a:off x="4864663" y="2456892"/>
            <a:ext cx="2285820" cy="565380"/>
          </a:xfrm>
          <a:prstGeom prst="rect">
            <a:avLst/>
          </a:prstGeom>
          <a:noFill/>
          <a:ln>
            <a:noFill/>
          </a:ln>
        </p:spPr>
        <p:txBody>
          <a:bodyPr spcFirstLastPara="1" wrap="square" lIns="34290" tIns="34290" rIns="34290" bIns="34290" anchor="t" anchorCtr="0">
            <a:noAutofit/>
          </a:bodyPr>
          <a:lstStyle/>
          <a:p>
            <a:pPr algn="ctr">
              <a:lnSpc>
                <a:spcPct val="108333"/>
              </a:lnSpc>
              <a:buClr>
                <a:srgbClr val="333399"/>
              </a:buClr>
              <a:buSzPts val="2000"/>
            </a:pPr>
            <a:r>
              <a:rPr lang="en-US" b="1">
                <a:solidFill>
                  <a:srgbClr val="000000"/>
                </a:solidFill>
                <a:latin typeface="Arial"/>
                <a:ea typeface="Arial"/>
                <a:cs typeface="Arial"/>
                <a:sym typeface="Arial"/>
              </a:rPr>
              <a:t>Dirección de</a:t>
            </a:r>
            <a:endParaRPr sz="1620">
              <a:solidFill>
                <a:srgbClr val="000000"/>
              </a:solidFill>
            </a:endParaRPr>
          </a:p>
          <a:p>
            <a:pPr algn="ctr">
              <a:lnSpc>
                <a:spcPct val="108333"/>
              </a:lnSpc>
              <a:buClr>
                <a:srgbClr val="333399"/>
              </a:buClr>
              <a:buSzPts val="2000"/>
            </a:pPr>
            <a:r>
              <a:rPr lang="en-US" b="1">
                <a:solidFill>
                  <a:srgbClr val="000000"/>
                </a:solidFill>
                <a:latin typeface="Arial"/>
                <a:ea typeface="Arial"/>
                <a:cs typeface="Arial"/>
                <a:sym typeface="Arial"/>
              </a:rPr>
              <a:t>Informática</a:t>
            </a:r>
            <a:endParaRPr b="1">
              <a:solidFill>
                <a:srgbClr val="000000"/>
              </a:solidFill>
              <a:latin typeface="Arial"/>
              <a:ea typeface="Arial"/>
              <a:cs typeface="Arial"/>
              <a:sym typeface="Arial"/>
            </a:endParaRPr>
          </a:p>
        </p:txBody>
      </p:sp>
      <p:sp>
        <p:nvSpPr>
          <p:cNvPr id="106" name="Google Shape;106;g21c129c4305_0_60"/>
          <p:cNvSpPr txBox="1"/>
          <p:nvPr/>
        </p:nvSpPr>
        <p:spPr>
          <a:xfrm>
            <a:off x="7651373" y="2377492"/>
            <a:ext cx="1944270" cy="1116450"/>
          </a:xfrm>
          <a:prstGeom prst="rect">
            <a:avLst/>
          </a:prstGeom>
          <a:noFill/>
          <a:ln>
            <a:noFill/>
          </a:ln>
        </p:spPr>
        <p:txBody>
          <a:bodyPr spcFirstLastPara="1" wrap="square" lIns="34290" tIns="34290" rIns="34290" bIns="34290" anchor="t" anchorCtr="0">
            <a:noAutofit/>
          </a:bodyPr>
          <a:lstStyle/>
          <a:p>
            <a:pPr algn="ctr">
              <a:lnSpc>
                <a:spcPct val="108333"/>
              </a:lnSpc>
              <a:buClr>
                <a:srgbClr val="333399"/>
              </a:buClr>
              <a:buSzPts val="2000"/>
            </a:pPr>
            <a:r>
              <a:rPr lang="en-US" b="1">
                <a:solidFill>
                  <a:srgbClr val="000000"/>
                </a:solidFill>
                <a:latin typeface="Arial"/>
                <a:ea typeface="Arial"/>
                <a:cs typeface="Arial"/>
                <a:sym typeface="Arial"/>
              </a:rPr>
              <a:t>Programación</a:t>
            </a:r>
            <a:endParaRPr b="1">
              <a:solidFill>
                <a:srgbClr val="000000"/>
              </a:solidFill>
              <a:latin typeface="Arial"/>
              <a:ea typeface="Arial"/>
              <a:cs typeface="Arial"/>
              <a:sym typeface="Arial"/>
            </a:endParaRPr>
          </a:p>
          <a:p>
            <a:pPr algn="ctr">
              <a:lnSpc>
                <a:spcPct val="108333"/>
              </a:lnSpc>
              <a:buClr>
                <a:srgbClr val="333399"/>
              </a:buClr>
              <a:buSzPts val="2000"/>
            </a:pPr>
            <a:r>
              <a:rPr lang="en-US" b="1">
                <a:solidFill>
                  <a:srgbClr val="000000"/>
                </a:solidFill>
                <a:latin typeface="Arial"/>
                <a:ea typeface="Arial"/>
                <a:cs typeface="Arial"/>
                <a:sym typeface="Arial"/>
              </a:rPr>
              <a:t>y Control de </a:t>
            </a:r>
            <a:endParaRPr sz="1620">
              <a:solidFill>
                <a:srgbClr val="000000"/>
              </a:solidFill>
            </a:endParaRPr>
          </a:p>
          <a:p>
            <a:pPr algn="ctr">
              <a:lnSpc>
                <a:spcPct val="108333"/>
              </a:lnSpc>
              <a:buClr>
                <a:srgbClr val="333399"/>
              </a:buClr>
              <a:buSzPts val="2000"/>
            </a:pPr>
            <a:r>
              <a:rPr lang="en-US" b="1">
                <a:solidFill>
                  <a:srgbClr val="000000"/>
                </a:solidFill>
                <a:latin typeface="Arial"/>
                <a:ea typeface="Arial"/>
                <a:cs typeface="Arial"/>
                <a:sym typeface="Arial"/>
              </a:rPr>
              <a:t>Gestión</a:t>
            </a:r>
            <a:endParaRPr b="1">
              <a:solidFill>
                <a:srgbClr val="000000"/>
              </a:solidFill>
              <a:latin typeface="Arial"/>
              <a:ea typeface="Arial"/>
              <a:cs typeface="Arial"/>
              <a:sym typeface="Arial"/>
            </a:endParaRPr>
          </a:p>
        </p:txBody>
      </p:sp>
      <p:sp>
        <p:nvSpPr>
          <p:cNvPr id="107" name="Google Shape;107;g21c129c4305_0_60"/>
          <p:cNvSpPr txBox="1"/>
          <p:nvPr/>
        </p:nvSpPr>
        <p:spPr>
          <a:xfrm>
            <a:off x="2272375" y="2325112"/>
            <a:ext cx="2161080" cy="116883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1800"/>
            </a:pPr>
            <a:r>
              <a:rPr lang="en-US" sz="1600" b="1">
                <a:solidFill>
                  <a:srgbClr val="000000"/>
                </a:solidFill>
                <a:latin typeface="Arial"/>
                <a:ea typeface="Arial"/>
                <a:cs typeface="Arial"/>
                <a:sym typeface="Arial"/>
              </a:rPr>
              <a:t>Comité de Usuarios de Sistemas de Información</a:t>
            </a:r>
            <a:endParaRPr sz="1600" b="1">
              <a:solidFill>
                <a:srgbClr val="000000"/>
              </a:solidFill>
              <a:latin typeface="Arial"/>
              <a:ea typeface="Arial"/>
              <a:cs typeface="Arial"/>
              <a:sym typeface="Arial"/>
            </a:endParaRPr>
          </a:p>
        </p:txBody>
      </p:sp>
      <p:sp>
        <p:nvSpPr>
          <p:cNvPr id="108" name="Google Shape;108;g21c129c4305_0_60"/>
          <p:cNvSpPr txBox="1"/>
          <p:nvPr/>
        </p:nvSpPr>
        <p:spPr>
          <a:xfrm>
            <a:off x="7456951" y="5172053"/>
            <a:ext cx="2088180" cy="913950"/>
          </a:xfrm>
          <a:prstGeom prst="rect">
            <a:avLst/>
          </a:prstGeom>
          <a:noFill/>
          <a:ln>
            <a:noFill/>
          </a:ln>
        </p:spPr>
        <p:txBody>
          <a:bodyPr spcFirstLastPara="1" wrap="square" lIns="34290" tIns="34290" rIns="34290" bIns="34290" anchor="t" anchorCtr="0">
            <a:noAutofit/>
          </a:bodyPr>
          <a:lstStyle/>
          <a:p>
            <a:pPr algn="ctr">
              <a:lnSpc>
                <a:spcPct val="108125"/>
              </a:lnSpc>
              <a:buClr>
                <a:srgbClr val="333399"/>
              </a:buClr>
              <a:buSzPts val="2000"/>
            </a:pPr>
            <a:r>
              <a:rPr lang="en-US" b="1">
                <a:solidFill>
                  <a:srgbClr val="000000"/>
                </a:solidFill>
                <a:latin typeface="Arial"/>
                <a:ea typeface="Arial"/>
                <a:cs typeface="Arial"/>
                <a:sym typeface="Arial"/>
              </a:rPr>
              <a:t>Redes y </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Comunicaciones</a:t>
            </a:r>
            <a:r>
              <a:rPr lang="en-US" sz="2000" b="1">
                <a:solidFill>
                  <a:srgbClr val="000000"/>
                </a:solidFill>
                <a:latin typeface="Arial"/>
                <a:ea typeface="Arial"/>
                <a:cs typeface="Arial"/>
                <a:sym typeface="Arial"/>
              </a:rPr>
              <a:t> </a:t>
            </a:r>
            <a:endParaRPr sz="1620">
              <a:solidFill>
                <a:srgbClr val="000000"/>
              </a:solidFill>
            </a:endParaRPr>
          </a:p>
        </p:txBody>
      </p:sp>
      <p:sp>
        <p:nvSpPr>
          <p:cNvPr id="109" name="Google Shape;109;g21c129c4305_0_60"/>
          <p:cNvSpPr txBox="1"/>
          <p:nvPr/>
        </p:nvSpPr>
        <p:spPr>
          <a:xfrm>
            <a:off x="5059085" y="5087925"/>
            <a:ext cx="1864620" cy="1062990"/>
          </a:xfrm>
          <a:prstGeom prst="rect">
            <a:avLst/>
          </a:prstGeom>
          <a:noFill/>
          <a:ln>
            <a:noFill/>
          </a:ln>
        </p:spPr>
        <p:txBody>
          <a:bodyPr spcFirstLastPara="1" wrap="square" lIns="34290" tIns="34290" rIns="34290" bIns="34290" anchor="t" anchorCtr="0">
            <a:noAutofit/>
          </a:bodyPr>
          <a:lstStyle/>
          <a:p>
            <a:pPr algn="ctr">
              <a:lnSpc>
                <a:spcPct val="108333"/>
              </a:lnSpc>
              <a:buClr>
                <a:srgbClr val="333399"/>
              </a:buClr>
              <a:buSzPts val="2000"/>
            </a:pPr>
            <a:r>
              <a:rPr lang="en-US" b="1">
                <a:solidFill>
                  <a:srgbClr val="000000"/>
                </a:solidFill>
                <a:latin typeface="Arial"/>
                <a:ea typeface="Arial"/>
                <a:cs typeface="Arial"/>
                <a:sym typeface="Arial"/>
              </a:rPr>
              <a:t>Servicios de </a:t>
            </a:r>
            <a:endParaRPr sz="1620">
              <a:solidFill>
                <a:srgbClr val="000000"/>
              </a:solidFill>
            </a:endParaRPr>
          </a:p>
          <a:p>
            <a:pPr algn="ctr">
              <a:lnSpc>
                <a:spcPct val="108333"/>
              </a:lnSpc>
              <a:buClr>
                <a:srgbClr val="333399"/>
              </a:buClr>
              <a:buSzPts val="2000"/>
            </a:pPr>
            <a:r>
              <a:rPr lang="en-US" b="1">
                <a:solidFill>
                  <a:srgbClr val="000000"/>
                </a:solidFill>
                <a:latin typeface="Arial"/>
                <a:ea typeface="Arial"/>
                <a:cs typeface="Arial"/>
                <a:sym typeface="Arial"/>
              </a:rPr>
              <a:t>Tecnología de </a:t>
            </a:r>
            <a:endParaRPr sz="1620">
              <a:solidFill>
                <a:srgbClr val="000000"/>
              </a:solidFill>
            </a:endParaRPr>
          </a:p>
          <a:p>
            <a:pPr algn="ctr">
              <a:lnSpc>
                <a:spcPct val="108333"/>
              </a:lnSpc>
              <a:buClr>
                <a:srgbClr val="333399"/>
              </a:buClr>
              <a:buSzPts val="2000"/>
            </a:pPr>
            <a:r>
              <a:rPr lang="en-US" b="1">
                <a:solidFill>
                  <a:srgbClr val="000000"/>
                </a:solidFill>
                <a:latin typeface="Arial"/>
                <a:ea typeface="Arial"/>
                <a:cs typeface="Arial"/>
                <a:sym typeface="Arial"/>
              </a:rPr>
              <a:t>Información</a:t>
            </a:r>
            <a:endParaRPr b="1">
              <a:solidFill>
                <a:srgbClr val="000000"/>
              </a:solidFill>
              <a:latin typeface="Arial"/>
              <a:ea typeface="Arial"/>
              <a:cs typeface="Arial"/>
              <a:sym typeface="Arial"/>
            </a:endParaRPr>
          </a:p>
        </p:txBody>
      </p:sp>
      <p:sp>
        <p:nvSpPr>
          <p:cNvPr id="110" name="Google Shape;110;g21c129c4305_0_60"/>
          <p:cNvSpPr txBox="1"/>
          <p:nvPr/>
        </p:nvSpPr>
        <p:spPr>
          <a:xfrm>
            <a:off x="2466797" y="5049180"/>
            <a:ext cx="2074140" cy="1166400"/>
          </a:xfrm>
          <a:prstGeom prst="rect">
            <a:avLst/>
          </a:prstGeom>
          <a:noFill/>
          <a:ln>
            <a:noFill/>
          </a:ln>
        </p:spPr>
        <p:txBody>
          <a:bodyPr spcFirstLastPara="1" wrap="square" lIns="34290" tIns="34290" rIns="34290" bIns="34290" anchor="t" anchorCtr="0">
            <a:noAutofit/>
          </a:bodyPr>
          <a:lstStyle/>
          <a:p>
            <a:pPr algn="ctr">
              <a:buClr>
                <a:srgbClr val="333399"/>
              </a:buClr>
              <a:buSzPts val="2000"/>
            </a:pPr>
            <a:r>
              <a:rPr lang="en-US" b="1">
                <a:solidFill>
                  <a:srgbClr val="000000"/>
                </a:solidFill>
                <a:latin typeface="Arial"/>
                <a:ea typeface="Arial"/>
                <a:cs typeface="Arial"/>
                <a:sym typeface="Arial"/>
              </a:rPr>
              <a:t>Planificación y </a:t>
            </a:r>
            <a:endParaRPr sz="1620">
              <a:solidFill>
                <a:srgbClr val="000000"/>
              </a:solidFill>
            </a:endParaRPr>
          </a:p>
          <a:p>
            <a:pPr algn="ctr">
              <a:buClr>
                <a:srgbClr val="333399"/>
              </a:buClr>
              <a:buSzPts val="2000"/>
            </a:pPr>
            <a:r>
              <a:rPr lang="en-US" b="1">
                <a:solidFill>
                  <a:srgbClr val="000000"/>
                </a:solidFill>
                <a:latin typeface="Arial"/>
                <a:ea typeface="Arial"/>
                <a:cs typeface="Arial"/>
                <a:sym typeface="Arial"/>
              </a:rPr>
              <a:t>Desarrollo de </a:t>
            </a:r>
            <a:endParaRPr sz="1620">
              <a:solidFill>
                <a:srgbClr val="000000"/>
              </a:solidFill>
            </a:endParaRPr>
          </a:p>
          <a:p>
            <a:pPr algn="ctr">
              <a:buClr>
                <a:srgbClr val="333399"/>
              </a:buClr>
              <a:buSzPts val="2000"/>
            </a:pPr>
            <a:r>
              <a:rPr lang="en-US" b="1">
                <a:solidFill>
                  <a:srgbClr val="000000"/>
                </a:solidFill>
                <a:latin typeface="Arial"/>
                <a:ea typeface="Arial"/>
                <a:cs typeface="Arial"/>
                <a:sym typeface="Arial"/>
              </a:rPr>
              <a:t>Sistemas de </a:t>
            </a:r>
            <a:endParaRPr sz="1620">
              <a:solidFill>
                <a:srgbClr val="000000"/>
              </a:solidFill>
            </a:endParaRPr>
          </a:p>
          <a:p>
            <a:pPr algn="ctr">
              <a:buClr>
                <a:srgbClr val="333399"/>
              </a:buClr>
              <a:buSzPts val="2000"/>
            </a:pPr>
            <a:r>
              <a:rPr lang="en-US" b="1">
                <a:solidFill>
                  <a:srgbClr val="000000"/>
                </a:solidFill>
                <a:latin typeface="Arial"/>
                <a:ea typeface="Arial"/>
                <a:cs typeface="Arial"/>
                <a:sym typeface="Arial"/>
              </a:rPr>
              <a:t>Información</a:t>
            </a:r>
            <a:endParaRPr b="1" err="1">
              <a:solidFill>
                <a:srgbClr val="000000"/>
              </a:solidFill>
              <a:latin typeface="Arial"/>
              <a:ea typeface="Arial"/>
              <a:cs typeface="Arial"/>
            </a:endParaRPr>
          </a:p>
        </p:txBody>
      </p:sp>
      <p:sp>
        <p:nvSpPr>
          <p:cNvPr id="111" name="Google Shape;111;g21c129c4305_0_60"/>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333399"/>
                </a:solidFill>
                <a:latin typeface="Arial"/>
                <a:ea typeface="Arial"/>
                <a:cs typeface="Arial"/>
                <a:sym typeface="Arial"/>
              </a:rPr>
              <a:t>Funciones y responsabilidades</a:t>
            </a:r>
            <a:endParaRPr sz="1620"/>
          </a:p>
        </p:txBody>
      </p:sp>
      <p:sp>
        <p:nvSpPr>
          <p:cNvPr id="112" name="Google Shape;112;g21c129c4305_0_60"/>
          <p:cNvSpPr txBox="1"/>
          <p:nvPr/>
        </p:nvSpPr>
        <p:spPr>
          <a:xfrm>
            <a:off x="4994278" y="1808820"/>
            <a:ext cx="1944270" cy="3888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333399"/>
                </a:solidFill>
                <a:latin typeface="Arial"/>
                <a:ea typeface="Arial"/>
                <a:cs typeface="Arial"/>
                <a:sym typeface="Arial"/>
              </a:rPr>
              <a:t>Ejemplo </a:t>
            </a:r>
            <a:endParaRPr b="1">
              <a:solidFill>
                <a:srgbClr val="333399"/>
              </a:solidFill>
              <a:latin typeface="Arial"/>
              <a:ea typeface="Arial"/>
              <a:cs typeface="Arial"/>
              <a:sym typeface="Arial"/>
            </a:endParaRPr>
          </a:p>
        </p:txBody>
      </p:sp>
      <p:sp>
        <p:nvSpPr>
          <p:cNvPr id="2" name="Marcador de número de diapositiva 1">
            <a:extLst>
              <a:ext uri="{FF2B5EF4-FFF2-40B4-BE49-F238E27FC236}">
                <a16:creationId xmlns:a16="http://schemas.microsoft.com/office/drawing/2014/main" id="{4795EF78-B239-2D39-47D2-078EAA495669}"/>
              </a:ext>
            </a:extLst>
          </p:cNvPr>
          <p:cNvSpPr>
            <a:spLocks noGrp="1"/>
          </p:cNvSpPr>
          <p:nvPr>
            <p:ph type="sldNum" sz="quarter" idx="12"/>
          </p:nvPr>
        </p:nvSpPr>
        <p:spPr/>
        <p:txBody>
          <a:bodyPr/>
          <a:lstStyle/>
          <a:p>
            <a:fld id="{0E40E506-8910-4A1D-9597-9E72BD293B97}" type="slidenum">
              <a:rPr lang="en-US" smtClean="0"/>
              <a:t>37</a:t>
            </a:fld>
            <a:endParaRPr lang="es-E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8" name="Google Shape;118;g21c129c4305_0_73"/>
          <p:cNvPicPr preferRelativeResize="0"/>
          <p:nvPr/>
        </p:nvPicPr>
        <p:blipFill rotWithShape="1">
          <a:blip r:embed="rId3">
            <a:alphaModFix/>
          </a:blip>
          <a:srcRect/>
          <a:stretch/>
        </p:blipFill>
        <p:spPr>
          <a:xfrm>
            <a:off x="2207568" y="1962135"/>
            <a:ext cx="7827370" cy="4123960"/>
          </a:xfrm>
          <a:prstGeom prst="rect">
            <a:avLst/>
          </a:prstGeom>
          <a:noFill/>
          <a:ln>
            <a:noFill/>
          </a:ln>
        </p:spPr>
      </p:pic>
      <p:sp>
        <p:nvSpPr>
          <p:cNvPr id="119" name="Google Shape;119;g21c129c4305_0_73"/>
          <p:cNvSpPr txBox="1"/>
          <p:nvPr/>
        </p:nvSpPr>
        <p:spPr>
          <a:xfrm>
            <a:off x="5059085" y="2197663"/>
            <a:ext cx="1879470" cy="11664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Programación</a:t>
            </a:r>
            <a:endParaRPr b="1">
              <a:solidFill>
                <a:srgbClr val="000000"/>
              </a:solidFill>
              <a:latin typeface="Arial"/>
              <a:ea typeface="Arial"/>
              <a:cs typeface="Arial"/>
              <a:sym typeface="Arial"/>
            </a:endParaRPr>
          </a:p>
          <a:p>
            <a:pPr algn="ctr">
              <a:lnSpc>
                <a:spcPct val="120138"/>
              </a:lnSpc>
              <a:buClr>
                <a:srgbClr val="333399"/>
              </a:buClr>
              <a:buSzPts val="2000"/>
            </a:pPr>
            <a:r>
              <a:rPr lang="en-US" b="1">
                <a:solidFill>
                  <a:srgbClr val="000000"/>
                </a:solidFill>
                <a:latin typeface="Arial"/>
                <a:ea typeface="Arial"/>
                <a:cs typeface="Arial"/>
                <a:sym typeface="Arial"/>
              </a:rPr>
              <a:t>y Control de </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Gestión</a:t>
            </a:r>
            <a:endParaRPr b="1">
              <a:solidFill>
                <a:srgbClr val="000000"/>
              </a:solidFill>
              <a:latin typeface="Arial"/>
              <a:ea typeface="Arial"/>
              <a:cs typeface="Arial"/>
            </a:endParaRPr>
          </a:p>
        </p:txBody>
      </p:sp>
      <p:sp>
        <p:nvSpPr>
          <p:cNvPr id="120" name="Google Shape;120;g21c129c4305_0_73"/>
          <p:cNvSpPr txBox="1"/>
          <p:nvPr/>
        </p:nvSpPr>
        <p:spPr>
          <a:xfrm>
            <a:off x="2337182" y="4982195"/>
            <a:ext cx="1521180" cy="84456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Planificación</a:t>
            </a:r>
            <a:endParaRPr b="1">
              <a:solidFill>
                <a:srgbClr val="000000"/>
              </a:solidFill>
              <a:latin typeface="Arial"/>
              <a:ea typeface="Arial"/>
              <a:cs typeface="Arial"/>
              <a:sym typeface="Arial"/>
            </a:endParaRPr>
          </a:p>
          <a:p>
            <a:pPr algn="ctr">
              <a:lnSpc>
                <a:spcPct val="120138"/>
              </a:lnSpc>
              <a:buClr>
                <a:srgbClr val="333399"/>
              </a:buClr>
              <a:buSzPts val="2000"/>
            </a:pPr>
            <a:r>
              <a:rPr lang="en-US" b="1">
                <a:solidFill>
                  <a:srgbClr val="000000"/>
                </a:solidFill>
                <a:latin typeface="Arial"/>
                <a:ea typeface="Arial"/>
                <a:cs typeface="Arial"/>
                <a:sym typeface="Arial"/>
              </a:rPr>
              <a:t>y Control</a:t>
            </a:r>
            <a:endParaRPr sz="1620">
              <a:solidFill>
                <a:srgbClr val="000000"/>
              </a:solidFill>
            </a:endParaRPr>
          </a:p>
        </p:txBody>
      </p:sp>
      <p:sp>
        <p:nvSpPr>
          <p:cNvPr id="121" name="Google Shape;121;g21c129c4305_0_73"/>
          <p:cNvSpPr txBox="1"/>
          <p:nvPr/>
        </p:nvSpPr>
        <p:spPr>
          <a:xfrm>
            <a:off x="4281398" y="4984373"/>
            <a:ext cx="1749870" cy="10368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1900"/>
            </a:pPr>
            <a:r>
              <a:rPr lang="en-US" sz="1700" b="1">
                <a:solidFill>
                  <a:srgbClr val="000000"/>
                </a:solidFill>
                <a:latin typeface="Arial"/>
                <a:ea typeface="Arial"/>
                <a:cs typeface="Arial"/>
                <a:sym typeface="Arial"/>
              </a:rPr>
              <a:t>Políticas y Procedimientos</a:t>
            </a:r>
            <a:endParaRPr sz="1700" b="1">
              <a:solidFill>
                <a:srgbClr val="000000"/>
              </a:solidFill>
              <a:latin typeface="Arial"/>
              <a:ea typeface="Arial"/>
              <a:cs typeface="Arial"/>
              <a:sym typeface="Arial"/>
            </a:endParaRPr>
          </a:p>
        </p:txBody>
      </p:sp>
      <p:sp>
        <p:nvSpPr>
          <p:cNvPr id="122" name="Google Shape;122;g21c129c4305_0_73"/>
          <p:cNvSpPr txBox="1"/>
          <p:nvPr/>
        </p:nvSpPr>
        <p:spPr>
          <a:xfrm>
            <a:off x="6290422" y="4916475"/>
            <a:ext cx="1685340" cy="110484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Investigación</a:t>
            </a:r>
            <a:endParaRPr b="1">
              <a:solidFill>
                <a:srgbClr val="000000"/>
              </a:solidFill>
              <a:latin typeface="Arial"/>
              <a:ea typeface="Arial"/>
              <a:cs typeface="Arial"/>
              <a:sym typeface="Arial"/>
            </a:endParaRPr>
          </a:p>
          <a:p>
            <a:pPr algn="ctr">
              <a:lnSpc>
                <a:spcPct val="120138"/>
              </a:lnSpc>
              <a:buClr>
                <a:srgbClr val="333399"/>
              </a:buClr>
              <a:buSzPts val="2000"/>
            </a:pPr>
            <a:r>
              <a:rPr lang="en-US" b="1">
                <a:solidFill>
                  <a:srgbClr val="000000"/>
                </a:solidFill>
                <a:latin typeface="Arial"/>
                <a:ea typeface="Arial"/>
                <a:cs typeface="Arial"/>
                <a:sym typeface="Arial"/>
              </a:rPr>
              <a:t>y Desarrollo</a:t>
            </a:r>
            <a:endParaRPr b="1">
              <a:solidFill>
                <a:srgbClr val="000000"/>
              </a:solidFill>
              <a:latin typeface="Arial"/>
              <a:ea typeface="Arial"/>
              <a:cs typeface="Arial"/>
              <a:sym typeface="Arial"/>
            </a:endParaRPr>
          </a:p>
          <a:p>
            <a:pPr algn="ctr">
              <a:lnSpc>
                <a:spcPct val="120138"/>
              </a:lnSpc>
              <a:buClr>
                <a:srgbClr val="333399"/>
              </a:buClr>
              <a:buSzPts val="2000"/>
            </a:pPr>
            <a:r>
              <a:rPr lang="en-US" b="1">
                <a:solidFill>
                  <a:srgbClr val="000000"/>
                </a:solidFill>
                <a:latin typeface="Arial"/>
                <a:ea typeface="Arial"/>
                <a:cs typeface="Arial"/>
                <a:sym typeface="Arial"/>
              </a:rPr>
              <a:t>Nuevas Tec.</a:t>
            </a:r>
            <a:endParaRPr sz="1620">
              <a:solidFill>
                <a:srgbClr val="000000"/>
              </a:solidFill>
            </a:endParaRPr>
          </a:p>
        </p:txBody>
      </p:sp>
      <p:sp>
        <p:nvSpPr>
          <p:cNvPr id="123" name="Google Shape;123;g21c129c4305_0_73"/>
          <p:cNvSpPr txBox="1"/>
          <p:nvPr/>
        </p:nvSpPr>
        <p:spPr>
          <a:xfrm>
            <a:off x="8299446" y="4916475"/>
            <a:ext cx="1699920" cy="110484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Adm. de</a:t>
            </a:r>
            <a:endParaRPr lang="es-ES" b="1">
              <a:solidFill>
                <a:srgbClr val="000000"/>
              </a:solidFill>
              <a:latin typeface="Arial"/>
              <a:ea typeface="Arial"/>
              <a:cs typeface="Arial"/>
            </a:endParaRPr>
          </a:p>
          <a:p>
            <a:pPr algn="ctr">
              <a:lnSpc>
                <a:spcPct val="120138"/>
              </a:lnSpc>
              <a:buClr>
                <a:srgbClr val="333399"/>
              </a:buClr>
              <a:buSzPts val="2000"/>
            </a:pPr>
            <a:r>
              <a:rPr lang="en-US" b="1">
                <a:solidFill>
                  <a:srgbClr val="000000"/>
                </a:solidFill>
                <a:latin typeface="Arial"/>
                <a:ea typeface="Arial"/>
                <a:cs typeface="Arial"/>
                <a:sym typeface="Arial"/>
              </a:rPr>
              <a:t>Recursos</a:t>
            </a:r>
            <a:endParaRPr b="1">
              <a:solidFill>
                <a:srgbClr val="000000"/>
              </a:solidFill>
              <a:latin typeface="Arial"/>
              <a:ea typeface="Arial"/>
              <a:cs typeface="Arial"/>
              <a:sym typeface="Arial"/>
            </a:endParaRPr>
          </a:p>
          <a:p>
            <a:pPr algn="ctr">
              <a:lnSpc>
                <a:spcPct val="120138"/>
              </a:lnSpc>
              <a:buClr>
                <a:srgbClr val="333399"/>
              </a:buClr>
              <a:buSzPts val="2000"/>
            </a:pPr>
            <a:r>
              <a:rPr lang="en-US" b="1">
                <a:solidFill>
                  <a:srgbClr val="000000"/>
                </a:solidFill>
                <a:latin typeface="Arial"/>
                <a:ea typeface="Arial"/>
                <a:cs typeface="Arial"/>
                <a:sym typeface="Arial"/>
              </a:rPr>
              <a:t>Informáticos</a:t>
            </a:r>
            <a:endParaRPr b="1">
              <a:solidFill>
                <a:srgbClr val="000000"/>
              </a:solidFill>
              <a:latin typeface="Arial"/>
              <a:ea typeface="Arial"/>
              <a:cs typeface="Arial"/>
            </a:endParaRPr>
          </a:p>
        </p:txBody>
      </p:sp>
      <p:sp>
        <p:nvSpPr>
          <p:cNvPr id="124" name="Google Shape;124;g21c129c4305_0_73"/>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333399"/>
                </a:solidFill>
                <a:latin typeface="Arial"/>
                <a:ea typeface="Arial"/>
                <a:cs typeface="Arial"/>
                <a:sym typeface="Arial"/>
              </a:rPr>
              <a:t>Funciones y responsabilidades</a:t>
            </a:r>
            <a:endParaRPr sz="1620"/>
          </a:p>
        </p:txBody>
      </p:sp>
      <p:sp>
        <p:nvSpPr>
          <p:cNvPr id="2" name="Marcador de número de diapositiva 1">
            <a:extLst>
              <a:ext uri="{FF2B5EF4-FFF2-40B4-BE49-F238E27FC236}">
                <a16:creationId xmlns:a16="http://schemas.microsoft.com/office/drawing/2014/main" id="{C1A17C5B-9D9B-8BB1-4309-581ED5FED438}"/>
              </a:ext>
            </a:extLst>
          </p:cNvPr>
          <p:cNvSpPr>
            <a:spLocks noGrp="1"/>
          </p:cNvSpPr>
          <p:nvPr>
            <p:ph type="sldNum" sz="quarter" idx="12"/>
          </p:nvPr>
        </p:nvSpPr>
        <p:spPr/>
        <p:txBody>
          <a:bodyPr/>
          <a:lstStyle/>
          <a:p>
            <a:fld id="{0E40E506-8910-4A1D-9597-9E72BD293B97}" type="slidenum">
              <a:rPr lang="en-US" smtClean="0"/>
              <a:t>38</a:t>
            </a:fld>
            <a:endParaRPr lang="es-E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g21c129c4305_0_84"/>
          <p:cNvSpPr txBox="1"/>
          <p:nvPr/>
        </p:nvSpPr>
        <p:spPr>
          <a:xfrm>
            <a:off x="2524845" y="2003242"/>
            <a:ext cx="7476030" cy="4264380"/>
          </a:xfrm>
          <a:prstGeom prst="rect">
            <a:avLst/>
          </a:prstGeom>
          <a:noFill/>
          <a:ln>
            <a:noFill/>
          </a:ln>
        </p:spPr>
        <p:txBody>
          <a:bodyPr spcFirstLastPara="1" wrap="square" lIns="34290" tIns="34290" rIns="34290" bIns="34290" anchor="t" anchorCtr="0">
            <a:noAutofit/>
          </a:bodyPr>
          <a:lstStyle/>
          <a:p>
            <a:pPr>
              <a:lnSpc>
                <a:spcPct val="120108"/>
              </a:lnSpc>
              <a:buClr>
                <a:srgbClr val="333399"/>
              </a:buClr>
              <a:buSzPts val="2555"/>
            </a:pPr>
            <a:r>
              <a:rPr lang="en-US" sz="2300" b="1">
                <a:solidFill>
                  <a:srgbClr val="1A3260"/>
                </a:solidFill>
                <a:latin typeface="Arial"/>
                <a:ea typeface="Arial"/>
                <a:cs typeface="Arial"/>
                <a:sym typeface="Arial"/>
              </a:rPr>
              <a:t>Programación y Control de Gestión</a:t>
            </a:r>
            <a:endParaRPr sz="2300" b="1">
              <a:solidFill>
                <a:srgbClr val="1A3260"/>
              </a:solidFill>
              <a:latin typeface="Arial"/>
              <a:ea typeface="Arial"/>
              <a:cs typeface="Arial"/>
              <a:sym typeface="Aria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Planificación y Control de Gestión.</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Presupuesto y control.</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Administración de políticas, metodologías, normas y procedimientos.</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Investigación y desarrollo de nuevas tecnologías.</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Administración de requerimientos y contrataciones informáticas.</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Administración del parque Informático.</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Seguimiento de proyectos específicos por decisión de la Dirección.</a:t>
            </a:r>
            <a:endParaRPr sz="1620">
              <a:solidFill>
                <a:srgbClr val="1A3260"/>
              </a:solidFill>
            </a:endParaRPr>
          </a:p>
        </p:txBody>
      </p:sp>
      <p:sp>
        <p:nvSpPr>
          <p:cNvPr id="131" name="Google Shape;131;g21c129c4305_0_84"/>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1A3260"/>
                </a:solidFill>
                <a:latin typeface="Arial"/>
                <a:ea typeface="Arial"/>
                <a:cs typeface="Arial"/>
                <a:sym typeface="Arial"/>
              </a:rPr>
              <a:t>Funciones y responsabilidades</a:t>
            </a:r>
            <a:endParaRPr sz="1620">
              <a:solidFill>
                <a:srgbClr val="1A3260"/>
              </a:solidFill>
            </a:endParaRPr>
          </a:p>
        </p:txBody>
      </p:sp>
      <p:sp>
        <p:nvSpPr>
          <p:cNvPr id="2" name="Marcador de número de diapositiva 1">
            <a:extLst>
              <a:ext uri="{FF2B5EF4-FFF2-40B4-BE49-F238E27FC236}">
                <a16:creationId xmlns:a16="http://schemas.microsoft.com/office/drawing/2014/main" id="{5D615924-1144-C067-CAD0-0739263328C9}"/>
              </a:ext>
            </a:extLst>
          </p:cNvPr>
          <p:cNvSpPr>
            <a:spLocks noGrp="1"/>
          </p:cNvSpPr>
          <p:nvPr>
            <p:ph type="sldNum" sz="quarter" idx="12"/>
          </p:nvPr>
        </p:nvSpPr>
        <p:spPr/>
        <p:txBody>
          <a:bodyPr/>
          <a:lstStyle/>
          <a:p>
            <a:fld id="{0E40E506-8910-4A1D-9597-9E72BD293B97}" type="slidenum">
              <a:rPr lang="en-US" smtClean="0"/>
              <a:t>39</a:t>
            </a:fld>
            <a:endParaRPr lang="es-E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7" name="Google Shape;137;g21c129c4305_0_90"/>
          <p:cNvPicPr preferRelativeResize="0"/>
          <p:nvPr/>
        </p:nvPicPr>
        <p:blipFill rotWithShape="1">
          <a:blip r:embed="rId3">
            <a:alphaModFix/>
          </a:blip>
          <a:srcRect/>
          <a:stretch/>
        </p:blipFill>
        <p:spPr>
          <a:xfrm>
            <a:off x="2623035" y="2003243"/>
            <a:ext cx="6907746" cy="3959370"/>
          </a:xfrm>
          <a:prstGeom prst="rect">
            <a:avLst/>
          </a:prstGeom>
          <a:noFill/>
          <a:ln>
            <a:noFill/>
          </a:ln>
        </p:spPr>
      </p:pic>
      <p:sp>
        <p:nvSpPr>
          <p:cNvPr id="138" name="Google Shape;138;g21c129c4305_0_90"/>
          <p:cNvSpPr txBox="1"/>
          <p:nvPr/>
        </p:nvSpPr>
        <p:spPr>
          <a:xfrm>
            <a:off x="5318314" y="1965587"/>
            <a:ext cx="2073870" cy="1333800"/>
          </a:xfrm>
          <a:prstGeom prst="rect">
            <a:avLst/>
          </a:prstGeom>
          <a:noFill/>
          <a:ln>
            <a:noFill/>
          </a:ln>
        </p:spPr>
        <p:txBody>
          <a:bodyPr spcFirstLastPara="1" wrap="square" lIns="34290" tIns="34290" rIns="34290" bIns="34290" anchor="t" anchorCtr="0">
            <a:noAutofit/>
          </a:bodyPr>
          <a:lstStyle/>
          <a:p>
            <a:pPr algn="ctr">
              <a:lnSpc>
                <a:spcPct val="108333"/>
              </a:lnSpc>
              <a:buClr>
                <a:srgbClr val="333399"/>
              </a:buClr>
              <a:buSzPts val="2000"/>
            </a:pPr>
            <a:r>
              <a:rPr lang="en-US" b="1">
                <a:solidFill>
                  <a:srgbClr val="000000"/>
                </a:solidFill>
                <a:latin typeface="Arial"/>
                <a:ea typeface="Arial"/>
                <a:cs typeface="Arial"/>
                <a:sym typeface="Arial"/>
              </a:rPr>
              <a:t>Planificación</a:t>
            </a:r>
            <a:endParaRPr b="1">
              <a:solidFill>
                <a:srgbClr val="000000"/>
              </a:solidFill>
              <a:latin typeface="Arial"/>
              <a:ea typeface="Arial"/>
              <a:cs typeface="Arial"/>
              <a:sym typeface="Arial"/>
            </a:endParaRPr>
          </a:p>
          <a:p>
            <a:pPr algn="ctr">
              <a:lnSpc>
                <a:spcPct val="108333"/>
              </a:lnSpc>
              <a:buClr>
                <a:srgbClr val="333399"/>
              </a:buClr>
              <a:buSzPts val="2000"/>
            </a:pPr>
            <a:r>
              <a:rPr lang="en-US" b="1">
                <a:solidFill>
                  <a:srgbClr val="000000"/>
                </a:solidFill>
                <a:latin typeface="Arial"/>
                <a:ea typeface="Arial"/>
                <a:cs typeface="Arial"/>
                <a:sym typeface="Arial"/>
              </a:rPr>
              <a:t>y Desarrollo </a:t>
            </a:r>
            <a:endParaRPr sz="1620">
              <a:solidFill>
                <a:srgbClr val="000000"/>
              </a:solidFill>
            </a:endParaRPr>
          </a:p>
          <a:p>
            <a:pPr algn="ctr">
              <a:lnSpc>
                <a:spcPct val="108333"/>
              </a:lnSpc>
              <a:buClr>
                <a:srgbClr val="333399"/>
              </a:buClr>
              <a:buSzPts val="2000"/>
            </a:pPr>
            <a:r>
              <a:rPr lang="en-US" b="1">
                <a:solidFill>
                  <a:srgbClr val="000000"/>
                </a:solidFill>
                <a:latin typeface="Arial"/>
                <a:ea typeface="Arial"/>
                <a:cs typeface="Arial"/>
                <a:sym typeface="Arial"/>
              </a:rPr>
              <a:t>de Sistemas </a:t>
            </a:r>
            <a:endParaRPr sz="1620">
              <a:solidFill>
                <a:srgbClr val="000000"/>
              </a:solidFill>
            </a:endParaRPr>
          </a:p>
          <a:p>
            <a:pPr algn="ctr">
              <a:lnSpc>
                <a:spcPct val="108333"/>
              </a:lnSpc>
              <a:buClr>
                <a:srgbClr val="333399"/>
              </a:buClr>
              <a:buSzPts val="2000"/>
            </a:pPr>
            <a:r>
              <a:rPr lang="en-US" b="1">
                <a:solidFill>
                  <a:srgbClr val="000000"/>
                </a:solidFill>
                <a:latin typeface="Arial"/>
                <a:ea typeface="Arial"/>
                <a:cs typeface="Arial"/>
                <a:sym typeface="Arial"/>
              </a:rPr>
              <a:t>de Información</a:t>
            </a:r>
            <a:endParaRPr b="1">
              <a:solidFill>
                <a:srgbClr val="000000"/>
              </a:solidFill>
              <a:latin typeface="Arial"/>
              <a:ea typeface="Arial"/>
              <a:cs typeface="Arial"/>
              <a:sym typeface="Arial"/>
            </a:endParaRPr>
          </a:p>
        </p:txBody>
      </p:sp>
      <p:sp>
        <p:nvSpPr>
          <p:cNvPr id="139" name="Google Shape;139;g21c129c4305_0_90"/>
          <p:cNvSpPr txBox="1"/>
          <p:nvPr/>
        </p:nvSpPr>
        <p:spPr>
          <a:xfrm>
            <a:off x="3762941" y="5049180"/>
            <a:ext cx="1738530" cy="81837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Líderes de </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Proyectos</a:t>
            </a:r>
            <a:endParaRPr b="1">
              <a:solidFill>
                <a:srgbClr val="000000"/>
              </a:solidFill>
              <a:latin typeface="Arial"/>
              <a:ea typeface="Arial"/>
              <a:cs typeface="Arial"/>
              <a:sym typeface="Arial"/>
            </a:endParaRPr>
          </a:p>
        </p:txBody>
      </p:sp>
      <p:sp>
        <p:nvSpPr>
          <p:cNvPr id="140" name="Google Shape;140;g21c129c4305_0_90"/>
          <p:cNvSpPr txBox="1"/>
          <p:nvPr/>
        </p:nvSpPr>
        <p:spPr>
          <a:xfrm>
            <a:off x="7357687" y="5113987"/>
            <a:ext cx="2172960" cy="76653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Analistas</a:t>
            </a:r>
            <a:endParaRPr b="1">
              <a:solidFill>
                <a:srgbClr val="000000"/>
              </a:solidFill>
              <a:latin typeface="Arial"/>
              <a:ea typeface="Arial"/>
              <a:cs typeface="Arial"/>
              <a:sym typeface="Arial"/>
            </a:endParaRPr>
          </a:p>
          <a:p>
            <a:pPr algn="ctr">
              <a:lnSpc>
                <a:spcPct val="120138"/>
              </a:lnSpc>
              <a:buClr>
                <a:srgbClr val="333399"/>
              </a:buClr>
              <a:buSzPts val="2000"/>
            </a:pPr>
            <a:r>
              <a:rPr lang="en-US" b="1">
                <a:solidFill>
                  <a:srgbClr val="000000"/>
                </a:solidFill>
                <a:latin typeface="Arial"/>
                <a:ea typeface="Arial"/>
                <a:cs typeface="Arial"/>
                <a:sym typeface="Arial"/>
              </a:rPr>
              <a:t>Programadores</a:t>
            </a:r>
            <a:endParaRPr b="1">
              <a:solidFill>
                <a:srgbClr val="000000"/>
              </a:solidFill>
              <a:latin typeface="Arial"/>
              <a:ea typeface="Arial"/>
              <a:cs typeface="Arial"/>
            </a:endParaRPr>
          </a:p>
        </p:txBody>
      </p:sp>
      <p:sp>
        <p:nvSpPr>
          <p:cNvPr id="141" name="Google Shape;141;g21c129c4305_0_90"/>
          <p:cNvSpPr txBox="1"/>
          <p:nvPr/>
        </p:nvSpPr>
        <p:spPr>
          <a:xfrm>
            <a:off x="3086085" y="3234578"/>
            <a:ext cx="1148580" cy="61938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Adm. de Datos</a:t>
            </a:r>
            <a:endParaRPr b="1">
              <a:solidFill>
                <a:srgbClr val="000000"/>
              </a:solidFill>
              <a:latin typeface="Arial"/>
              <a:ea typeface="Arial"/>
              <a:cs typeface="Arial"/>
              <a:sym typeface="Arial"/>
            </a:endParaRPr>
          </a:p>
        </p:txBody>
      </p:sp>
      <p:sp>
        <p:nvSpPr>
          <p:cNvPr id="142" name="Google Shape;142;g21c129c4305_0_90"/>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333399"/>
                </a:solidFill>
                <a:latin typeface="Arial"/>
                <a:ea typeface="Arial"/>
                <a:cs typeface="Arial"/>
                <a:sym typeface="Arial"/>
              </a:rPr>
              <a:t>Funciones y responsabilidades</a:t>
            </a:r>
            <a:endParaRPr sz="1620"/>
          </a:p>
        </p:txBody>
      </p:sp>
      <p:sp>
        <p:nvSpPr>
          <p:cNvPr id="2" name="Marcador de número de diapositiva 1">
            <a:extLst>
              <a:ext uri="{FF2B5EF4-FFF2-40B4-BE49-F238E27FC236}">
                <a16:creationId xmlns:a16="http://schemas.microsoft.com/office/drawing/2014/main" id="{9724C5A3-6700-68DF-997F-31779B8A0B58}"/>
              </a:ext>
            </a:extLst>
          </p:cNvPr>
          <p:cNvSpPr>
            <a:spLocks noGrp="1"/>
          </p:cNvSpPr>
          <p:nvPr>
            <p:ph type="sldNum" sz="quarter" idx="12"/>
          </p:nvPr>
        </p:nvSpPr>
        <p:spPr/>
        <p:txBody>
          <a:bodyPr/>
          <a:lstStyle/>
          <a:p>
            <a:fld id="{0E40E506-8910-4A1D-9597-9E72BD293B97}" type="slidenum">
              <a:rPr lang="en-US" smtClean="0"/>
              <a:t>40</a:t>
            </a:fld>
            <a:endParaRPr lang="es-E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8" name="Google Shape;148;g21c129c4305_0_100"/>
          <p:cNvSpPr txBox="1"/>
          <p:nvPr/>
        </p:nvSpPr>
        <p:spPr>
          <a:xfrm>
            <a:off x="2524845" y="1938434"/>
            <a:ext cx="7653960" cy="4546800"/>
          </a:xfrm>
          <a:prstGeom prst="rect">
            <a:avLst/>
          </a:prstGeom>
          <a:noFill/>
          <a:ln>
            <a:noFill/>
          </a:ln>
        </p:spPr>
        <p:txBody>
          <a:bodyPr spcFirstLastPara="1" wrap="square" lIns="34290" tIns="34290" rIns="34290" bIns="34290" anchor="t" anchorCtr="0">
            <a:noAutofit/>
          </a:bodyPr>
          <a:lstStyle/>
          <a:p>
            <a:pPr>
              <a:lnSpc>
                <a:spcPct val="119791"/>
              </a:lnSpc>
              <a:buClr>
                <a:srgbClr val="333399"/>
              </a:buClr>
              <a:buSzPts val="2666"/>
            </a:pPr>
            <a:r>
              <a:rPr lang="en-US" sz="2399" b="1">
                <a:solidFill>
                  <a:srgbClr val="1A3260"/>
                </a:solidFill>
                <a:latin typeface="Arial"/>
                <a:ea typeface="Arial"/>
                <a:cs typeface="Arial"/>
                <a:sym typeface="Arial"/>
              </a:rPr>
              <a:t>Planificación y Desarrollo de Sist. de Información</a:t>
            </a:r>
            <a:endParaRPr sz="2399" b="1">
              <a:solidFill>
                <a:srgbClr val="1A3260"/>
              </a:solidFill>
              <a:latin typeface="Arial"/>
              <a:ea typeface="Arial"/>
              <a:cs typeface="Arial"/>
              <a:sym typeface="Aria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Planificación de Proyectos y asignación de recursos en acuerdo con el Comité de Usuarios .</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Desarrollo de Aplica. Estadísticas Sociodemográficas. </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Desarrollo de Aplicaciones Económicas .</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Desarrollo de Aplicaciones de Gestión Interna.</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Desarrollo de Aplicaciones Administrativas.</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Desarrollo de Aplicaciones Internet.</a:t>
            </a:r>
            <a:endParaRPr sz="1620">
              <a:solidFill>
                <a:srgbClr val="1A3260"/>
              </a:solidFil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Integración con el Área Metodológica para el serv. a c/ área temática</a:t>
            </a:r>
            <a:endParaRPr sz="2160">
              <a:solidFill>
                <a:srgbClr val="1A3260"/>
              </a:solidFill>
              <a:latin typeface="Arial"/>
              <a:ea typeface="Arial"/>
              <a:cs typeface="Arial"/>
              <a:sym typeface="Arial"/>
            </a:endParaRPr>
          </a:p>
          <a:p>
            <a:pPr marL="342900" indent="-198119">
              <a:lnSpc>
                <a:spcPct val="119791"/>
              </a:lnSpc>
              <a:buClr>
                <a:srgbClr val="333399"/>
              </a:buClr>
              <a:buSzPts val="2370"/>
              <a:buFont typeface="Arial"/>
              <a:buChar char="●"/>
            </a:pPr>
            <a:r>
              <a:rPr lang="en-US" sz="2160">
                <a:solidFill>
                  <a:srgbClr val="1A3260"/>
                </a:solidFill>
                <a:latin typeface="Arial"/>
                <a:ea typeface="Arial"/>
                <a:cs typeface="Arial"/>
                <a:sym typeface="Arial"/>
              </a:rPr>
              <a:t>Adm. de las DB (Lógico) y del diccionario único.</a:t>
            </a:r>
            <a:endParaRPr sz="1620">
              <a:solidFill>
                <a:srgbClr val="1A3260"/>
              </a:solidFill>
            </a:endParaRPr>
          </a:p>
        </p:txBody>
      </p:sp>
      <p:sp>
        <p:nvSpPr>
          <p:cNvPr id="149" name="Google Shape;149;g21c129c4305_0_100"/>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1A3260"/>
                </a:solidFill>
                <a:latin typeface="Arial"/>
                <a:ea typeface="Arial"/>
                <a:cs typeface="Arial"/>
                <a:sym typeface="Arial"/>
              </a:rPr>
              <a:t>Funciones y responsabilidades</a:t>
            </a:r>
            <a:endParaRPr sz="1620">
              <a:solidFill>
                <a:srgbClr val="1A3260"/>
              </a:solidFill>
            </a:endParaRPr>
          </a:p>
        </p:txBody>
      </p:sp>
      <p:sp>
        <p:nvSpPr>
          <p:cNvPr id="2" name="Marcador de número de diapositiva 1">
            <a:extLst>
              <a:ext uri="{FF2B5EF4-FFF2-40B4-BE49-F238E27FC236}">
                <a16:creationId xmlns:a16="http://schemas.microsoft.com/office/drawing/2014/main" id="{05118C45-A6B2-F476-0C43-AF3ECF9FBCDE}"/>
              </a:ext>
            </a:extLst>
          </p:cNvPr>
          <p:cNvSpPr>
            <a:spLocks noGrp="1"/>
          </p:cNvSpPr>
          <p:nvPr>
            <p:ph type="sldNum" sz="quarter" idx="12"/>
          </p:nvPr>
        </p:nvSpPr>
        <p:spPr/>
        <p:txBody>
          <a:bodyPr/>
          <a:lstStyle/>
          <a:p>
            <a:fld id="{0E40E506-8910-4A1D-9597-9E72BD293B97}" type="slidenum">
              <a:rPr lang="en-US" smtClean="0"/>
              <a:t>41</a:t>
            </a:fld>
            <a:endParaRPr lang="es-E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5" name="Google Shape;155;g21c129c4305_0_106"/>
          <p:cNvPicPr preferRelativeResize="0"/>
          <p:nvPr/>
        </p:nvPicPr>
        <p:blipFill rotWithShape="1">
          <a:blip r:embed="rId3">
            <a:alphaModFix/>
          </a:blip>
          <a:srcRect/>
          <a:stretch/>
        </p:blipFill>
        <p:spPr>
          <a:xfrm>
            <a:off x="2466798" y="2003242"/>
            <a:ext cx="7128792" cy="4235603"/>
          </a:xfrm>
          <a:prstGeom prst="rect">
            <a:avLst/>
          </a:prstGeom>
          <a:noFill/>
          <a:ln>
            <a:noFill/>
          </a:ln>
        </p:spPr>
      </p:pic>
      <p:sp>
        <p:nvSpPr>
          <p:cNvPr id="156" name="Google Shape;156;g21c129c4305_0_106"/>
          <p:cNvSpPr txBox="1"/>
          <p:nvPr/>
        </p:nvSpPr>
        <p:spPr>
          <a:xfrm>
            <a:off x="5253506" y="2003242"/>
            <a:ext cx="2203470" cy="11664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Servicios de </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Tecnología de </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Información</a:t>
            </a:r>
            <a:endParaRPr b="1">
              <a:solidFill>
                <a:srgbClr val="000000"/>
              </a:solidFill>
              <a:latin typeface="Arial"/>
              <a:ea typeface="Arial"/>
              <a:cs typeface="Arial"/>
              <a:sym typeface="Arial"/>
            </a:endParaRPr>
          </a:p>
        </p:txBody>
      </p:sp>
      <p:sp>
        <p:nvSpPr>
          <p:cNvPr id="157" name="Google Shape;157;g21c129c4305_0_106"/>
          <p:cNvSpPr txBox="1"/>
          <p:nvPr/>
        </p:nvSpPr>
        <p:spPr>
          <a:xfrm>
            <a:off x="3179676" y="3817844"/>
            <a:ext cx="1966410" cy="8100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Administración</a:t>
            </a:r>
            <a:endParaRPr lang="es-ES" b="1">
              <a:solidFill>
                <a:srgbClr val="000000"/>
              </a:solidFill>
              <a:latin typeface="Arial"/>
              <a:ea typeface="Arial"/>
              <a:cs typeface="Arial"/>
            </a:endParaRPr>
          </a:p>
          <a:p>
            <a:pPr algn="ctr">
              <a:lnSpc>
                <a:spcPct val="120138"/>
              </a:lnSpc>
              <a:buClr>
                <a:srgbClr val="333399"/>
              </a:buClr>
              <a:buSzPts val="2000"/>
            </a:pPr>
            <a:r>
              <a:rPr lang="en-US" b="1">
                <a:solidFill>
                  <a:srgbClr val="000000"/>
                </a:solidFill>
                <a:latin typeface="Arial"/>
                <a:ea typeface="Arial"/>
                <a:cs typeface="Arial"/>
                <a:sym typeface="Arial"/>
              </a:rPr>
              <a:t>de Servidores</a:t>
            </a:r>
            <a:endParaRPr b="1">
              <a:solidFill>
                <a:srgbClr val="000000"/>
              </a:solidFill>
              <a:latin typeface="Arial"/>
              <a:ea typeface="Arial"/>
              <a:cs typeface="Arial"/>
            </a:endParaRPr>
          </a:p>
        </p:txBody>
      </p:sp>
      <p:sp>
        <p:nvSpPr>
          <p:cNvPr id="158" name="Google Shape;158;g21c129c4305_0_106"/>
          <p:cNvSpPr txBox="1"/>
          <p:nvPr/>
        </p:nvSpPr>
        <p:spPr>
          <a:xfrm>
            <a:off x="5512735" y="4012266"/>
            <a:ext cx="1603260" cy="4536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Producción</a:t>
            </a:r>
            <a:endParaRPr lang="es-ES" b="1">
              <a:solidFill>
                <a:srgbClr val="000000"/>
              </a:solidFill>
              <a:latin typeface="Arial"/>
              <a:ea typeface="Arial"/>
              <a:cs typeface="Arial"/>
            </a:endParaRPr>
          </a:p>
        </p:txBody>
      </p:sp>
      <p:sp>
        <p:nvSpPr>
          <p:cNvPr id="159" name="Google Shape;159;g21c129c4305_0_106"/>
          <p:cNvSpPr txBox="1"/>
          <p:nvPr/>
        </p:nvSpPr>
        <p:spPr>
          <a:xfrm>
            <a:off x="7718160" y="3882651"/>
            <a:ext cx="1747710" cy="7452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Soporte a </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Usuarios</a:t>
            </a:r>
            <a:endParaRPr b="1">
              <a:solidFill>
                <a:srgbClr val="000000"/>
              </a:solidFill>
              <a:latin typeface="Arial"/>
              <a:ea typeface="Arial"/>
              <a:cs typeface="Arial"/>
            </a:endParaRPr>
          </a:p>
        </p:txBody>
      </p:sp>
      <p:sp>
        <p:nvSpPr>
          <p:cNvPr id="160" name="Google Shape;160;g21c129c4305_0_106"/>
          <p:cNvSpPr txBox="1"/>
          <p:nvPr/>
        </p:nvSpPr>
        <p:spPr>
          <a:xfrm>
            <a:off x="5039287" y="5243838"/>
            <a:ext cx="1986930" cy="9072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Centro de Ingreso</a:t>
            </a:r>
            <a:endParaRPr b="1">
              <a:solidFill>
                <a:srgbClr val="000000"/>
              </a:solidFill>
              <a:latin typeface="Arial"/>
              <a:ea typeface="Arial"/>
              <a:cs typeface="Arial"/>
              <a:sym typeface="Arial"/>
            </a:endParaRPr>
          </a:p>
          <a:p>
            <a:pPr algn="ctr">
              <a:lnSpc>
                <a:spcPct val="120138"/>
              </a:lnSpc>
              <a:buClr>
                <a:srgbClr val="333399"/>
              </a:buClr>
              <a:buSzPts val="2000"/>
            </a:pPr>
            <a:r>
              <a:rPr lang="en-US" b="1">
                <a:solidFill>
                  <a:srgbClr val="000000"/>
                </a:solidFill>
                <a:latin typeface="Arial"/>
                <a:ea typeface="Arial"/>
                <a:cs typeface="Arial"/>
                <a:sym typeface="Arial"/>
              </a:rPr>
              <a:t>Operaciones</a:t>
            </a:r>
            <a:endParaRPr b="1">
              <a:solidFill>
                <a:srgbClr val="000000"/>
              </a:solidFill>
              <a:latin typeface="Arial"/>
              <a:ea typeface="Arial"/>
              <a:cs typeface="Arial"/>
              <a:sym typeface="Arial"/>
            </a:endParaRPr>
          </a:p>
        </p:txBody>
      </p:sp>
      <p:sp>
        <p:nvSpPr>
          <p:cNvPr id="161" name="Google Shape;161;g21c129c4305_0_106"/>
          <p:cNvSpPr txBox="1"/>
          <p:nvPr/>
        </p:nvSpPr>
        <p:spPr>
          <a:xfrm>
            <a:off x="7845013" y="5243838"/>
            <a:ext cx="2114370" cy="11664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Help Desk</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Soporte de Hard</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Soporte de Soft</a:t>
            </a:r>
            <a:endParaRPr sz="1620">
              <a:solidFill>
                <a:srgbClr val="000000"/>
              </a:solidFill>
            </a:endParaRPr>
          </a:p>
        </p:txBody>
      </p:sp>
      <p:sp>
        <p:nvSpPr>
          <p:cNvPr id="162" name="Google Shape;162;g21c129c4305_0_106"/>
          <p:cNvSpPr txBox="1"/>
          <p:nvPr/>
        </p:nvSpPr>
        <p:spPr>
          <a:xfrm>
            <a:off x="2521581" y="5179093"/>
            <a:ext cx="1769850" cy="10368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000000"/>
                </a:solidFill>
                <a:latin typeface="Arial"/>
                <a:ea typeface="Arial"/>
                <a:cs typeface="Arial"/>
                <a:sym typeface="Arial"/>
              </a:rPr>
              <a:t>Unix</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Netware</a:t>
            </a:r>
            <a:endParaRPr sz="1620">
              <a:solidFill>
                <a:srgbClr val="000000"/>
              </a:solidFill>
            </a:endParaRPr>
          </a:p>
          <a:p>
            <a:pPr algn="ctr">
              <a:lnSpc>
                <a:spcPct val="120138"/>
              </a:lnSpc>
              <a:buClr>
                <a:srgbClr val="333399"/>
              </a:buClr>
              <a:buSzPts val="2000"/>
            </a:pPr>
            <a:r>
              <a:rPr lang="en-US" b="1">
                <a:solidFill>
                  <a:srgbClr val="000000"/>
                </a:solidFill>
                <a:latin typeface="Arial"/>
                <a:ea typeface="Arial"/>
                <a:cs typeface="Arial"/>
                <a:sym typeface="Arial"/>
              </a:rPr>
              <a:t>Windows XP</a:t>
            </a:r>
            <a:endParaRPr sz="1620">
              <a:solidFill>
                <a:srgbClr val="000000"/>
              </a:solidFill>
            </a:endParaRPr>
          </a:p>
        </p:txBody>
      </p:sp>
      <p:sp>
        <p:nvSpPr>
          <p:cNvPr id="163" name="Google Shape;163;g21c129c4305_0_106"/>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333399"/>
                </a:solidFill>
                <a:latin typeface="Arial"/>
                <a:ea typeface="Arial"/>
                <a:cs typeface="Arial"/>
                <a:sym typeface="Arial"/>
              </a:rPr>
              <a:t>Funciones y responsabilidades</a:t>
            </a:r>
            <a:endParaRPr sz="1620"/>
          </a:p>
        </p:txBody>
      </p:sp>
      <p:sp>
        <p:nvSpPr>
          <p:cNvPr id="2" name="Marcador de número de diapositiva 1">
            <a:extLst>
              <a:ext uri="{FF2B5EF4-FFF2-40B4-BE49-F238E27FC236}">
                <a16:creationId xmlns:a16="http://schemas.microsoft.com/office/drawing/2014/main" id="{61D722B4-B9BB-BE7D-6FDE-EAFE28D818E7}"/>
              </a:ext>
            </a:extLst>
          </p:cNvPr>
          <p:cNvSpPr>
            <a:spLocks noGrp="1"/>
          </p:cNvSpPr>
          <p:nvPr>
            <p:ph type="sldNum" sz="quarter" idx="12"/>
          </p:nvPr>
        </p:nvSpPr>
        <p:spPr/>
        <p:txBody>
          <a:bodyPr/>
          <a:lstStyle/>
          <a:p>
            <a:fld id="{0E40E506-8910-4A1D-9597-9E72BD293B97}" type="slidenum">
              <a:rPr lang="en-US" smtClean="0"/>
              <a:t>42</a:t>
            </a:fld>
            <a:endParaRPr lang="es-E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9" name="Google Shape;169;g21c129c4305_0_119"/>
          <p:cNvSpPr txBox="1"/>
          <p:nvPr/>
        </p:nvSpPr>
        <p:spPr>
          <a:xfrm>
            <a:off x="2524845" y="1890698"/>
            <a:ext cx="7493580" cy="4307310"/>
          </a:xfrm>
          <a:prstGeom prst="rect">
            <a:avLst/>
          </a:prstGeom>
          <a:noFill/>
          <a:ln>
            <a:noFill/>
          </a:ln>
        </p:spPr>
        <p:txBody>
          <a:bodyPr spcFirstLastPara="1" wrap="square" lIns="34290" tIns="34290" rIns="34290" bIns="34290" anchor="t" anchorCtr="0">
            <a:noAutofit/>
          </a:bodyPr>
          <a:lstStyle/>
          <a:p>
            <a:pPr>
              <a:lnSpc>
                <a:spcPct val="119791"/>
              </a:lnSpc>
              <a:buClr>
                <a:srgbClr val="333399"/>
              </a:buClr>
              <a:buSzPts val="2666"/>
            </a:pPr>
            <a:r>
              <a:rPr lang="en-US" sz="2399" b="1">
                <a:solidFill>
                  <a:srgbClr val="1A3260"/>
                </a:solidFill>
                <a:latin typeface="Arial"/>
                <a:ea typeface="Arial"/>
                <a:cs typeface="Arial"/>
                <a:sym typeface="Arial"/>
              </a:rPr>
              <a:t>Servicios de Tecnología de Información</a:t>
            </a:r>
            <a:endParaRPr sz="2399" b="1">
              <a:solidFill>
                <a:srgbClr val="1A3260"/>
              </a:solidFill>
              <a:latin typeface="Arial"/>
              <a:ea typeface="Arial"/>
              <a:cs typeface="Arial"/>
              <a:sym typeface="Arial"/>
            </a:endParaRPr>
          </a:p>
          <a:p>
            <a:pPr marL="342900" indent="-191768">
              <a:lnSpc>
                <a:spcPct val="120108"/>
              </a:lnSpc>
              <a:buClr>
                <a:srgbClr val="333399"/>
              </a:buClr>
              <a:buSzPts val="2359"/>
              <a:buFont typeface="Arial"/>
              <a:buChar char="●"/>
            </a:pPr>
            <a:r>
              <a:rPr lang="en-US" sz="2160">
                <a:solidFill>
                  <a:srgbClr val="1A3260"/>
                </a:solidFill>
                <a:latin typeface="Arial"/>
                <a:ea typeface="Arial"/>
                <a:cs typeface="Arial"/>
                <a:sym typeface="Arial"/>
              </a:rPr>
              <a:t>Adm. y Operación de los servidores de Producción.</a:t>
            </a:r>
            <a:endParaRPr sz="1620">
              <a:solidFill>
                <a:srgbClr val="1A3260"/>
              </a:solidFill>
            </a:endParaRPr>
          </a:p>
          <a:p>
            <a:pPr marL="342900" indent="-191768">
              <a:lnSpc>
                <a:spcPct val="120108"/>
              </a:lnSpc>
              <a:buClr>
                <a:srgbClr val="333399"/>
              </a:buClr>
              <a:buSzPts val="2359"/>
              <a:buFont typeface="Arial"/>
              <a:buChar char="●"/>
            </a:pPr>
            <a:r>
              <a:rPr lang="en-US" sz="2160">
                <a:solidFill>
                  <a:srgbClr val="1A3260"/>
                </a:solidFill>
                <a:latin typeface="Arial"/>
                <a:ea typeface="Arial"/>
                <a:cs typeface="Arial"/>
                <a:sym typeface="Arial"/>
              </a:rPr>
              <a:t>Implementación de actual. de versiones de Hard y Soft.</a:t>
            </a:r>
            <a:endParaRPr sz="1620">
              <a:solidFill>
                <a:srgbClr val="1A3260"/>
              </a:solidFill>
            </a:endParaRPr>
          </a:p>
          <a:p>
            <a:pPr marL="342900" indent="-191768">
              <a:lnSpc>
                <a:spcPct val="120108"/>
              </a:lnSpc>
              <a:buClr>
                <a:srgbClr val="333399"/>
              </a:buClr>
              <a:buSzPts val="2359"/>
              <a:buFont typeface="Arial"/>
              <a:buChar char="●"/>
            </a:pPr>
            <a:r>
              <a:rPr lang="en-US" sz="2160">
                <a:solidFill>
                  <a:srgbClr val="1A3260"/>
                </a:solidFill>
                <a:latin typeface="Arial"/>
                <a:ea typeface="Arial"/>
                <a:cs typeface="Arial"/>
                <a:sym typeface="Arial"/>
              </a:rPr>
              <a:t>Soporte técnico a Usuarios. </a:t>
            </a:r>
            <a:endParaRPr sz="1620">
              <a:solidFill>
                <a:srgbClr val="1A3260"/>
              </a:solidFill>
            </a:endParaRPr>
          </a:p>
          <a:p>
            <a:pPr marL="342900" indent="-191768">
              <a:lnSpc>
                <a:spcPct val="120108"/>
              </a:lnSpc>
              <a:buClr>
                <a:srgbClr val="333399"/>
              </a:buClr>
              <a:buSzPts val="2359"/>
              <a:buFont typeface="Arial"/>
              <a:buChar char="●"/>
            </a:pPr>
            <a:r>
              <a:rPr lang="en-US" sz="2160">
                <a:solidFill>
                  <a:srgbClr val="1A3260"/>
                </a:solidFill>
                <a:latin typeface="Arial"/>
                <a:ea typeface="Arial"/>
                <a:cs typeface="Arial"/>
                <a:sym typeface="Arial"/>
              </a:rPr>
              <a:t>Administración del Help Desk.</a:t>
            </a:r>
            <a:endParaRPr sz="1620">
              <a:solidFill>
                <a:srgbClr val="1A3260"/>
              </a:solidFill>
            </a:endParaRPr>
          </a:p>
          <a:p>
            <a:pPr marL="342900" indent="-191768">
              <a:lnSpc>
                <a:spcPct val="120108"/>
              </a:lnSpc>
              <a:buClr>
                <a:srgbClr val="333399"/>
              </a:buClr>
              <a:buSzPts val="2359"/>
              <a:buFont typeface="Arial"/>
              <a:buChar char="●"/>
            </a:pPr>
            <a:r>
              <a:rPr lang="en-US" sz="2160">
                <a:solidFill>
                  <a:srgbClr val="1A3260"/>
                </a:solidFill>
                <a:latin typeface="Arial"/>
                <a:ea typeface="Arial"/>
                <a:cs typeface="Arial"/>
                <a:sym typeface="Arial"/>
              </a:rPr>
              <a:t>Coordinación de los Centros de Ingreso.</a:t>
            </a:r>
            <a:endParaRPr sz="1620">
              <a:solidFill>
                <a:srgbClr val="1A3260"/>
              </a:solidFill>
            </a:endParaRPr>
          </a:p>
          <a:p>
            <a:pPr marL="342900" indent="-191768">
              <a:lnSpc>
                <a:spcPct val="120108"/>
              </a:lnSpc>
              <a:buClr>
                <a:srgbClr val="333399"/>
              </a:buClr>
              <a:buSzPts val="2359"/>
              <a:buFont typeface="Arial"/>
              <a:buChar char="●"/>
            </a:pPr>
            <a:r>
              <a:rPr lang="en-US" sz="2160">
                <a:solidFill>
                  <a:srgbClr val="1A3260"/>
                </a:solidFill>
                <a:latin typeface="Arial"/>
                <a:ea typeface="Arial"/>
                <a:cs typeface="Arial"/>
                <a:sym typeface="Arial"/>
              </a:rPr>
              <a:t>Implementación del Plan de Contingencias.</a:t>
            </a:r>
            <a:endParaRPr sz="1620">
              <a:solidFill>
                <a:srgbClr val="1A3260"/>
              </a:solidFill>
            </a:endParaRPr>
          </a:p>
          <a:p>
            <a:pPr marL="342900" indent="-191768">
              <a:lnSpc>
                <a:spcPct val="120108"/>
              </a:lnSpc>
              <a:buClr>
                <a:srgbClr val="333399"/>
              </a:buClr>
              <a:buSzPts val="2359"/>
              <a:buFont typeface="Arial"/>
              <a:buChar char="●"/>
            </a:pPr>
            <a:r>
              <a:rPr lang="en-US" sz="2160">
                <a:solidFill>
                  <a:srgbClr val="1A3260"/>
                </a:solidFill>
                <a:latin typeface="Arial"/>
                <a:ea typeface="Arial"/>
                <a:cs typeface="Arial"/>
                <a:sym typeface="Arial"/>
              </a:rPr>
              <a:t>Implementación y control de políticas de resguardo y seguridad de acceso a datos y aplicaciones</a:t>
            </a:r>
            <a:endParaRPr sz="2160">
              <a:solidFill>
                <a:srgbClr val="1A3260"/>
              </a:solidFill>
              <a:latin typeface="Arial"/>
              <a:ea typeface="Arial"/>
              <a:cs typeface="Arial"/>
              <a:sym typeface="Arial"/>
            </a:endParaRPr>
          </a:p>
          <a:p>
            <a:pPr marL="342900" indent="-191768">
              <a:lnSpc>
                <a:spcPct val="120108"/>
              </a:lnSpc>
              <a:buClr>
                <a:srgbClr val="333399"/>
              </a:buClr>
              <a:buSzPts val="2359"/>
              <a:buFont typeface="Arial"/>
              <a:buChar char="●"/>
            </a:pPr>
            <a:r>
              <a:rPr lang="en-US" sz="2160">
                <a:solidFill>
                  <a:srgbClr val="1A3260"/>
                </a:solidFill>
                <a:latin typeface="Arial"/>
                <a:ea typeface="Arial"/>
                <a:cs typeface="Arial"/>
                <a:sym typeface="Arial"/>
              </a:rPr>
              <a:t>Instalación de nuevas Tecnologías relativas a Servidores, Redes LAN, S.O. y herramientas de escritorio </a:t>
            </a:r>
            <a:endParaRPr sz="1620">
              <a:solidFill>
                <a:srgbClr val="1A3260"/>
              </a:solidFill>
            </a:endParaRPr>
          </a:p>
        </p:txBody>
      </p:sp>
      <p:sp>
        <p:nvSpPr>
          <p:cNvPr id="170" name="Google Shape;170;g21c129c4305_0_119"/>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1A3260"/>
                </a:solidFill>
                <a:latin typeface="Arial"/>
                <a:ea typeface="Arial"/>
                <a:cs typeface="Arial"/>
                <a:sym typeface="Arial"/>
              </a:rPr>
              <a:t>Funciones y responsabilidades</a:t>
            </a:r>
            <a:endParaRPr sz="1620">
              <a:solidFill>
                <a:srgbClr val="1A3260"/>
              </a:solidFill>
            </a:endParaRPr>
          </a:p>
        </p:txBody>
      </p:sp>
      <p:sp>
        <p:nvSpPr>
          <p:cNvPr id="2" name="Marcador de número de diapositiva 1">
            <a:extLst>
              <a:ext uri="{FF2B5EF4-FFF2-40B4-BE49-F238E27FC236}">
                <a16:creationId xmlns:a16="http://schemas.microsoft.com/office/drawing/2014/main" id="{FCFC00A0-74DC-08B3-74AC-36BFCDF0B9A5}"/>
              </a:ext>
            </a:extLst>
          </p:cNvPr>
          <p:cNvSpPr>
            <a:spLocks noGrp="1"/>
          </p:cNvSpPr>
          <p:nvPr>
            <p:ph type="sldNum" sz="quarter" idx="12"/>
          </p:nvPr>
        </p:nvSpPr>
        <p:spPr/>
        <p:txBody>
          <a:bodyPr/>
          <a:lstStyle/>
          <a:p>
            <a:fld id="{0E40E506-8910-4A1D-9597-9E72BD293B97}" type="slidenum">
              <a:rPr lang="en-US" smtClean="0"/>
              <a:t>43</a:t>
            </a:fld>
            <a:endParaRPr lang="es-E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6" name="Google Shape;176;g21c129c4305_0_125"/>
          <p:cNvPicPr preferRelativeResize="0"/>
          <p:nvPr/>
        </p:nvPicPr>
        <p:blipFill rotWithShape="1">
          <a:blip r:embed="rId3">
            <a:alphaModFix/>
          </a:blip>
          <a:srcRect/>
          <a:stretch/>
        </p:blipFill>
        <p:spPr>
          <a:xfrm>
            <a:off x="2531604" y="2132856"/>
            <a:ext cx="7411903" cy="3771900"/>
          </a:xfrm>
          <a:prstGeom prst="rect">
            <a:avLst/>
          </a:prstGeom>
          <a:noFill/>
          <a:ln>
            <a:noFill/>
          </a:ln>
        </p:spPr>
      </p:pic>
      <p:sp>
        <p:nvSpPr>
          <p:cNvPr id="177" name="Google Shape;177;g21c129c4305_0_125"/>
          <p:cNvSpPr txBox="1"/>
          <p:nvPr/>
        </p:nvSpPr>
        <p:spPr>
          <a:xfrm>
            <a:off x="4879481" y="2398565"/>
            <a:ext cx="1964250" cy="781451"/>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333399"/>
                </a:solidFill>
                <a:latin typeface="Arial"/>
                <a:ea typeface="Arial"/>
                <a:cs typeface="Arial"/>
                <a:sym typeface="Arial"/>
              </a:rPr>
              <a:t>Redes y</a:t>
            </a:r>
            <a:endParaRPr sz="1620"/>
          </a:p>
          <a:p>
            <a:pPr algn="ctr">
              <a:lnSpc>
                <a:spcPct val="120138"/>
              </a:lnSpc>
              <a:buClr>
                <a:srgbClr val="333399"/>
              </a:buClr>
              <a:buSzPts val="2000"/>
            </a:pPr>
            <a:r>
              <a:rPr lang="en-US" b="1">
                <a:solidFill>
                  <a:srgbClr val="333399"/>
                </a:solidFill>
                <a:latin typeface="Arial"/>
                <a:ea typeface="Arial"/>
                <a:cs typeface="Arial"/>
                <a:sym typeface="Arial"/>
              </a:rPr>
              <a:t>Comunicaciones</a:t>
            </a:r>
            <a:endParaRPr b="1">
              <a:solidFill>
                <a:srgbClr val="333399"/>
              </a:solidFill>
              <a:latin typeface="Arial"/>
              <a:ea typeface="Arial"/>
              <a:cs typeface="Arial"/>
              <a:sym typeface="Arial"/>
            </a:endParaRPr>
          </a:p>
        </p:txBody>
      </p:sp>
      <p:sp>
        <p:nvSpPr>
          <p:cNvPr id="178" name="Google Shape;178;g21c129c4305_0_125"/>
          <p:cNvSpPr txBox="1"/>
          <p:nvPr/>
        </p:nvSpPr>
        <p:spPr>
          <a:xfrm>
            <a:off x="3151468" y="5178732"/>
            <a:ext cx="905580" cy="5346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333399"/>
                </a:solidFill>
                <a:latin typeface="Arial"/>
                <a:ea typeface="Arial"/>
                <a:cs typeface="Arial"/>
                <a:sym typeface="Arial"/>
              </a:rPr>
              <a:t>Redes</a:t>
            </a:r>
            <a:endParaRPr sz="1620"/>
          </a:p>
        </p:txBody>
      </p:sp>
      <p:sp>
        <p:nvSpPr>
          <p:cNvPr id="179" name="Google Shape;179;g21c129c4305_0_125"/>
          <p:cNvSpPr txBox="1"/>
          <p:nvPr/>
        </p:nvSpPr>
        <p:spPr>
          <a:xfrm>
            <a:off x="7799331" y="5178794"/>
            <a:ext cx="1940760" cy="469800"/>
          </a:xfrm>
          <a:prstGeom prst="rect">
            <a:avLst/>
          </a:prstGeom>
          <a:noFill/>
          <a:ln>
            <a:noFill/>
          </a:ln>
        </p:spPr>
        <p:txBody>
          <a:bodyPr spcFirstLastPara="1" wrap="square" lIns="34290" tIns="34290" rIns="34290" bIns="34290" anchor="t" anchorCtr="0">
            <a:noAutofit/>
          </a:bodyPr>
          <a:lstStyle/>
          <a:p>
            <a:pPr algn="ctr">
              <a:lnSpc>
                <a:spcPct val="120138"/>
              </a:lnSpc>
              <a:buClr>
                <a:srgbClr val="333399"/>
              </a:buClr>
              <a:buSzPts val="2000"/>
            </a:pPr>
            <a:r>
              <a:rPr lang="en-US" b="1">
                <a:solidFill>
                  <a:srgbClr val="333399"/>
                </a:solidFill>
                <a:latin typeface="Arial"/>
                <a:ea typeface="Arial"/>
                <a:cs typeface="Arial"/>
                <a:sym typeface="Arial"/>
              </a:rPr>
              <a:t>Comunicaciones</a:t>
            </a:r>
            <a:endParaRPr b="1">
              <a:solidFill>
                <a:srgbClr val="333399"/>
              </a:solidFill>
              <a:latin typeface="Arial"/>
              <a:ea typeface="Arial"/>
              <a:cs typeface="Arial"/>
              <a:sym typeface="Arial"/>
            </a:endParaRPr>
          </a:p>
        </p:txBody>
      </p:sp>
      <p:sp>
        <p:nvSpPr>
          <p:cNvPr id="180" name="Google Shape;180;g21c129c4305_0_125"/>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333399"/>
                </a:solidFill>
                <a:latin typeface="Arial"/>
                <a:ea typeface="Arial"/>
                <a:cs typeface="Arial"/>
                <a:sym typeface="Arial"/>
              </a:rPr>
              <a:t>Funciones y responsabilidades</a:t>
            </a:r>
            <a:endParaRPr sz="1620"/>
          </a:p>
        </p:txBody>
      </p:sp>
      <p:sp>
        <p:nvSpPr>
          <p:cNvPr id="2" name="Marcador de número de diapositiva 1">
            <a:extLst>
              <a:ext uri="{FF2B5EF4-FFF2-40B4-BE49-F238E27FC236}">
                <a16:creationId xmlns:a16="http://schemas.microsoft.com/office/drawing/2014/main" id="{162484A1-C56D-8B63-DF0F-5ABD10876644}"/>
              </a:ext>
            </a:extLst>
          </p:cNvPr>
          <p:cNvSpPr>
            <a:spLocks noGrp="1"/>
          </p:cNvSpPr>
          <p:nvPr>
            <p:ph type="sldNum" sz="quarter" idx="12"/>
          </p:nvPr>
        </p:nvSpPr>
        <p:spPr/>
        <p:txBody>
          <a:bodyPr/>
          <a:lstStyle/>
          <a:p>
            <a:fld id="{0E40E506-8910-4A1D-9597-9E72BD293B97}" type="slidenum">
              <a:rPr lang="en-US" smtClean="0"/>
              <a:t>44</a:t>
            </a:fld>
            <a:endParaRPr lang="es-E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6" name="Google Shape;186;g21c129c4305_0_134"/>
          <p:cNvSpPr txBox="1"/>
          <p:nvPr/>
        </p:nvSpPr>
        <p:spPr>
          <a:xfrm>
            <a:off x="2524845" y="2293920"/>
            <a:ext cx="7493580" cy="3851550"/>
          </a:xfrm>
          <a:prstGeom prst="rect">
            <a:avLst/>
          </a:prstGeom>
          <a:noFill/>
          <a:ln>
            <a:noFill/>
          </a:ln>
        </p:spPr>
        <p:txBody>
          <a:bodyPr spcFirstLastPara="1" wrap="square" lIns="34290" tIns="34290" rIns="34290" bIns="34290" anchor="t" anchorCtr="0">
            <a:noAutofit/>
          </a:bodyPr>
          <a:lstStyle/>
          <a:p>
            <a:pPr>
              <a:lnSpc>
                <a:spcPct val="119791"/>
              </a:lnSpc>
              <a:buClr>
                <a:srgbClr val="333399"/>
              </a:buClr>
              <a:buSzPts val="2666"/>
            </a:pPr>
            <a:r>
              <a:rPr lang="en-US" sz="2399" b="1">
                <a:solidFill>
                  <a:srgbClr val="1A3260"/>
                </a:solidFill>
                <a:latin typeface="Arial"/>
                <a:ea typeface="Arial"/>
                <a:cs typeface="Arial"/>
                <a:sym typeface="Arial"/>
              </a:rPr>
              <a:t>Redes y Comunicaciones</a:t>
            </a:r>
            <a:endParaRPr sz="2399" b="1">
              <a:solidFill>
                <a:srgbClr val="1A3260"/>
              </a:solidFill>
              <a:latin typeface="Arial"/>
              <a:ea typeface="Arial"/>
              <a:cs typeface="Arial"/>
              <a:sym typeface="Arial"/>
            </a:endParaRPr>
          </a:p>
          <a:p>
            <a:pPr marL="342900" indent="-198119">
              <a:lnSpc>
                <a:spcPct val="143750"/>
              </a:lnSpc>
              <a:buClr>
                <a:srgbClr val="333399"/>
              </a:buClr>
              <a:buSzPts val="2370"/>
              <a:buFont typeface="Arial"/>
              <a:buChar char="●"/>
            </a:pPr>
            <a:r>
              <a:rPr lang="en-US" sz="2160">
                <a:solidFill>
                  <a:srgbClr val="1A3260"/>
                </a:solidFill>
                <a:latin typeface="Arial"/>
                <a:ea typeface="Arial"/>
                <a:cs typeface="Arial"/>
                <a:sym typeface="Arial"/>
              </a:rPr>
              <a:t>Administración de la Red física y lógica.</a:t>
            </a:r>
            <a:endParaRPr sz="1620">
              <a:solidFill>
                <a:srgbClr val="1A3260"/>
              </a:solidFill>
            </a:endParaRPr>
          </a:p>
          <a:p>
            <a:pPr marL="342900" indent="-198119">
              <a:lnSpc>
                <a:spcPct val="143750"/>
              </a:lnSpc>
              <a:buClr>
                <a:srgbClr val="333399"/>
              </a:buClr>
              <a:buSzPts val="2370"/>
              <a:buFont typeface="Arial"/>
              <a:buChar char="●"/>
            </a:pPr>
            <a:r>
              <a:rPr lang="en-US" sz="2160">
                <a:solidFill>
                  <a:srgbClr val="1A3260"/>
                </a:solidFill>
                <a:latin typeface="Arial"/>
                <a:ea typeface="Arial"/>
                <a:cs typeface="Arial"/>
                <a:sym typeface="Arial"/>
              </a:rPr>
              <a:t>Monitoreo del Sistema Nacional de Comunicaciones.</a:t>
            </a:r>
            <a:endParaRPr sz="1620">
              <a:solidFill>
                <a:srgbClr val="1A3260"/>
              </a:solidFill>
            </a:endParaRPr>
          </a:p>
          <a:p>
            <a:pPr marL="342900" indent="-198119">
              <a:lnSpc>
                <a:spcPct val="143750"/>
              </a:lnSpc>
              <a:buClr>
                <a:srgbClr val="333399"/>
              </a:buClr>
              <a:buSzPts val="2370"/>
              <a:buFont typeface="Arial"/>
              <a:buChar char="●"/>
            </a:pPr>
            <a:r>
              <a:rPr lang="en-US" sz="2160">
                <a:solidFill>
                  <a:srgbClr val="1A3260"/>
                </a:solidFill>
                <a:latin typeface="Arial"/>
                <a:ea typeface="Arial"/>
                <a:cs typeface="Arial"/>
                <a:sym typeface="Arial"/>
              </a:rPr>
              <a:t>Administración de los servicios de Red.</a:t>
            </a:r>
            <a:endParaRPr sz="1620">
              <a:solidFill>
                <a:srgbClr val="1A3260"/>
              </a:solidFill>
            </a:endParaRPr>
          </a:p>
          <a:p>
            <a:pPr marL="342900" indent="-198119">
              <a:lnSpc>
                <a:spcPct val="143750"/>
              </a:lnSpc>
              <a:buClr>
                <a:srgbClr val="333399"/>
              </a:buClr>
              <a:buSzPts val="2370"/>
              <a:buFont typeface="Arial"/>
              <a:buChar char="●"/>
            </a:pPr>
            <a:r>
              <a:rPr lang="en-US" sz="2160">
                <a:solidFill>
                  <a:srgbClr val="1A3260"/>
                </a:solidFill>
                <a:latin typeface="Arial"/>
                <a:ea typeface="Arial"/>
                <a:cs typeface="Arial"/>
                <a:sym typeface="Arial"/>
              </a:rPr>
              <a:t>Administración de los accesos a Internet e Intranet</a:t>
            </a:r>
            <a:endParaRPr sz="1620">
              <a:solidFill>
                <a:srgbClr val="1A3260"/>
              </a:solidFill>
            </a:endParaRPr>
          </a:p>
          <a:p>
            <a:pPr marL="342900" indent="-198119">
              <a:lnSpc>
                <a:spcPct val="143750"/>
              </a:lnSpc>
              <a:buClr>
                <a:srgbClr val="333399"/>
              </a:buClr>
              <a:buSzPts val="2370"/>
              <a:buFont typeface="Arial"/>
              <a:buChar char="●"/>
            </a:pPr>
            <a:r>
              <a:rPr lang="en-US" sz="2160">
                <a:solidFill>
                  <a:srgbClr val="1A3260"/>
                </a:solidFill>
                <a:latin typeface="Arial"/>
                <a:ea typeface="Arial"/>
                <a:cs typeface="Arial"/>
                <a:sym typeface="Arial"/>
              </a:rPr>
              <a:t>Administración de los sistemas de control de acceso a la Red (Firewall - Proxy)</a:t>
            </a:r>
            <a:endParaRPr sz="1620">
              <a:solidFill>
                <a:srgbClr val="1A3260"/>
              </a:solidFill>
            </a:endParaRPr>
          </a:p>
          <a:p>
            <a:pPr marL="685800" lvl="1" indent="-45720">
              <a:lnSpc>
                <a:spcPct val="143750"/>
              </a:lnSpc>
              <a:buClr>
                <a:srgbClr val="333399"/>
              </a:buClr>
              <a:buSzPts val="2666"/>
            </a:pPr>
            <a:endParaRPr sz="2399">
              <a:solidFill>
                <a:srgbClr val="1A3260"/>
              </a:solidFill>
              <a:latin typeface="Arial"/>
              <a:ea typeface="Arial"/>
              <a:cs typeface="Arial"/>
              <a:sym typeface="Arial"/>
            </a:endParaRPr>
          </a:p>
        </p:txBody>
      </p:sp>
      <p:sp>
        <p:nvSpPr>
          <p:cNvPr id="187" name="Google Shape;187;g21c129c4305_0_134"/>
          <p:cNvSpPr txBox="1"/>
          <p:nvPr/>
        </p:nvSpPr>
        <p:spPr>
          <a:xfrm>
            <a:off x="2523383" y="952493"/>
            <a:ext cx="7443900" cy="824310"/>
          </a:xfrm>
          <a:prstGeom prst="rect">
            <a:avLst/>
          </a:prstGeom>
          <a:noFill/>
          <a:ln>
            <a:noFill/>
          </a:ln>
        </p:spPr>
        <p:txBody>
          <a:bodyPr spcFirstLastPara="1" wrap="square" lIns="34290" tIns="34290" rIns="34290" bIns="34290" anchor="ctr" anchorCtr="0">
            <a:noAutofit/>
          </a:bodyPr>
          <a:lstStyle/>
          <a:p>
            <a:pPr>
              <a:lnSpc>
                <a:spcPct val="120138"/>
              </a:lnSpc>
              <a:buClr>
                <a:srgbClr val="333399"/>
              </a:buClr>
              <a:buSzPts val="4000"/>
            </a:pPr>
            <a:r>
              <a:rPr lang="en-US" sz="3600">
                <a:solidFill>
                  <a:srgbClr val="1A3260"/>
                </a:solidFill>
                <a:latin typeface="Arial"/>
                <a:ea typeface="Arial"/>
                <a:cs typeface="Arial"/>
                <a:sym typeface="Arial"/>
              </a:rPr>
              <a:t>Funciones y responsabilidades</a:t>
            </a:r>
            <a:endParaRPr sz="1620">
              <a:solidFill>
                <a:srgbClr val="1A3260"/>
              </a:solidFill>
            </a:endParaRPr>
          </a:p>
        </p:txBody>
      </p:sp>
      <p:sp>
        <p:nvSpPr>
          <p:cNvPr id="2" name="Marcador de número de diapositiva 1">
            <a:extLst>
              <a:ext uri="{FF2B5EF4-FFF2-40B4-BE49-F238E27FC236}">
                <a16:creationId xmlns:a16="http://schemas.microsoft.com/office/drawing/2014/main" id="{87E0B6C5-F6E0-D13B-1606-8AEC58FCFAF7}"/>
              </a:ext>
            </a:extLst>
          </p:cNvPr>
          <p:cNvSpPr>
            <a:spLocks noGrp="1"/>
          </p:cNvSpPr>
          <p:nvPr>
            <p:ph type="sldNum" sz="quarter" idx="12"/>
          </p:nvPr>
        </p:nvSpPr>
        <p:spPr/>
        <p:txBody>
          <a:bodyPr/>
          <a:lstStyle/>
          <a:p>
            <a:fld id="{0E40E506-8910-4A1D-9597-9E72BD293B97}" type="slidenum">
              <a:rPr lang="en-US" smtClean="0"/>
              <a:t>45</a:t>
            </a:fld>
            <a:endParaRPr lang="es-E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
        <p:nvSpPr>
          <p:cNvPr id="4" name="Marcador de número de diapositiva 3">
            <a:extLst>
              <a:ext uri="{FF2B5EF4-FFF2-40B4-BE49-F238E27FC236}">
                <a16:creationId xmlns:a16="http://schemas.microsoft.com/office/drawing/2014/main" id="{01051E15-A11D-1FFE-7332-18C14D819205}"/>
              </a:ext>
            </a:extLst>
          </p:cNvPr>
          <p:cNvSpPr>
            <a:spLocks noGrp="1"/>
          </p:cNvSpPr>
          <p:nvPr>
            <p:ph type="sldNum" sz="quarter" idx="12"/>
          </p:nvPr>
        </p:nvSpPr>
        <p:spPr/>
        <p:txBody>
          <a:bodyPr/>
          <a:lstStyle/>
          <a:p>
            <a:fld id="{0E40E506-8910-4A1D-9597-9E72BD293B97}" type="slidenum">
              <a:rPr lang="en-US" smtClean="0"/>
              <a:t>46</a:t>
            </a:fld>
            <a:endParaRPr lang="es-ES"/>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2204F2-F18D-4FE2-99EF-6A75005A5769}">
  <ds:schemaRefs>
    <ds:schemaRef ds:uri="http://schemas.microsoft.com/sharepoint/v3/contenttype/forms"/>
  </ds:schemaRefs>
</ds:datastoreItem>
</file>

<file path=customXml/itemProps2.xml><?xml version="1.0" encoding="utf-8"?>
<ds:datastoreItem xmlns:ds="http://schemas.openxmlformats.org/officeDocument/2006/customXml" ds:itemID="{083A46B0-2638-414D-BA63-7BD503C1F4D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20FFF00-2CED-4CC6-BE42-CC0327D1E162}">
  <ds:schemaRefs>
    <ds:schemaRef ds:uri="0fd8070d-56ff-4b43-b705-64ae6a3948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TM03457464[[fn=Dividend]]</Template>
  <Application>Microsoft Office PowerPoint</Application>
  <PresentationFormat>Panorámica</PresentationFormat>
  <Slides>46</Slides>
  <Notes>20</Notes>
  <HiddenSlides>0</HiddenSlides>
  <ScaleCrop>false</ScaleCrop>
  <HeadingPairs>
    <vt:vector size="4" baseType="variant">
      <vt:variant>
        <vt:lpstr>Tema</vt:lpstr>
      </vt:variant>
      <vt:variant>
        <vt:i4>1</vt:i4>
      </vt:variant>
      <vt:variant>
        <vt:lpstr>Títulos de diapositiva</vt:lpstr>
      </vt:variant>
      <vt:variant>
        <vt:i4>46</vt:i4>
      </vt:variant>
    </vt:vector>
  </HeadingPairs>
  <TitlesOfParts>
    <vt:vector size="47" baseType="lpstr">
      <vt:lpstr>Dividend</vt:lpstr>
      <vt:lpstr>Presentación de PowerPoint</vt:lpstr>
      <vt:lpstr>Dominios de aplicación del software</vt:lpstr>
      <vt:lpstr>Dominios de aplicación del software</vt:lpstr>
      <vt:lpstr>Dominios de aplicación del software</vt:lpstr>
      <vt:lpstr>Dominios de aplicación del software</vt:lpstr>
      <vt:lpstr>Dominios de aplicación del software</vt:lpstr>
      <vt:lpstr>Dominios de aplicación del software</vt:lpstr>
      <vt:lpstr>Dominios de aplicación del software</vt:lpstr>
      <vt:lpstr>Presentación de PowerPoint</vt:lpstr>
      <vt:lpstr>Dominios de aplicación del software -Visión- </vt:lpstr>
      <vt:lpstr>Empresas</vt:lpstr>
      <vt:lpstr>Dirección de Proyectos</vt:lpstr>
      <vt:lpstr>Necesidades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Funciones y responsabilidades</vt:lpstr>
      <vt:lpstr>Funciones y responsabilidades</vt:lpstr>
      <vt:lpstr>Funciones y responsabilidades</vt:lpstr>
      <vt:lpstr>Funciones y responsabilidades</vt:lpstr>
      <vt:lpstr>Funciones y responsabilidades</vt:lpstr>
      <vt:lpstr>Funciones y responsabilidades</vt:lpstr>
      <vt:lpstr>Funciones y responsabilidades</vt:lpstr>
      <vt:lpstr>Funciones y responsabilidades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FERNANDEZ MARY AUXILIADORA</dc:creator>
  <cp:revision>2</cp:revision>
  <dcterms:created xsi:type="dcterms:W3CDTF">2024-02-12T22:14:11Z</dcterms:created>
  <dcterms:modified xsi:type="dcterms:W3CDTF">2026-07-27T18:40:19Z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