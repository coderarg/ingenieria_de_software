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4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67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8822" y="0"/>
            <a:ext cx="11833177" cy="68567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9856" y="530098"/>
            <a:ext cx="7614284" cy="742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6012" y="1782826"/>
            <a:ext cx="7984490" cy="4124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uatroi.com/la-importancia-de-la-continuidad-de-negocio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everbridge.com/es/blog/todo-plan-de-continuidad-del-negocio-que-se-precie-deberia-incluir-la-recuperacion-ante-desastre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undp.org/sites/g/files/zskgke326/files/migration/do/pnud_do_PCN_FICHA.pdf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252"/>
            <a:ext cx="12192000" cy="6681470"/>
            <a:chOff x="0" y="16252"/>
            <a:chExt cx="12192000" cy="6681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6252"/>
              <a:ext cx="12192000" cy="6681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76203" y="5442203"/>
              <a:ext cx="609600" cy="6095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434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95"/>
              </a:spcBef>
            </a:pPr>
            <a:r>
              <a:rPr dirty="0"/>
              <a:t>Temas</a:t>
            </a:r>
            <a:r>
              <a:rPr spc="-7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desarrollar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42" y="2725292"/>
            <a:ext cx="10521950" cy="3326765"/>
            <a:chOff x="863942" y="2725292"/>
            <a:chExt cx="10521950" cy="3326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942" y="2725292"/>
              <a:ext cx="130632" cy="1305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955" y="3964177"/>
              <a:ext cx="130492" cy="1305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76203" y="5442203"/>
              <a:ext cx="609600" cy="6095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01572" y="2505837"/>
            <a:ext cx="4121150" cy="1699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Continuidad</a:t>
            </a:r>
            <a:r>
              <a:rPr sz="3200" b="1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del </a:t>
            </a: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negocio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Síntesis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2454" y="2854909"/>
            <a:ext cx="847280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/>
              <a:t>Continuidad</a:t>
            </a:r>
            <a:r>
              <a:rPr sz="6600" spc="-35" dirty="0"/>
              <a:t> </a:t>
            </a:r>
            <a:r>
              <a:rPr sz="6600" dirty="0"/>
              <a:t>del</a:t>
            </a:r>
            <a:r>
              <a:rPr sz="6600" spc="-10" dirty="0"/>
              <a:t> negocio</a:t>
            </a:r>
            <a:endParaRPr sz="6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6204" y="5442203"/>
            <a:ext cx="609600" cy="609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822" y="0"/>
            <a:ext cx="11833177" cy="68567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753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Orígenes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54252" y="1731264"/>
            <a:ext cx="10132060" cy="4673600"/>
            <a:chOff x="1254252" y="1731264"/>
            <a:chExt cx="10132060" cy="46736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4252" y="1731264"/>
              <a:ext cx="6909054" cy="46733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76204" y="5442204"/>
              <a:ext cx="609600" cy="6095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822" y="0"/>
            <a:ext cx="11833177" cy="68567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95"/>
              </a:spcBef>
            </a:pPr>
            <a:r>
              <a:rPr dirty="0"/>
              <a:t>PRD</a:t>
            </a:r>
            <a:r>
              <a:rPr spc="-50" dirty="0"/>
              <a:t> </a:t>
            </a:r>
            <a:r>
              <a:rPr dirty="0"/>
              <a:t>vs.</a:t>
            </a:r>
            <a:r>
              <a:rPr spc="-55" dirty="0"/>
              <a:t> </a:t>
            </a:r>
            <a:r>
              <a:rPr spc="-25" dirty="0"/>
              <a:t>PCN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16863" y="2112264"/>
            <a:ext cx="10568940" cy="3939540"/>
            <a:chOff x="816863" y="2112264"/>
            <a:chExt cx="10568940" cy="39395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863" y="2112264"/>
              <a:ext cx="7919466" cy="32910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76204" y="5442204"/>
              <a:ext cx="609600" cy="6095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404865" y="5506618"/>
            <a:ext cx="313626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Fuente</a:t>
            </a:r>
            <a:r>
              <a:rPr sz="800" spc="4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de</a:t>
            </a:r>
            <a:r>
              <a:rPr sz="800" spc="4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imagen:</a:t>
            </a:r>
            <a:r>
              <a:rPr sz="800" spc="4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https://geekflare.com/es/business-continuity-software/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¿Qué</a:t>
            </a:r>
            <a:r>
              <a:rPr spc="-90" dirty="0"/>
              <a:t> </a:t>
            </a:r>
            <a:r>
              <a:rPr dirty="0"/>
              <a:t>es</a:t>
            </a:r>
            <a:r>
              <a:rPr spc="-90" dirty="0"/>
              <a:t> </a:t>
            </a:r>
            <a:r>
              <a:rPr dirty="0"/>
              <a:t>la</a:t>
            </a:r>
            <a:r>
              <a:rPr spc="-80" dirty="0"/>
              <a:t> </a:t>
            </a:r>
            <a:r>
              <a:rPr dirty="0"/>
              <a:t>continuidad</a:t>
            </a:r>
            <a:r>
              <a:rPr spc="-60" dirty="0"/>
              <a:t> </a:t>
            </a:r>
            <a:r>
              <a:rPr dirty="0"/>
              <a:t>del</a:t>
            </a:r>
            <a:r>
              <a:rPr spc="-80" dirty="0"/>
              <a:t> </a:t>
            </a:r>
            <a:r>
              <a:rPr spc="-10" dirty="0"/>
              <a:t>negocio?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6660" y="4724145"/>
            <a:ext cx="832485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La</a:t>
            </a:r>
            <a:r>
              <a:rPr sz="2400" spc="-4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continuidad</a:t>
            </a:r>
            <a:r>
              <a:rPr sz="2400" spc="-4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de</a:t>
            </a:r>
            <a:r>
              <a:rPr sz="2400" spc="-3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negocio</a:t>
            </a:r>
            <a:r>
              <a:rPr sz="2400" spc="-5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es</a:t>
            </a:r>
            <a:r>
              <a:rPr sz="2400" spc="-3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la</a:t>
            </a:r>
            <a:r>
              <a:rPr sz="2400" spc="-3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planificación</a:t>
            </a:r>
            <a:r>
              <a:rPr sz="2400" b="1" spc="-50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y</a:t>
            </a:r>
            <a:r>
              <a:rPr sz="2400" b="1" spc="-35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4A3C9"/>
                </a:solidFill>
                <a:latin typeface="Calibri"/>
                <a:cs typeface="Calibri"/>
              </a:rPr>
              <a:t>preparación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anticipadas</a:t>
            </a:r>
            <a:r>
              <a:rPr sz="2400" b="1" spc="-40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para</a:t>
            </a:r>
            <a:r>
              <a:rPr sz="2400" spc="-5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garantizar</a:t>
            </a:r>
            <a:r>
              <a:rPr sz="2400" spc="-5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que</a:t>
            </a:r>
            <a:r>
              <a:rPr sz="2400" spc="-4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una</a:t>
            </a:r>
            <a:r>
              <a:rPr sz="2400" spc="-5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organización</a:t>
            </a:r>
            <a:r>
              <a:rPr sz="2400" spc="-5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tenga</a:t>
            </a:r>
            <a:r>
              <a:rPr sz="2400" spc="-5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70104"/>
                </a:solidFill>
                <a:latin typeface="Calibri"/>
                <a:cs typeface="Calibri"/>
              </a:rPr>
              <a:t>la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capacidad</a:t>
            </a:r>
            <a:r>
              <a:rPr sz="2400" spc="-7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de</a:t>
            </a:r>
            <a:r>
              <a:rPr sz="2400" spc="-1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seguir</a:t>
            </a:r>
            <a:r>
              <a:rPr sz="2400" b="1" spc="-55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realizando</a:t>
            </a:r>
            <a:r>
              <a:rPr sz="2400" b="1" spc="-55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sus</a:t>
            </a:r>
            <a:r>
              <a:rPr sz="2400" b="1" spc="-35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funciones</a:t>
            </a:r>
            <a:r>
              <a:rPr sz="2400" b="1" spc="-30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y</a:t>
            </a:r>
            <a:r>
              <a:rPr sz="2400" b="1" spc="-50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actividades</a:t>
            </a:r>
            <a:r>
              <a:rPr sz="2400" b="1" spc="-35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4A3C9"/>
                </a:solidFill>
                <a:latin typeface="Calibri"/>
                <a:cs typeface="Calibri"/>
              </a:rPr>
              <a:t>críticas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durante</a:t>
            </a:r>
            <a:r>
              <a:rPr sz="2400" b="1" spc="-55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eventos</a:t>
            </a:r>
            <a:r>
              <a:rPr sz="2400" b="1" spc="-55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de</a:t>
            </a:r>
            <a:r>
              <a:rPr sz="2400" b="1" spc="-60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emergencia</a:t>
            </a:r>
            <a:r>
              <a:rPr sz="2400" b="1" spc="-80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o</a:t>
            </a:r>
            <a:r>
              <a:rPr sz="2400" spc="-7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eventos</a:t>
            </a:r>
            <a:r>
              <a:rPr sz="2400" spc="-6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70104"/>
                </a:solidFill>
                <a:latin typeface="Calibri"/>
                <a:cs typeface="Calibri"/>
              </a:rPr>
              <a:t>disruptivos.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64361" y="1628775"/>
            <a:ext cx="10021570" cy="4423410"/>
            <a:chOff x="1364361" y="1628775"/>
            <a:chExt cx="10021570" cy="44234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4361" y="1628775"/>
              <a:ext cx="7229348" cy="248793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76204" y="5442203"/>
              <a:ext cx="609600" cy="6095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714113" y="4199001"/>
            <a:ext cx="382206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Fuente</a:t>
            </a:r>
            <a:r>
              <a:rPr sz="800" spc="8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de</a:t>
            </a:r>
            <a:r>
              <a:rPr sz="800" spc="8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imagen:</a:t>
            </a:r>
            <a:r>
              <a:rPr sz="800" spc="8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https://</a:t>
            </a:r>
            <a:r>
              <a:rPr sz="800" spc="-10" dirty="0">
                <a:latin typeface="Calibri"/>
                <a:cs typeface="Calibri"/>
                <a:hlinkClick r:id="rId4"/>
              </a:rPr>
              <a:t>www.cuatroi.com/la-importancia-de-la-continuidad-de-negocio/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4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"/>
              </a:spcBef>
            </a:pPr>
            <a:r>
              <a:rPr dirty="0"/>
              <a:t>Plan</a:t>
            </a:r>
            <a:r>
              <a:rPr spc="-85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Continuidad</a:t>
            </a:r>
            <a:r>
              <a:rPr spc="-5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spc="-10" dirty="0"/>
              <a:t>Negocio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0674" y="1761871"/>
            <a:ext cx="873569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Describe</a:t>
            </a:r>
            <a:r>
              <a:rPr sz="2400" spc="-4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cómo</a:t>
            </a:r>
            <a:r>
              <a:rPr sz="2400" b="1" spc="-60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seguirán</a:t>
            </a:r>
            <a:r>
              <a:rPr sz="2400" b="1" spc="-25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funcionando</a:t>
            </a:r>
            <a:r>
              <a:rPr sz="2400" b="1" spc="-25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los</a:t>
            </a:r>
            <a:r>
              <a:rPr sz="2400" spc="-3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procesos</a:t>
            </a:r>
            <a:r>
              <a:rPr sz="2400" spc="-4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70104"/>
                </a:solidFill>
                <a:latin typeface="Calibri"/>
                <a:cs typeface="Calibri"/>
              </a:rPr>
              <a:t>empresariales,</a:t>
            </a:r>
            <a:r>
              <a:rPr sz="2400" spc="-5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70104"/>
                </a:solidFill>
                <a:latin typeface="Calibri"/>
                <a:cs typeface="Calibri"/>
              </a:rPr>
              <a:t>la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infraestructura</a:t>
            </a:r>
            <a:r>
              <a:rPr sz="2400" spc="-4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de</a:t>
            </a:r>
            <a:r>
              <a:rPr sz="2400" spc="-2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las</a:t>
            </a:r>
            <a:r>
              <a:rPr sz="2400" spc="-3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tecnologías</a:t>
            </a:r>
            <a:r>
              <a:rPr sz="2400" spc="-4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de</a:t>
            </a:r>
            <a:r>
              <a:rPr sz="2400" spc="-2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la</a:t>
            </a:r>
            <a:r>
              <a:rPr sz="2400" spc="-3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información,</a:t>
            </a:r>
            <a:r>
              <a:rPr sz="2400" spc="-2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70104"/>
                </a:solidFill>
                <a:latin typeface="Calibri"/>
                <a:cs typeface="Calibri"/>
              </a:rPr>
              <a:t>recursos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humanos,</a:t>
            </a:r>
            <a:r>
              <a:rPr sz="2400" spc="-3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los</a:t>
            </a:r>
            <a:r>
              <a:rPr sz="2400" spc="-3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activos</a:t>
            </a:r>
            <a:r>
              <a:rPr sz="2400" spc="-5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y</a:t>
            </a:r>
            <a:r>
              <a:rPr sz="2400" spc="-2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los</a:t>
            </a:r>
            <a:r>
              <a:rPr sz="2400" spc="-4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socios</a:t>
            </a:r>
            <a:r>
              <a:rPr sz="2400" spc="-4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de</a:t>
            </a:r>
            <a:r>
              <a:rPr sz="2400" spc="-3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negocio</a:t>
            </a:r>
            <a:r>
              <a:rPr sz="2400" spc="-2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durante</a:t>
            </a:r>
            <a:r>
              <a:rPr sz="2400" b="1" spc="-30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una</a:t>
            </a:r>
            <a:r>
              <a:rPr sz="2400" b="1" spc="-30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4A3C9"/>
                </a:solidFill>
                <a:latin typeface="Calibri"/>
                <a:cs typeface="Calibri"/>
              </a:rPr>
              <a:t>interrupción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no</a:t>
            </a:r>
            <a:r>
              <a:rPr sz="2400" b="1" spc="-40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programada</a:t>
            </a:r>
            <a:r>
              <a:rPr sz="2400" b="1" spc="-35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de</a:t>
            </a:r>
            <a:r>
              <a:rPr sz="2400" b="1" spc="-25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un</a:t>
            </a:r>
            <a:r>
              <a:rPr sz="2400" b="1" spc="-30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4A3C9"/>
                </a:solidFill>
                <a:latin typeface="Calibri"/>
                <a:cs typeface="Calibri"/>
              </a:rPr>
              <a:t>servicio</a:t>
            </a:r>
            <a:r>
              <a:rPr sz="2400" dirty="0">
                <a:solidFill>
                  <a:srgbClr val="04A3C9"/>
                </a:solidFill>
                <a:latin typeface="Calibri"/>
                <a:cs typeface="Calibri"/>
              </a:rPr>
              <a:t>,</a:t>
            </a:r>
            <a:r>
              <a:rPr sz="2400" spc="-40" dirty="0">
                <a:solidFill>
                  <a:srgbClr val="04A3C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tanto</a:t>
            </a:r>
            <a:r>
              <a:rPr sz="2400" spc="-4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corto</a:t>
            </a:r>
            <a:r>
              <a:rPr sz="2400" spc="-4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como</a:t>
            </a:r>
            <a:r>
              <a:rPr sz="2400" spc="-4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0104"/>
                </a:solidFill>
                <a:latin typeface="Calibri"/>
                <a:cs typeface="Calibri"/>
              </a:rPr>
              <a:t>largo</a:t>
            </a:r>
            <a:r>
              <a:rPr sz="2400" spc="-40" dirty="0">
                <a:solidFill>
                  <a:srgbClr val="17010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70104"/>
                </a:solidFill>
                <a:latin typeface="Calibri"/>
                <a:cs typeface="Calibri"/>
              </a:rPr>
              <a:t>plazo.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51988" y="3672840"/>
            <a:ext cx="8434070" cy="2790190"/>
            <a:chOff x="2951988" y="3672840"/>
            <a:chExt cx="8434070" cy="27901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1988" y="3672840"/>
              <a:ext cx="4513325" cy="27896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76204" y="5442204"/>
              <a:ext cx="609600" cy="6095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6370" y="6585305"/>
            <a:ext cx="493966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Calibri"/>
                <a:cs typeface="Calibri"/>
              </a:rPr>
              <a:t>Fuente</a:t>
            </a:r>
            <a:r>
              <a:rPr sz="600" spc="210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de</a:t>
            </a:r>
            <a:r>
              <a:rPr sz="600" spc="23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imagen:</a:t>
            </a:r>
            <a:r>
              <a:rPr sz="600" spc="225" dirty="0">
                <a:latin typeface="Calibri"/>
                <a:cs typeface="Calibri"/>
              </a:rPr>
              <a:t> </a:t>
            </a:r>
            <a:r>
              <a:rPr sz="600" spc="-10" dirty="0">
                <a:latin typeface="Calibri"/>
                <a:cs typeface="Calibri"/>
              </a:rPr>
              <a:t>https://</a:t>
            </a:r>
            <a:r>
              <a:rPr sz="600" spc="-10" dirty="0">
                <a:latin typeface="Calibri"/>
                <a:cs typeface="Calibri"/>
                <a:hlinkClick r:id="rId4"/>
              </a:rPr>
              <a:t>www.everbridge.com/es/blog/todo-plan-de-continuidad-del-negocio-que-se-precie-deberia-incluir-la-recuperacion-ante-desastres/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822" y="0"/>
            <a:ext cx="11833177" cy="68567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95"/>
              </a:spcBef>
            </a:pPr>
            <a:r>
              <a:rPr dirty="0"/>
              <a:t>Pasos</a:t>
            </a:r>
            <a:r>
              <a:rPr spc="-70" dirty="0"/>
              <a:t> </a:t>
            </a:r>
            <a:r>
              <a:rPr dirty="0"/>
              <a:t>para</a:t>
            </a:r>
            <a:r>
              <a:rPr spc="-50" dirty="0"/>
              <a:t> </a:t>
            </a:r>
            <a:r>
              <a:rPr dirty="0"/>
              <a:t>su</a:t>
            </a:r>
            <a:r>
              <a:rPr spc="-65" dirty="0"/>
              <a:t> </a:t>
            </a:r>
            <a:r>
              <a:rPr spc="-10" dirty="0"/>
              <a:t>formulación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7111" y="2360041"/>
            <a:ext cx="11228705" cy="3691890"/>
            <a:chOff x="157111" y="2360041"/>
            <a:chExt cx="11228705" cy="369189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111" y="2360041"/>
              <a:ext cx="5155438" cy="3431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8828" y="2436241"/>
              <a:ext cx="4678807" cy="34311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76203" y="5442204"/>
              <a:ext cx="609600" cy="6095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328417" y="6437782"/>
            <a:ext cx="464312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Fuente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de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imagen: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https://</a:t>
            </a:r>
            <a:r>
              <a:rPr sz="800" spc="-10" dirty="0">
                <a:latin typeface="Calibri"/>
                <a:cs typeface="Calibri"/>
                <a:hlinkClick r:id="rId6"/>
              </a:rPr>
              <a:t>www.undp.org/sites/g/files/zskgke326/files/migration/do/pnud_do_PCN_FICHA.pdf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95"/>
              </a:spcBef>
            </a:pPr>
            <a:r>
              <a:rPr dirty="0"/>
              <a:t>Aspectos</a:t>
            </a:r>
            <a:r>
              <a:rPr spc="-145" dirty="0"/>
              <a:t> </a:t>
            </a:r>
            <a:r>
              <a:rPr spc="-10" dirty="0"/>
              <a:t>importantes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2879" y="2895726"/>
            <a:ext cx="2171065" cy="1835785"/>
            <a:chOff x="282879" y="2895726"/>
            <a:chExt cx="2171065" cy="1835785"/>
          </a:xfrm>
        </p:grpSpPr>
        <p:sp>
          <p:nvSpPr>
            <p:cNvPr id="4" name="object 4"/>
            <p:cNvSpPr/>
            <p:nvPr/>
          </p:nvSpPr>
          <p:spPr>
            <a:xfrm>
              <a:off x="295579" y="2908426"/>
              <a:ext cx="2145665" cy="1810385"/>
            </a:xfrm>
            <a:custGeom>
              <a:avLst/>
              <a:gdLst/>
              <a:ahLst/>
              <a:cxnLst/>
              <a:rect l="l" t="t" r="r" b="b"/>
              <a:pathLst>
                <a:path w="2145665" h="1810385">
                  <a:moveTo>
                    <a:pt x="1692986" y="0"/>
                  </a:moveTo>
                  <a:lnTo>
                    <a:pt x="452450" y="0"/>
                  </a:lnTo>
                  <a:lnTo>
                    <a:pt x="0" y="905002"/>
                  </a:lnTo>
                  <a:lnTo>
                    <a:pt x="452450" y="1809877"/>
                  </a:lnTo>
                  <a:lnTo>
                    <a:pt x="1692986" y="1809877"/>
                  </a:lnTo>
                  <a:lnTo>
                    <a:pt x="2145360" y="905002"/>
                  </a:lnTo>
                  <a:lnTo>
                    <a:pt x="1692986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5579" y="2908426"/>
              <a:ext cx="2145665" cy="1810385"/>
            </a:xfrm>
            <a:custGeom>
              <a:avLst/>
              <a:gdLst/>
              <a:ahLst/>
              <a:cxnLst/>
              <a:rect l="l" t="t" r="r" b="b"/>
              <a:pathLst>
                <a:path w="2145665" h="1810385">
                  <a:moveTo>
                    <a:pt x="0" y="905002"/>
                  </a:moveTo>
                  <a:lnTo>
                    <a:pt x="452450" y="0"/>
                  </a:lnTo>
                  <a:lnTo>
                    <a:pt x="1692986" y="0"/>
                  </a:lnTo>
                  <a:lnTo>
                    <a:pt x="2145360" y="905002"/>
                  </a:lnTo>
                  <a:lnTo>
                    <a:pt x="1692986" y="1809877"/>
                  </a:lnTo>
                  <a:lnTo>
                    <a:pt x="452450" y="1809877"/>
                  </a:lnTo>
                  <a:lnTo>
                    <a:pt x="0" y="905002"/>
                  </a:lnTo>
                  <a:close/>
                </a:path>
              </a:pathLst>
            </a:custGeom>
            <a:ln w="25400">
              <a:solidFill>
                <a:srgbClr val="0043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1375" y="3512057"/>
            <a:ext cx="1252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16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Responder rápidamente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04897" y="1592707"/>
            <a:ext cx="2171065" cy="1835785"/>
            <a:chOff x="2604897" y="1592707"/>
            <a:chExt cx="2171065" cy="1835785"/>
          </a:xfrm>
        </p:grpSpPr>
        <p:sp>
          <p:nvSpPr>
            <p:cNvPr id="8" name="object 8"/>
            <p:cNvSpPr/>
            <p:nvPr/>
          </p:nvSpPr>
          <p:spPr>
            <a:xfrm>
              <a:off x="2617597" y="1605407"/>
              <a:ext cx="2145665" cy="1810385"/>
            </a:xfrm>
            <a:custGeom>
              <a:avLst/>
              <a:gdLst/>
              <a:ahLst/>
              <a:cxnLst/>
              <a:rect l="l" t="t" r="r" b="b"/>
              <a:pathLst>
                <a:path w="2145665" h="1810385">
                  <a:moveTo>
                    <a:pt x="1692910" y="0"/>
                  </a:moveTo>
                  <a:lnTo>
                    <a:pt x="452373" y="0"/>
                  </a:lnTo>
                  <a:lnTo>
                    <a:pt x="0" y="905001"/>
                  </a:lnTo>
                  <a:lnTo>
                    <a:pt x="452373" y="1809877"/>
                  </a:lnTo>
                  <a:lnTo>
                    <a:pt x="1692910" y="1809877"/>
                  </a:lnTo>
                  <a:lnTo>
                    <a:pt x="2145411" y="905001"/>
                  </a:lnTo>
                  <a:lnTo>
                    <a:pt x="1692910" y="0"/>
                  </a:lnTo>
                  <a:close/>
                </a:path>
              </a:pathLst>
            </a:custGeom>
            <a:solidFill>
              <a:srgbClr val="9F79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17597" y="1605407"/>
              <a:ext cx="2145665" cy="1810385"/>
            </a:xfrm>
            <a:custGeom>
              <a:avLst/>
              <a:gdLst/>
              <a:ahLst/>
              <a:cxnLst/>
              <a:rect l="l" t="t" r="r" b="b"/>
              <a:pathLst>
                <a:path w="2145665" h="1810385">
                  <a:moveTo>
                    <a:pt x="0" y="905001"/>
                  </a:moveTo>
                  <a:lnTo>
                    <a:pt x="452373" y="0"/>
                  </a:lnTo>
                  <a:lnTo>
                    <a:pt x="1692910" y="0"/>
                  </a:lnTo>
                  <a:lnTo>
                    <a:pt x="2145411" y="905001"/>
                  </a:lnTo>
                  <a:lnTo>
                    <a:pt x="1692910" y="1809877"/>
                  </a:lnTo>
                  <a:lnTo>
                    <a:pt x="452373" y="1809877"/>
                  </a:lnTo>
                  <a:lnTo>
                    <a:pt x="0" y="905001"/>
                  </a:lnTo>
                  <a:close/>
                </a:path>
              </a:pathLst>
            </a:custGeom>
            <a:ln w="25400">
              <a:solidFill>
                <a:srgbClr val="402E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86125" y="2071496"/>
            <a:ext cx="8070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955" algn="just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Ahorrar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dinero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tiempo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83764" y="4334890"/>
            <a:ext cx="2171065" cy="1835785"/>
            <a:chOff x="2683764" y="4334890"/>
            <a:chExt cx="2171065" cy="1835785"/>
          </a:xfrm>
        </p:grpSpPr>
        <p:sp>
          <p:nvSpPr>
            <p:cNvPr id="12" name="object 12"/>
            <p:cNvSpPr/>
            <p:nvPr/>
          </p:nvSpPr>
          <p:spPr>
            <a:xfrm>
              <a:off x="2696464" y="4347590"/>
              <a:ext cx="2145665" cy="1810385"/>
            </a:xfrm>
            <a:custGeom>
              <a:avLst/>
              <a:gdLst/>
              <a:ahLst/>
              <a:cxnLst/>
              <a:rect l="l" t="t" r="r" b="b"/>
              <a:pathLst>
                <a:path w="2145665" h="1810385">
                  <a:moveTo>
                    <a:pt x="1692910" y="0"/>
                  </a:moveTo>
                  <a:lnTo>
                    <a:pt x="452374" y="0"/>
                  </a:lnTo>
                  <a:lnTo>
                    <a:pt x="0" y="905001"/>
                  </a:lnTo>
                  <a:lnTo>
                    <a:pt x="452374" y="1809864"/>
                  </a:lnTo>
                  <a:lnTo>
                    <a:pt x="1692910" y="1809864"/>
                  </a:lnTo>
                  <a:lnTo>
                    <a:pt x="2145411" y="905001"/>
                  </a:lnTo>
                  <a:lnTo>
                    <a:pt x="1692910" y="0"/>
                  </a:lnTo>
                  <a:close/>
                </a:path>
              </a:pathLst>
            </a:custGeom>
            <a:solidFill>
              <a:srgbClr val="99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96464" y="4347590"/>
              <a:ext cx="2145665" cy="1810385"/>
            </a:xfrm>
            <a:custGeom>
              <a:avLst/>
              <a:gdLst/>
              <a:ahLst/>
              <a:cxnLst/>
              <a:rect l="l" t="t" r="r" b="b"/>
              <a:pathLst>
                <a:path w="2145665" h="1810385">
                  <a:moveTo>
                    <a:pt x="0" y="905001"/>
                  </a:moveTo>
                  <a:lnTo>
                    <a:pt x="452374" y="0"/>
                  </a:lnTo>
                  <a:lnTo>
                    <a:pt x="1692910" y="0"/>
                  </a:lnTo>
                  <a:lnTo>
                    <a:pt x="2145411" y="905001"/>
                  </a:lnTo>
                  <a:lnTo>
                    <a:pt x="1692910" y="1809864"/>
                  </a:lnTo>
                  <a:lnTo>
                    <a:pt x="452374" y="1809864"/>
                  </a:lnTo>
                  <a:lnTo>
                    <a:pt x="0" y="905001"/>
                  </a:lnTo>
                  <a:close/>
                </a:path>
              </a:pathLst>
            </a:custGeom>
            <a:ln w="25399">
              <a:solidFill>
                <a:srgbClr val="5403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13886" y="4951221"/>
            <a:ext cx="711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marR="5080" indent="-5334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Mirada crítica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59705" y="2895726"/>
            <a:ext cx="2171065" cy="1835785"/>
            <a:chOff x="4759705" y="2895726"/>
            <a:chExt cx="2171065" cy="1835785"/>
          </a:xfrm>
        </p:grpSpPr>
        <p:sp>
          <p:nvSpPr>
            <p:cNvPr id="16" name="object 16"/>
            <p:cNvSpPr/>
            <p:nvPr/>
          </p:nvSpPr>
          <p:spPr>
            <a:xfrm>
              <a:off x="4772405" y="2908426"/>
              <a:ext cx="2145665" cy="1810385"/>
            </a:xfrm>
            <a:custGeom>
              <a:avLst/>
              <a:gdLst/>
              <a:ahLst/>
              <a:cxnLst/>
              <a:rect l="l" t="t" r="r" b="b"/>
              <a:pathLst>
                <a:path w="2145665" h="1810385">
                  <a:moveTo>
                    <a:pt x="1692910" y="0"/>
                  </a:moveTo>
                  <a:lnTo>
                    <a:pt x="452501" y="0"/>
                  </a:lnTo>
                  <a:lnTo>
                    <a:pt x="0" y="905002"/>
                  </a:lnTo>
                  <a:lnTo>
                    <a:pt x="452501" y="1809877"/>
                  </a:lnTo>
                  <a:lnTo>
                    <a:pt x="1692910" y="1809877"/>
                  </a:lnTo>
                  <a:lnTo>
                    <a:pt x="2145411" y="905002"/>
                  </a:lnTo>
                  <a:lnTo>
                    <a:pt x="1692910" y="0"/>
                  </a:lnTo>
                  <a:close/>
                </a:path>
              </a:pathLst>
            </a:custGeom>
            <a:solidFill>
              <a:srgbClr val="E969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72405" y="2908426"/>
              <a:ext cx="2145665" cy="1810385"/>
            </a:xfrm>
            <a:custGeom>
              <a:avLst/>
              <a:gdLst/>
              <a:ahLst/>
              <a:cxnLst/>
              <a:rect l="l" t="t" r="r" b="b"/>
              <a:pathLst>
                <a:path w="2145665" h="1810385">
                  <a:moveTo>
                    <a:pt x="0" y="905002"/>
                  </a:moveTo>
                  <a:lnTo>
                    <a:pt x="452501" y="0"/>
                  </a:lnTo>
                  <a:lnTo>
                    <a:pt x="1692910" y="0"/>
                  </a:lnTo>
                  <a:lnTo>
                    <a:pt x="2145411" y="905002"/>
                  </a:lnTo>
                  <a:lnTo>
                    <a:pt x="1692910" y="1809877"/>
                  </a:lnTo>
                  <a:lnTo>
                    <a:pt x="452501" y="1809877"/>
                  </a:lnTo>
                  <a:lnTo>
                    <a:pt x="0" y="905002"/>
                  </a:lnTo>
                  <a:close/>
                </a:path>
              </a:pathLst>
            </a:custGeom>
            <a:ln w="25400">
              <a:solidFill>
                <a:srgbClr val="61280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211317" y="3649217"/>
            <a:ext cx="1267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Pautas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claras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160514" y="2022601"/>
            <a:ext cx="2171065" cy="1835785"/>
            <a:chOff x="7160514" y="2022601"/>
            <a:chExt cx="2171065" cy="1835785"/>
          </a:xfrm>
        </p:grpSpPr>
        <p:sp>
          <p:nvSpPr>
            <p:cNvPr id="20" name="object 20"/>
            <p:cNvSpPr/>
            <p:nvPr/>
          </p:nvSpPr>
          <p:spPr>
            <a:xfrm>
              <a:off x="7173214" y="2035301"/>
              <a:ext cx="2145665" cy="1810385"/>
            </a:xfrm>
            <a:custGeom>
              <a:avLst/>
              <a:gdLst/>
              <a:ahLst/>
              <a:cxnLst/>
              <a:rect l="l" t="t" r="r" b="b"/>
              <a:pathLst>
                <a:path w="2145665" h="1810385">
                  <a:moveTo>
                    <a:pt x="1693036" y="0"/>
                  </a:moveTo>
                  <a:lnTo>
                    <a:pt x="452500" y="0"/>
                  </a:lnTo>
                  <a:lnTo>
                    <a:pt x="0" y="905001"/>
                  </a:lnTo>
                  <a:lnTo>
                    <a:pt x="452500" y="1809877"/>
                  </a:lnTo>
                  <a:lnTo>
                    <a:pt x="1693036" y="1809877"/>
                  </a:lnTo>
                  <a:lnTo>
                    <a:pt x="2145410" y="905001"/>
                  </a:lnTo>
                  <a:lnTo>
                    <a:pt x="1693036" y="0"/>
                  </a:lnTo>
                  <a:close/>
                </a:path>
              </a:pathLst>
            </a:custGeom>
            <a:solidFill>
              <a:srgbClr val="F0A1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73214" y="2035301"/>
              <a:ext cx="2145665" cy="1810385"/>
            </a:xfrm>
            <a:custGeom>
              <a:avLst/>
              <a:gdLst/>
              <a:ahLst/>
              <a:cxnLst/>
              <a:rect l="l" t="t" r="r" b="b"/>
              <a:pathLst>
                <a:path w="2145665" h="1810385">
                  <a:moveTo>
                    <a:pt x="0" y="905001"/>
                  </a:moveTo>
                  <a:lnTo>
                    <a:pt x="452500" y="0"/>
                  </a:lnTo>
                  <a:lnTo>
                    <a:pt x="1693036" y="0"/>
                  </a:lnTo>
                  <a:lnTo>
                    <a:pt x="2145410" y="905001"/>
                  </a:lnTo>
                  <a:lnTo>
                    <a:pt x="1693036" y="1809877"/>
                  </a:lnTo>
                  <a:lnTo>
                    <a:pt x="452500" y="1809877"/>
                  </a:lnTo>
                  <a:lnTo>
                    <a:pt x="0" y="905001"/>
                  </a:lnTo>
                  <a:close/>
                </a:path>
              </a:pathLst>
            </a:custGeom>
            <a:ln w="25399">
              <a:solidFill>
                <a:srgbClr val="6642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647558" y="2638120"/>
            <a:ext cx="119697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Clasificación</a:t>
            </a:r>
            <a:endParaRPr sz="1800">
              <a:latin typeface="Calibri"/>
              <a:cs typeface="Calibri"/>
            </a:endParaRPr>
          </a:p>
          <a:p>
            <a:pPr marL="12065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activos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160514" y="4283328"/>
            <a:ext cx="2171065" cy="1835785"/>
            <a:chOff x="7160514" y="4283328"/>
            <a:chExt cx="2171065" cy="1835785"/>
          </a:xfrm>
        </p:grpSpPr>
        <p:sp>
          <p:nvSpPr>
            <p:cNvPr id="24" name="object 24"/>
            <p:cNvSpPr/>
            <p:nvPr/>
          </p:nvSpPr>
          <p:spPr>
            <a:xfrm>
              <a:off x="7173214" y="4296028"/>
              <a:ext cx="2145665" cy="1810385"/>
            </a:xfrm>
            <a:custGeom>
              <a:avLst/>
              <a:gdLst/>
              <a:ahLst/>
              <a:cxnLst/>
              <a:rect l="l" t="t" r="r" b="b"/>
              <a:pathLst>
                <a:path w="2145665" h="1810385">
                  <a:moveTo>
                    <a:pt x="1693036" y="0"/>
                  </a:moveTo>
                  <a:lnTo>
                    <a:pt x="452500" y="0"/>
                  </a:lnTo>
                  <a:lnTo>
                    <a:pt x="0" y="904875"/>
                  </a:lnTo>
                  <a:lnTo>
                    <a:pt x="452500" y="1809800"/>
                  </a:lnTo>
                  <a:lnTo>
                    <a:pt x="1693036" y="1809800"/>
                  </a:lnTo>
                  <a:lnTo>
                    <a:pt x="2145410" y="904875"/>
                  </a:lnTo>
                  <a:lnTo>
                    <a:pt x="1693036" y="0"/>
                  </a:lnTo>
                  <a:close/>
                </a:path>
              </a:pathLst>
            </a:custGeom>
            <a:solidFill>
              <a:srgbClr val="4847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73214" y="4296028"/>
              <a:ext cx="2145665" cy="1810385"/>
            </a:xfrm>
            <a:custGeom>
              <a:avLst/>
              <a:gdLst/>
              <a:ahLst/>
              <a:cxnLst/>
              <a:rect l="l" t="t" r="r" b="b"/>
              <a:pathLst>
                <a:path w="2145665" h="1810385">
                  <a:moveTo>
                    <a:pt x="0" y="904875"/>
                  </a:moveTo>
                  <a:lnTo>
                    <a:pt x="452500" y="0"/>
                  </a:lnTo>
                  <a:lnTo>
                    <a:pt x="1693036" y="0"/>
                  </a:lnTo>
                  <a:lnTo>
                    <a:pt x="2145410" y="904875"/>
                  </a:lnTo>
                  <a:lnTo>
                    <a:pt x="1693036" y="1809800"/>
                  </a:lnTo>
                  <a:lnTo>
                    <a:pt x="452500" y="1809800"/>
                  </a:lnTo>
                  <a:lnTo>
                    <a:pt x="0" y="904875"/>
                  </a:lnTo>
                  <a:close/>
                </a:path>
              </a:pathLst>
            </a:custGeom>
            <a:ln w="25400">
              <a:solidFill>
                <a:srgbClr val="1818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665466" y="4899786"/>
            <a:ext cx="1162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00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Ventaja competitiva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6204" y="5442203"/>
            <a:ext cx="609600" cy="6095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3770" y="2855467"/>
            <a:ext cx="26650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Síntesis</a:t>
            </a:r>
            <a:endParaRPr sz="6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6204" y="5442203"/>
            <a:ext cx="609600" cy="6095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87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Síntesis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25730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Podemos</a:t>
            </a:r>
            <a:r>
              <a:rPr spc="30" dirty="0"/>
              <a:t> </a:t>
            </a:r>
            <a:r>
              <a:rPr dirty="0"/>
              <a:t>definir</a:t>
            </a:r>
            <a:r>
              <a:rPr spc="3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la</a:t>
            </a:r>
            <a:r>
              <a:rPr spc="25" dirty="0"/>
              <a:t> </a:t>
            </a:r>
            <a:r>
              <a:rPr dirty="0"/>
              <a:t>continuidad</a:t>
            </a:r>
            <a:r>
              <a:rPr spc="20" dirty="0"/>
              <a:t> </a:t>
            </a:r>
            <a:r>
              <a:rPr dirty="0"/>
              <a:t>del</a:t>
            </a:r>
            <a:r>
              <a:rPr spc="20" dirty="0"/>
              <a:t> </a:t>
            </a:r>
            <a:r>
              <a:rPr dirty="0"/>
              <a:t>negocio</a:t>
            </a:r>
            <a:r>
              <a:rPr spc="20" dirty="0"/>
              <a:t> </a:t>
            </a:r>
            <a:r>
              <a:rPr dirty="0"/>
              <a:t>como</a:t>
            </a:r>
            <a:r>
              <a:rPr spc="40" dirty="0"/>
              <a:t> </a:t>
            </a:r>
            <a:r>
              <a:rPr dirty="0"/>
              <a:t>la</a:t>
            </a:r>
            <a:r>
              <a:rPr spc="15" dirty="0"/>
              <a:t> </a:t>
            </a:r>
            <a:r>
              <a:rPr dirty="0"/>
              <a:t>capacidad</a:t>
            </a:r>
            <a:r>
              <a:rPr spc="20" dirty="0"/>
              <a:t> </a:t>
            </a:r>
            <a:r>
              <a:rPr dirty="0"/>
              <a:t>o</a:t>
            </a:r>
            <a:r>
              <a:rPr spc="30" dirty="0"/>
              <a:t> </a:t>
            </a:r>
            <a:r>
              <a:rPr dirty="0"/>
              <a:t>el</a:t>
            </a:r>
            <a:r>
              <a:rPr spc="5" dirty="0"/>
              <a:t> </a:t>
            </a:r>
            <a:r>
              <a:rPr spc="-10" dirty="0"/>
              <a:t>nivel </a:t>
            </a:r>
            <a:r>
              <a:rPr dirty="0"/>
              <a:t>de</a:t>
            </a:r>
            <a:r>
              <a:rPr spc="170" dirty="0"/>
              <a:t> </a:t>
            </a:r>
            <a:r>
              <a:rPr dirty="0"/>
              <a:t>preparación</a:t>
            </a:r>
            <a:r>
              <a:rPr spc="160" dirty="0"/>
              <a:t> </a:t>
            </a:r>
            <a:r>
              <a:rPr dirty="0"/>
              <a:t>que</a:t>
            </a:r>
            <a:r>
              <a:rPr spc="160" dirty="0"/>
              <a:t> </a:t>
            </a:r>
            <a:r>
              <a:rPr dirty="0"/>
              <a:t>tiene</a:t>
            </a:r>
            <a:r>
              <a:rPr spc="175" dirty="0"/>
              <a:t> </a:t>
            </a:r>
            <a:r>
              <a:rPr dirty="0"/>
              <a:t>una</a:t>
            </a:r>
            <a:r>
              <a:rPr spc="170" dirty="0"/>
              <a:t> </a:t>
            </a:r>
            <a:r>
              <a:rPr dirty="0"/>
              <a:t>organización</a:t>
            </a:r>
            <a:r>
              <a:rPr spc="155" dirty="0"/>
              <a:t> </a:t>
            </a:r>
            <a:r>
              <a:rPr dirty="0"/>
              <a:t>para</a:t>
            </a:r>
            <a:r>
              <a:rPr spc="155" dirty="0"/>
              <a:t> </a:t>
            </a:r>
            <a:r>
              <a:rPr dirty="0"/>
              <a:t>mantener</a:t>
            </a:r>
            <a:r>
              <a:rPr spc="150" dirty="0"/>
              <a:t> </a:t>
            </a:r>
            <a:r>
              <a:rPr dirty="0"/>
              <a:t>sus</a:t>
            </a:r>
            <a:r>
              <a:rPr spc="170" dirty="0"/>
              <a:t> </a:t>
            </a:r>
            <a:r>
              <a:rPr spc="-10" dirty="0"/>
              <a:t>funciones </a:t>
            </a:r>
            <a:r>
              <a:rPr dirty="0"/>
              <a:t>esenciales</a:t>
            </a:r>
            <a:r>
              <a:rPr spc="60" dirty="0"/>
              <a:t> </a:t>
            </a:r>
            <a:r>
              <a:rPr dirty="0"/>
              <a:t>tras</a:t>
            </a:r>
            <a:r>
              <a:rPr spc="55" dirty="0"/>
              <a:t> </a:t>
            </a:r>
            <a:r>
              <a:rPr dirty="0"/>
              <a:t>producirse</a:t>
            </a:r>
            <a:r>
              <a:rPr spc="65" dirty="0"/>
              <a:t> </a:t>
            </a:r>
            <a:r>
              <a:rPr dirty="0"/>
              <a:t>un</a:t>
            </a:r>
            <a:r>
              <a:rPr spc="60" dirty="0"/>
              <a:t> </a:t>
            </a:r>
            <a:r>
              <a:rPr dirty="0"/>
              <a:t>evento</a:t>
            </a:r>
            <a:r>
              <a:rPr spc="65" dirty="0"/>
              <a:t> </a:t>
            </a:r>
            <a:r>
              <a:rPr dirty="0"/>
              <a:t>que</a:t>
            </a:r>
            <a:r>
              <a:rPr spc="65" dirty="0"/>
              <a:t> </a:t>
            </a:r>
            <a:r>
              <a:rPr dirty="0"/>
              <a:t>interrumpe</a:t>
            </a:r>
            <a:r>
              <a:rPr spc="80" dirty="0"/>
              <a:t> </a:t>
            </a:r>
            <a:r>
              <a:rPr dirty="0"/>
              <a:t>de</a:t>
            </a:r>
            <a:r>
              <a:rPr spc="50" dirty="0"/>
              <a:t> </a:t>
            </a:r>
            <a:r>
              <a:rPr dirty="0"/>
              <a:t>manera</a:t>
            </a:r>
            <a:r>
              <a:rPr spc="55" dirty="0"/>
              <a:t> </a:t>
            </a:r>
            <a:r>
              <a:rPr dirty="0"/>
              <a:t>parcial</a:t>
            </a:r>
            <a:r>
              <a:rPr spc="55" dirty="0"/>
              <a:t> </a:t>
            </a:r>
            <a:r>
              <a:rPr spc="-50" dirty="0"/>
              <a:t>o </a:t>
            </a:r>
            <a:r>
              <a:rPr dirty="0"/>
              <a:t>total</a:t>
            </a:r>
            <a:r>
              <a:rPr spc="-35" dirty="0"/>
              <a:t> </a:t>
            </a:r>
            <a:r>
              <a:rPr dirty="0"/>
              <a:t>su</a:t>
            </a:r>
            <a:r>
              <a:rPr spc="-15" dirty="0"/>
              <a:t> </a:t>
            </a:r>
            <a:r>
              <a:rPr spc="-10" dirty="0"/>
              <a:t>actividad.</a:t>
            </a:r>
          </a:p>
          <a:p>
            <a:pPr marL="12700" marR="123825" algn="just">
              <a:lnSpc>
                <a:spcPct val="100000"/>
              </a:lnSpc>
              <a:spcBef>
                <a:spcPts val="1720"/>
              </a:spcBef>
            </a:pPr>
            <a:r>
              <a:rPr dirty="0"/>
              <a:t>Un</a:t>
            </a:r>
            <a:r>
              <a:rPr spc="-15" dirty="0"/>
              <a:t> </a:t>
            </a:r>
            <a:r>
              <a:rPr dirty="0"/>
              <a:t>Plan</a:t>
            </a:r>
            <a:r>
              <a:rPr spc="-10" dirty="0"/>
              <a:t> </a:t>
            </a:r>
            <a:r>
              <a:rPr dirty="0"/>
              <a:t>para</a:t>
            </a:r>
            <a:r>
              <a:rPr spc="-25" dirty="0"/>
              <a:t> </a:t>
            </a:r>
            <a:r>
              <a:rPr dirty="0"/>
              <a:t>la</a:t>
            </a:r>
            <a:r>
              <a:rPr spc="-10" dirty="0"/>
              <a:t> </a:t>
            </a:r>
            <a:r>
              <a:rPr dirty="0"/>
              <a:t>Continuidad</a:t>
            </a:r>
            <a:r>
              <a:rPr spc="-30" dirty="0"/>
              <a:t> </a:t>
            </a:r>
            <a:r>
              <a:rPr dirty="0"/>
              <a:t>del</a:t>
            </a:r>
            <a:r>
              <a:rPr spc="-10" dirty="0"/>
              <a:t> </a:t>
            </a:r>
            <a:r>
              <a:rPr dirty="0"/>
              <a:t>Negocio</a:t>
            </a:r>
            <a:r>
              <a:rPr spc="-20" dirty="0"/>
              <a:t> </a:t>
            </a:r>
            <a:r>
              <a:rPr dirty="0"/>
              <a:t>(PCN)</a:t>
            </a:r>
            <a:r>
              <a:rPr spc="-10" dirty="0"/>
              <a:t> </a:t>
            </a:r>
            <a:r>
              <a:rPr dirty="0"/>
              <a:t>describe el</a:t>
            </a:r>
            <a:r>
              <a:rPr spc="-5" dirty="0"/>
              <a:t> </a:t>
            </a:r>
            <a:r>
              <a:rPr spc="-10" dirty="0"/>
              <a:t>funcionamiento </a:t>
            </a:r>
            <a:r>
              <a:rPr dirty="0"/>
              <a:t>de</a:t>
            </a:r>
            <a:r>
              <a:rPr spc="120" dirty="0"/>
              <a:t>  </a:t>
            </a:r>
            <a:r>
              <a:rPr dirty="0"/>
              <a:t>una</a:t>
            </a:r>
            <a:r>
              <a:rPr spc="125" dirty="0"/>
              <a:t>  </a:t>
            </a:r>
            <a:r>
              <a:rPr dirty="0"/>
              <a:t>organización</a:t>
            </a:r>
            <a:r>
              <a:rPr spc="120" dirty="0"/>
              <a:t>  </a:t>
            </a:r>
            <a:r>
              <a:rPr dirty="0"/>
              <a:t>ante</a:t>
            </a:r>
            <a:r>
              <a:rPr spc="125" dirty="0"/>
              <a:t>  </a:t>
            </a:r>
            <a:r>
              <a:rPr dirty="0"/>
              <a:t>cualquier</a:t>
            </a:r>
            <a:r>
              <a:rPr spc="120" dirty="0"/>
              <a:t>  </a:t>
            </a:r>
            <a:r>
              <a:rPr dirty="0"/>
              <a:t>circunstancia</a:t>
            </a:r>
            <a:r>
              <a:rPr spc="120" dirty="0"/>
              <a:t>  </a:t>
            </a:r>
            <a:r>
              <a:rPr dirty="0"/>
              <a:t>que</a:t>
            </a:r>
            <a:r>
              <a:rPr spc="120" dirty="0"/>
              <a:t>  </a:t>
            </a:r>
            <a:r>
              <a:rPr dirty="0"/>
              <a:t>interrumpa</a:t>
            </a:r>
            <a:r>
              <a:rPr spc="120" dirty="0"/>
              <a:t>  </a:t>
            </a:r>
            <a:r>
              <a:rPr spc="-25" dirty="0"/>
              <a:t>la </a:t>
            </a:r>
            <a:r>
              <a:rPr dirty="0"/>
              <a:t>actividad</a:t>
            </a:r>
            <a:r>
              <a:rPr spc="30" dirty="0"/>
              <a:t> </a:t>
            </a:r>
            <a:r>
              <a:rPr dirty="0"/>
              <a:t>del</a:t>
            </a:r>
            <a:r>
              <a:rPr spc="30" dirty="0"/>
              <a:t> </a:t>
            </a:r>
            <a:r>
              <a:rPr dirty="0"/>
              <a:t>negocio.</a:t>
            </a:r>
            <a:r>
              <a:rPr spc="30" dirty="0"/>
              <a:t> </a:t>
            </a:r>
            <a:r>
              <a:rPr dirty="0"/>
              <a:t>La</a:t>
            </a:r>
            <a:r>
              <a:rPr spc="20" dirty="0"/>
              <a:t> </a:t>
            </a:r>
            <a:r>
              <a:rPr dirty="0"/>
              <a:t>principal</a:t>
            </a:r>
            <a:r>
              <a:rPr spc="25" dirty="0"/>
              <a:t> </a:t>
            </a:r>
            <a:r>
              <a:rPr dirty="0"/>
              <a:t>diferencia</a:t>
            </a:r>
            <a:r>
              <a:rPr spc="30" dirty="0"/>
              <a:t> </a:t>
            </a:r>
            <a:r>
              <a:rPr dirty="0"/>
              <a:t>con</a:t>
            </a:r>
            <a:r>
              <a:rPr spc="30" dirty="0"/>
              <a:t> </a:t>
            </a:r>
            <a:r>
              <a:rPr dirty="0"/>
              <a:t>un</a:t>
            </a:r>
            <a:r>
              <a:rPr spc="35" dirty="0"/>
              <a:t> </a:t>
            </a:r>
            <a:r>
              <a:rPr dirty="0"/>
              <a:t>Plan</a:t>
            </a:r>
            <a:r>
              <a:rPr spc="15" dirty="0"/>
              <a:t> </a:t>
            </a:r>
            <a:r>
              <a:rPr dirty="0"/>
              <a:t>de</a:t>
            </a:r>
            <a:r>
              <a:rPr spc="40" dirty="0"/>
              <a:t> </a:t>
            </a:r>
            <a:r>
              <a:rPr spc="-10" dirty="0"/>
              <a:t>Recuperación </a:t>
            </a:r>
            <a:r>
              <a:rPr dirty="0"/>
              <a:t>de</a:t>
            </a:r>
            <a:r>
              <a:rPr spc="75" dirty="0"/>
              <a:t>  </a:t>
            </a:r>
            <a:r>
              <a:rPr dirty="0"/>
              <a:t>Desastres</a:t>
            </a:r>
            <a:r>
              <a:rPr spc="75" dirty="0"/>
              <a:t>  </a:t>
            </a:r>
            <a:r>
              <a:rPr dirty="0"/>
              <a:t>(PRD)</a:t>
            </a:r>
            <a:r>
              <a:rPr spc="70" dirty="0"/>
              <a:t>  </a:t>
            </a:r>
            <a:r>
              <a:rPr dirty="0"/>
              <a:t>es</a:t>
            </a:r>
            <a:r>
              <a:rPr spc="75" dirty="0"/>
              <a:t>  </a:t>
            </a:r>
            <a:r>
              <a:rPr dirty="0"/>
              <a:t>que</a:t>
            </a:r>
            <a:r>
              <a:rPr spc="75" dirty="0"/>
              <a:t>  </a:t>
            </a:r>
            <a:r>
              <a:rPr dirty="0"/>
              <a:t>este</a:t>
            </a:r>
            <a:r>
              <a:rPr spc="75" dirty="0"/>
              <a:t>  </a:t>
            </a:r>
            <a:r>
              <a:rPr dirty="0"/>
              <a:t>último,</a:t>
            </a:r>
            <a:r>
              <a:rPr spc="75" dirty="0"/>
              <a:t>  </a:t>
            </a:r>
            <a:r>
              <a:rPr dirty="0"/>
              <a:t>se</a:t>
            </a:r>
            <a:r>
              <a:rPr spc="75" dirty="0"/>
              <a:t>  </a:t>
            </a:r>
            <a:r>
              <a:rPr dirty="0"/>
              <a:t>centra</a:t>
            </a:r>
            <a:r>
              <a:rPr spc="80" dirty="0"/>
              <a:t>  </a:t>
            </a:r>
            <a:r>
              <a:rPr dirty="0"/>
              <a:t>únicamente</a:t>
            </a:r>
            <a:r>
              <a:rPr spc="70" dirty="0"/>
              <a:t>  </a:t>
            </a:r>
            <a:r>
              <a:rPr dirty="0"/>
              <a:t>en</a:t>
            </a:r>
            <a:r>
              <a:rPr spc="75" dirty="0"/>
              <a:t>  </a:t>
            </a:r>
            <a:r>
              <a:rPr spc="-25" dirty="0"/>
              <a:t>la </a:t>
            </a:r>
            <a:r>
              <a:rPr dirty="0"/>
              <a:t>recuperación</a:t>
            </a:r>
            <a:r>
              <a:rPr spc="-3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las</a:t>
            </a:r>
            <a:r>
              <a:rPr spc="-20" dirty="0"/>
              <a:t> </a:t>
            </a:r>
            <a:r>
              <a:rPr dirty="0"/>
              <a:t>tecnologías</a:t>
            </a:r>
            <a:r>
              <a:rPr spc="-40" dirty="0"/>
              <a:t> </a:t>
            </a:r>
            <a:r>
              <a:rPr dirty="0"/>
              <a:t>y</a:t>
            </a:r>
            <a:r>
              <a:rPr spc="-10" dirty="0"/>
              <a:t> </a:t>
            </a:r>
            <a:r>
              <a:rPr dirty="0"/>
              <a:t>sistemas</a:t>
            </a:r>
            <a:r>
              <a:rPr spc="-3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información.</a:t>
            </a:r>
          </a:p>
          <a:p>
            <a:pPr marL="12700" marR="5080" algn="just">
              <a:lnSpc>
                <a:spcPct val="100000"/>
              </a:lnSpc>
              <a:spcBef>
                <a:spcPts val="1739"/>
              </a:spcBef>
            </a:pPr>
            <a:r>
              <a:rPr dirty="0"/>
              <a:t>La</a:t>
            </a:r>
            <a:r>
              <a:rPr spc="165" dirty="0"/>
              <a:t> </a:t>
            </a:r>
            <a:r>
              <a:rPr dirty="0"/>
              <a:t>lógica</a:t>
            </a:r>
            <a:r>
              <a:rPr spc="175" dirty="0"/>
              <a:t> </a:t>
            </a:r>
            <a:r>
              <a:rPr dirty="0"/>
              <a:t>del</a:t>
            </a:r>
            <a:r>
              <a:rPr spc="170" dirty="0"/>
              <a:t> </a:t>
            </a:r>
            <a:r>
              <a:rPr dirty="0"/>
              <a:t>Plan</a:t>
            </a:r>
            <a:r>
              <a:rPr spc="175" dirty="0"/>
              <a:t> </a:t>
            </a:r>
            <a:r>
              <a:rPr dirty="0"/>
              <a:t>de</a:t>
            </a:r>
            <a:r>
              <a:rPr spc="185" dirty="0"/>
              <a:t> </a:t>
            </a:r>
            <a:r>
              <a:rPr dirty="0"/>
              <a:t>Continuidad</a:t>
            </a:r>
            <a:r>
              <a:rPr spc="175" dirty="0"/>
              <a:t> </a:t>
            </a:r>
            <a:r>
              <a:rPr dirty="0"/>
              <a:t>de</a:t>
            </a:r>
            <a:r>
              <a:rPr spc="175" dirty="0"/>
              <a:t> </a:t>
            </a:r>
            <a:r>
              <a:rPr dirty="0"/>
              <a:t>Negocio</a:t>
            </a:r>
            <a:r>
              <a:rPr spc="160" dirty="0"/>
              <a:t> </a:t>
            </a:r>
            <a:r>
              <a:rPr dirty="0"/>
              <a:t>tiene</a:t>
            </a:r>
            <a:r>
              <a:rPr spc="180" dirty="0"/>
              <a:t> </a:t>
            </a:r>
            <a:r>
              <a:rPr dirty="0"/>
              <a:t>cuatro</a:t>
            </a:r>
            <a:r>
              <a:rPr spc="180" dirty="0"/>
              <a:t> </a:t>
            </a:r>
            <a:r>
              <a:rPr dirty="0"/>
              <a:t>grandes</a:t>
            </a:r>
            <a:r>
              <a:rPr spc="185" dirty="0"/>
              <a:t> </a:t>
            </a:r>
            <a:r>
              <a:rPr spc="-10" dirty="0"/>
              <a:t>pasos. </a:t>
            </a:r>
            <a:r>
              <a:rPr dirty="0"/>
              <a:t>La</a:t>
            </a:r>
            <a:r>
              <a:rPr spc="380" dirty="0"/>
              <a:t>  </a:t>
            </a:r>
            <a:r>
              <a:rPr dirty="0"/>
              <a:t>organización</a:t>
            </a:r>
            <a:r>
              <a:rPr spc="380" dirty="0"/>
              <a:t>  </a:t>
            </a:r>
            <a:r>
              <a:rPr dirty="0"/>
              <a:t>y</a:t>
            </a:r>
            <a:r>
              <a:rPr spc="385" dirty="0"/>
              <a:t>  </a:t>
            </a:r>
            <a:r>
              <a:rPr dirty="0"/>
              <a:t>planificación,</a:t>
            </a:r>
            <a:r>
              <a:rPr spc="385" dirty="0"/>
              <a:t>  </a:t>
            </a:r>
            <a:r>
              <a:rPr dirty="0"/>
              <a:t>la</a:t>
            </a:r>
            <a:r>
              <a:rPr spc="385" dirty="0"/>
              <a:t>  </a:t>
            </a:r>
            <a:r>
              <a:rPr dirty="0"/>
              <a:t>identificación</a:t>
            </a:r>
            <a:r>
              <a:rPr spc="385" dirty="0"/>
              <a:t>  </a:t>
            </a:r>
            <a:r>
              <a:rPr dirty="0"/>
              <a:t>y</a:t>
            </a:r>
            <a:r>
              <a:rPr spc="385" dirty="0"/>
              <a:t>  </a:t>
            </a:r>
            <a:r>
              <a:rPr dirty="0"/>
              <a:t>evaluación,</a:t>
            </a:r>
            <a:r>
              <a:rPr spc="380" dirty="0"/>
              <a:t>  </a:t>
            </a:r>
            <a:r>
              <a:rPr spc="-25" dirty="0"/>
              <a:t>la </a:t>
            </a:r>
            <a:r>
              <a:rPr dirty="0"/>
              <a:t>formulación</a:t>
            </a:r>
            <a:r>
              <a:rPr spc="-40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dirty="0"/>
              <a:t>estrategias</a:t>
            </a:r>
            <a:r>
              <a:rPr spc="-40" dirty="0"/>
              <a:t> </a:t>
            </a:r>
            <a:r>
              <a:rPr dirty="0"/>
              <a:t>y</a:t>
            </a:r>
            <a:r>
              <a:rPr spc="-10" dirty="0"/>
              <a:t> </a:t>
            </a:r>
            <a:r>
              <a:rPr dirty="0"/>
              <a:t>la</a:t>
            </a:r>
            <a:r>
              <a:rPr spc="-15" dirty="0"/>
              <a:t> </a:t>
            </a:r>
            <a:r>
              <a:rPr dirty="0"/>
              <a:t>evaluación</a:t>
            </a:r>
            <a:r>
              <a:rPr spc="-30" dirty="0"/>
              <a:t> </a:t>
            </a:r>
            <a:r>
              <a:rPr dirty="0"/>
              <a:t>y</a:t>
            </a:r>
            <a:r>
              <a:rPr spc="-10" dirty="0"/>
              <a:t> monitoreo.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62559" y="1867789"/>
            <a:ext cx="10823575" cy="4184015"/>
            <a:chOff x="562559" y="1867789"/>
            <a:chExt cx="10823575" cy="41840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559" y="1867789"/>
              <a:ext cx="130619" cy="1305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559" y="3324860"/>
              <a:ext cx="130619" cy="1306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559" y="5061839"/>
              <a:ext cx="130619" cy="1306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76204" y="5442204"/>
              <a:ext cx="609600" cy="6095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1979" y="2855467"/>
            <a:ext cx="590931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06115" algn="l"/>
              </a:tabLst>
            </a:pPr>
            <a:r>
              <a:rPr sz="6600" spc="-10" dirty="0"/>
              <a:t>¡Muchas</a:t>
            </a:r>
            <a:r>
              <a:rPr sz="6600" dirty="0"/>
              <a:t>	</a:t>
            </a:r>
            <a:r>
              <a:rPr sz="6600" spc="-10" dirty="0"/>
              <a:t>gracias!</a:t>
            </a:r>
            <a:endParaRPr sz="6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6204" y="5442203"/>
            <a:ext cx="609600" cy="6095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9299BB7DBAB604CBF92CED6F341956D" ma:contentTypeVersion="3" ma:contentTypeDescription="Crear nuevo documento." ma:contentTypeScope="" ma:versionID="9afc5c629d1fa4daa758eae5c0ffce08">
  <xsd:schema xmlns:xsd="http://www.w3.org/2001/XMLSchema" xmlns:xs="http://www.w3.org/2001/XMLSchema" xmlns:p="http://schemas.microsoft.com/office/2006/metadata/properties" xmlns:ns2="0fd8070d-56ff-4b43-b705-64ae6a394890" targetNamespace="http://schemas.microsoft.com/office/2006/metadata/properties" ma:root="true" ma:fieldsID="e452753519e258a995a8d5047b5119ca" ns2:_="">
    <xsd:import namespace="0fd8070d-56ff-4b43-b705-64ae6a3948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8070d-56ff-4b43-b705-64ae6a3948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F130BCC-3B8B-49DB-809B-D23C4C3ED6D2}"/>
</file>

<file path=customXml/itemProps2.xml><?xml version="1.0" encoding="utf-8"?>
<ds:datastoreItem xmlns:ds="http://schemas.openxmlformats.org/officeDocument/2006/customXml" ds:itemID="{A27642E3-EE75-4AE6-B0CA-9C4AFFE99AE0}"/>
</file>

<file path=customXml/itemProps3.xml><?xml version="1.0" encoding="utf-8"?>
<ds:datastoreItem xmlns:ds="http://schemas.openxmlformats.org/officeDocument/2006/customXml" ds:itemID="{919FB7D0-4C48-440F-BFF0-A1C862B29E9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344</Words>
  <Application>Microsoft Office PowerPoint</Application>
  <PresentationFormat>Panorámica</PresentationFormat>
  <Paragraphs>30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Calibri</vt:lpstr>
      <vt:lpstr>Office Theme</vt:lpstr>
      <vt:lpstr>Presentación de PowerPoint</vt:lpstr>
      <vt:lpstr>Temas a desarrollar</vt:lpstr>
      <vt:lpstr>Continuidad del negocio</vt:lpstr>
      <vt:lpstr>Orígenes</vt:lpstr>
      <vt:lpstr>PRD vs. PCN</vt:lpstr>
      <vt:lpstr>¿Qué es la continuidad del negocio?</vt:lpstr>
      <vt:lpstr>Plan de Continuidad de Negocio</vt:lpstr>
      <vt:lpstr>Pasos para su formulación</vt:lpstr>
      <vt:lpstr>Aspectos importantes</vt:lpstr>
      <vt:lpstr>Síntesis</vt:lpstr>
      <vt:lpstr>Síntesis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RODRIGUEZ SOFIA MERCEDES</dc:creator>
  <cp:lastModifiedBy>Daldin Susana</cp:lastModifiedBy>
  <cp:revision>1</cp:revision>
  <dcterms:created xsi:type="dcterms:W3CDTF">2025-09-29T15:42:01Z</dcterms:created>
  <dcterms:modified xsi:type="dcterms:W3CDTF">2026-09-22T10:11:44Z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2025-02-14T00:00:00Z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2025-09-29T00:00:00Z</vt:filetime>
  </property>
  <property fmtid="{D5CDD505-2E9C-101B-9397-08002B2CF9AE}" pid="5" name="Producer">
    <vt:lpwstr>Microsoft® PowerPoint® para Microsoft 365</vt:lpwstr>
  </property>
  <property fmtid="{D5CDD505-2E9C-101B-9397-08002B2CF9AE}" pid="6" name="ContentTypeId">
    <vt:lpwstr>0x01010019299BB7DBAB604CBF92CED6F341956D</vt:lpwstr>
  </property>
</Properties>
</file>