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4"/>
  </p:sldMasterIdLst>
  <p:notesMasterIdLst>
    <p:notesMasterId r:id="rId48"/>
  </p:notesMasterIdLst>
  <p:sldIdLst>
    <p:sldId id="264" r:id="rId5"/>
    <p:sldId id="397" r:id="rId6"/>
    <p:sldId id="349" r:id="rId7"/>
    <p:sldId id="525" r:id="rId8"/>
    <p:sldId id="524" r:id="rId9"/>
    <p:sldId id="523" r:id="rId10"/>
    <p:sldId id="526" r:id="rId11"/>
    <p:sldId id="527" r:id="rId12"/>
    <p:sldId id="528" r:id="rId13"/>
    <p:sldId id="529" r:id="rId14"/>
    <p:sldId id="530" r:id="rId15"/>
    <p:sldId id="531" r:id="rId16"/>
    <p:sldId id="449" r:id="rId17"/>
    <p:sldId id="259" r:id="rId18"/>
    <p:sldId id="450" r:id="rId19"/>
    <p:sldId id="445" r:id="rId20"/>
    <p:sldId id="443" r:id="rId21"/>
    <p:sldId id="444" r:id="rId22"/>
    <p:sldId id="442" r:id="rId23"/>
    <p:sldId id="536" r:id="rId24"/>
    <p:sldId id="537" r:id="rId25"/>
    <p:sldId id="454" r:id="rId26"/>
    <p:sldId id="456" r:id="rId27"/>
    <p:sldId id="457" r:id="rId28"/>
    <p:sldId id="458" r:id="rId29"/>
    <p:sldId id="533" r:id="rId30"/>
    <p:sldId id="277" r:id="rId31"/>
    <p:sldId id="460" r:id="rId32"/>
    <p:sldId id="464" r:id="rId33"/>
    <p:sldId id="468" r:id="rId34"/>
    <p:sldId id="469" r:id="rId35"/>
    <p:sldId id="470" r:id="rId36"/>
    <p:sldId id="471" r:id="rId37"/>
    <p:sldId id="472" r:id="rId38"/>
    <p:sldId id="473" r:id="rId39"/>
    <p:sldId id="474" r:id="rId40"/>
    <p:sldId id="475" r:id="rId41"/>
    <p:sldId id="476" r:id="rId42"/>
    <p:sldId id="477" r:id="rId43"/>
    <p:sldId id="478" r:id="rId44"/>
    <p:sldId id="534" r:id="rId45"/>
    <p:sldId id="535" r:id="rId46"/>
    <p:sldId id="268"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6BBB06-D8E9-9251-17FB-C99DD7923505}" v="156" dt="2026-09-09T13:46:35.136"/>
    <p1510:client id="{B9D97FAF-4522-FDE5-8002-46E554A82A61}" v="2" dt="2026-09-09T13:47:14.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9.xml" Id="rId13" /><Relationship Type="http://schemas.openxmlformats.org/officeDocument/2006/relationships/slide" Target="slides/slide14.xml" Id="rId18" /><Relationship Type="http://schemas.openxmlformats.org/officeDocument/2006/relationships/slide" Target="slides/slide22.xml" Id="rId26" /><Relationship Type="http://schemas.openxmlformats.org/officeDocument/2006/relationships/slide" Target="slides/slide35.xml" Id="rId39" /><Relationship Type="http://schemas.openxmlformats.org/officeDocument/2006/relationships/slide" Target="slides/slide17.xml" Id="rId21" /><Relationship Type="http://schemas.openxmlformats.org/officeDocument/2006/relationships/slide" Target="slides/slide30.xml" Id="rId34" /><Relationship Type="http://schemas.openxmlformats.org/officeDocument/2006/relationships/slide" Target="slides/slide38.xml" Id="rId42" /><Relationship Type="http://schemas.openxmlformats.org/officeDocument/2006/relationships/slide" Target="slides/slide43.xml" Id="rId47" /><Relationship Type="http://schemas.openxmlformats.org/officeDocument/2006/relationships/viewProps" Target="viewProps.xml" Id="rId50" /><Relationship Type="http://schemas.openxmlformats.org/officeDocument/2006/relationships/slide" Target="slides/slide3.xml" Id="rId7" /><Relationship Type="http://schemas.openxmlformats.org/officeDocument/2006/relationships/customXml" Target="../customXml/item2.xml" Id="rId2" /><Relationship Type="http://schemas.openxmlformats.org/officeDocument/2006/relationships/slide" Target="slides/slide12.xml" Id="rId16" /><Relationship Type="http://schemas.openxmlformats.org/officeDocument/2006/relationships/slide" Target="slides/slide25.xml" Id="rId29" /><Relationship Type="http://schemas.openxmlformats.org/officeDocument/2006/relationships/slide" Target="slides/slide7.xml" Id="rId11" /><Relationship Type="http://schemas.openxmlformats.org/officeDocument/2006/relationships/slide" Target="slides/slide20.xml" Id="rId24" /><Relationship Type="http://schemas.openxmlformats.org/officeDocument/2006/relationships/slide" Target="slides/slide28.xml" Id="rId32" /><Relationship Type="http://schemas.openxmlformats.org/officeDocument/2006/relationships/slide" Target="slides/slide33.xml" Id="rId37" /><Relationship Type="http://schemas.openxmlformats.org/officeDocument/2006/relationships/slide" Target="slides/slide36.xml" Id="rId40" /><Relationship Type="http://schemas.openxmlformats.org/officeDocument/2006/relationships/slide" Target="slides/slide41.xml" Id="rId45" /><Relationship Type="http://schemas.openxmlformats.org/officeDocument/2006/relationships/slide" Target="slides/slide1.xml" Id="rId5" /><Relationship Type="http://schemas.openxmlformats.org/officeDocument/2006/relationships/slide" Target="slides/slide6.xml" Id="rId10" /><Relationship Type="http://schemas.openxmlformats.org/officeDocument/2006/relationships/slide" Target="slides/slide15.xml" Id="rId19" /><Relationship Type="http://schemas.openxmlformats.org/officeDocument/2006/relationships/slide" Target="slides/slide27.xml" Id="rId31" /><Relationship Type="http://schemas.openxmlformats.org/officeDocument/2006/relationships/slide" Target="slides/slide40.xml" Id="rId44" /><Relationship Type="http://schemas.openxmlformats.org/officeDocument/2006/relationships/tableStyles" Target="tableStyles.xml" Id="rId52" /><Relationship Type="http://schemas.openxmlformats.org/officeDocument/2006/relationships/slideMaster" Target="slideMasters/slideMaster1.xml" Id="rId4" /><Relationship Type="http://schemas.openxmlformats.org/officeDocument/2006/relationships/slide" Target="slides/slide5.xml" Id="rId9" /><Relationship Type="http://schemas.openxmlformats.org/officeDocument/2006/relationships/slide" Target="slides/slide10.xml" Id="rId14" /><Relationship Type="http://schemas.openxmlformats.org/officeDocument/2006/relationships/slide" Target="slides/slide18.xml" Id="rId22" /><Relationship Type="http://schemas.openxmlformats.org/officeDocument/2006/relationships/slide" Target="slides/slide23.xml" Id="rId27" /><Relationship Type="http://schemas.openxmlformats.org/officeDocument/2006/relationships/slide" Target="slides/slide26.xml" Id="rId30" /><Relationship Type="http://schemas.openxmlformats.org/officeDocument/2006/relationships/slide" Target="slides/slide31.xml" Id="rId35" /><Relationship Type="http://schemas.openxmlformats.org/officeDocument/2006/relationships/slide" Target="slides/slide39.xml" Id="rId43" /><Relationship Type="http://schemas.openxmlformats.org/officeDocument/2006/relationships/notesMaster" Target="notesMasters/notesMaster1.xml" Id="rId48" /><Relationship Type="http://schemas.openxmlformats.org/officeDocument/2006/relationships/slide" Target="slides/slide4.xml" Id="rId8" /><Relationship Type="http://schemas.openxmlformats.org/officeDocument/2006/relationships/theme" Target="theme/theme1.xml" Id="rId51" /><Relationship Type="http://schemas.openxmlformats.org/officeDocument/2006/relationships/customXml" Target="../customXml/item3.xml" Id="rId3" /><Relationship Type="http://schemas.openxmlformats.org/officeDocument/2006/relationships/slide" Target="slides/slide8.xml" Id="rId12" /><Relationship Type="http://schemas.openxmlformats.org/officeDocument/2006/relationships/slide" Target="slides/slide13.xml" Id="rId17" /><Relationship Type="http://schemas.openxmlformats.org/officeDocument/2006/relationships/slide" Target="slides/slide21.xml" Id="rId25" /><Relationship Type="http://schemas.openxmlformats.org/officeDocument/2006/relationships/slide" Target="slides/slide29.xml" Id="rId33" /><Relationship Type="http://schemas.openxmlformats.org/officeDocument/2006/relationships/slide" Target="slides/slide34.xml" Id="rId38" /><Relationship Type="http://schemas.openxmlformats.org/officeDocument/2006/relationships/slide" Target="slides/slide42.xml" Id="rId46" /><Relationship Type="http://schemas.openxmlformats.org/officeDocument/2006/relationships/slide" Target="slides/slide16.xml" Id="rId20" /><Relationship Type="http://schemas.openxmlformats.org/officeDocument/2006/relationships/slide" Target="slides/slide37.xml" Id="rId41" /><Relationship Type="http://schemas.microsoft.com/office/2015/10/relationships/revisionInfo" Target="revisionInfo.xml" Id="rId54" /><Relationship Type="http://schemas.openxmlformats.org/officeDocument/2006/relationships/customXml" Target="../customXml/item1.xml" Id="rId1" /><Relationship Type="http://schemas.openxmlformats.org/officeDocument/2006/relationships/slide" Target="slides/slide2.xml" Id="rId6" /><Relationship Type="http://schemas.openxmlformats.org/officeDocument/2006/relationships/slide" Target="slides/slide11.xml" Id="rId15" /><Relationship Type="http://schemas.openxmlformats.org/officeDocument/2006/relationships/slide" Target="slides/slide19.xml" Id="rId23" /><Relationship Type="http://schemas.openxmlformats.org/officeDocument/2006/relationships/slide" Target="slides/slide24.xml" Id="rId28" /><Relationship Type="http://schemas.openxmlformats.org/officeDocument/2006/relationships/slide" Target="slides/slide32.xml" Id="rId36" /><Relationship Type="http://schemas.openxmlformats.org/officeDocument/2006/relationships/presProps" Target="presProps.xml" Id="rId49"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55D1F8-2D6D-42CD-BC05-9113129B8C36}" type="datetimeFigureOut">
              <a:rPr lang="en-US" smtClean="0"/>
              <a:t>9/9/2026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F1DCF-C87F-465B-BF64-23520B1FCF43}" type="slidenum">
              <a:rPr lang="en-US" smtClean="0"/>
              <a:t>‹Nº›</a:t>
            </a:fld>
            <a:endParaRPr lang="en-US"/>
          </a:p>
        </p:txBody>
      </p:sp>
    </p:spTree>
    <p:extLst>
      <p:ext uri="{BB962C8B-B14F-4D97-AF65-F5344CB8AC3E}">
        <p14:creationId xmlns:p14="http://schemas.microsoft.com/office/powerpoint/2010/main" val="2861318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1</a:t>
            </a:fld>
            <a:endParaRPr lang="es-ES" noProof="0"/>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FABB8D5A-DD62-444D-9CD1-EE18AB5ECC6D}"/>
              </a:ext>
            </a:extLst>
          </p:cNvPr>
          <p:cNvSpPr>
            <a:spLocks noGrp="1" noRot="1" noChangeAspect="1" noChangeArrowheads="1" noTextEdit="1"/>
          </p:cNvSpPr>
          <p:nvPr>
            <p:ph type="sldImg"/>
          </p:nvPr>
        </p:nvSpPr>
        <p:spPr bwMode="auto">
          <a:xfrm>
            <a:off x="65088" y="733425"/>
            <a:ext cx="6519862" cy="3668713"/>
          </a:xfrm>
          <a:prstGeom prst="rect">
            <a:avLst/>
          </a:prstGeom>
          <a:solidFill>
            <a:srgbClr val="FFFFFF"/>
          </a:solidFill>
          <a:ln>
            <a:solidFill>
              <a:srgbClr val="000000"/>
            </a:solidFill>
            <a:miter lim="800000"/>
            <a:headEnd/>
            <a:tailEnd/>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2FA935D-83D0-82C9-64A8-97E6935E4A17}"/>
              </a:ext>
            </a:extLst>
          </p:cNvPr>
          <p:cNvSpPr>
            <a:spLocks noGrp="1" noRot="1" noChangeAspect="1" noChangeArrowheads="1" noTextEdit="1"/>
          </p:cNvSpPr>
          <p:nvPr>
            <p:ph type="sldImg"/>
          </p:nvPr>
        </p:nvSpPr>
        <p:spPr>
          <a:xfrm>
            <a:off x="65088" y="569913"/>
            <a:ext cx="6519862" cy="3668712"/>
          </a:xfrm>
          <a:ln/>
        </p:spPr>
      </p:sp>
      <p:sp>
        <p:nvSpPr>
          <p:cNvPr id="21507" name="Rectangle 3">
            <a:extLst>
              <a:ext uri="{FF2B5EF4-FFF2-40B4-BE49-F238E27FC236}">
                <a16:creationId xmlns:a16="http://schemas.microsoft.com/office/drawing/2014/main" id="{2B0E25E9-D3A7-2A37-EDF1-E96F87FDB63A}"/>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Information systems can generate many direct and indirect benefits, and as many direct and indirect risks. These risks have led to a gap between the need to protect systems and the degree of protection applied. The gap is caused by internal and external factors including:</a:t>
            </a:r>
          </a:p>
          <a:p>
            <a:pPr eaLnBrk="1" hangingPunct="1">
              <a:buFontTx/>
              <a:buChar char="•"/>
            </a:pPr>
            <a:r>
              <a:rPr lang="en-US" altLang="es-AR" sz="1000"/>
              <a:t>Widespread use of technology</a:t>
            </a:r>
          </a:p>
          <a:p>
            <a:pPr eaLnBrk="1" hangingPunct="1">
              <a:buFontTx/>
              <a:buChar char="•"/>
            </a:pPr>
            <a:r>
              <a:rPr lang="en-US" altLang="es-AR" sz="1000"/>
              <a:t>Interconnectivity of systems</a:t>
            </a:r>
          </a:p>
          <a:p>
            <a:pPr eaLnBrk="1" hangingPunct="1">
              <a:buFontTx/>
              <a:buChar char="•"/>
            </a:pPr>
            <a:r>
              <a:rPr lang="en-US" altLang="es-AR" sz="1000"/>
              <a:t>Elimination of distance, time and space as constraints</a:t>
            </a:r>
          </a:p>
          <a:p>
            <a:pPr eaLnBrk="1" hangingPunct="1">
              <a:buFontTx/>
              <a:buChar char="•"/>
            </a:pPr>
            <a:r>
              <a:rPr lang="en-US" altLang="es-AR" sz="1000"/>
              <a:t>Unevenness of technological change</a:t>
            </a:r>
          </a:p>
          <a:p>
            <a:pPr eaLnBrk="1" hangingPunct="1">
              <a:buFontTx/>
              <a:buChar char="•"/>
            </a:pPr>
            <a:r>
              <a:rPr lang="en-US" altLang="es-AR" sz="1000"/>
              <a:t>Devolution of management and control</a:t>
            </a:r>
          </a:p>
          <a:p>
            <a:pPr eaLnBrk="1" hangingPunct="1">
              <a:buFontTx/>
              <a:buChar char="•"/>
            </a:pPr>
            <a:r>
              <a:rPr lang="en-US" altLang="es-AR" sz="1000"/>
              <a:t>Social Engineering</a:t>
            </a:r>
          </a:p>
          <a:p>
            <a:pPr eaLnBrk="1" hangingPunct="1">
              <a:buFontTx/>
              <a:buChar char="•"/>
            </a:pPr>
            <a:r>
              <a:rPr lang="en-US" altLang="es-AR" sz="1000"/>
              <a:t>Attractiveness of conducting unconventional electronic attacks against organizations</a:t>
            </a:r>
          </a:p>
          <a:p>
            <a:pPr eaLnBrk="1" hangingPunct="1">
              <a:buFontTx/>
              <a:buChar char="•"/>
            </a:pPr>
            <a:r>
              <a:rPr lang="en-US" altLang="es-AR" sz="1000"/>
              <a:t>External factors such as legislative, legal and regulatory requirements or technological developments</a:t>
            </a:r>
          </a:p>
          <a:p>
            <a:pPr eaLnBrk="1" hangingPunct="1">
              <a:buFontTx/>
              <a:buChar char="•"/>
            </a:pPr>
            <a:r>
              <a:rPr lang="en-US" altLang="es-AR" sz="1000"/>
              <a:t>Dependence of business on IT</a:t>
            </a:r>
          </a:p>
          <a:p>
            <a:pPr eaLnBrk="1" hangingPunct="1">
              <a:buFontTx/>
              <a:buChar char="•"/>
            </a:pPr>
            <a:r>
              <a:rPr lang="en-US" altLang="es-AR" sz="1000"/>
              <a:t>Dependence on the Internet for trade and transactions</a:t>
            </a:r>
          </a:p>
          <a:p>
            <a:pPr eaLnBrk="1" hangingPunct="1">
              <a:buFontTx/>
              <a:buChar char="•"/>
            </a:pPr>
            <a:r>
              <a:rPr lang="en-US" altLang="es-AR" sz="1000"/>
              <a:t>Non centralized development</a:t>
            </a:r>
          </a:p>
          <a:p>
            <a:pPr eaLnBrk="1" hangingPunct="1">
              <a:buFontTx/>
              <a:buChar char="•"/>
            </a:pPr>
            <a:r>
              <a:rPr lang="en-US" altLang="es-AR" sz="1000"/>
              <a:t>Internet accesses by Intranet </a:t>
            </a:r>
          </a:p>
          <a:p>
            <a:pPr eaLnBrk="1" hangingPunct="1">
              <a:buFontTx/>
              <a:buChar char="•"/>
            </a:pPr>
            <a:r>
              <a:rPr lang="en-US" altLang="es-AR" sz="1000"/>
              <a:t>Outside hosting</a:t>
            </a:r>
          </a:p>
          <a:p>
            <a:pPr eaLnBrk="1" hangingPunct="1"/>
            <a:r>
              <a:rPr lang="en-US" altLang="es-AR"/>
              <a:t>These scenarios mean that there are new risk areas that could have a significant impact on critical business operations, such as:</a:t>
            </a:r>
          </a:p>
          <a:p>
            <a:pPr eaLnBrk="1" hangingPunct="1">
              <a:buFontTx/>
              <a:buChar char="•"/>
            </a:pPr>
            <a:r>
              <a:rPr lang="en-US" altLang="es-AR" sz="1000"/>
              <a:t>Increasing requirements for availability and robustness</a:t>
            </a:r>
          </a:p>
          <a:p>
            <a:pPr eaLnBrk="1" hangingPunct="1">
              <a:buFontTx/>
              <a:buChar char="•"/>
            </a:pPr>
            <a:r>
              <a:rPr lang="en-US" altLang="es-AR" sz="1000"/>
              <a:t>Growing potential for misuse and abuse of information systems affecting privacy and ethical    values</a:t>
            </a:r>
          </a:p>
          <a:p>
            <a:pPr eaLnBrk="1" hangingPunct="1">
              <a:buFontTx/>
              <a:buChar char="•"/>
            </a:pPr>
            <a:r>
              <a:rPr lang="en-US" altLang="es-AR" sz="1000"/>
              <a:t>External dangers from hackers, leading to denial-of-service and virus attacks, extortion, industrial espionage and leakage of organization information or private data.</a:t>
            </a:r>
          </a:p>
          <a:p>
            <a:pPr eaLnBrk="1" hangingPunct="1"/>
            <a:endParaRPr lang="en-US" altLang="es-A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5694796-4E1E-CCE0-588C-670436D30295}"/>
              </a:ext>
            </a:extLst>
          </p:cNvPr>
          <p:cNvSpPr>
            <a:spLocks noGrp="1" noRot="1" noChangeAspect="1" noChangeArrowheads="1" noTextEdit="1"/>
          </p:cNvSpPr>
          <p:nvPr>
            <p:ph type="sldImg"/>
          </p:nvPr>
        </p:nvSpPr>
        <p:spPr>
          <a:xfrm>
            <a:off x="65088" y="569913"/>
            <a:ext cx="6519862" cy="3668712"/>
          </a:xfrm>
          <a:ln/>
        </p:spPr>
      </p:sp>
      <p:sp>
        <p:nvSpPr>
          <p:cNvPr id="25603" name="Rectangle 3">
            <a:extLst>
              <a:ext uri="{FF2B5EF4-FFF2-40B4-BE49-F238E27FC236}">
                <a16:creationId xmlns:a16="http://schemas.microsoft.com/office/drawing/2014/main" id="{ABE01B6E-2ED9-787F-5939-83F9561EF7E0}"/>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Because new technology provides the potential for dramatically enhanced business performance, improved and demonstrated information security can add real value to the organization by contributing to interaction with trading partners, closer customer relationships, improved competitive advantage and protected reputation. It can also enable new and easier ways to process electronic transactions and generate trust. The day is not far off when in the global economy, if a Company wants to do business, it will be asked to present its Information Security Policy and results of its past performance in terms of penetration tests conducted to ensure security of its network and information resources.</a:t>
            </a:r>
          </a:p>
          <a:p>
            <a:pPr eaLnBrk="1" hangingPunct="1"/>
            <a:r>
              <a:rPr lang="en-US" altLang="es-AR"/>
              <a:t>Information security governance, when properly implemented, should provide four basic outcomes:</a:t>
            </a:r>
          </a:p>
          <a:p>
            <a:pPr eaLnBrk="1" hangingPunct="1"/>
            <a:endParaRPr lang="en-US" altLang="es-AR"/>
          </a:p>
          <a:p>
            <a:pPr eaLnBrk="1" hangingPunct="1"/>
            <a:r>
              <a:rPr lang="en-US" altLang="es-AR"/>
              <a:t>Strategic alignment</a:t>
            </a:r>
          </a:p>
          <a:p>
            <a:pPr eaLnBrk="1" hangingPunct="1"/>
            <a:r>
              <a:rPr lang="en-US" altLang="es-AR"/>
              <a:t>Value delivery</a:t>
            </a:r>
          </a:p>
          <a:p>
            <a:pPr eaLnBrk="1" hangingPunct="1"/>
            <a:r>
              <a:rPr lang="en-US" altLang="es-AR"/>
              <a:t>Risk management</a:t>
            </a:r>
          </a:p>
          <a:p>
            <a:pPr eaLnBrk="1" hangingPunct="1"/>
            <a:r>
              <a:rPr lang="en-US" altLang="es-AR"/>
              <a:t>Performance measurement</a:t>
            </a:r>
          </a:p>
          <a:p>
            <a:pPr eaLnBrk="1" hangingPunct="1">
              <a:buFontTx/>
              <a:buChar char="•"/>
            </a:pPr>
            <a:endParaRPr lang="en-US" altLang="es-AR" sz="1200"/>
          </a:p>
          <a:p>
            <a:pPr eaLnBrk="1" hangingPunct="1"/>
            <a:endParaRPr lang="en-US" altLang="es-A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1C1C4A3-D0B4-07C5-F882-A3A302AC3BAB}"/>
              </a:ext>
            </a:extLst>
          </p:cNvPr>
          <p:cNvSpPr>
            <a:spLocks noGrp="1" noRot="1" noChangeAspect="1" noChangeArrowheads="1" noTextEdit="1"/>
          </p:cNvSpPr>
          <p:nvPr>
            <p:ph type="sldImg"/>
          </p:nvPr>
        </p:nvSpPr>
        <p:spPr>
          <a:xfrm>
            <a:off x="65088" y="569913"/>
            <a:ext cx="6519862" cy="3668712"/>
          </a:xfrm>
          <a:ln/>
        </p:spPr>
      </p:sp>
      <p:sp>
        <p:nvSpPr>
          <p:cNvPr id="28675" name="Rectangle 3">
            <a:extLst>
              <a:ext uri="{FF2B5EF4-FFF2-40B4-BE49-F238E27FC236}">
                <a16:creationId xmlns:a16="http://schemas.microsoft.com/office/drawing/2014/main" id="{CD8E3165-898F-ED36-EFBF-A379E6235CC1}"/>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Here is one model for looking at IT security governance.</a:t>
            </a:r>
          </a:p>
          <a:p>
            <a:pPr eaLnBrk="1" hangingPunct="1"/>
            <a:endParaRPr lang="en-US" altLang="es-AR"/>
          </a:p>
          <a:p>
            <a:pPr eaLnBrk="1" hangingPunct="1"/>
            <a:r>
              <a:rPr lang="en-US" altLang="es-AR"/>
              <a:t>Note to Instructor: Reference page 4 of the </a:t>
            </a:r>
            <a:r>
              <a:rPr lang="en-US" altLang="es-AR" i="1"/>
              <a:t>CISM Review Manual 2005</a:t>
            </a:r>
            <a:r>
              <a:rPr lang="en-US" altLang="es-AR"/>
              <a:t> for more information regarding this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86D2935-6D88-7369-2684-B4B8D6C2EBD4}"/>
              </a:ext>
            </a:extLst>
          </p:cNvPr>
          <p:cNvSpPr>
            <a:spLocks noGrp="1" noRot="1" noChangeAspect="1" noChangeArrowheads="1" noTextEdit="1"/>
          </p:cNvSpPr>
          <p:nvPr>
            <p:ph type="sldImg"/>
          </p:nvPr>
        </p:nvSpPr>
        <p:spPr>
          <a:xfrm>
            <a:off x="65088" y="569913"/>
            <a:ext cx="6519862" cy="3668712"/>
          </a:xfrm>
          <a:ln/>
        </p:spPr>
      </p:sp>
      <p:sp>
        <p:nvSpPr>
          <p:cNvPr id="31747" name="Rectangle 3">
            <a:extLst>
              <a:ext uri="{FF2B5EF4-FFF2-40B4-BE49-F238E27FC236}">
                <a16:creationId xmlns:a16="http://schemas.microsoft.com/office/drawing/2014/main" id="{9E58AE2E-25B0-99CD-070A-ECD16F32B9D8}"/>
              </a:ext>
            </a:extLst>
          </p:cNvPr>
          <p:cNvSpPr>
            <a:spLocks noGrp="1" noChangeArrowheads="1"/>
          </p:cNvSpPr>
          <p:nvPr>
            <p:ph type="body" idx="1"/>
          </p:nvPr>
        </p:nvSpPr>
        <p:spPr>
          <a:xfrm>
            <a:off x="1108075" y="4402138"/>
            <a:ext cx="4432300" cy="5054600"/>
          </a:xfrm>
          <a:noFill/>
          <a:extLst>
            <a:ext uri="{909E8E84-426E-40DD-AFC4-6F175D3DCCD1}">
              <a14:hiddenFill xmlns:a14="http://schemas.microsoft.com/office/drawing/2010/main">
                <a:solidFill>
                  <a:srgbClr val="FFFFFF"/>
                </a:solidFill>
              </a14:hiddenFill>
            </a:ext>
          </a:extLst>
        </p:spPr>
        <p:txBody>
          <a:bodyPr/>
          <a:lstStyle/>
          <a:p>
            <a:pPr eaLnBrk="1" hangingPunct="1"/>
            <a:r>
              <a:rPr lang="en-US" altLang="es-AR"/>
              <a:t>CISM exam questions are developed with the intent of measuring and testing practical knowledge. All questions are multiple choice and are designed for one best answer. Every CISM question has a stem (question) and four options (answer choices). The candidate is asked to choose the correct or best answer from the options. The stem may be in the form of a question or incomplete statement. In some instances, a scenario or description problem may also be included. These questions normally include a description of a situation and require the candidate to answer two or more questions based on the information provided. Many times a CISM examination question will require the candidate to choose the most likely or best answer. In every case the candidate is required to read the question carefully, eliminate known incorrect answers and then make the best choice possible. Knowing the format in which questions are asked and how to study to gain knowledge of what will be tested will go a long way toward answering them correctly. </a:t>
            </a:r>
          </a:p>
          <a:p>
            <a:pPr eaLnBrk="1" hangingPunct="1"/>
            <a:r>
              <a:rPr lang="en-US" altLang="es-AR" b="1"/>
              <a:t>Note to Instructor:</a:t>
            </a:r>
          </a:p>
          <a:p>
            <a:pPr eaLnBrk="1" hangingPunct="1"/>
            <a:r>
              <a:rPr lang="en-US" altLang="es-AR" b="1"/>
              <a:t>The sample question contained below is designed to depict the type of question format on the CISM examination. This is not an actual CISM exam question. Refer to page 34 in the </a:t>
            </a:r>
            <a:r>
              <a:rPr lang="en-US" altLang="es-AR" b="1" i="1"/>
              <a:t>CISM Review Manual 2005</a:t>
            </a:r>
            <a:r>
              <a:rPr lang="en-US" altLang="es-AR" b="1"/>
              <a:t> for explanations to the answer.</a:t>
            </a:r>
          </a:p>
          <a:p>
            <a:pPr eaLnBrk="1" hangingPunct="1"/>
            <a:r>
              <a:rPr lang="en-US" altLang="es-AR"/>
              <a:t>The </a:t>
            </a:r>
            <a:r>
              <a:rPr lang="en-US" altLang="es-AR" b="1"/>
              <a:t>PRIMARY</a:t>
            </a:r>
            <a:r>
              <a:rPr lang="en-US" altLang="es-AR"/>
              <a:t> responsibility of the information security steering committee is:</a:t>
            </a:r>
          </a:p>
          <a:p>
            <a:pPr eaLnBrk="1" hangingPunct="1"/>
            <a:r>
              <a:rPr lang="en-US" altLang="es-AR"/>
              <a:t>A. direction setting and performance monitoring.</a:t>
            </a:r>
          </a:p>
          <a:p>
            <a:pPr eaLnBrk="1" hangingPunct="1"/>
            <a:r>
              <a:rPr lang="en-US" altLang="es-AR"/>
              <a:t>B. information security policy development.</a:t>
            </a:r>
          </a:p>
          <a:p>
            <a:pPr eaLnBrk="1" hangingPunct="1"/>
            <a:r>
              <a:rPr lang="en-US" altLang="es-AR"/>
              <a:t>C. information security control implementation.</a:t>
            </a:r>
          </a:p>
          <a:p>
            <a:pPr eaLnBrk="1" hangingPunct="1"/>
            <a:r>
              <a:rPr lang="en-US" altLang="es-AR"/>
              <a:t>D. provision of information security training for employees.</a:t>
            </a:r>
          </a:p>
          <a:p>
            <a:pPr eaLnBrk="1" hangingPunct="1"/>
            <a:r>
              <a:rPr lang="en-US" altLang="es-AR"/>
              <a:t>	</a:t>
            </a:r>
          </a:p>
          <a:p>
            <a:pPr eaLnBrk="1" hangingPunct="1"/>
            <a:r>
              <a:rPr lang="en-US" altLang="es-AR"/>
              <a:t>Suggested Answer: 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B0EAE43-6ED6-4FF3-873E-D9BEF2B0F77B}"/>
              </a:ext>
            </a:extLst>
          </p:cNvPr>
          <p:cNvSpPr>
            <a:spLocks noGrp="1" noRot="1" noChangeAspect="1" noChangeArrowheads="1"/>
          </p:cNvSpPr>
          <p:nvPr>
            <p:ph type="sldImg"/>
          </p:nvPr>
        </p:nvSpPr>
        <p:spPr bwMode="auto">
          <a:xfrm>
            <a:off x="133350" y="779463"/>
            <a:ext cx="6380163" cy="3589337"/>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a:extLst>
              <a:ext uri="{FF2B5EF4-FFF2-40B4-BE49-F238E27FC236}">
                <a16:creationId xmlns:a16="http://schemas.microsoft.com/office/drawing/2014/main" id="{994503F4-0967-4289-9D79-65F2595B53A8}"/>
              </a:ext>
            </a:extLst>
          </p:cNvPr>
          <p:cNvSpPr>
            <a:spLocks noGrp="1" noRot="1" noChangeAspect="1" noChangeArrowheads="1" noTextEdit="1"/>
          </p:cNvSpPr>
          <p:nvPr>
            <p:ph type="sldImg"/>
          </p:nvPr>
        </p:nvSpPr>
        <p:spPr>
          <a:xfrm>
            <a:off x="77788" y="739775"/>
            <a:ext cx="6494462" cy="3654425"/>
          </a:xfrm>
          <a:ln w="12700" cap="flat">
            <a:solidFill>
              <a:schemeClr val="tx1"/>
            </a:solidFill>
          </a:ln>
          <a:extLst>
            <a:ext uri="{909E8E84-426E-40DD-AFC4-6F175D3DCCD1}">
              <a14:hiddenFill xmlns:a14="http://schemas.microsoft.com/office/drawing/2010/main">
                <a:noFill/>
              </a14:hiddenFill>
            </a:ext>
          </a:extLst>
        </p:spPr>
      </p:sp>
      <p:sp>
        <p:nvSpPr>
          <p:cNvPr id="450563" name="Rectangle 3">
            <a:extLst>
              <a:ext uri="{FF2B5EF4-FFF2-40B4-BE49-F238E27FC236}">
                <a16:creationId xmlns:a16="http://schemas.microsoft.com/office/drawing/2014/main" id="{47A3E32E-0D8C-4C5E-BBC8-F990AAC414F8}"/>
              </a:ext>
            </a:extLst>
          </p:cNvPr>
          <p:cNvSpPr>
            <a:spLocks noGrp="1" noChangeArrowheads="1"/>
          </p:cNvSpPr>
          <p:nvPr>
            <p:ph type="body" idx="1"/>
          </p:nvPr>
        </p:nvSpPr>
        <p:spPr>
          <a:xfrm>
            <a:off x="887413" y="4673600"/>
            <a:ext cx="4870450" cy="4349750"/>
          </a:xfrm>
          <a:ln>
            <a:noFill/>
          </a:ln>
          <a:extLst>
            <a:ext uri="{91240B29-F687-4F45-9708-019B960494DF}">
              <a14:hiddenLine xmlns:a14="http://schemas.microsoft.com/office/drawing/2010/main" w="12700">
                <a:solidFill>
                  <a:schemeClr val="tx1"/>
                </a:solidFill>
                <a:miter lim="800000"/>
                <a:headEnd/>
                <a:tailEnd/>
              </a14:hiddenLine>
            </a:ext>
          </a:extLst>
        </p:spPr>
        <p:txBody>
          <a:bodyPr lIns="93609" tIns="45983" rIns="93609" bIns="45983"/>
          <a:lstStyle/>
          <a:p>
            <a:endParaRPr lang="en-CA" altLang="es-MX" sz="16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C106A298-5527-4ACF-95A4-0CBDB336D8F9}"/>
              </a:ext>
            </a:extLst>
          </p:cNvPr>
          <p:cNvSpPr>
            <a:spLocks noGrp="1" noRot="1" noChangeAspect="1" noChangeArrowheads="1" noTextEdit="1"/>
          </p:cNvSpPr>
          <p:nvPr>
            <p:ph type="sldImg"/>
          </p:nvPr>
        </p:nvSpPr>
        <p:spPr>
          <a:xfrm>
            <a:off x="65088" y="569913"/>
            <a:ext cx="6519862" cy="3668712"/>
          </a:xfrm>
          <a:ln/>
        </p:spPr>
      </p:sp>
      <p:sp>
        <p:nvSpPr>
          <p:cNvPr id="461827" name="Rectangle 3">
            <a:extLst>
              <a:ext uri="{FF2B5EF4-FFF2-40B4-BE49-F238E27FC236}">
                <a16:creationId xmlns:a16="http://schemas.microsoft.com/office/drawing/2014/main" id="{E3520141-AF50-45D5-8E40-577003F5FB37}"/>
              </a:ext>
            </a:extLst>
          </p:cNvPr>
          <p:cNvSpPr>
            <a:spLocks noGrp="1" noChangeArrowheads="1"/>
          </p:cNvSpPr>
          <p:nvPr>
            <p:ph type="body" idx="1"/>
          </p:nvPr>
        </p:nvSpPr>
        <p:spPr>
          <a:xfrm>
            <a:off x="1108075" y="4402138"/>
            <a:ext cx="4432300" cy="5054600"/>
          </a:xfrm>
          <a:ln/>
        </p:spPr>
        <p:txBody>
          <a:bodyPr/>
          <a:lstStyle/>
          <a:p>
            <a:r>
              <a:rPr lang="en-US" altLang="es-MX"/>
              <a:t>Because new technology provides the potential for dramatically enhanced business performance, improved and demonstrated information security can add real value to the organization by contributing to interaction with trading partners, closer customer relationships, improved competitive advantage and protected reputation. It can also enable new and easier ways to process electronic transactions and generate trust. The day is not far off when in the global economy, if a Company wants to do business, it will be asked to present its Information Security Policy and results of its past performance in terms of penetration tests conducted to ensure security of its network and information resources.</a:t>
            </a:r>
          </a:p>
          <a:p>
            <a:r>
              <a:rPr lang="en-US" altLang="es-MX"/>
              <a:t>Information security governance, when properly implemented, should provide four basic outcomes:</a:t>
            </a:r>
          </a:p>
          <a:p>
            <a:endParaRPr lang="en-US" altLang="es-MX"/>
          </a:p>
          <a:p>
            <a:r>
              <a:rPr lang="en-US" altLang="es-MX"/>
              <a:t>Strategic alignment</a:t>
            </a:r>
          </a:p>
          <a:p>
            <a:r>
              <a:rPr lang="en-US" altLang="es-MX"/>
              <a:t>Value delivery</a:t>
            </a:r>
          </a:p>
          <a:p>
            <a:r>
              <a:rPr lang="en-US" altLang="es-MX"/>
              <a:t>Risk management</a:t>
            </a:r>
          </a:p>
          <a:p>
            <a:r>
              <a:rPr lang="en-US" altLang="es-MX"/>
              <a:t>Performance measurement</a:t>
            </a:r>
          </a:p>
          <a:p>
            <a:pPr>
              <a:buFontTx/>
              <a:buChar char="•"/>
            </a:pPr>
            <a:endParaRPr lang="en-US" altLang="es-MX" sz="1200"/>
          </a:p>
          <a:p>
            <a:endParaRPr lang="en-US" altLang="es-MX"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A1B53DD9-72C0-4947-A2EB-5DA20F8D9C1E}"/>
              </a:ext>
            </a:extLst>
          </p:cNvPr>
          <p:cNvSpPr>
            <a:spLocks noGrp="1" noRot="1" noChangeAspect="1" noChangeArrowheads="1" noTextEdit="1"/>
          </p:cNvSpPr>
          <p:nvPr>
            <p:ph type="sldImg"/>
          </p:nvPr>
        </p:nvSpPr>
        <p:spPr>
          <a:xfrm>
            <a:off x="65088" y="569913"/>
            <a:ext cx="6519862" cy="3668712"/>
          </a:xfrm>
          <a:ln/>
        </p:spPr>
      </p:sp>
      <p:sp>
        <p:nvSpPr>
          <p:cNvPr id="465923" name="Rectangle 3">
            <a:extLst>
              <a:ext uri="{FF2B5EF4-FFF2-40B4-BE49-F238E27FC236}">
                <a16:creationId xmlns:a16="http://schemas.microsoft.com/office/drawing/2014/main" id="{9A54CB1F-0CA9-4FB2-903D-303275560BFC}"/>
              </a:ext>
            </a:extLst>
          </p:cNvPr>
          <p:cNvSpPr>
            <a:spLocks noGrp="1" noChangeArrowheads="1"/>
          </p:cNvSpPr>
          <p:nvPr>
            <p:ph type="body" idx="1"/>
          </p:nvPr>
        </p:nvSpPr>
        <p:spPr>
          <a:xfrm>
            <a:off x="1108075" y="4402138"/>
            <a:ext cx="4432300" cy="5054600"/>
          </a:xfrm>
          <a:ln/>
        </p:spPr>
        <p:txBody>
          <a:bodyPr/>
          <a:lstStyle/>
          <a:p>
            <a:r>
              <a:rPr lang="en-US" altLang="es-MX" sz="1200" b="1"/>
              <a:t>Strategic Alignment</a:t>
            </a:r>
          </a:p>
          <a:p>
            <a:pPr>
              <a:buFontTx/>
              <a:buChar char="•"/>
            </a:pPr>
            <a:r>
              <a:rPr lang="en-US" altLang="es-MX" sz="1200"/>
              <a:t>Security requirements should be driven by enterprise requirements</a:t>
            </a:r>
          </a:p>
          <a:p>
            <a:pPr>
              <a:buFontTx/>
              <a:buChar char="•"/>
            </a:pPr>
            <a:r>
              <a:rPr lang="en-US" altLang="es-MX" sz="1200"/>
              <a:t>Security solutions need to fit enterprise processes</a:t>
            </a:r>
          </a:p>
          <a:p>
            <a:pPr>
              <a:buFontTx/>
              <a:buChar char="•"/>
            </a:pPr>
            <a:r>
              <a:rPr lang="en-US" altLang="es-MX" sz="1200"/>
              <a:t>Investment in information security should be aligned with the enterprise strategy and agreed-upon risk profile</a:t>
            </a:r>
          </a:p>
          <a:p>
            <a:endParaRPr lang="en-US" altLang="es-MX" sz="1200">
              <a:effectLst>
                <a:outerShdw blurRad="38100" dist="38100" dir="2700000" algn="tl">
                  <a:srgbClr val="C0C0C0"/>
                </a:outerShdw>
              </a:effectLst>
            </a:endParaRPr>
          </a:p>
          <a:p>
            <a:r>
              <a:rPr lang="en-US" altLang="es-MX" sz="1200" b="1"/>
              <a:t>Value Delivery</a:t>
            </a:r>
          </a:p>
          <a:p>
            <a:pPr>
              <a:buFontTx/>
              <a:buChar char="•"/>
            </a:pPr>
            <a:r>
              <a:rPr lang="en-US" altLang="es-MX" sz="1200"/>
              <a:t>A standard set of security practices, I.e., baseline security requirements following best practices</a:t>
            </a:r>
          </a:p>
          <a:p>
            <a:pPr>
              <a:buFontTx/>
              <a:buChar char="•"/>
            </a:pPr>
            <a:r>
              <a:rPr lang="en-US" altLang="es-MX" sz="1200"/>
              <a:t>Properly prioritized and distributed effort to areas with greatest impact and business benefit</a:t>
            </a:r>
          </a:p>
          <a:p>
            <a:pPr>
              <a:buFontTx/>
              <a:buChar char="•"/>
            </a:pPr>
            <a:r>
              <a:rPr lang="en-US" altLang="es-MX" sz="1200"/>
              <a:t>Institutionalized and commoditized solutions</a:t>
            </a:r>
          </a:p>
          <a:p>
            <a:pPr>
              <a:buFontTx/>
              <a:buChar char="•"/>
            </a:pPr>
            <a:r>
              <a:rPr lang="en-US" altLang="es-MX" sz="1200"/>
              <a:t>Complete solutions, covering organization and process as well as technology</a:t>
            </a:r>
          </a:p>
          <a:p>
            <a:pPr>
              <a:buFontTx/>
              <a:buChar char="•"/>
            </a:pPr>
            <a:r>
              <a:rPr lang="en-US" altLang="es-MX" sz="1200"/>
              <a:t>A continuous improvement culture</a:t>
            </a:r>
          </a:p>
          <a:p>
            <a:endParaRPr lang="en-US" altLang="es-MX"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8EE632E3-CD25-489F-A59D-9682CF699982}"/>
              </a:ext>
            </a:extLst>
          </p:cNvPr>
          <p:cNvSpPr>
            <a:spLocks noGrp="1" noRot="1" noChangeAspect="1" noChangeArrowheads="1" noTextEdit="1"/>
          </p:cNvSpPr>
          <p:nvPr>
            <p:ph type="sldImg"/>
          </p:nvPr>
        </p:nvSpPr>
        <p:spPr>
          <a:xfrm>
            <a:off x="65088" y="569913"/>
            <a:ext cx="6519862" cy="3668712"/>
          </a:xfrm>
          <a:ln/>
        </p:spPr>
      </p:sp>
      <p:sp>
        <p:nvSpPr>
          <p:cNvPr id="467971" name="Rectangle 3">
            <a:extLst>
              <a:ext uri="{FF2B5EF4-FFF2-40B4-BE49-F238E27FC236}">
                <a16:creationId xmlns:a16="http://schemas.microsoft.com/office/drawing/2014/main" id="{AB07218D-8716-4E32-95AE-C5A57D992033}"/>
              </a:ext>
            </a:extLst>
          </p:cNvPr>
          <p:cNvSpPr>
            <a:spLocks noGrp="1" noChangeArrowheads="1"/>
          </p:cNvSpPr>
          <p:nvPr>
            <p:ph type="body" idx="1"/>
          </p:nvPr>
        </p:nvSpPr>
        <p:spPr>
          <a:xfrm>
            <a:off x="1108075" y="4402138"/>
            <a:ext cx="4432300" cy="5054600"/>
          </a:xfrm>
          <a:ln/>
        </p:spPr>
        <p:txBody>
          <a:bodyPr/>
          <a:lstStyle/>
          <a:p>
            <a:r>
              <a:rPr lang="en-US" altLang="es-MX" sz="1200"/>
              <a:t>Risk Management</a:t>
            </a:r>
          </a:p>
          <a:p>
            <a:pPr>
              <a:buFontTx/>
              <a:buChar char="•"/>
            </a:pPr>
            <a:r>
              <a:rPr lang="en-US" altLang="es-MX" sz="1200"/>
              <a:t>Agreed-upon risk profile</a:t>
            </a:r>
          </a:p>
          <a:p>
            <a:pPr>
              <a:buFontTx/>
              <a:buChar char="•"/>
            </a:pPr>
            <a:r>
              <a:rPr lang="en-US" altLang="es-MX" sz="1200"/>
              <a:t>Understanding of risk exposure</a:t>
            </a:r>
          </a:p>
          <a:p>
            <a:pPr>
              <a:buFontTx/>
              <a:buChar char="•"/>
            </a:pPr>
            <a:r>
              <a:rPr lang="en-US" altLang="es-MX" sz="1200"/>
              <a:t>Awareness of risk management priorities</a:t>
            </a:r>
          </a:p>
          <a:p>
            <a:pPr>
              <a:buFontTx/>
              <a:buChar char="•"/>
            </a:pPr>
            <a:r>
              <a:rPr lang="en-US" altLang="es-MX" sz="1200"/>
              <a:t>Risk Mitigation</a:t>
            </a:r>
          </a:p>
          <a:p>
            <a:pPr>
              <a:buFontTx/>
              <a:buChar char="•"/>
            </a:pPr>
            <a:r>
              <a:rPr lang="en-US" altLang="es-MX" sz="1200"/>
              <a:t>Risk Acceptance/Deference</a:t>
            </a:r>
          </a:p>
          <a:p>
            <a:endParaRPr lang="en-US" altLang="es-MX" sz="1200"/>
          </a:p>
          <a:p>
            <a:r>
              <a:rPr lang="en-US" altLang="es-MX" sz="1200"/>
              <a:t>Performance Measurement</a:t>
            </a:r>
          </a:p>
          <a:p>
            <a:pPr>
              <a:buFontTx/>
              <a:buChar char="•"/>
            </a:pPr>
            <a:r>
              <a:rPr lang="en-US" altLang="es-MX" sz="1200"/>
              <a:t>Defined, agreed upon, and meaningful set of metrics</a:t>
            </a:r>
          </a:p>
          <a:p>
            <a:pPr>
              <a:buFontTx/>
              <a:buChar char="•"/>
            </a:pPr>
            <a:r>
              <a:rPr lang="en-US" altLang="es-MX" sz="1200"/>
              <a:t>Measurement process that will help identify shortcomings and provide feedback on progress made resolving issues</a:t>
            </a:r>
          </a:p>
          <a:p>
            <a:pPr>
              <a:buFontTx/>
              <a:buChar char="•"/>
            </a:pPr>
            <a:r>
              <a:rPr lang="en-US" altLang="es-MX" sz="1200"/>
              <a:t>Independent assurance</a:t>
            </a:r>
          </a:p>
          <a:p>
            <a:endParaRPr lang="en-US" altLang="es-MX"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a:extLst>
              <a:ext uri="{FF2B5EF4-FFF2-40B4-BE49-F238E27FC236}">
                <a16:creationId xmlns:a16="http://schemas.microsoft.com/office/drawing/2014/main" id="{1F8DE316-2D99-45FD-846F-2E11B5DAC692}"/>
              </a:ext>
            </a:extLst>
          </p:cNvPr>
          <p:cNvSpPr>
            <a:spLocks noGrp="1" noRot="1" noChangeAspect="1" noChangeArrowheads="1" noTextEdit="1"/>
          </p:cNvSpPr>
          <p:nvPr>
            <p:ph type="sldImg"/>
          </p:nvPr>
        </p:nvSpPr>
        <p:spPr>
          <a:xfrm>
            <a:off x="65088" y="569913"/>
            <a:ext cx="6519862" cy="3668712"/>
          </a:xfrm>
          <a:ln/>
        </p:spPr>
      </p:sp>
      <p:sp>
        <p:nvSpPr>
          <p:cNvPr id="472067" name="Rectangle 3">
            <a:extLst>
              <a:ext uri="{FF2B5EF4-FFF2-40B4-BE49-F238E27FC236}">
                <a16:creationId xmlns:a16="http://schemas.microsoft.com/office/drawing/2014/main" id="{AB59CA5F-CE07-4278-90CA-E25F16E5305E}"/>
              </a:ext>
            </a:extLst>
          </p:cNvPr>
          <p:cNvSpPr>
            <a:spLocks noGrp="1" noChangeArrowheads="1"/>
          </p:cNvSpPr>
          <p:nvPr>
            <p:ph type="body" idx="1"/>
          </p:nvPr>
        </p:nvSpPr>
        <p:spPr>
          <a:xfrm>
            <a:off x="1108075" y="4402138"/>
            <a:ext cx="4432300" cy="5054600"/>
          </a:xfrm>
          <a:ln/>
        </p:spPr>
        <p:txBody>
          <a:bodyPr/>
          <a:lstStyle/>
          <a:p>
            <a:r>
              <a:rPr lang="en-US" altLang="es-MX"/>
              <a:t>The GAISP Principles are defined on page 2 CISM Review Manual 2005</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a:extLst>
              <a:ext uri="{FF2B5EF4-FFF2-40B4-BE49-F238E27FC236}">
                <a16:creationId xmlns:a16="http://schemas.microsoft.com/office/drawing/2014/main" id="{A9456E6A-51EC-447B-B7D8-0B9A5E1471C8}"/>
              </a:ext>
            </a:extLst>
          </p:cNvPr>
          <p:cNvSpPr>
            <a:spLocks noGrp="1" noRot="1" noChangeAspect="1" noChangeArrowheads="1" noTextEdit="1"/>
          </p:cNvSpPr>
          <p:nvPr>
            <p:ph type="sldImg"/>
          </p:nvPr>
        </p:nvSpPr>
        <p:spPr>
          <a:xfrm>
            <a:off x="65088" y="569913"/>
            <a:ext cx="6519862" cy="3668712"/>
          </a:xfrm>
          <a:ln/>
        </p:spPr>
      </p:sp>
      <p:sp>
        <p:nvSpPr>
          <p:cNvPr id="476163" name="Rectangle 3">
            <a:extLst>
              <a:ext uri="{FF2B5EF4-FFF2-40B4-BE49-F238E27FC236}">
                <a16:creationId xmlns:a16="http://schemas.microsoft.com/office/drawing/2014/main" id="{AE6B9854-A89E-4264-B140-364CD84A4CA9}"/>
              </a:ext>
            </a:extLst>
          </p:cNvPr>
          <p:cNvSpPr>
            <a:spLocks noGrp="1" noChangeArrowheads="1"/>
          </p:cNvSpPr>
          <p:nvPr>
            <p:ph type="body" idx="1"/>
          </p:nvPr>
        </p:nvSpPr>
        <p:spPr>
          <a:xfrm>
            <a:off x="1108075" y="4402138"/>
            <a:ext cx="4432300" cy="5054600"/>
          </a:xfrm>
          <a:ln/>
        </p:spPr>
        <p:txBody>
          <a:bodyPr/>
          <a:lstStyle/>
          <a:p>
            <a:r>
              <a:rPr lang="en-US" altLang="es-MX" sz="1200"/>
              <a:t>To develop a sound information security strategy, the information security manager should have knowledge of:</a:t>
            </a:r>
          </a:p>
          <a:p>
            <a:pPr>
              <a:buFontTx/>
              <a:buChar char="•"/>
            </a:pPr>
            <a:r>
              <a:rPr lang="en-US" altLang="es-MX" sz="1200"/>
              <a:t>Information security concepts</a:t>
            </a:r>
          </a:p>
          <a:p>
            <a:pPr>
              <a:buFontTx/>
              <a:buChar char="•"/>
            </a:pPr>
            <a:r>
              <a:rPr lang="en-US" altLang="es-MX" sz="1200"/>
              <a:t>Relationship between information security and business operations</a:t>
            </a:r>
          </a:p>
          <a:p>
            <a:pPr>
              <a:buFontTx/>
              <a:buChar char="•"/>
            </a:pPr>
            <a:r>
              <a:rPr lang="en-US" altLang="es-MX" sz="1200"/>
              <a:t>Methods of integrating information security governance into the overall enterprise governance framework</a:t>
            </a:r>
          </a:p>
          <a:p>
            <a:endParaRPr lang="en-US" altLang="es-MX"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a:extLst>
              <a:ext uri="{FF2B5EF4-FFF2-40B4-BE49-F238E27FC236}">
                <a16:creationId xmlns:a16="http://schemas.microsoft.com/office/drawing/2014/main" id="{F2930F13-99BF-493A-9783-306F8F0C25A2}"/>
              </a:ext>
            </a:extLst>
          </p:cNvPr>
          <p:cNvSpPr>
            <a:spLocks noGrp="1" noRot="1" noChangeAspect="1" noChangeArrowheads="1" noTextEdit="1"/>
          </p:cNvSpPr>
          <p:nvPr>
            <p:ph type="sldImg"/>
          </p:nvPr>
        </p:nvSpPr>
        <p:spPr>
          <a:xfrm>
            <a:off x="65088" y="569913"/>
            <a:ext cx="6519862" cy="3668712"/>
          </a:xfrm>
          <a:ln/>
        </p:spPr>
      </p:sp>
      <p:sp>
        <p:nvSpPr>
          <p:cNvPr id="484355" name="Rectangle 3">
            <a:extLst>
              <a:ext uri="{FF2B5EF4-FFF2-40B4-BE49-F238E27FC236}">
                <a16:creationId xmlns:a16="http://schemas.microsoft.com/office/drawing/2014/main" id="{C039D030-505F-417C-B04E-B74178ECED50}"/>
              </a:ext>
            </a:extLst>
          </p:cNvPr>
          <p:cNvSpPr>
            <a:spLocks noGrp="1" noChangeArrowheads="1"/>
          </p:cNvSpPr>
          <p:nvPr>
            <p:ph type="body" idx="1"/>
          </p:nvPr>
        </p:nvSpPr>
        <p:spPr>
          <a:xfrm>
            <a:off x="1108075" y="4402138"/>
            <a:ext cx="4432300" cy="5054600"/>
          </a:xfrm>
          <a:ln/>
        </p:spPr>
        <p:txBody>
          <a:bodyPr/>
          <a:lstStyle/>
          <a:p>
            <a:r>
              <a:rPr lang="en-US" altLang="es-MX" b="1"/>
              <a:t>Knowledge of the relationship between information security and business operations</a:t>
            </a:r>
          </a:p>
          <a:p>
            <a:r>
              <a:rPr lang="en-US" altLang="es-MX"/>
              <a:t>The relationship between information security and business operations needs to be in place and maintained. This relationship can be developed through activities such as:</a:t>
            </a:r>
          </a:p>
          <a:p>
            <a:pPr>
              <a:buFontTx/>
              <a:buChar char="•"/>
            </a:pPr>
            <a:r>
              <a:rPr lang="en-US" altLang="es-MX"/>
              <a:t>Understanding the business mission</a:t>
            </a:r>
          </a:p>
          <a:p>
            <a:pPr>
              <a:buFontTx/>
              <a:buChar char="•"/>
            </a:pPr>
            <a:r>
              <a:rPr lang="en-US" altLang="es-MX"/>
              <a:t>Understanding the business objectives and critical processes</a:t>
            </a:r>
          </a:p>
          <a:p>
            <a:pPr>
              <a:buFontTx/>
              <a:buChar char="•"/>
            </a:pPr>
            <a:r>
              <a:rPr lang="en-US" altLang="es-MX"/>
              <a:t>Obtaining upper management understanding and support</a:t>
            </a:r>
          </a:p>
          <a:p>
            <a:pPr>
              <a:buFontTx/>
              <a:buChar char="•"/>
            </a:pPr>
            <a:r>
              <a:rPr lang="en-US" altLang="es-MX"/>
              <a:t>Developing security procedures and guidelines that align with the business objectives of the organization</a:t>
            </a:r>
          </a:p>
          <a:p>
            <a:pPr>
              <a:buFontTx/>
              <a:buChar char="•"/>
            </a:pPr>
            <a:r>
              <a:rPr lang="en-US" altLang="es-MX"/>
              <a:t>Establishing a security governance process</a:t>
            </a:r>
          </a:p>
          <a:p>
            <a:r>
              <a:rPr lang="en-US" altLang="es-MX"/>
              <a:t> </a:t>
            </a:r>
          </a:p>
          <a:p>
            <a:endParaRPr lang="en-US" alt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119EDC08-E2A8-43B6-BBEB-DEF835FA5C30}"/>
              </a:ext>
            </a:extLst>
          </p:cNvPr>
          <p:cNvSpPr>
            <a:spLocks noGrp="1" noRot="1" noChangeAspect="1" noChangeArrowheads="1" noTextEdit="1"/>
          </p:cNvSpPr>
          <p:nvPr>
            <p:ph type="sldImg"/>
          </p:nvPr>
        </p:nvSpPr>
        <p:spPr>
          <a:xfrm>
            <a:off x="65088" y="569913"/>
            <a:ext cx="6519862" cy="3668712"/>
          </a:xfrm>
          <a:ln/>
        </p:spPr>
      </p:sp>
      <p:sp>
        <p:nvSpPr>
          <p:cNvPr id="492547" name="Rectangle 3">
            <a:extLst>
              <a:ext uri="{FF2B5EF4-FFF2-40B4-BE49-F238E27FC236}">
                <a16:creationId xmlns:a16="http://schemas.microsoft.com/office/drawing/2014/main" id="{56EDCDB8-6A50-4D2E-8B4B-710B00002364}"/>
              </a:ext>
            </a:extLst>
          </p:cNvPr>
          <p:cNvSpPr>
            <a:spLocks noGrp="1" noChangeArrowheads="1"/>
          </p:cNvSpPr>
          <p:nvPr>
            <p:ph type="body" idx="1"/>
          </p:nvPr>
        </p:nvSpPr>
        <p:spPr>
          <a:xfrm>
            <a:off x="960438" y="4238625"/>
            <a:ext cx="4654550" cy="5054600"/>
          </a:xfrm>
          <a:ln/>
        </p:spPr>
        <p:txBody>
          <a:bodyPr/>
          <a:lstStyle/>
          <a:p>
            <a:r>
              <a:rPr lang="en-US" altLang="es-MX" b="1"/>
              <a:t>Task 2:   Obtain senior management commitment and support for information security throughout the enterprise.</a:t>
            </a:r>
          </a:p>
          <a:p>
            <a:endParaRPr lang="en-US" altLang="es-MX" sz="800" b="1"/>
          </a:p>
          <a:p>
            <a:r>
              <a:rPr lang="en-US" altLang="es-MX"/>
              <a:t>As with any organization’s initiatives, without senior management commitment and support, enterprise information security activities are doomed for failure. Information security spans every division and department in a company to some extent. Any initiative that affects so many people and so many business processes could not be successful without senior management support. It is imperative that senior management views security as a very serious subject and allocates appropriate resources.</a:t>
            </a:r>
          </a:p>
          <a:p>
            <a:r>
              <a:rPr lang="en-US" altLang="es-MX"/>
              <a:t> </a:t>
            </a:r>
          </a:p>
          <a:p>
            <a:r>
              <a:rPr lang="en-US" altLang="es-MX"/>
              <a:t>Once a information security manager has developed the security strategy with input from key business units, approval of the strategy by senior management must occur. Since this is typically a complicated subject, the information security manager will need to first educate senior managers on the high-level aspects of information security and submit the overall strategy for review. A presentation to senior management describing the various aspects of the security strategy usually will take place to support and explain the documentation that the information security manager submitted.</a:t>
            </a:r>
          </a:p>
          <a:p>
            <a:r>
              <a:rPr lang="en-US" altLang="es-MX"/>
              <a:t> </a:t>
            </a:r>
          </a:p>
          <a:p>
            <a:r>
              <a:rPr lang="en-US" altLang="es-MX"/>
              <a:t>Senior management should have a high level of commitment to:</a:t>
            </a:r>
          </a:p>
          <a:p>
            <a:r>
              <a:rPr lang="en-US" altLang="es-MX"/>
              <a:t>·        Achieving high standards of corporate governance</a:t>
            </a:r>
          </a:p>
          <a:p>
            <a:r>
              <a:rPr lang="en-US" altLang="es-MX"/>
              <a:t>·        Treating information security as a critical business issue and creating a security-positive environment</a:t>
            </a:r>
          </a:p>
          <a:p>
            <a:r>
              <a:rPr lang="en-US" altLang="es-MX"/>
              <a:t>·        Demonstrating to third parties that the organization deals with information security in a professional manner</a:t>
            </a:r>
          </a:p>
          <a:p>
            <a:r>
              <a:rPr lang="en-US" altLang="es-MX"/>
              <a:t>·        Applying fundamental principles such as assuming ultimate responsibility for information security, implementing controls and achieving individual accountability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2">
            <a:extLst>
              <a:ext uri="{FF2B5EF4-FFF2-40B4-BE49-F238E27FC236}">
                <a16:creationId xmlns:a16="http://schemas.microsoft.com/office/drawing/2014/main" id="{D1F0144E-8469-4A8E-8446-23EE5C3E0B7C}"/>
              </a:ext>
            </a:extLst>
          </p:cNvPr>
          <p:cNvSpPr>
            <a:spLocks noGrp="1" noRot="1" noChangeAspect="1" noChangeArrowheads="1" noTextEdit="1"/>
          </p:cNvSpPr>
          <p:nvPr>
            <p:ph type="sldImg"/>
          </p:nvPr>
        </p:nvSpPr>
        <p:spPr>
          <a:xfrm>
            <a:off x="65088" y="569913"/>
            <a:ext cx="6519862" cy="3668712"/>
          </a:xfrm>
          <a:ln/>
        </p:spPr>
      </p:sp>
      <p:sp>
        <p:nvSpPr>
          <p:cNvPr id="494595" name="Rectangle 3">
            <a:extLst>
              <a:ext uri="{FF2B5EF4-FFF2-40B4-BE49-F238E27FC236}">
                <a16:creationId xmlns:a16="http://schemas.microsoft.com/office/drawing/2014/main" id="{FC20B6A0-9F65-479D-B78A-96A553DB2E34}"/>
              </a:ext>
            </a:extLst>
          </p:cNvPr>
          <p:cNvSpPr>
            <a:spLocks noGrp="1" noChangeArrowheads="1"/>
          </p:cNvSpPr>
          <p:nvPr>
            <p:ph type="body" idx="1"/>
          </p:nvPr>
        </p:nvSpPr>
        <p:spPr>
          <a:xfrm>
            <a:off x="960438" y="4238625"/>
            <a:ext cx="4654550" cy="5054600"/>
          </a:xfrm>
          <a:ln/>
        </p:spPr>
        <p:txBody>
          <a:bodyPr/>
          <a:lstStyle/>
          <a:p>
            <a:r>
              <a:rPr lang="en-US" altLang="es-MX" b="1"/>
              <a:t>Task 2:   Obtain senior management commitment and support for information security throughout the enterprise.</a:t>
            </a:r>
          </a:p>
          <a:p>
            <a:endParaRPr lang="en-US" altLang="es-MX" sz="800" b="1"/>
          </a:p>
          <a:p>
            <a:r>
              <a:rPr lang="en-US" altLang="es-MX"/>
              <a:t>As with any organization’s initiatives, without senior management commitment and support, enterprise information security activities are doomed for failure. Information security spans every division and department in a company to some extent. Any initiative that affects so many people and so many business processes could not be successful without senior management support. It is imperative that senior management views security as a very serious subject and allocates appropriate resources.</a:t>
            </a:r>
          </a:p>
          <a:p>
            <a:r>
              <a:rPr lang="en-US" altLang="es-MX"/>
              <a:t> </a:t>
            </a:r>
          </a:p>
          <a:p>
            <a:r>
              <a:rPr lang="en-US" altLang="es-MX"/>
              <a:t>Once a information security manager has developed the security strategy with input from key business units, approval of the strategy by senior management must occur. Since this is typically a complicated subject, the information security manager will need to first educate senior managers on the high-level aspects of information security and submit the overall strategy for review. A presentation to senior management describing the various aspects of the security strategy usually will take place to support and explain the documentation that the information security manager submitted.</a:t>
            </a:r>
          </a:p>
          <a:p>
            <a:r>
              <a:rPr lang="en-US" altLang="es-MX"/>
              <a:t> </a:t>
            </a:r>
          </a:p>
          <a:p>
            <a:r>
              <a:rPr lang="en-US" altLang="es-MX"/>
              <a:t>Senior management should have a high level of commitment to:</a:t>
            </a:r>
          </a:p>
          <a:p>
            <a:r>
              <a:rPr lang="en-US" altLang="es-MX"/>
              <a:t>·        Achieving high standards of corporate governance</a:t>
            </a:r>
          </a:p>
          <a:p>
            <a:r>
              <a:rPr lang="en-US" altLang="es-MX"/>
              <a:t>·        Treating information security as a critical business issue and creating a security-positive environment</a:t>
            </a:r>
          </a:p>
          <a:p>
            <a:r>
              <a:rPr lang="en-US" altLang="es-MX"/>
              <a:t>·        Demonstrating to third parties that the organization deals with information security in a professional manner</a:t>
            </a:r>
          </a:p>
          <a:p>
            <a:r>
              <a:rPr lang="en-US" altLang="es-MX"/>
              <a:t>·        Applying fundamental principles such as assuming ultimate responsibility for information security, implementing controls and achieving individual accountability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a:extLst>
              <a:ext uri="{FF2B5EF4-FFF2-40B4-BE49-F238E27FC236}">
                <a16:creationId xmlns:a16="http://schemas.microsoft.com/office/drawing/2014/main" id="{6F322CA5-AF20-453D-835A-D522088C7716}"/>
              </a:ext>
            </a:extLst>
          </p:cNvPr>
          <p:cNvSpPr>
            <a:spLocks noGrp="1" noRot="1" noChangeAspect="1" noChangeArrowheads="1" noTextEdit="1"/>
          </p:cNvSpPr>
          <p:nvPr>
            <p:ph type="sldImg"/>
          </p:nvPr>
        </p:nvSpPr>
        <p:spPr>
          <a:xfrm>
            <a:off x="65088" y="569913"/>
            <a:ext cx="6519862" cy="3668712"/>
          </a:xfrm>
          <a:ln/>
        </p:spPr>
      </p:sp>
      <p:sp>
        <p:nvSpPr>
          <p:cNvPr id="496643" name="Rectangle 3">
            <a:extLst>
              <a:ext uri="{FF2B5EF4-FFF2-40B4-BE49-F238E27FC236}">
                <a16:creationId xmlns:a16="http://schemas.microsoft.com/office/drawing/2014/main" id="{D2523BEB-CDEB-46CF-9CC3-53F9EC66FE32}"/>
              </a:ext>
            </a:extLst>
          </p:cNvPr>
          <p:cNvSpPr>
            <a:spLocks noGrp="1" noChangeArrowheads="1"/>
          </p:cNvSpPr>
          <p:nvPr>
            <p:ph type="body" idx="1"/>
          </p:nvPr>
        </p:nvSpPr>
        <p:spPr>
          <a:xfrm>
            <a:off x="1108075" y="4402138"/>
            <a:ext cx="4432300" cy="5054600"/>
          </a:xfrm>
          <a:ln/>
        </p:spPr>
        <p:txBody>
          <a:bodyPr/>
          <a:lstStyle/>
          <a:p>
            <a:r>
              <a:rPr lang="en-US" altLang="es-MX"/>
              <a:t> </a:t>
            </a:r>
          </a:p>
          <a:p>
            <a:r>
              <a:rPr lang="en-US" altLang="es-MX"/>
              <a:t>Senior management should demonstrate their commitment to information security by:</a:t>
            </a:r>
          </a:p>
          <a:p>
            <a:pPr>
              <a:buFontTx/>
              <a:buChar char="•"/>
            </a:pPr>
            <a:r>
              <a:rPr lang="en-US" altLang="es-MX"/>
              <a:t>Becoming directly involved in high-level information security arrangements, such as information security policy</a:t>
            </a:r>
          </a:p>
          <a:p>
            <a:pPr>
              <a:buFontTx/>
              <a:buChar char="•"/>
            </a:pPr>
            <a:r>
              <a:rPr lang="en-US" altLang="es-MX"/>
              <a:t>Providing high-level control</a:t>
            </a:r>
          </a:p>
          <a:p>
            <a:pPr>
              <a:buFontTx/>
              <a:buChar char="•"/>
            </a:pPr>
            <a:r>
              <a:rPr lang="en-US" altLang="es-MX"/>
              <a:t>Allocating sufficient resource to information security </a:t>
            </a:r>
          </a:p>
          <a:p>
            <a:r>
              <a:rPr lang="en-US" altLang="es-MX"/>
              <a:t> </a:t>
            </a:r>
          </a:p>
          <a:p>
            <a:r>
              <a:rPr lang="en-US" altLang="es-MX"/>
              <a:t> </a:t>
            </a:r>
          </a:p>
          <a:p>
            <a:r>
              <a:rPr lang="en-US" altLang="es-MX" b="1" i="1"/>
              <a:t>Note to Instructor:</a:t>
            </a:r>
          </a:p>
          <a:p>
            <a:r>
              <a:rPr lang="en-US" altLang="es-MX" b="1"/>
              <a:t>Senior management commitment is a very important point and should be stressed at this point.  Ask if anyone has examples of how having this commitment has made their job easier, and the security program better.  Conversely, discuss how not having this commitment has made the security program at their organization less comprehensive and effective.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a:extLst>
              <a:ext uri="{FF2B5EF4-FFF2-40B4-BE49-F238E27FC236}">
                <a16:creationId xmlns:a16="http://schemas.microsoft.com/office/drawing/2014/main" id="{28FBCFB9-CE8C-40EB-85CE-DBCDAF7FF016}"/>
              </a:ext>
            </a:extLst>
          </p:cNvPr>
          <p:cNvSpPr>
            <a:spLocks noGrp="1" noRot="1" noChangeAspect="1" noChangeArrowheads="1" noTextEdit="1"/>
          </p:cNvSpPr>
          <p:nvPr>
            <p:ph type="sldImg"/>
          </p:nvPr>
        </p:nvSpPr>
        <p:spPr>
          <a:xfrm>
            <a:off x="65088" y="569913"/>
            <a:ext cx="6519862" cy="3668712"/>
          </a:xfrm>
          <a:ln/>
        </p:spPr>
      </p:sp>
      <p:sp>
        <p:nvSpPr>
          <p:cNvPr id="498691" name="Rectangle 3">
            <a:extLst>
              <a:ext uri="{FF2B5EF4-FFF2-40B4-BE49-F238E27FC236}">
                <a16:creationId xmlns:a16="http://schemas.microsoft.com/office/drawing/2014/main" id="{874CD52D-9C14-4190-ABAF-0DC6AC3474B4}"/>
              </a:ext>
            </a:extLst>
          </p:cNvPr>
          <p:cNvSpPr>
            <a:spLocks noGrp="1" noChangeArrowheads="1"/>
          </p:cNvSpPr>
          <p:nvPr>
            <p:ph type="body" idx="1"/>
          </p:nvPr>
        </p:nvSpPr>
        <p:spPr>
          <a:xfrm>
            <a:off x="1108075" y="4402138"/>
            <a:ext cx="4432300" cy="5054600"/>
          </a:xfrm>
          <a:ln/>
        </p:spPr>
        <p:txBody>
          <a:bodyPr/>
          <a:lstStyle/>
          <a:p>
            <a:r>
              <a:rPr lang="en-US" altLang="es-MX" sz="1200"/>
              <a:t>To obtain senior management commitment and support of the information security manager must have sound knowledge of:</a:t>
            </a:r>
          </a:p>
          <a:p>
            <a:pPr>
              <a:buFontTx/>
              <a:buChar char="•"/>
            </a:pPr>
            <a:r>
              <a:rPr lang="en-US" altLang="es-MX" sz="1200"/>
              <a:t>Techniques used to secure senior management commitment and support of information security management</a:t>
            </a:r>
          </a:p>
          <a:p>
            <a:pPr>
              <a:buFontTx/>
              <a:buChar char="•"/>
            </a:pPr>
            <a:r>
              <a:rPr lang="en-US" altLang="es-MX" sz="1200"/>
              <a:t>Practices associated with an overall policy directive that captures senior management-level direction and expectations for information security in laying the foundation for information security management within an organization</a:t>
            </a:r>
          </a:p>
          <a:p>
            <a:endParaRPr lang="en-US" altLang="es-MX"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9FCA4F1A-C47C-4317-84B7-21517F2994C7}"/>
              </a:ext>
            </a:extLst>
          </p:cNvPr>
          <p:cNvSpPr>
            <a:spLocks noGrp="1" noRot="1" noChangeAspect="1" noChangeArrowheads="1" noTextEdit="1"/>
          </p:cNvSpPr>
          <p:nvPr>
            <p:ph type="sldImg"/>
          </p:nvPr>
        </p:nvSpPr>
        <p:spPr>
          <a:xfrm>
            <a:off x="65088" y="569913"/>
            <a:ext cx="6519862" cy="3668712"/>
          </a:xfrm>
          <a:ln/>
        </p:spPr>
      </p:sp>
      <p:sp>
        <p:nvSpPr>
          <p:cNvPr id="500739" name="Rectangle 3">
            <a:extLst>
              <a:ext uri="{FF2B5EF4-FFF2-40B4-BE49-F238E27FC236}">
                <a16:creationId xmlns:a16="http://schemas.microsoft.com/office/drawing/2014/main" id="{F1012FFE-97E5-45B3-B9F0-61CCA50AD92F}"/>
              </a:ext>
            </a:extLst>
          </p:cNvPr>
          <p:cNvSpPr>
            <a:spLocks noGrp="1" noChangeArrowheads="1"/>
          </p:cNvSpPr>
          <p:nvPr>
            <p:ph type="body" idx="1"/>
          </p:nvPr>
        </p:nvSpPr>
        <p:spPr>
          <a:xfrm>
            <a:off x="1108075" y="4402138"/>
            <a:ext cx="4432300" cy="5054600"/>
          </a:xfrm>
          <a:ln/>
        </p:spPr>
        <p:txBody>
          <a:bodyPr/>
          <a:lstStyle/>
          <a:p>
            <a:r>
              <a:rPr lang="en-US" altLang="es-MX" b="1"/>
              <a:t>Knowledge of techniques used to secure senior management commitment and support of information security management</a:t>
            </a:r>
          </a:p>
          <a:p>
            <a:r>
              <a:rPr lang="en-US" altLang="es-MX"/>
              <a:t>The most widely used technique information security managers can use to secure senior management commitment and support of information security management policies, procedures and strategy is a formal presentation.</a:t>
            </a:r>
          </a:p>
          <a:p>
            <a:r>
              <a:rPr lang="en-US" altLang="es-MX"/>
              <a:t> </a:t>
            </a:r>
          </a:p>
          <a:p>
            <a:r>
              <a:rPr lang="en-US" altLang="es-MX"/>
              <a:t>The formal presentation to senior management often is used as a means to educate and communicate key aspects of the overall security program. This acceptance is facilitated by the information security manager applying common business case aspects during the acceptance process. These can include:</a:t>
            </a:r>
          </a:p>
          <a:p>
            <a:pPr>
              <a:buFontTx/>
              <a:buChar char="•"/>
            </a:pPr>
            <a:r>
              <a:rPr lang="en-US" altLang="es-MX"/>
              <a:t>Aligning security objectives with business objectives enabling senior management to understand and apply the security policies and procedures </a:t>
            </a:r>
          </a:p>
          <a:p>
            <a:pPr>
              <a:buFontTx/>
              <a:buChar char="•"/>
            </a:pPr>
            <a:r>
              <a:rPr lang="en-US" altLang="es-MX"/>
              <a:t>Identifying budget items so that senior management can quantify the costs of the security program</a:t>
            </a:r>
          </a:p>
          <a:p>
            <a:pPr>
              <a:buFontTx/>
              <a:buChar char="•"/>
            </a:pPr>
            <a:r>
              <a:rPr lang="en-US" altLang="es-MX"/>
              <a:t>Utilizing commonly accepted project risk/benefit models, such as total cost of ownership (TCO) or return on investment (ROI), to quantify the benefits and costs of the security program</a:t>
            </a:r>
          </a:p>
          <a:p>
            <a:pPr>
              <a:buFontTx/>
              <a:buChar char="•"/>
            </a:pPr>
            <a:r>
              <a:rPr lang="en-US" altLang="es-MX"/>
              <a:t>Defining the monitoring measures that will be included in the security program</a:t>
            </a:r>
          </a:p>
          <a:p>
            <a:r>
              <a:rPr lang="en-US" altLang="es-MX"/>
              <a:t>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6B014054-F331-4CC9-997F-4A73C1C50F0A}"/>
              </a:ext>
            </a:extLst>
          </p:cNvPr>
          <p:cNvSpPr>
            <a:spLocks noGrp="1" noRot="1" noChangeAspect="1" noChangeArrowheads="1" noTextEdit="1"/>
          </p:cNvSpPr>
          <p:nvPr>
            <p:ph type="sldImg"/>
          </p:nvPr>
        </p:nvSpPr>
        <p:spPr>
          <a:xfrm>
            <a:off x="65088" y="569913"/>
            <a:ext cx="6519862" cy="3668712"/>
          </a:xfrm>
          <a:ln/>
        </p:spPr>
      </p:sp>
      <p:sp>
        <p:nvSpPr>
          <p:cNvPr id="502787" name="Rectangle 3">
            <a:extLst>
              <a:ext uri="{FF2B5EF4-FFF2-40B4-BE49-F238E27FC236}">
                <a16:creationId xmlns:a16="http://schemas.microsoft.com/office/drawing/2014/main" id="{C2AFC509-7EF5-40FB-B16D-F47707AB44B6}"/>
              </a:ext>
            </a:extLst>
          </p:cNvPr>
          <p:cNvSpPr>
            <a:spLocks noGrp="1" noChangeArrowheads="1"/>
          </p:cNvSpPr>
          <p:nvPr>
            <p:ph type="body" idx="1"/>
          </p:nvPr>
        </p:nvSpPr>
        <p:spPr>
          <a:xfrm>
            <a:off x="1108075" y="4402138"/>
            <a:ext cx="4432300" cy="5054600"/>
          </a:xfrm>
          <a:ln/>
        </p:spPr>
        <p:txBody>
          <a:bodyPr/>
          <a:lstStyle/>
          <a:p>
            <a:endParaRPr lang="en-US" altLang="es-MX" sz="3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a:extLst>
              <a:ext uri="{FF2B5EF4-FFF2-40B4-BE49-F238E27FC236}">
                <a16:creationId xmlns:a16="http://schemas.microsoft.com/office/drawing/2014/main" id="{837260A7-B8B2-46A7-896A-2A0FB25B0A61}"/>
              </a:ext>
            </a:extLst>
          </p:cNvPr>
          <p:cNvSpPr>
            <a:spLocks noGrp="1" noRot="1" noChangeAspect="1" noChangeArrowheads="1" noTextEdit="1"/>
          </p:cNvSpPr>
          <p:nvPr>
            <p:ph type="sldImg"/>
          </p:nvPr>
        </p:nvSpPr>
        <p:spPr>
          <a:xfrm>
            <a:off x="65088" y="569913"/>
            <a:ext cx="6519862" cy="3668712"/>
          </a:xfrm>
          <a:ln/>
        </p:spPr>
      </p:sp>
      <p:sp>
        <p:nvSpPr>
          <p:cNvPr id="504835" name="Rectangle 3">
            <a:extLst>
              <a:ext uri="{FF2B5EF4-FFF2-40B4-BE49-F238E27FC236}">
                <a16:creationId xmlns:a16="http://schemas.microsoft.com/office/drawing/2014/main" id="{E0CE38D9-326C-41FB-8B25-7C7ECACBD59B}"/>
              </a:ext>
            </a:extLst>
          </p:cNvPr>
          <p:cNvSpPr>
            <a:spLocks noGrp="1" noChangeArrowheads="1"/>
          </p:cNvSpPr>
          <p:nvPr>
            <p:ph type="body" idx="1"/>
          </p:nvPr>
        </p:nvSpPr>
        <p:spPr>
          <a:xfrm>
            <a:off x="1108075" y="4402138"/>
            <a:ext cx="4432300" cy="5054600"/>
          </a:xfrm>
          <a:ln/>
        </p:spPr>
        <p:txBody>
          <a:bodyPr/>
          <a:lstStyle/>
          <a:p>
            <a:r>
              <a:rPr lang="en-US" altLang="es-MX"/>
              <a:t> </a:t>
            </a:r>
          </a:p>
          <a:p>
            <a:endParaRPr lang="en-US" altLang="es-MX"/>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a:extLst>
              <a:ext uri="{FF2B5EF4-FFF2-40B4-BE49-F238E27FC236}">
                <a16:creationId xmlns:a16="http://schemas.microsoft.com/office/drawing/2014/main" id="{275148D9-787B-400F-B77C-C1A3E87C7345}"/>
              </a:ext>
            </a:extLst>
          </p:cNvPr>
          <p:cNvSpPr>
            <a:spLocks noGrp="1" noRot="1" noChangeAspect="1" noChangeArrowheads="1" noTextEdit="1"/>
          </p:cNvSpPr>
          <p:nvPr>
            <p:ph type="sldImg"/>
          </p:nvPr>
        </p:nvSpPr>
        <p:spPr>
          <a:xfrm>
            <a:off x="65088" y="569913"/>
            <a:ext cx="6519862" cy="3668712"/>
          </a:xfrm>
          <a:ln/>
        </p:spPr>
      </p:sp>
      <p:sp>
        <p:nvSpPr>
          <p:cNvPr id="506883" name="Rectangle 3">
            <a:extLst>
              <a:ext uri="{FF2B5EF4-FFF2-40B4-BE49-F238E27FC236}">
                <a16:creationId xmlns:a16="http://schemas.microsoft.com/office/drawing/2014/main" id="{9009FABA-F394-4CD4-8210-522FAB469A96}"/>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a:extLst>
              <a:ext uri="{FF2B5EF4-FFF2-40B4-BE49-F238E27FC236}">
                <a16:creationId xmlns:a16="http://schemas.microsoft.com/office/drawing/2014/main" id="{79C64A1C-BF75-4E30-9710-FA85BA789926}"/>
              </a:ext>
            </a:extLst>
          </p:cNvPr>
          <p:cNvSpPr>
            <a:spLocks noGrp="1" noRot="1" noChangeAspect="1" noChangeArrowheads="1" noTextEdit="1"/>
          </p:cNvSpPr>
          <p:nvPr>
            <p:ph type="sldImg"/>
          </p:nvPr>
        </p:nvSpPr>
        <p:spPr>
          <a:xfrm>
            <a:off x="65088" y="569913"/>
            <a:ext cx="6519862" cy="3668712"/>
          </a:xfrm>
          <a:ln/>
        </p:spPr>
      </p:sp>
      <p:sp>
        <p:nvSpPr>
          <p:cNvPr id="508931" name="Rectangle 3">
            <a:extLst>
              <a:ext uri="{FF2B5EF4-FFF2-40B4-BE49-F238E27FC236}">
                <a16:creationId xmlns:a16="http://schemas.microsoft.com/office/drawing/2014/main" id="{F6B610BF-5F20-4221-8CDD-A26EF9FDE39C}"/>
              </a:ext>
            </a:extLst>
          </p:cNvPr>
          <p:cNvSpPr>
            <a:spLocks noGrp="1" noChangeArrowheads="1"/>
          </p:cNvSpPr>
          <p:nvPr>
            <p:ph type="body" idx="1"/>
          </p:nvPr>
        </p:nvSpPr>
        <p:spPr>
          <a:xfrm>
            <a:off x="1108075" y="4402138"/>
            <a:ext cx="4432300" cy="5054600"/>
          </a:xfrm>
          <a:ln/>
        </p:spPr>
        <p:txBody>
          <a:bodyPr/>
          <a:lstStyle/>
          <a:p>
            <a:r>
              <a:rPr lang="en-US" altLang="es-MX" sz="1200"/>
              <a:t>To ensure that definitions of roles and responsibilities throughout the enterprise include information security governance activities, the information security manager must have knowledge of:</a:t>
            </a:r>
          </a:p>
          <a:p>
            <a:pPr>
              <a:buFontTx/>
              <a:buChar char="•"/>
            </a:pPr>
            <a:r>
              <a:rPr lang="en-US" altLang="es-MX" sz="1200"/>
              <a:t>Information security management roles, responsibilities, and organizational structure</a:t>
            </a:r>
          </a:p>
          <a:p>
            <a:pPr>
              <a:buFontTx/>
              <a:buChar char="•"/>
            </a:pPr>
            <a:r>
              <a:rPr lang="en-US" altLang="es-MX" sz="1200"/>
              <a:t>Areas of governance (e.g., risk management, data classification management, network security, system access)</a:t>
            </a:r>
          </a:p>
          <a:p>
            <a:endParaRPr lang="en-US" altLang="es-MX"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a:extLst>
              <a:ext uri="{FF2B5EF4-FFF2-40B4-BE49-F238E27FC236}">
                <a16:creationId xmlns:a16="http://schemas.microsoft.com/office/drawing/2014/main" id="{BDE22072-7643-45CA-B162-2D55885E9A37}"/>
              </a:ext>
            </a:extLst>
          </p:cNvPr>
          <p:cNvSpPr>
            <a:spLocks noGrp="1" noRot="1" noChangeAspect="1" noChangeArrowheads="1" noTextEdit="1"/>
          </p:cNvSpPr>
          <p:nvPr>
            <p:ph type="sldImg"/>
          </p:nvPr>
        </p:nvSpPr>
        <p:spPr>
          <a:xfrm>
            <a:off x="65088" y="569913"/>
            <a:ext cx="6519862" cy="3668712"/>
          </a:xfrm>
          <a:ln/>
        </p:spPr>
      </p:sp>
      <p:sp>
        <p:nvSpPr>
          <p:cNvPr id="510979" name="Rectangle 3">
            <a:extLst>
              <a:ext uri="{FF2B5EF4-FFF2-40B4-BE49-F238E27FC236}">
                <a16:creationId xmlns:a16="http://schemas.microsoft.com/office/drawing/2014/main" id="{B4CB4F94-7F8E-47F3-8BF4-BCCF0896C832}"/>
              </a:ext>
            </a:extLst>
          </p:cNvPr>
          <p:cNvSpPr>
            <a:spLocks noGrp="1" noChangeArrowheads="1"/>
          </p:cNvSpPr>
          <p:nvPr>
            <p:ph type="body" idx="1"/>
          </p:nvPr>
        </p:nvSpPr>
        <p:spPr>
          <a:xfrm>
            <a:off x="1108075" y="4402138"/>
            <a:ext cx="4432300" cy="5054600"/>
          </a:xfrm>
          <a:ln/>
        </p:spPr>
        <p:txBody>
          <a:bodyPr/>
          <a:lstStyle/>
          <a:p>
            <a:endParaRPr lang="en-US" altLang="es-MX"/>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a:extLst>
              <a:ext uri="{FF2B5EF4-FFF2-40B4-BE49-F238E27FC236}">
                <a16:creationId xmlns:a16="http://schemas.microsoft.com/office/drawing/2014/main" id="{8F046025-1060-421B-AD83-9940C9EE4780}"/>
              </a:ext>
            </a:extLst>
          </p:cNvPr>
          <p:cNvSpPr>
            <a:spLocks noGrp="1" noRot="1" noChangeAspect="1" noChangeArrowheads="1" noTextEdit="1"/>
          </p:cNvSpPr>
          <p:nvPr>
            <p:ph type="sldImg"/>
          </p:nvPr>
        </p:nvSpPr>
        <p:spPr>
          <a:xfrm>
            <a:off x="65088" y="569913"/>
            <a:ext cx="6519862" cy="3668712"/>
          </a:xfrm>
          <a:ln/>
        </p:spPr>
      </p:sp>
      <p:sp>
        <p:nvSpPr>
          <p:cNvPr id="513027" name="Rectangle 3">
            <a:extLst>
              <a:ext uri="{FF2B5EF4-FFF2-40B4-BE49-F238E27FC236}">
                <a16:creationId xmlns:a16="http://schemas.microsoft.com/office/drawing/2014/main" id="{520F404A-366E-45EF-8DF3-038A75C22C3A}"/>
              </a:ext>
            </a:extLst>
          </p:cNvPr>
          <p:cNvSpPr>
            <a:spLocks noGrp="1" noChangeArrowheads="1"/>
          </p:cNvSpPr>
          <p:nvPr>
            <p:ph type="body" idx="1"/>
          </p:nvPr>
        </p:nvSpPr>
        <p:spPr>
          <a:xfrm>
            <a:off x="1033463" y="4319588"/>
            <a:ext cx="4654550" cy="5056187"/>
          </a:xfrm>
          <a:ln/>
        </p:spPr>
        <p:txBody>
          <a:bodyPr/>
          <a:lstStyle/>
          <a:p>
            <a:r>
              <a:rPr lang="en-US" altLang="es-MX"/>
              <a:t>Continued from the previous page:</a:t>
            </a:r>
          </a:p>
          <a:p>
            <a:endParaRPr lang="en-US" altLang="es-MX"/>
          </a:p>
          <a:p>
            <a:pPr>
              <a:buFontTx/>
              <a:buChar char="•"/>
            </a:pPr>
            <a:r>
              <a:rPr lang="en-US" altLang="es-MX"/>
              <a:t>Identifying protection goals and objectives consistent with corp. strategic plan</a:t>
            </a:r>
          </a:p>
          <a:p>
            <a:pPr>
              <a:buFontTx/>
              <a:buChar char="•"/>
            </a:pPr>
            <a:r>
              <a:rPr lang="en-US" altLang="es-MX"/>
              <a:t>Identifying key security program elements</a:t>
            </a:r>
          </a:p>
          <a:p>
            <a:pPr>
              <a:buFontTx/>
              <a:buChar char="•"/>
            </a:pPr>
            <a:r>
              <a:rPr lang="en-US" altLang="es-MX"/>
              <a:t>Managing development and implementation of global security policy, standards, guidelines and procedures to ensure ongoing maintenance of security</a:t>
            </a:r>
          </a:p>
          <a:p>
            <a:pPr>
              <a:buFontTx/>
              <a:buChar char="•"/>
            </a:pPr>
            <a:r>
              <a:rPr lang="en-US" altLang="es-MX"/>
              <a:t>Assisting with the investigation of security breaches and assist with disciplinary and legal matters associated with such breaches as necessary</a:t>
            </a:r>
          </a:p>
          <a:p>
            <a:pPr>
              <a:buFontTx/>
              <a:buChar char="•"/>
            </a:pPr>
            <a:r>
              <a:rPr lang="en-US" altLang="es-MX"/>
              <a:t>Coordinating implementation plans of security products</a:t>
            </a:r>
          </a:p>
          <a:p>
            <a:r>
              <a:rPr lang="en-US" altLang="es-MX" sz="600"/>
              <a:t> </a:t>
            </a:r>
          </a:p>
          <a:p>
            <a:r>
              <a:rPr lang="en-US" altLang="es-MX"/>
              <a:t>The role of the security department is to safeguard the confidential information, assets and intellectual property that belong to the organization. The scope primarily involves computer security, but also covers physical security as it relates to safeguarding of information and assets. </a:t>
            </a:r>
          </a:p>
          <a:p>
            <a:r>
              <a:rPr lang="en-US" altLang="es-MX" sz="600"/>
              <a:t> </a:t>
            </a:r>
          </a:p>
          <a:p>
            <a:endParaRPr lang="en-US" altLang="es-MX"/>
          </a:p>
          <a:p>
            <a:r>
              <a:rPr lang="en-US" altLang="es-MX" b="1" i="1"/>
              <a:t>Note to Instructor:</a:t>
            </a:r>
            <a:r>
              <a:rPr lang="en-US" altLang="es-MX" b="1"/>
              <a:t>  So that the audience can get a feel for the various roles and responsibilities that an information security manger may have, ask the group to discuss how many of them have the responsibilities listed on these slides.  Ask how many of them have additional responsibilities, and list them.  </a:t>
            </a:r>
          </a:p>
          <a:p>
            <a:r>
              <a:rPr lang="en-US" altLang="es-MX" b="1"/>
              <a:t>Have a discussion about whether or not the information security manager could have too many roles and responsibilities and what some of the solutions for that may be.</a:t>
            </a:r>
          </a:p>
          <a:p>
            <a:r>
              <a:rPr lang="en-US" altLang="es-MX" b="1"/>
              <a:t>Reference page 16-17 of the </a:t>
            </a:r>
            <a:r>
              <a:rPr lang="en-US" altLang="es-MX" b="1" i="1"/>
              <a:t>CISM Review Manual 2005</a:t>
            </a:r>
            <a:r>
              <a:rPr lang="en-US" altLang="es-MX" b="1"/>
              <a:t> for more examples of key roles of information security management.</a:t>
            </a:r>
          </a:p>
          <a:p>
            <a:endParaRPr lang="en-US" altLang="es-MX" b="1"/>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43</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797642D-A9EB-465D-9B43-4975D1A9A9F5}" type="datetimeFigureOut">
              <a:rPr lang="en-US" smtClean="0"/>
              <a:t>9/9/2026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2838390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79970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9/9/2026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1256650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97642D-A9EB-465D-9B43-4975D1A9A9F5}"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36157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97642D-A9EB-465D-9B43-4975D1A9A9F5}"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892046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797642D-A9EB-465D-9B43-4975D1A9A9F5}"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‹Nº›</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3037793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7642D-A9EB-465D-9B43-4975D1A9A9F5}"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293446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8797642D-A9EB-465D-9B43-4975D1A9A9F5}" type="datetimeFigureOut">
              <a:rPr lang="en-US" smtClean="0"/>
              <a:t>9/9/2026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48671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97642D-A9EB-465D-9B43-4975D1A9A9F5}"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750986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97642D-A9EB-465D-9B43-4975D1A9A9F5}"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‹Nº›</a:t>
            </a:fld>
            <a:endParaRPr lang="en-US"/>
          </a:p>
        </p:txBody>
      </p:sp>
    </p:spTree>
    <p:extLst>
      <p:ext uri="{BB962C8B-B14F-4D97-AF65-F5344CB8AC3E}">
        <p14:creationId xmlns:p14="http://schemas.microsoft.com/office/powerpoint/2010/main" val="1547751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8797642D-A9EB-465D-9B43-4975D1A9A9F5}" type="datetimeFigureOut">
              <a:rPr lang="en-US" smtClean="0"/>
              <a:t>9/9/2026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‹Nº›</a:t>
            </a:fld>
            <a:endParaRPr lang="en-US"/>
          </a:p>
        </p:txBody>
      </p:sp>
    </p:spTree>
    <p:extLst>
      <p:ext uri="{BB962C8B-B14F-4D97-AF65-F5344CB8AC3E}">
        <p14:creationId xmlns:p14="http://schemas.microsoft.com/office/powerpoint/2010/main" val="3951441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8797642D-A9EB-465D-9B43-4975D1A9A9F5}" type="datetimeFigureOut">
              <a:rPr lang="en-US" smtClean="0"/>
              <a:t>9/9/2026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79083297"/>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eg"/><Relationship Id="rId1" Type="http://schemas.openxmlformats.org/officeDocument/2006/relationships/slideLayout" Target="../slideLayouts/slideLayout6.x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A1EB241-0852-428A-8A50-67737CA93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7A23EDC2-E1E5-4C5D-9C74-714516AF5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a:extLst>
              <a:ext uri="{FF2B5EF4-FFF2-40B4-BE49-F238E27FC236}">
                <a16:creationId xmlns:a16="http://schemas.microsoft.com/office/drawing/2014/main" id="{B2781548-0E4F-4401-A909-82EDF50D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a:extLst>
              <a:ext uri="{FF2B5EF4-FFF2-40B4-BE49-F238E27FC236}">
                <a16:creationId xmlns:a16="http://schemas.microsoft.com/office/drawing/2014/main" id="{33030110-5A0B-4476-9070-A890E19879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30" name="Rectangle 29">
            <a:extLst>
              <a:ext uri="{FF2B5EF4-FFF2-40B4-BE49-F238E27FC236}">
                <a16:creationId xmlns:a16="http://schemas.microsoft.com/office/drawing/2014/main" id="{0A08DAED-6222-40F8-97FA-1474D91F1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900"/>
            <a:ext cx="12192000" cy="370817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9EA7D0C-D986-4DAE-813C-903CF7A31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4392" y="641102"/>
            <a:ext cx="3666744" cy="3698516"/>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sp>
        <p:nvSpPr>
          <p:cNvPr id="34" name="Rectangle 33">
            <a:extLst>
              <a:ext uri="{FF2B5EF4-FFF2-40B4-BE49-F238E27FC236}">
                <a16:creationId xmlns:a16="http://schemas.microsoft.com/office/drawing/2014/main" id="{C0FEAC2C-4B4A-4DAB-9021-A01837447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8704" y="642071"/>
            <a:ext cx="7475220" cy="3701443"/>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D04E7CE-C66B-49FC-8E37-3A08EF9A5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48660" y="4432079"/>
            <a:ext cx="83731" cy="196077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49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txBox="1">
            <a:spLocks/>
          </p:cNvSpPr>
          <p:nvPr/>
        </p:nvSpPr>
        <p:spPr>
          <a:xfrm>
            <a:off x="932507" y="2706231"/>
            <a:ext cx="10565394" cy="2197224"/>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s-ES" sz="2000">
                <a:solidFill>
                  <a:schemeClr val="accent1"/>
                </a:solidFill>
              </a:rPr>
              <a:t>Definición</a:t>
            </a:r>
          </a:p>
          <a:p>
            <a:r>
              <a:rPr lang="es-ES" sz="2000">
                <a:solidFill>
                  <a:schemeClr val="accent1"/>
                </a:solidFill>
              </a:rPr>
              <a:t>Los objetivos principales</a:t>
            </a:r>
          </a:p>
          <a:p>
            <a:r>
              <a:rPr lang="es-ES" sz="2000">
                <a:solidFill>
                  <a:schemeClr val="accent1"/>
                </a:solidFill>
              </a:rPr>
              <a:t>Actividades del proceso de Gobierno de TI</a:t>
            </a:r>
          </a:p>
          <a:p>
            <a:pPr marL="0" indent="0">
              <a:buNone/>
            </a:pPr>
            <a:endParaRPr lang="es-ES" sz="2000">
              <a:solidFill>
                <a:schemeClr val="accent1"/>
              </a:solidFill>
            </a:endParaRPr>
          </a:p>
          <a:p>
            <a:endParaRPr lang="es-ES" sz="2000">
              <a:solidFill>
                <a:schemeClr val="accent1"/>
              </a:solidFill>
            </a:endParaRPr>
          </a:p>
        </p:txBody>
      </p:sp>
      <p:sp>
        <p:nvSpPr>
          <p:cNvPr id="5" name="CuadroTexto 4">
            <a:extLst>
              <a:ext uri="{FF2B5EF4-FFF2-40B4-BE49-F238E27FC236}">
                <a16:creationId xmlns:a16="http://schemas.microsoft.com/office/drawing/2014/main" id="{B096ACA8-390F-A8CC-F776-12E59FB76788}"/>
              </a:ext>
            </a:extLst>
          </p:cNvPr>
          <p:cNvSpPr txBox="1"/>
          <p:nvPr/>
        </p:nvSpPr>
        <p:spPr>
          <a:xfrm>
            <a:off x="685801" y="1164300"/>
            <a:ext cx="6097508" cy="646331"/>
          </a:xfrm>
          <a:prstGeom prst="rect">
            <a:avLst/>
          </a:prstGeom>
          <a:noFill/>
        </p:spPr>
        <p:txBody>
          <a:bodyPr wrap="square">
            <a:spAutoFit/>
          </a:bodyPr>
          <a:lstStyle/>
          <a:p>
            <a:r>
              <a:rPr lang="es-ES" sz="3600">
                <a:solidFill>
                  <a:schemeClr val="bg1"/>
                </a:solidFill>
              </a:rPr>
              <a:t>Agenda</a:t>
            </a:r>
            <a:endParaRPr lang="es-AR" sz="3600">
              <a:solidFill>
                <a:schemeClr val="bg1"/>
              </a:solidFill>
            </a:endParaRPr>
          </a:p>
        </p:txBody>
      </p:sp>
    </p:spTree>
    <p:extLst>
      <p:ext uri="{BB962C8B-B14F-4D97-AF65-F5344CB8AC3E}">
        <p14:creationId xmlns:p14="http://schemas.microsoft.com/office/powerpoint/2010/main" val="2692792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61" name="Rectangle 5">
            <a:extLst>
              <a:ext uri="{FF2B5EF4-FFF2-40B4-BE49-F238E27FC236}">
                <a16:creationId xmlns:a16="http://schemas.microsoft.com/office/drawing/2014/main" id="{7E426E9E-DD7E-4ABD-B1C7-652EC971E542}"/>
              </a:ext>
            </a:extLst>
          </p:cNvPr>
          <p:cNvSpPr>
            <a:spLocks noChangeArrowheads="1"/>
          </p:cNvSpPr>
          <p:nvPr/>
        </p:nvSpPr>
        <p:spPr bwMode="auto">
          <a:xfrm>
            <a:off x="1905000" y="1828800"/>
            <a:ext cx="8305800" cy="11430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marL="457200" fontAlgn="base">
              <a:spcBef>
                <a:spcPct val="0"/>
              </a:spcBef>
              <a:spcAft>
                <a:spcPct val="0"/>
              </a:spcAft>
              <a:defRPr sz="2400">
                <a:solidFill>
                  <a:schemeClr val="tx1"/>
                </a:solidFill>
                <a:latin typeface="Times New Roman" panose="02020603050405020304" pitchFamily="18" charset="0"/>
              </a:defRPr>
            </a:lvl6pPr>
            <a:lvl7pPr marL="914400" fontAlgn="base">
              <a:spcBef>
                <a:spcPct val="0"/>
              </a:spcBef>
              <a:spcAft>
                <a:spcPct val="0"/>
              </a:spcAft>
              <a:defRPr sz="2400">
                <a:solidFill>
                  <a:schemeClr val="tx1"/>
                </a:solidFill>
                <a:latin typeface="Times New Roman" panose="02020603050405020304" pitchFamily="18" charset="0"/>
              </a:defRPr>
            </a:lvl7pPr>
            <a:lvl8pPr marL="1371600" fontAlgn="base">
              <a:spcBef>
                <a:spcPct val="0"/>
              </a:spcBef>
              <a:spcAft>
                <a:spcPct val="0"/>
              </a:spcAft>
              <a:defRPr sz="2400">
                <a:solidFill>
                  <a:schemeClr val="tx1"/>
                </a:solidFill>
                <a:latin typeface="Times New Roman" panose="02020603050405020304" pitchFamily="18" charset="0"/>
              </a:defRPr>
            </a:lvl8pPr>
            <a:lvl9pPr marL="1828800" fontAlgn="base">
              <a:spcBef>
                <a:spcPct val="0"/>
              </a:spcBef>
              <a:spcAft>
                <a:spcPct val="0"/>
              </a:spcAft>
              <a:defRPr sz="2400">
                <a:solidFill>
                  <a:schemeClr val="tx1"/>
                </a:solidFill>
                <a:latin typeface="Times New Roman" panose="02020603050405020304" pitchFamily="18" charset="0"/>
              </a:defRPr>
            </a:lvl9pPr>
          </a:lstStyle>
          <a:p>
            <a:pPr algn="ctr">
              <a:lnSpc>
                <a:spcPct val="80000"/>
              </a:lnSpc>
            </a:pPr>
            <a:r>
              <a:rPr lang="es-MX" altLang="es-MX" sz="3200">
                <a:solidFill>
                  <a:schemeClr val="accent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GOBIERNO de TI                                                                   </a:t>
            </a:r>
            <a:endParaRPr lang="es-ES" altLang="es-MX" sz="3200">
              <a:solidFill>
                <a:schemeClr val="accent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Marcador de número de diapositiva 2">
            <a:extLst>
              <a:ext uri="{FF2B5EF4-FFF2-40B4-BE49-F238E27FC236}">
                <a16:creationId xmlns:a16="http://schemas.microsoft.com/office/drawing/2014/main" id="{7AC79065-623A-4E90-85A9-0A506C722E84}"/>
              </a:ext>
            </a:extLst>
          </p:cNvPr>
          <p:cNvSpPr>
            <a:spLocks noGrp="1"/>
          </p:cNvSpPr>
          <p:nvPr>
            <p:ph type="sldNum" sz="quarter" idx="12"/>
          </p:nvPr>
        </p:nvSpPr>
        <p:spPr/>
        <p:txBody>
          <a:bodyPr/>
          <a:lstStyle/>
          <a:p>
            <a:fld id="{30A8E979-4E28-491D-8002-836F9D9327AB}" type="slidenum">
              <a:rPr lang="es-MX" smtClean="0"/>
              <a:t>3</a:t>
            </a:fld>
            <a:endParaRPr lang="es-MX"/>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2 Título">
            <a:extLst>
              <a:ext uri="{FF2B5EF4-FFF2-40B4-BE49-F238E27FC236}">
                <a16:creationId xmlns:a16="http://schemas.microsoft.com/office/drawing/2014/main" id="{B08D7266-F39C-7526-82E6-E225BFBEDB45}"/>
              </a:ext>
            </a:extLst>
          </p:cNvPr>
          <p:cNvSpPr>
            <a:spLocks noGrp="1"/>
          </p:cNvSpPr>
          <p:nvPr>
            <p:ph type="title"/>
          </p:nvPr>
        </p:nvSpPr>
        <p:spPr/>
        <p:txBody>
          <a:bodyPr/>
          <a:lstStyle/>
          <a:p>
            <a:pPr eaLnBrk="1" hangingPunct="1"/>
            <a:r>
              <a:rPr lang="es-AR" altLang="es-AR"/>
              <a:t>Gobierno de TI</a:t>
            </a:r>
          </a:p>
        </p:txBody>
      </p:sp>
      <p:sp>
        <p:nvSpPr>
          <p:cNvPr id="4" name="3 Marcador de contenido">
            <a:extLst>
              <a:ext uri="{FF2B5EF4-FFF2-40B4-BE49-F238E27FC236}">
                <a16:creationId xmlns:a16="http://schemas.microsoft.com/office/drawing/2014/main" id="{3BCF78CF-B3B4-0E7C-559A-F72153E2FC69}"/>
              </a:ext>
            </a:extLst>
          </p:cNvPr>
          <p:cNvSpPr>
            <a:spLocks noGrp="1"/>
          </p:cNvSpPr>
          <p:nvPr>
            <p:ph sz="quarter" idx="1"/>
          </p:nvPr>
        </p:nvSpPr>
        <p:spPr>
          <a:xfrm>
            <a:off x="676515" y="1590393"/>
            <a:ext cx="11029616" cy="4937125"/>
          </a:xfrm>
        </p:spPr>
        <p:txBody>
          <a:bodyPr vert="horz" lIns="91440" tIns="45720" rIns="91440" bIns="45720" rtlCol="0" anchor="ctr">
            <a:normAutofit/>
          </a:bodyPr>
          <a:lstStyle/>
          <a:p>
            <a:endParaRPr lang="es-AR">
              <a:solidFill>
                <a:schemeClr val="accent1"/>
              </a:solidFill>
              <a:latin typeface="Google Sans"/>
            </a:endParaRPr>
          </a:p>
          <a:p>
            <a:r>
              <a:rPr lang="es-AR">
                <a:solidFill>
                  <a:schemeClr val="accent1"/>
                </a:solidFill>
                <a:latin typeface="Google Sans"/>
              </a:rPr>
              <a:t>¿Qué es el Gobierno de TI?</a:t>
            </a:r>
          </a:p>
          <a:p>
            <a:r>
              <a:rPr lang="es-AR">
                <a:solidFill>
                  <a:schemeClr val="accent1"/>
                </a:solidFill>
                <a:latin typeface="Google Sans"/>
              </a:rPr>
              <a:t>¿Cuáles son los roles y responsabilidades de la Gerencia Ejecutiva en relación a la TIC?</a:t>
            </a:r>
          </a:p>
          <a:p>
            <a:r>
              <a:rPr lang="es-AR">
                <a:solidFill>
                  <a:schemeClr val="accent1"/>
                </a:solidFill>
                <a:latin typeface="Google Sans"/>
              </a:rPr>
              <a:t>¿Cuál es un enfoque orientado al negocio efectivo?</a:t>
            </a:r>
          </a:p>
          <a:p>
            <a:r>
              <a:rPr lang="es-AR">
                <a:solidFill>
                  <a:schemeClr val="accent1"/>
                </a:solidFill>
                <a:latin typeface="Google Sans"/>
              </a:rPr>
              <a:t>¿Cómo se logra una estrategia de TI alineada con los objetivos de negocio?</a:t>
            </a:r>
          </a:p>
          <a:p>
            <a:r>
              <a:rPr lang="es-AR">
                <a:solidFill>
                  <a:schemeClr val="accent1"/>
                </a:solidFill>
                <a:latin typeface="Google Sans"/>
              </a:rPr>
              <a:t>¿Cómo es implementada la estrategia de TI?</a:t>
            </a:r>
          </a:p>
          <a:p>
            <a:pPr marL="0" indent="0">
              <a:buNone/>
            </a:pPr>
            <a:endParaRPr lang="es-AR">
              <a:solidFill>
                <a:schemeClr val="accent1"/>
              </a:solidFill>
              <a:latin typeface="Google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6" name="Rectangle 4">
            <a:extLst>
              <a:ext uri="{FF2B5EF4-FFF2-40B4-BE49-F238E27FC236}">
                <a16:creationId xmlns:a16="http://schemas.microsoft.com/office/drawing/2014/main" id="{E2CF56A9-20C1-DAD6-E1FB-59120CC85DD0}"/>
              </a:ext>
            </a:extLst>
          </p:cNvPr>
          <p:cNvSpPr>
            <a:spLocks noGrp="1" noChangeArrowheads="1"/>
          </p:cNvSpPr>
          <p:nvPr>
            <p:ph type="title"/>
          </p:nvPr>
        </p:nvSpPr>
        <p:spPr/>
        <p:txBody>
          <a:bodyPr>
            <a:normAutofit/>
          </a:bodyPr>
          <a:lstStyle/>
          <a:p>
            <a:pPr>
              <a:defRPr/>
            </a:pPr>
            <a:r>
              <a:rPr lang="es-MX" sz="4000">
                <a:effectLst>
                  <a:outerShdw blurRad="38100" dist="38100" dir="2700000" algn="tl">
                    <a:srgbClr val="000000"/>
                  </a:outerShdw>
                </a:effectLst>
              </a:rPr>
              <a:t>Gobierno de TI</a:t>
            </a:r>
            <a:endParaRPr lang="es-ES" sz="4000">
              <a:effectLst>
                <a:outerShdw blurRad="38100" dist="38100" dir="2700000" algn="tl">
                  <a:srgbClr val="000000"/>
                </a:outerShdw>
              </a:effectLst>
            </a:endParaRPr>
          </a:p>
        </p:txBody>
      </p:sp>
      <p:sp>
        <p:nvSpPr>
          <p:cNvPr id="20483" name="3 Marcador de contenido">
            <a:extLst>
              <a:ext uri="{FF2B5EF4-FFF2-40B4-BE49-F238E27FC236}">
                <a16:creationId xmlns:a16="http://schemas.microsoft.com/office/drawing/2014/main" id="{1CD3AA40-6F5C-93CF-6107-474242946568}"/>
              </a:ext>
            </a:extLst>
          </p:cNvPr>
          <p:cNvSpPr>
            <a:spLocks noGrp="1"/>
          </p:cNvSpPr>
          <p:nvPr>
            <p:ph sz="quarter" idx="1"/>
          </p:nvPr>
        </p:nvSpPr>
        <p:spPr>
          <a:xfrm>
            <a:off x="452673" y="1964602"/>
            <a:ext cx="11158135" cy="4191724"/>
          </a:xfrm>
        </p:spPr>
        <p:txBody>
          <a:bodyPr/>
          <a:lstStyle/>
          <a:p>
            <a:pPr eaLnBrk="1" hangingPunct="1"/>
            <a:r>
              <a:rPr lang="es-MX" b="0" i="0">
                <a:solidFill>
                  <a:schemeClr val="accent1"/>
                </a:solidFill>
                <a:effectLst/>
                <a:latin typeface="Google Sans"/>
              </a:rPr>
              <a:t>El gobierno de TI (IT </a:t>
            </a:r>
            <a:r>
              <a:rPr lang="es-MX" b="0" i="0" err="1">
                <a:solidFill>
                  <a:schemeClr val="accent1"/>
                </a:solidFill>
                <a:effectLst/>
                <a:latin typeface="Google Sans"/>
              </a:rPr>
              <a:t>Governance</a:t>
            </a:r>
            <a:r>
              <a:rPr lang="es-MX" b="0" i="0">
                <a:solidFill>
                  <a:schemeClr val="accent1"/>
                </a:solidFill>
                <a:effectLst/>
                <a:latin typeface="Google Sans"/>
              </a:rPr>
              <a:t>) es un marco operativo y de gestión que garantiza que los sistemas de Tecnología de la Información (TI) y Tecnología de la Información y Comunicación (TIC) proporcionen el valor que una organización necesita.</a:t>
            </a:r>
          </a:p>
          <a:p>
            <a:pPr eaLnBrk="1" hangingPunct="1"/>
            <a:r>
              <a:rPr lang="es-MX" b="0" i="0">
                <a:solidFill>
                  <a:schemeClr val="accent1"/>
                </a:solidFill>
                <a:effectLst/>
                <a:latin typeface="Google Sans"/>
              </a:rPr>
              <a:t>La gestión de TI se refiere a la supervisión y administración de los sistemas de tecnologías de la información de una organización: hardware, software y redes. La gestión de TI se centra en cómo hacer que los sistemas de información funcionen de manera eficiente.</a:t>
            </a:r>
          </a:p>
          <a:p>
            <a:pPr lvl="1"/>
            <a:r>
              <a:rPr lang="es-ES" altLang="es-AR">
                <a:solidFill>
                  <a:schemeClr val="accent1"/>
                </a:solidFill>
              </a:rPr>
              <a:t>Los sistemas de información pueden generar muchos beneficios directos e indirectos, así como también riesgos directos e indirectos.  </a:t>
            </a:r>
          </a:p>
          <a:p>
            <a:pPr lvl="1"/>
            <a:r>
              <a:rPr lang="es-ES" altLang="es-AR">
                <a:solidFill>
                  <a:schemeClr val="accent1"/>
                </a:solidFill>
              </a:rPr>
              <a:t>Estos riesgos han conducido a una brecha entre la necesidad para proteger dichos sistemas y el grado de protección aplicado.  </a:t>
            </a:r>
          </a:p>
          <a:p>
            <a:pPr lvl="1"/>
            <a:r>
              <a:rPr lang="es-ES" altLang="es-AR">
                <a:solidFill>
                  <a:schemeClr val="accent1"/>
                </a:solidFill>
              </a:rPr>
              <a:t>Esta brecha se debe a factores internos y externos.</a:t>
            </a:r>
            <a:r>
              <a:rPr lang="en-US" altLang="es-AR">
                <a:solidFill>
                  <a:schemeClr val="accent1"/>
                </a:solidFill>
              </a:rPr>
              <a:t> </a:t>
            </a:r>
          </a:p>
          <a:p>
            <a:pPr eaLnBrk="1" hangingPunct="1"/>
            <a:endParaRPr lang="es-AR" altLang="es-AR">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2 Marcador de número de diapositiva">
            <a:extLst>
              <a:ext uri="{FF2B5EF4-FFF2-40B4-BE49-F238E27FC236}">
                <a16:creationId xmlns:a16="http://schemas.microsoft.com/office/drawing/2014/main" id="{97C2C72C-4FE4-D631-1DDE-0A2DA1E5E687}"/>
              </a:ext>
            </a:extLst>
          </p:cNvPr>
          <p:cNvSpPr>
            <a:spLocks noGrp="1"/>
          </p:cNvSpPr>
          <p:nvPr>
            <p:ph type="sldNum" sz="quarter" idx="12"/>
          </p:nvPr>
        </p:nvSpPr>
        <p:spPr bwMode="auto">
          <a:xfrm>
            <a:off x="7924801" y="6356351"/>
            <a:ext cx="2289175"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B7095AF0-E800-4ABF-9402-9F15C2704D5F}" type="slidenum">
              <a:rPr lang="en-US" altLang="es-AR" sz="2400">
                <a:latin typeface="Times New Roman" panose="02020603050405020304" pitchFamily="18" charset="0"/>
              </a:rPr>
              <a:pPr>
                <a:spcBef>
                  <a:spcPct val="0"/>
                </a:spcBef>
                <a:buClrTx/>
                <a:buSzTx/>
                <a:buFontTx/>
                <a:buNone/>
              </a:pPr>
              <a:t>6</a:t>
            </a:fld>
            <a:endParaRPr lang="en-US" altLang="es-AR" sz="2400">
              <a:latin typeface="Times New Roman" panose="02020603050405020304" pitchFamily="18" charset="0"/>
            </a:endParaRPr>
          </a:p>
        </p:txBody>
      </p:sp>
      <p:pic>
        <p:nvPicPr>
          <p:cNvPr id="19459" name="Picture 2" descr="Weight scales">
            <a:extLst>
              <a:ext uri="{FF2B5EF4-FFF2-40B4-BE49-F238E27FC236}">
                <a16:creationId xmlns:a16="http://schemas.microsoft.com/office/drawing/2014/main" id="{EC67E9C1-3C80-BE21-20A6-BC9250EEF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215" y="2014002"/>
            <a:ext cx="6708619" cy="449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2" name="Group 2">
            <a:extLst>
              <a:ext uri="{FF2B5EF4-FFF2-40B4-BE49-F238E27FC236}">
                <a16:creationId xmlns:a16="http://schemas.microsoft.com/office/drawing/2014/main" id="{D71D9C7F-A865-E929-C254-19E57EC3BA76}"/>
              </a:ext>
            </a:extLst>
          </p:cNvPr>
          <p:cNvGrpSpPr>
            <a:grpSpLocks/>
          </p:cNvGrpSpPr>
          <p:nvPr/>
        </p:nvGrpSpPr>
        <p:grpSpPr bwMode="auto">
          <a:xfrm>
            <a:off x="1524000" y="317095188"/>
            <a:ext cx="723900" cy="9382125"/>
            <a:chOff x="204" y="-197302"/>
            <a:chExt cx="2984" cy="934712"/>
          </a:xfrm>
        </p:grpSpPr>
        <p:graphicFrame>
          <p:nvGraphicFramePr>
            <p:cNvPr id="19467" name="Object 3">
              <a:extLst>
                <a:ext uri="{FF2B5EF4-FFF2-40B4-BE49-F238E27FC236}">
                  <a16:creationId xmlns:a16="http://schemas.microsoft.com/office/drawing/2014/main" id="{A304D7EA-E22C-9F02-27EF-896D0377B5A0}"/>
                </a:ext>
              </a:extLst>
            </p:cNvPr>
            <p:cNvGraphicFramePr>
              <a:graphicFrameLocks noChangeAspect="1"/>
            </p:cNvGraphicFramePr>
            <p:nvPr/>
          </p:nvGraphicFramePr>
          <p:xfrm>
            <a:off x="204" y="2777"/>
            <a:ext cx="2404" cy="1256"/>
          </p:xfrm>
          <a:graphic>
            <a:graphicData uri="http://schemas.openxmlformats.org/presentationml/2006/ole">
              <mc:AlternateContent xmlns:mc="http://schemas.openxmlformats.org/markup-compatibility/2006">
                <mc:Choice xmlns:v="urn:schemas-microsoft-com:vml" Requires="v">
                  <p:oleObj name="Gráfico" r:id="rId3" imgW="8010525" imgH="5172075" progId="Excel.Chart.8">
                    <p:embed/>
                  </p:oleObj>
                </mc:Choice>
                <mc:Fallback>
                  <p:oleObj name="Gráfico" r:id="rId3" imgW="8010525" imgH="5172075" progId="Excel.Chart.8">
                    <p:embed/>
                    <p:pic>
                      <p:nvPicPr>
                        <p:cNvPr id="19467" name="Object 3">
                          <a:extLst>
                            <a:ext uri="{FF2B5EF4-FFF2-40B4-BE49-F238E27FC236}">
                              <a16:creationId xmlns:a16="http://schemas.microsoft.com/office/drawing/2014/main" id="{A304D7EA-E22C-9F02-27EF-896D0377B5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 y="2777"/>
                          <a:ext cx="2404" cy="1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8" name="Text Box 4">
              <a:extLst>
                <a:ext uri="{FF2B5EF4-FFF2-40B4-BE49-F238E27FC236}">
                  <a16:creationId xmlns:a16="http://schemas.microsoft.com/office/drawing/2014/main" id="{0D3D5EC8-9C6A-3A7E-C5D9-11BD3E9F2135}"/>
                </a:ext>
              </a:extLst>
            </p:cNvPr>
            <p:cNvSpPr txBox="1">
              <a:spLocks noChangeArrowheads="1"/>
            </p:cNvSpPr>
            <p:nvPr/>
          </p:nvSpPr>
          <p:spPr bwMode="auto">
            <a:xfrm>
              <a:off x="1336" y="-197302"/>
              <a:ext cx="1852" cy="93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s-MX" altLang="es-AR" sz="1600">
                  <a:latin typeface="Arial" panose="020B0604020202020204" pitchFamily="34" charset="0"/>
                </a:rPr>
                <a:t>Automatización del Trabajo + Administración de Información +Transformación del negocio</a:t>
              </a:r>
              <a:endParaRPr lang="es-ES" altLang="es-AR" sz="1600">
                <a:latin typeface="Arial" panose="020B0604020202020204" pitchFamily="34" charset="0"/>
              </a:endParaRPr>
            </a:p>
          </p:txBody>
        </p:sp>
      </p:grpSp>
      <p:grpSp>
        <p:nvGrpSpPr>
          <p:cNvPr id="3" name="Group 5">
            <a:extLst>
              <a:ext uri="{FF2B5EF4-FFF2-40B4-BE49-F238E27FC236}">
                <a16:creationId xmlns:a16="http://schemas.microsoft.com/office/drawing/2014/main" id="{94B71DD8-B4D9-AAA1-46E7-7A0C0EF5AF1B}"/>
              </a:ext>
            </a:extLst>
          </p:cNvPr>
          <p:cNvGrpSpPr>
            <a:grpSpLocks/>
          </p:cNvGrpSpPr>
          <p:nvPr/>
        </p:nvGrpSpPr>
        <p:grpSpPr bwMode="auto">
          <a:xfrm>
            <a:off x="1524001" y="2147483647"/>
            <a:ext cx="307975" cy="12895838"/>
            <a:chOff x="2200" y="-57921373"/>
            <a:chExt cx="3422" cy="355130004"/>
          </a:xfrm>
        </p:grpSpPr>
        <p:graphicFrame>
          <p:nvGraphicFramePr>
            <p:cNvPr id="19465" name="Object 2">
              <a:extLst>
                <a:ext uri="{FF2B5EF4-FFF2-40B4-BE49-F238E27FC236}">
                  <a16:creationId xmlns:a16="http://schemas.microsoft.com/office/drawing/2014/main" id="{B66950ED-CDAF-D7E3-8C6F-F9155D423159}"/>
                </a:ext>
              </a:extLst>
            </p:cNvPr>
            <p:cNvGraphicFramePr>
              <a:graphicFrameLocks noChangeAspect="1"/>
            </p:cNvGraphicFramePr>
            <p:nvPr/>
          </p:nvGraphicFramePr>
          <p:xfrm>
            <a:off x="2200" y="2513"/>
            <a:ext cx="2305" cy="1296"/>
          </p:xfrm>
          <a:graphic>
            <a:graphicData uri="http://schemas.openxmlformats.org/presentationml/2006/ole">
              <mc:AlternateContent xmlns:mc="http://schemas.openxmlformats.org/markup-compatibility/2006">
                <mc:Choice xmlns:v="urn:schemas-microsoft-com:vml" Requires="v">
                  <p:oleObj name="Gráfico" r:id="rId5" imgW="8010525" imgH="5172075" progId="Excel.Chart.8">
                    <p:embed/>
                  </p:oleObj>
                </mc:Choice>
                <mc:Fallback>
                  <p:oleObj name="Gráfico" r:id="rId5" imgW="8010525" imgH="5172075" progId="Excel.Chart.8">
                    <p:embed/>
                    <p:pic>
                      <p:nvPicPr>
                        <p:cNvPr id="19465" name="Object 2">
                          <a:extLst>
                            <a:ext uri="{FF2B5EF4-FFF2-40B4-BE49-F238E27FC236}">
                              <a16:creationId xmlns:a16="http://schemas.microsoft.com/office/drawing/2014/main" id="{B66950ED-CDAF-D7E3-8C6F-F9155D4231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0" y="2513"/>
                          <a:ext cx="2305" cy="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6" name="Text Box 7">
              <a:extLst>
                <a:ext uri="{FF2B5EF4-FFF2-40B4-BE49-F238E27FC236}">
                  <a16:creationId xmlns:a16="http://schemas.microsoft.com/office/drawing/2014/main" id="{35A3DA2D-C553-FF88-82D0-CFF9D8EB6BDE}"/>
                </a:ext>
              </a:extLst>
            </p:cNvPr>
            <p:cNvSpPr txBox="1">
              <a:spLocks noChangeArrowheads="1"/>
            </p:cNvSpPr>
            <p:nvPr/>
          </p:nvSpPr>
          <p:spPr bwMode="auto">
            <a:xfrm>
              <a:off x="3576" y="-57921373"/>
              <a:ext cx="2046" cy="355130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s-MX" altLang="es-AR" sz="1600">
                  <a:latin typeface="Arial" panose="020B0604020202020204" pitchFamily="34" charset="0"/>
                </a:rPr>
                <a:t>Automatización del Trabajo + Administración de Información</a:t>
              </a:r>
              <a:endParaRPr lang="es-ES" altLang="es-AR" sz="1600">
                <a:latin typeface="Arial" panose="020B0604020202020204" pitchFamily="34" charset="0"/>
              </a:endParaRPr>
            </a:p>
          </p:txBody>
        </p:sp>
      </p:grpSp>
      <p:sp>
        <p:nvSpPr>
          <p:cNvPr id="44040" name="Rectangle 8">
            <a:extLst>
              <a:ext uri="{FF2B5EF4-FFF2-40B4-BE49-F238E27FC236}">
                <a16:creationId xmlns:a16="http://schemas.microsoft.com/office/drawing/2014/main" id="{4523AFD3-8BC7-99AA-6DEB-0550CD601B96}"/>
              </a:ext>
            </a:extLst>
          </p:cNvPr>
          <p:cNvSpPr>
            <a:spLocks noGrp="1" noChangeArrowheads="1"/>
          </p:cNvSpPr>
          <p:nvPr>
            <p:ph type="title"/>
          </p:nvPr>
        </p:nvSpPr>
        <p:spPr/>
        <p:txBody>
          <a:bodyPr>
            <a:normAutofit/>
          </a:bodyPr>
          <a:lstStyle/>
          <a:p>
            <a:pPr>
              <a:defRPr/>
            </a:pPr>
            <a:r>
              <a:rPr lang="es-AR"/>
              <a:t>Gobierno de TI… Balancear…</a:t>
            </a:r>
          </a:p>
        </p:txBody>
      </p:sp>
      <p:sp>
        <p:nvSpPr>
          <p:cNvPr id="44045" name="Text Box 13">
            <a:extLst>
              <a:ext uri="{FF2B5EF4-FFF2-40B4-BE49-F238E27FC236}">
                <a16:creationId xmlns:a16="http://schemas.microsoft.com/office/drawing/2014/main" id="{1A0817B9-CA52-3A47-D4BB-75418C0C573A}"/>
              </a:ext>
            </a:extLst>
          </p:cNvPr>
          <p:cNvSpPr txBox="1">
            <a:spLocks noChangeArrowheads="1"/>
          </p:cNvSpPr>
          <p:nvPr/>
        </p:nvSpPr>
        <p:spPr bwMode="auto">
          <a:xfrm>
            <a:off x="3532865" y="2662914"/>
            <a:ext cx="912429" cy="338554"/>
          </a:xfrm>
          <a:prstGeom prst="rect">
            <a:avLst/>
          </a:prstGeom>
          <a:noFill/>
          <a:ln w="9525">
            <a:noFill/>
            <a:miter lim="800000"/>
            <a:headEnd/>
            <a:tailEnd/>
          </a:ln>
          <a:effectLst/>
        </p:spPr>
        <p:txBody>
          <a:bodyPr wrap="none">
            <a:spAutoFit/>
          </a:bodyPr>
          <a:lstStyle/>
          <a:p>
            <a:pPr eaLnBrk="1" hangingPunct="1">
              <a:spcBef>
                <a:spcPct val="20000"/>
              </a:spcBef>
              <a:buClr>
                <a:srgbClr val="CC0000"/>
              </a:buClr>
              <a:defRPr/>
            </a:pPr>
            <a:r>
              <a:rPr lang="es-ES" sz="1600" b="1">
                <a:latin typeface="Arial" charset="0"/>
                <a:cs typeface="Times New Roman" pitchFamily="18" charset="0"/>
              </a:rPr>
              <a:t>Acceso</a:t>
            </a:r>
            <a:endParaRPr lang="es-ES" sz="1600" b="1">
              <a:effectLst>
                <a:outerShdw blurRad="38100" dist="38100" dir="2700000" algn="tl">
                  <a:srgbClr val="C0C0C0"/>
                </a:outerShdw>
              </a:effectLst>
              <a:latin typeface="Arial" charset="0"/>
              <a:cs typeface="Times New Roman" pitchFamily="18" charset="0"/>
            </a:endParaRPr>
          </a:p>
        </p:txBody>
      </p:sp>
      <p:sp>
        <p:nvSpPr>
          <p:cNvPr id="44046" name="Text Box 14">
            <a:extLst>
              <a:ext uri="{FF2B5EF4-FFF2-40B4-BE49-F238E27FC236}">
                <a16:creationId xmlns:a16="http://schemas.microsoft.com/office/drawing/2014/main" id="{1787FF61-1584-8B19-D3E9-682ED2018DE0}"/>
              </a:ext>
            </a:extLst>
          </p:cNvPr>
          <p:cNvSpPr txBox="1">
            <a:spLocks noChangeArrowheads="1"/>
          </p:cNvSpPr>
          <p:nvPr/>
        </p:nvSpPr>
        <p:spPr bwMode="auto">
          <a:xfrm>
            <a:off x="8409240" y="3458012"/>
            <a:ext cx="867545" cy="338554"/>
          </a:xfrm>
          <a:prstGeom prst="rect">
            <a:avLst/>
          </a:prstGeom>
          <a:noFill/>
          <a:ln w="9525">
            <a:noFill/>
            <a:miter lim="800000"/>
            <a:headEnd/>
            <a:tailEnd/>
          </a:ln>
          <a:effectLst/>
        </p:spPr>
        <p:txBody>
          <a:bodyPr wrap="none">
            <a:spAutoFit/>
          </a:bodyPr>
          <a:lstStyle/>
          <a:p>
            <a:pPr>
              <a:spcBef>
                <a:spcPct val="20000"/>
              </a:spcBef>
              <a:buClr>
                <a:srgbClr val="CC0000"/>
              </a:buClr>
              <a:defRPr/>
            </a:pPr>
            <a:r>
              <a:rPr lang="es-ES" sz="1600" b="1">
                <a:latin typeface="Arial" charset="0"/>
                <a:cs typeface="Times New Roman" pitchFamily="18" charset="0"/>
              </a:rPr>
              <a:t>Riesgo</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26 Título">
            <a:extLst>
              <a:ext uri="{FF2B5EF4-FFF2-40B4-BE49-F238E27FC236}">
                <a16:creationId xmlns:a16="http://schemas.microsoft.com/office/drawing/2014/main" id="{4B88BF68-F30D-AAD5-F475-C6E7491EE20D}"/>
              </a:ext>
            </a:extLst>
          </p:cNvPr>
          <p:cNvSpPr>
            <a:spLocks noGrp="1"/>
          </p:cNvSpPr>
          <p:nvPr>
            <p:ph type="title"/>
          </p:nvPr>
        </p:nvSpPr>
        <p:spPr/>
        <p:txBody>
          <a:bodyPr>
            <a:normAutofit/>
          </a:bodyPr>
          <a:lstStyle/>
          <a:p>
            <a:pPr>
              <a:defRPr/>
            </a:pPr>
            <a:r>
              <a:rPr lang="es-MX"/>
              <a:t>Gobierno TI</a:t>
            </a:r>
            <a:br>
              <a:rPr lang="es-MX"/>
            </a:br>
            <a:r>
              <a:rPr lang="es-MX"/>
              <a:t>¿Qué es?</a:t>
            </a:r>
            <a:endParaRPr lang="es-AR"/>
          </a:p>
        </p:txBody>
      </p:sp>
      <p:sp>
        <p:nvSpPr>
          <p:cNvPr id="23555" name="4 Marcador de número de diapositiva">
            <a:extLst>
              <a:ext uri="{FF2B5EF4-FFF2-40B4-BE49-F238E27FC236}">
                <a16:creationId xmlns:a16="http://schemas.microsoft.com/office/drawing/2014/main" id="{66BA7F8A-2D53-1056-9C19-3FD999CA0595}"/>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728F9CA4-93C0-4570-B5A5-20453EAC847C}" type="slidenum">
              <a:rPr lang="en-US" altLang="es-AR" sz="1400">
                <a:solidFill>
                  <a:schemeClr val="tx2"/>
                </a:solidFill>
                <a:latin typeface="Times New Roman" panose="02020603050405020304" pitchFamily="18" charset="0"/>
              </a:rPr>
              <a:pPr>
                <a:spcBef>
                  <a:spcPct val="0"/>
                </a:spcBef>
                <a:buClrTx/>
                <a:buSzTx/>
                <a:buFontTx/>
                <a:buNone/>
              </a:pPr>
              <a:t>7</a:t>
            </a:fld>
            <a:endParaRPr lang="en-US" altLang="es-AR" sz="1400">
              <a:solidFill>
                <a:schemeClr val="tx2"/>
              </a:solidFill>
              <a:latin typeface="Times New Roman" panose="02020603050405020304" pitchFamily="18" charset="0"/>
            </a:endParaRPr>
          </a:p>
        </p:txBody>
      </p:sp>
      <p:sp>
        <p:nvSpPr>
          <p:cNvPr id="23556" name="Rectangle 7">
            <a:extLst>
              <a:ext uri="{FF2B5EF4-FFF2-40B4-BE49-F238E27FC236}">
                <a16:creationId xmlns:a16="http://schemas.microsoft.com/office/drawing/2014/main" id="{18B09CB7-8101-5B73-1DF1-C1915422C7C5}"/>
              </a:ext>
            </a:extLst>
          </p:cNvPr>
          <p:cNvSpPr>
            <a:spLocks noGrp="1"/>
          </p:cNvSpPr>
          <p:nvPr>
            <p:ph sz="quarter" idx="1"/>
          </p:nvPr>
        </p:nvSpPr>
        <p:spPr>
          <a:xfrm>
            <a:off x="434566" y="2114628"/>
            <a:ext cx="5588411" cy="4041698"/>
          </a:xfrm>
        </p:spPr>
        <p:txBody>
          <a:bodyPr/>
          <a:lstStyle/>
          <a:p>
            <a:pPr eaLnBrk="1" hangingPunct="1">
              <a:lnSpc>
                <a:spcPct val="80000"/>
              </a:lnSpc>
            </a:pPr>
            <a:r>
              <a:rPr lang="es-ES" altLang="es-AR">
                <a:solidFill>
                  <a:schemeClr val="accent1"/>
                </a:solidFill>
              </a:rPr>
              <a:t>El Gobierno TI un subconjunto del “Gobierno Corporativo” que proporciona:</a:t>
            </a:r>
          </a:p>
          <a:p>
            <a:pPr lvl="1" eaLnBrk="1" hangingPunct="1">
              <a:lnSpc>
                <a:spcPct val="80000"/>
              </a:lnSpc>
            </a:pPr>
            <a:r>
              <a:rPr lang="es-ES" altLang="es-AR">
                <a:solidFill>
                  <a:schemeClr val="accent1"/>
                </a:solidFill>
              </a:rPr>
              <a:t>la dirección estratégica, se asegura de que los objetivos serán alcanzados, </a:t>
            </a:r>
          </a:p>
          <a:p>
            <a:pPr lvl="1" eaLnBrk="1" hangingPunct="1">
              <a:lnSpc>
                <a:spcPct val="80000"/>
              </a:lnSpc>
            </a:pPr>
            <a:r>
              <a:rPr lang="es-ES" altLang="es-AR">
                <a:solidFill>
                  <a:schemeClr val="accent1"/>
                </a:solidFill>
              </a:rPr>
              <a:t>manejo apropiado de riesgos, </a:t>
            </a:r>
          </a:p>
          <a:p>
            <a:pPr lvl="1" eaLnBrk="1" hangingPunct="1">
              <a:lnSpc>
                <a:spcPct val="80000"/>
              </a:lnSpc>
            </a:pPr>
            <a:r>
              <a:rPr lang="es-ES" altLang="es-AR">
                <a:solidFill>
                  <a:schemeClr val="accent1"/>
                </a:solidFill>
              </a:rPr>
              <a:t>utilización responsable de los recursos de la  organización, y </a:t>
            </a:r>
          </a:p>
          <a:p>
            <a:pPr lvl="1" eaLnBrk="1" hangingPunct="1">
              <a:lnSpc>
                <a:spcPct val="80000"/>
              </a:lnSpc>
            </a:pPr>
            <a:r>
              <a:rPr lang="es-ES" altLang="es-AR">
                <a:solidFill>
                  <a:schemeClr val="accent1"/>
                </a:solidFill>
              </a:rPr>
              <a:t>monitoreo del éxito o falla del programa de TIC de la empresa.</a:t>
            </a:r>
          </a:p>
          <a:p>
            <a:pPr eaLnBrk="1" hangingPunct="1">
              <a:lnSpc>
                <a:spcPct val="80000"/>
              </a:lnSpc>
            </a:pPr>
            <a:endParaRPr lang="es-ES" altLang="es-AR">
              <a:solidFill>
                <a:schemeClr val="accent1"/>
              </a:solidFill>
            </a:endParaRPr>
          </a:p>
        </p:txBody>
      </p:sp>
      <p:grpSp>
        <p:nvGrpSpPr>
          <p:cNvPr id="23557" name="Group 8">
            <a:extLst>
              <a:ext uri="{FF2B5EF4-FFF2-40B4-BE49-F238E27FC236}">
                <a16:creationId xmlns:a16="http://schemas.microsoft.com/office/drawing/2014/main" id="{1881D10E-D0BA-C1C4-2378-DB87E596B4F3}"/>
              </a:ext>
            </a:extLst>
          </p:cNvPr>
          <p:cNvGrpSpPr>
            <a:grpSpLocks/>
          </p:cNvGrpSpPr>
          <p:nvPr/>
        </p:nvGrpSpPr>
        <p:grpSpPr bwMode="auto">
          <a:xfrm>
            <a:off x="6482251" y="2076015"/>
            <a:ext cx="4359275" cy="4117123"/>
            <a:chOff x="2925" y="1434"/>
            <a:chExt cx="2771" cy="2665"/>
          </a:xfrm>
        </p:grpSpPr>
        <p:sp>
          <p:nvSpPr>
            <p:cNvPr id="23560" name="Freeform 9">
              <a:extLst>
                <a:ext uri="{FF2B5EF4-FFF2-40B4-BE49-F238E27FC236}">
                  <a16:creationId xmlns:a16="http://schemas.microsoft.com/office/drawing/2014/main" id="{E3EB8117-2288-D0EB-7DB3-C3CD24B3108C}"/>
                </a:ext>
              </a:extLst>
            </p:cNvPr>
            <p:cNvSpPr>
              <a:spLocks/>
            </p:cNvSpPr>
            <p:nvPr/>
          </p:nvSpPr>
          <p:spPr bwMode="auto">
            <a:xfrm>
              <a:off x="2925" y="2438"/>
              <a:ext cx="1053" cy="1630"/>
            </a:xfrm>
            <a:custGeom>
              <a:avLst/>
              <a:gdLst>
                <a:gd name="T0" fmla="*/ 549 w 1139"/>
                <a:gd name="T1" fmla="*/ 1630 h 1740"/>
                <a:gd name="T2" fmla="*/ 1053 w 1139"/>
                <a:gd name="T3" fmla="*/ 908 h 1740"/>
                <a:gd name="T4" fmla="*/ 802 w 1139"/>
                <a:gd name="T5" fmla="*/ 228 h 1740"/>
                <a:gd name="T6" fmla="*/ 0 w 1139"/>
                <a:gd name="T7" fmla="*/ 0 h 1740"/>
                <a:gd name="T8" fmla="*/ 549 w 1139"/>
                <a:gd name="T9" fmla="*/ 1630 h 1740"/>
                <a:gd name="T10" fmla="*/ 0 60000 65536"/>
                <a:gd name="T11" fmla="*/ 0 60000 65536"/>
                <a:gd name="T12" fmla="*/ 0 60000 65536"/>
                <a:gd name="T13" fmla="*/ 0 60000 65536"/>
                <a:gd name="T14" fmla="*/ 0 60000 65536"/>
                <a:gd name="T15" fmla="*/ 0 w 1139"/>
                <a:gd name="T16" fmla="*/ 0 h 1740"/>
                <a:gd name="T17" fmla="*/ 1139 w 1139"/>
                <a:gd name="T18" fmla="*/ 1740 h 1740"/>
              </a:gdLst>
              <a:ahLst/>
              <a:cxnLst>
                <a:cxn ang="T10">
                  <a:pos x="T0" y="T1"/>
                </a:cxn>
                <a:cxn ang="T11">
                  <a:pos x="T2" y="T3"/>
                </a:cxn>
                <a:cxn ang="T12">
                  <a:pos x="T4" y="T5"/>
                </a:cxn>
                <a:cxn ang="T13">
                  <a:pos x="T6" y="T7"/>
                </a:cxn>
                <a:cxn ang="T14">
                  <a:pos x="T8" y="T9"/>
                </a:cxn>
              </a:cxnLst>
              <a:rect l="T15" t="T16" r="T17" b="T18"/>
              <a:pathLst>
                <a:path w="1139" h="1740">
                  <a:moveTo>
                    <a:pt x="594" y="1740"/>
                  </a:moveTo>
                  <a:lnTo>
                    <a:pt x="1139" y="969"/>
                  </a:lnTo>
                  <a:lnTo>
                    <a:pt x="867" y="243"/>
                  </a:lnTo>
                  <a:lnTo>
                    <a:pt x="0" y="0"/>
                  </a:lnTo>
                  <a:lnTo>
                    <a:pt x="594" y="1740"/>
                  </a:lnTo>
                  <a:close/>
                </a:path>
              </a:pathLst>
            </a:custGeom>
            <a:solidFill>
              <a:srgbClr val="B7CFE7"/>
            </a:solidFill>
            <a:ln w="9525">
              <a:solidFill>
                <a:srgbClr val="4B88C5"/>
              </a:solidFill>
              <a:round/>
              <a:headEnd/>
              <a:tailEnd/>
            </a:ln>
          </p:spPr>
          <p:txBody>
            <a:bodyPr/>
            <a:lstStyle/>
            <a:p>
              <a:endParaRPr lang="es-AR"/>
            </a:p>
          </p:txBody>
        </p:sp>
        <p:sp>
          <p:nvSpPr>
            <p:cNvPr id="23561" name="Freeform 10">
              <a:extLst>
                <a:ext uri="{FF2B5EF4-FFF2-40B4-BE49-F238E27FC236}">
                  <a16:creationId xmlns:a16="http://schemas.microsoft.com/office/drawing/2014/main" id="{4C327AF3-838C-4988-22A2-9AC7CF492322}"/>
                </a:ext>
              </a:extLst>
            </p:cNvPr>
            <p:cNvSpPr>
              <a:spLocks/>
            </p:cNvSpPr>
            <p:nvPr/>
          </p:nvSpPr>
          <p:spPr bwMode="auto">
            <a:xfrm>
              <a:off x="3474" y="3346"/>
              <a:ext cx="1678" cy="722"/>
            </a:xfrm>
            <a:custGeom>
              <a:avLst/>
              <a:gdLst>
                <a:gd name="T0" fmla="*/ 0 w 1815"/>
                <a:gd name="T1" fmla="*/ 722 h 771"/>
                <a:gd name="T2" fmla="*/ 504 w 1815"/>
                <a:gd name="T3" fmla="*/ 0 h 771"/>
                <a:gd name="T4" fmla="*/ 1217 w 1815"/>
                <a:gd name="T5" fmla="*/ 0 h 771"/>
                <a:gd name="T6" fmla="*/ 1678 w 1815"/>
                <a:gd name="T7" fmla="*/ 722 h 771"/>
                <a:gd name="T8" fmla="*/ 0 w 1815"/>
                <a:gd name="T9" fmla="*/ 722 h 771"/>
                <a:gd name="T10" fmla="*/ 0 60000 65536"/>
                <a:gd name="T11" fmla="*/ 0 60000 65536"/>
                <a:gd name="T12" fmla="*/ 0 60000 65536"/>
                <a:gd name="T13" fmla="*/ 0 60000 65536"/>
                <a:gd name="T14" fmla="*/ 0 60000 65536"/>
                <a:gd name="T15" fmla="*/ 0 w 1815"/>
                <a:gd name="T16" fmla="*/ 0 h 771"/>
                <a:gd name="T17" fmla="*/ 1815 w 1815"/>
                <a:gd name="T18" fmla="*/ 771 h 771"/>
              </a:gdLst>
              <a:ahLst/>
              <a:cxnLst>
                <a:cxn ang="T10">
                  <a:pos x="T0" y="T1"/>
                </a:cxn>
                <a:cxn ang="T11">
                  <a:pos x="T2" y="T3"/>
                </a:cxn>
                <a:cxn ang="T12">
                  <a:pos x="T4" y="T5"/>
                </a:cxn>
                <a:cxn ang="T13">
                  <a:pos x="T6" y="T7"/>
                </a:cxn>
                <a:cxn ang="T14">
                  <a:pos x="T8" y="T9"/>
                </a:cxn>
              </a:cxnLst>
              <a:rect l="T15" t="T16" r="T17" b="T18"/>
              <a:pathLst>
                <a:path w="1815" h="771">
                  <a:moveTo>
                    <a:pt x="0" y="771"/>
                  </a:moveTo>
                  <a:lnTo>
                    <a:pt x="545" y="0"/>
                  </a:lnTo>
                  <a:lnTo>
                    <a:pt x="1316" y="0"/>
                  </a:lnTo>
                  <a:lnTo>
                    <a:pt x="1815" y="771"/>
                  </a:lnTo>
                  <a:lnTo>
                    <a:pt x="0" y="771"/>
                  </a:lnTo>
                  <a:close/>
                </a:path>
              </a:pathLst>
            </a:custGeom>
            <a:solidFill>
              <a:srgbClr val="74A3D2"/>
            </a:solidFill>
            <a:ln w="9525">
              <a:solidFill>
                <a:srgbClr val="4B88C5"/>
              </a:solidFill>
              <a:round/>
              <a:headEnd/>
              <a:tailEnd/>
            </a:ln>
          </p:spPr>
          <p:txBody>
            <a:bodyPr/>
            <a:lstStyle/>
            <a:p>
              <a:endParaRPr lang="es-AR"/>
            </a:p>
          </p:txBody>
        </p:sp>
        <p:sp>
          <p:nvSpPr>
            <p:cNvPr id="23562" name="Freeform 11">
              <a:extLst>
                <a:ext uri="{FF2B5EF4-FFF2-40B4-BE49-F238E27FC236}">
                  <a16:creationId xmlns:a16="http://schemas.microsoft.com/office/drawing/2014/main" id="{349AD581-AE38-ADD1-2D01-8BE0633FE014}"/>
                </a:ext>
              </a:extLst>
            </p:cNvPr>
            <p:cNvSpPr>
              <a:spLocks/>
            </p:cNvSpPr>
            <p:nvPr/>
          </p:nvSpPr>
          <p:spPr bwMode="auto">
            <a:xfrm>
              <a:off x="4690" y="2411"/>
              <a:ext cx="1006" cy="1657"/>
            </a:xfrm>
            <a:custGeom>
              <a:avLst/>
              <a:gdLst>
                <a:gd name="T0" fmla="*/ 461 w 1088"/>
                <a:gd name="T1" fmla="*/ 1657 h 1769"/>
                <a:gd name="T2" fmla="*/ 0 w 1088"/>
                <a:gd name="T3" fmla="*/ 935 h 1769"/>
                <a:gd name="T4" fmla="*/ 210 w 1088"/>
                <a:gd name="T5" fmla="*/ 255 h 1769"/>
                <a:gd name="T6" fmla="*/ 1006 w 1088"/>
                <a:gd name="T7" fmla="*/ 0 h 1769"/>
                <a:gd name="T8" fmla="*/ 461 w 1088"/>
                <a:gd name="T9" fmla="*/ 1657 h 1769"/>
                <a:gd name="T10" fmla="*/ 0 60000 65536"/>
                <a:gd name="T11" fmla="*/ 0 60000 65536"/>
                <a:gd name="T12" fmla="*/ 0 60000 65536"/>
                <a:gd name="T13" fmla="*/ 0 60000 65536"/>
                <a:gd name="T14" fmla="*/ 0 60000 65536"/>
                <a:gd name="T15" fmla="*/ 0 w 1088"/>
                <a:gd name="T16" fmla="*/ 0 h 1769"/>
                <a:gd name="T17" fmla="*/ 1088 w 1088"/>
                <a:gd name="T18" fmla="*/ 1769 h 1769"/>
              </a:gdLst>
              <a:ahLst/>
              <a:cxnLst>
                <a:cxn ang="T10">
                  <a:pos x="T0" y="T1"/>
                </a:cxn>
                <a:cxn ang="T11">
                  <a:pos x="T2" y="T3"/>
                </a:cxn>
                <a:cxn ang="T12">
                  <a:pos x="T4" y="T5"/>
                </a:cxn>
                <a:cxn ang="T13">
                  <a:pos x="T6" y="T7"/>
                </a:cxn>
                <a:cxn ang="T14">
                  <a:pos x="T8" y="T9"/>
                </a:cxn>
              </a:cxnLst>
              <a:rect l="T15" t="T16" r="T17" b="T18"/>
              <a:pathLst>
                <a:path w="1088" h="1769">
                  <a:moveTo>
                    <a:pt x="499" y="1769"/>
                  </a:moveTo>
                  <a:lnTo>
                    <a:pt x="0" y="998"/>
                  </a:lnTo>
                  <a:lnTo>
                    <a:pt x="227" y="272"/>
                  </a:lnTo>
                  <a:lnTo>
                    <a:pt x="1088" y="0"/>
                  </a:lnTo>
                  <a:lnTo>
                    <a:pt x="499" y="1769"/>
                  </a:lnTo>
                  <a:close/>
                </a:path>
              </a:pathLst>
            </a:custGeom>
            <a:solidFill>
              <a:srgbClr val="74A3D2"/>
            </a:solidFill>
            <a:ln w="9525">
              <a:solidFill>
                <a:srgbClr val="4B88C5"/>
              </a:solidFill>
              <a:round/>
              <a:headEnd/>
              <a:tailEnd/>
            </a:ln>
          </p:spPr>
          <p:txBody>
            <a:bodyPr/>
            <a:lstStyle/>
            <a:p>
              <a:endParaRPr lang="es-AR"/>
            </a:p>
          </p:txBody>
        </p:sp>
        <p:sp>
          <p:nvSpPr>
            <p:cNvPr id="23563" name="Freeform 12">
              <a:extLst>
                <a:ext uri="{FF2B5EF4-FFF2-40B4-BE49-F238E27FC236}">
                  <a16:creationId xmlns:a16="http://schemas.microsoft.com/office/drawing/2014/main" id="{EB2BE57C-CF4A-6DCC-45C0-F6C4DAA11988}"/>
                </a:ext>
              </a:extLst>
            </p:cNvPr>
            <p:cNvSpPr>
              <a:spLocks/>
            </p:cNvSpPr>
            <p:nvPr/>
          </p:nvSpPr>
          <p:spPr bwMode="auto">
            <a:xfrm>
              <a:off x="2933" y="1434"/>
              <a:ext cx="1380" cy="1232"/>
            </a:xfrm>
            <a:custGeom>
              <a:avLst/>
              <a:gdLst>
                <a:gd name="T0" fmla="*/ 0 w 1493"/>
                <a:gd name="T1" fmla="*/ 1013 h 1315"/>
                <a:gd name="T2" fmla="*/ 1380 w 1493"/>
                <a:gd name="T3" fmla="*/ 0 h 1315"/>
                <a:gd name="T4" fmla="*/ 1380 w 1493"/>
                <a:gd name="T5" fmla="*/ 807 h 1315"/>
                <a:gd name="T6" fmla="*/ 793 w 1493"/>
                <a:gd name="T7" fmla="*/ 1232 h 1315"/>
                <a:gd name="T8" fmla="*/ 0 w 1493"/>
                <a:gd name="T9" fmla="*/ 1013 h 1315"/>
                <a:gd name="T10" fmla="*/ 0 60000 65536"/>
                <a:gd name="T11" fmla="*/ 0 60000 65536"/>
                <a:gd name="T12" fmla="*/ 0 60000 65536"/>
                <a:gd name="T13" fmla="*/ 0 60000 65536"/>
                <a:gd name="T14" fmla="*/ 0 60000 65536"/>
                <a:gd name="T15" fmla="*/ 0 w 1493"/>
                <a:gd name="T16" fmla="*/ 0 h 1315"/>
                <a:gd name="T17" fmla="*/ 1493 w 1493"/>
                <a:gd name="T18" fmla="*/ 1315 h 1315"/>
              </a:gdLst>
              <a:ahLst/>
              <a:cxnLst>
                <a:cxn ang="T10">
                  <a:pos x="T0" y="T1"/>
                </a:cxn>
                <a:cxn ang="T11">
                  <a:pos x="T2" y="T3"/>
                </a:cxn>
                <a:cxn ang="T12">
                  <a:pos x="T4" y="T5"/>
                </a:cxn>
                <a:cxn ang="T13">
                  <a:pos x="T6" y="T7"/>
                </a:cxn>
                <a:cxn ang="T14">
                  <a:pos x="T8" y="T9"/>
                </a:cxn>
              </a:cxnLst>
              <a:rect l="T15" t="T16" r="T17" b="T18"/>
              <a:pathLst>
                <a:path w="1493" h="1315">
                  <a:moveTo>
                    <a:pt x="0" y="1081"/>
                  </a:moveTo>
                  <a:lnTo>
                    <a:pt x="1493" y="0"/>
                  </a:lnTo>
                  <a:lnTo>
                    <a:pt x="1493" y="861"/>
                  </a:lnTo>
                  <a:lnTo>
                    <a:pt x="858" y="1315"/>
                  </a:lnTo>
                  <a:lnTo>
                    <a:pt x="0" y="1081"/>
                  </a:lnTo>
                  <a:close/>
                </a:path>
              </a:pathLst>
            </a:custGeom>
            <a:solidFill>
              <a:srgbClr val="B7CFE7"/>
            </a:solidFill>
            <a:ln w="9525">
              <a:solidFill>
                <a:srgbClr val="4B88C5"/>
              </a:solidFill>
              <a:round/>
              <a:headEnd/>
              <a:tailEnd/>
            </a:ln>
          </p:spPr>
          <p:txBody>
            <a:bodyPr/>
            <a:lstStyle/>
            <a:p>
              <a:endParaRPr lang="es-AR"/>
            </a:p>
          </p:txBody>
        </p:sp>
        <p:sp>
          <p:nvSpPr>
            <p:cNvPr id="23564" name="Freeform 13">
              <a:extLst>
                <a:ext uri="{FF2B5EF4-FFF2-40B4-BE49-F238E27FC236}">
                  <a16:creationId xmlns:a16="http://schemas.microsoft.com/office/drawing/2014/main" id="{B6DA65BB-7197-C76E-4B0E-41369C5CFF89}"/>
                </a:ext>
              </a:extLst>
            </p:cNvPr>
            <p:cNvSpPr>
              <a:spLocks/>
            </p:cNvSpPr>
            <p:nvPr/>
          </p:nvSpPr>
          <p:spPr bwMode="auto">
            <a:xfrm>
              <a:off x="4313" y="1434"/>
              <a:ext cx="1383" cy="1232"/>
            </a:xfrm>
            <a:custGeom>
              <a:avLst/>
              <a:gdLst>
                <a:gd name="T0" fmla="*/ 0 w 1496"/>
                <a:gd name="T1" fmla="*/ 0 h 1315"/>
                <a:gd name="T2" fmla="*/ 1383 w 1496"/>
                <a:gd name="T3" fmla="*/ 977 h 1315"/>
                <a:gd name="T4" fmla="*/ 587 w 1496"/>
                <a:gd name="T5" fmla="*/ 1232 h 1315"/>
                <a:gd name="T6" fmla="*/ 0 w 1496"/>
                <a:gd name="T7" fmla="*/ 807 h 1315"/>
                <a:gd name="T8" fmla="*/ 0 w 1496"/>
                <a:gd name="T9" fmla="*/ 0 h 1315"/>
                <a:gd name="T10" fmla="*/ 0 60000 65536"/>
                <a:gd name="T11" fmla="*/ 0 60000 65536"/>
                <a:gd name="T12" fmla="*/ 0 60000 65536"/>
                <a:gd name="T13" fmla="*/ 0 60000 65536"/>
                <a:gd name="T14" fmla="*/ 0 60000 65536"/>
                <a:gd name="T15" fmla="*/ 0 w 1496"/>
                <a:gd name="T16" fmla="*/ 0 h 1315"/>
                <a:gd name="T17" fmla="*/ 1496 w 1496"/>
                <a:gd name="T18" fmla="*/ 1315 h 1315"/>
              </a:gdLst>
              <a:ahLst/>
              <a:cxnLst>
                <a:cxn ang="T10">
                  <a:pos x="T0" y="T1"/>
                </a:cxn>
                <a:cxn ang="T11">
                  <a:pos x="T2" y="T3"/>
                </a:cxn>
                <a:cxn ang="T12">
                  <a:pos x="T4" y="T5"/>
                </a:cxn>
                <a:cxn ang="T13">
                  <a:pos x="T6" y="T7"/>
                </a:cxn>
                <a:cxn ang="T14">
                  <a:pos x="T8" y="T9"/>
                </a:cxn>
              </a:cxnLst>
              <a:rect l="T15" t="T16" r="T17" b="T18"/>
              <a:pathLst>
                <a:path w="1496" h="1315">
                  <a:moveTo>
                    <a:pt x="0" y="0"/>
                  </a:moveTo>
                  <a:lnTo>
                    <a:pt x="1496" y="1043"/>
                  </a:lnTo>
                  <a:lnTo>
                    <a:pt x="635" y="1315"/>
                  </a:lnTo>
                  <a:lnTo>
                    <a:pt x="0" y="861"/>
                  </a:lnTo>
                  <a:lnTo>
                    <a:pt x="0" y="0"/>
                  </a:lnTo>
                  <a:close/>
                </a:path>
              </a:pathLst>
            </a:custGeom>
            <a:solidFill>
              <a:srgbClr val="74A3D2"/>
            </a:solidFill>
            <a:ln w="9525">
              <a:solidFill>
                <a:srgbClr val="4B88C5"/>
              </a:solidFill>
              <a:round/>
              <a:headEnd/>
              <a:tailEnd/>
            </a:ln>
          </p:spPr>
          <p:txBody>
            <a:bodyPr/>
            <a:lstStyle/>
            <a:p>
              <a:endParaRPr lang="es-AR"/>
            </a:p>
          </p:txBody>
        </p:sp>
        <p:sp>
          <p:nvSpPr>
            <p:cNvPr id="23565" name="Freeform 14">
              <a:extLst>
                <a:ext uri="{FF2B5EF4-FFF2-40B4-BE49-F238E27FC236}">
                  <a16:creationId xmlns:a16="http://schemas.microsoft.com/office/drawing/2014/main" id="{AC4CE0D1-A2F5-A7EF-7E7E-5BD37EFA6013}"/>
                </a:ext>
              </a:extLst>
            </p:cNvPr>
            <p:cNvSpPr>
              <a:spLocks/>
            </p:cNvSpPr>
            <p:nvPr/>
          </p:nvSpPr>
          <p:spPr bwMode="auto">
            <a:xfrm>
              <a:off x="3726" y="2240"/>
              <a:ext cx="1174" cy="1106"/>
            </a:xfrm>
            <a:custGeom>
              <a:avLst/>
              <a:gdLst>
                <a:gd name="T0" fmla="*/ 251 w 1270"/>
                <a:gd name="T1" fmla="*/ 1106 h 1180"/>
                <a:gd name="T2" fmla="*/ 0 w 1270"/>
                <a:gd name="T3" fmla="*/ 426 h 1180"/>
                <a:gd name="T4" fmla="*/ 587 w 1270"/>
                <a:gd name="T5" fmla="*/ 0 h 1180"/>
                <a:gd name="T6" fmla="*/ 1174 w 1270"/>
                <a:gd name="T7" fmla="*/ 426 h 1180"/>
                <a:gd name="T8" fmla="*/ 964 w 1270"/>
                <a:gd name="T9" fmla="*/ 1106 h 1180"/>
                <a:gd name="T10" fmla="*/ 251 w 1270"/>
                <a:gd name="T11" fmla="*/ 1106 h 1180"/>
                <a:gd name="T12" fmla="*/ 0 60000 65536"/>
                <a:gd name="T13" fmla="*/ 0 60000 65536"/>
                <a:gd name="T14" fmla="*/ 0 60000 65536"/>
                <a:gd name="T15" fmla="*/ 0 60000 65536"/>
                <a:gd name="T16" fmla="*/ 0 60000 65536"/>
                <a:gd name="T17" fmla="*/ 0 60000 65536"/>
                <a:gd name="T18" fmla="*/ 0 w 1270"/>
                <a:gd name="T19" fmla="*/ 0 h 1180"/>
                <a:gd name="T20" fmla="*/ 1270 w 1270"/>
                <a:gd name="T21" fmla="*/ 1180 h 1180"/>
              </a:gdLst>
              <a:ahLst/>
              <a:cxnLst>
                <a:cxn ang="T12">
                  <a:pos x="T0" y="T1"/>
                </a:cxn>
                <a:cxn ang="T13">
                  <a:pos x="T2" y="T3"/>
                </a:cxn>
                <a:cxn ang="T14">
                  <a:pos x="T4" y="T5"/>
                </a:cxn>
                <a:cxn ang="T15">
                  <a:pos x="T6" y="T7"/>
                </a:cxn>
                <a:cxn ang="T16">
                  <a:pos x="T8" y="T9"/>
                </a:cxn>
                <a:cxn ang="T17">
                  <a:pos x="T10" y="T11"/>
                </a:cxn>
              </a:cxnLst>
              <a:rect l="T18" t="T19" r="T20" b="T21"/>
              <a:pathLst>
                <a:path w="1270" h="1180">
                  <a:moveTo>
                    <a:pt x="272" y="1180"/>
                  </a:moveTo>
                  <a:lnTo>
                    <a:pt x="0" y="454"/>
                  </a:lnTo>
                  <a:lnTo>
                    <a:pt x="635" y="0"/>
                  </a:lnTo>
                  <a:lnTo>
                    <a:pt x="1270" y="454"/>
                  </a:lnTo>
                  <a:lnTo>
                    <a:pt x="1043" y="1180"/>
                  </a:lnTo>
                  <a:lnTo>
                    <a:pt x="272" y="1180"/>
                  </a:lnTo>
                  <a:close/>
                </a:path>
              </a:pathLst>
            </a:custGeom>
            <a:gradFill rotWithShape="1">
              <a:gsLst>
                <a:gs pos="0">
                  <a:srgbClr val="77A5D3"/>
                </a:gs>
                <a:gs pos="100000">
                  <a:srgbClr val="374C62"/>
                </a:gs>
              </a:gsLst>
              <a:lin ang="2700000" scaled="1"/>
            </a:gradFill>
            <a:ln w="9525">
              <a:solidFill>
                <a:srgbClr val="4B88C5"/>
              </a:solidFill>
              <a:round/>
              <a:headEnd/>
              <a:tailEnd/>
            </a:ln>
          </p:spPr>
          <p:txBody>
            <a:bodyPr/>
            <a:lstStyle/>
            <a:p>
              <a:endParaRPr lang="es-AR"/>
            </a:p>
          </p:txBody>
        </p:sp>
        <p:sp>
          <p:nvSpPr>
            <p:cNvPr id="23566" name="Text Box 15">
              <a:extLst>
                <a:ext uri="{FF2B5EF4-FFF2-40B4-BE49-F238E27FC236}">
                  <a16:creationId xmlns:a16="http://schemas.microsoft.com/office/drawing/2014/main" id="{A77438DD-D826-A69D-EDD4-42061E902F96}"/>
                </a:ext>
              </a:extLst>
            </p:cNvPr>
            <p:cNvSpPr txBox="1">
              <a:spLocks noChangeArrowheads="1"/>
            </p:cNvSpPr>
            <p:nvPr/>
          </p:nvSpPr>
          <p:spPr bwMode="auto">
            <a:xfrm>
              <a:off x="3894" y="2512"/>
              <a:ext cx="922"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lnSpc>
                  <a:spcPct val="80000"/>
                </a:lnSpc>
                <a:spcBef>
                  <a:spcPct val="0"/>
                </a:spcBef>
                <a:buClrTx/>
                <a:buSzTx/>
                <a:buFontTx/>
                <a:buNone/>
              </a:pPr>
              <a:endParaRPr lang="es-MX" altLang="es-AR" sz="2400">
                <a:solidFill>
                  <a:schemeClr val="bg1"/>
                </a:solidFill>
                <a:latin typeface="Arial Narrow" panose="020B0606020202030204" pitchFamily="34" charset="0"/>
              </a:endParaRPr>
            </a:p>
            <a:p>
              <a:pPr algn="ctr" eaLnBrk="1" hangingPunct="1">
                <a:lnSpc>
                  <a:spcPct val="80000"/>
                </a:lnSpc>
                <a:spcBef>
                  <a:spcPct val="0"/>
                </a:spcBef>
                <a:buClrTx/>
                <a:buSzTx/>
                <a:buFontTx/>
                <a:buNone/>
              </a:pPr>
              <a:r>
                <a:rPr lang="es-MX" altLang="es-AR" sz="2400">
                  <a:solidFill>
                    <a:schemeClr val="bg1"/>
                  </a:solidFill>
                  <a:latin typeface="Arial Narrow" panose="020B0606020202030204" pitchFamily="34" charset="0"/>
                </a:rPr>
                <a:t>Gobierno de TI</a:t>
              </a:r>
              <a:endParaRPr lang="es-ES" altLang="es-AR" sz="2400">
                <a:solidFill>
                  <a:schemeClr val="bg1"/>
                </a:solidFill>
                <a:latin typeface="Arial Narrow" panose="020B0606020202030204" pitchFamily="34" charset="0"/>
              </a:endParaRPr>
            </a:p>
          </p:txBody>
        </p:sp>
        <p:sp>
          <p:nvSpPr>
            <p:cNvPr id="23567" name="Freeform 16">
              <a:extLst>
                <a:ext uri="{FF2B5EF4-FFF2-40B4-BE49-F238E27FC236}">
                  <a16:creationId xmlns:a16="http://schemas.microsoft.com/office/drawing/2014/main" id="{11E3A3A6-CF6B-9DF3-211B-06B1A3041682}"/>
                </a:ext>
              </a:extLst>
            </p:cNvPr>
            <p:cNvSpPr>
              <a:spLocks/>
            </p:cNvSpPr>
            <p:nvPr/>
          </p:nvSpPr>
          <p:spPr bwMode="auto">
            <a:xfrm>
              <a:off x="4700" y="2792"/>
              <a:ext cx="673" cy="997"/>
            </a:xfrm>
            <a:custGeom>
              <a:avLst/>
              <a:gdLst>
                <a:gd name="T0" fmla="*/ 334 w 561"/>
                <a:gd name="T1" fmla="*/ 996 h 813"/>
                <a:gd name="T2" fmla="*/ 330 w 561"/>
                <a:gd name="T3" fmla="*/ 991 h 813"/>
                <a:gd name="T4" fmla="*/ 326 w 561"/>
                <a:gd name="T5" fmla="*/ 985 h 813"/>
                <a:gd name="T6" fmla="*/ 322 w 561"/>
                <a:gd name="T7" fmla="*/ 979 h 813"/>
                <a:gd name="T8" fmla="*/ 316 w 561"/>
                <a:gd name="T9" fmla="*/ 972 h 813"/>
                <a:gd name="T10" fmla="*/ 312 w 561"/>
                <a:gd name="T11" fmla="*/ 966 h 813"/>
                <a:gd name="T12" fmla="*/ 305 w 561"/>
                <a:gd name="T13" fmla="*/ 955 h 813"/>
                <a:gd name="T14" fmla="*/ 300 w 561"/>
                <a:gd name="T15" fmla="*/ 948 h 813"/>
                <a:gd name="T16" fmla="*/ 293 w 561"/>
                <a:gd name="T17" fmla="*/ 937 h 813"/>
                <a:gd name="T18" fmla="*/ 286 w 561"/>
                <a:gd name="T19" fmla="*/ 928 h 813"/>
                <a:gd name="T20" fmla="*/ 278 w 561"/>
                <a:gd name="T21" fmla="*/ 921 h 813"/>
                <a:gd name="T22" fmla="*/ 274 w 561"/>
                <a:gd name="T23" fmla="*/ 911 h 813"/>
                <a:gd name="T24" fmla="*/ 268 w 561"/>
                <a:gd name="T25" fmla="*/ 905 h 813"/>
                <a:gd name="T26" fmla="*/ 263 w 561"/>
                <a:gd name="T27" fmla="*/ 899 h 813"/>
                <a:gd name="T28" fmla="*/ 260 w 561"/>
                <a:gd name="T29" fmla="*/ 895 h 813"/>
                <a:gd name="T30" fmla="*/ 256 w 561"/>
                <a:gd name="T31" fmla="*/ 888 h 813"/>
                <a:gd name="T32" fmla="*/ 295 w 561"/>
                <a:gd name="T33" fmla="*/ 856 h 813"/>
                <a:gd name="T34" fmla="*/ 334 w 561"/>
                <a:gd name="T35" fmla="*/ 824 h 813"/>
                <a:gd name="T36" fmla="*/ 371 w 561"/>
                <a:gd name="T37" fmla="*/ 792 h 813"/>
                <a:gd name="T38" fmla="*/ 404 w 561"/>
                <a:gd name="T39" fmla="*/ 755 h 813"/>
                <a:gd name="T40" fmla="*/ 437 w 561"/>
                <a:gd name="T41" fmla="*/ 719 h 813"/>
                <a:gd name="T42" fmla="*/ 465 w 561"/>
                <a:gd name="T43" fmla="*/ 682 h 813"/>
                <a:gd name="T44" fmla="*/ 497 w 561"/>
                <a:gd name="T45" fmla="*/ 643 h 813"/>
                <a:gd name="T46" fmla="*/ 522 w 561"/>
                <a:gd name="T47" fmla="*/ 603 h 813"/>
                <a:gd name="T48" fmla="*/ 546 w 561"/>
                <a:gd name="T49" fmla="*/ 563 h 813"/>
                <a:gd name="T50" fmla="*/ 607 w 561"/>
                <a:gd name="T51" fmla="*/ 437 h 813"/>
                <a:gd name="T52" fmla="*/ 621 w 561"/>
                <a:gd name="T53" fmla="*/ 391 h 813"/>
                <a:gd name="T54" fmla="*/ 636 w 561"/>
                <a:gd name="T55" fmla="*/ 347 h 813"/>
                <a:gd name="T56" fmla="*/ 649 w 561"/>
                <a:gd name="T57" fmla="*/ 302 h 813"/>
                <a:gd name="T58" fmla="*/ 656 w 561"/>
                <a:gd name="T59" fmla="*/ 253 h 813"/>
                <a:gd name="T60" fmla="*/ 665 w 561"/>
                <a:gd name="T61" fmla="*/ 207 h 813"/>
                <a:gd name="T62" fmla="*/ 669 w 561"/>
                <a:gd name="T63" fmla="*/ 163 h 813"/>
                <a:gd name="T64" fmla="*/ 672 w 561"/>
                <a:gd name="T65" fmla="*/ 113 h 813"/>
                <a:gd name="T66" fmla="*/ 671 w 561"/>
                <a:gd name="T67" fmla="*/ 65 h 813"/>
                <a:gd name="T68" fmla="*/ 669 w 561"/>
                <a:gd name="T69" fmla="*/ 16 h 813"/>
                <a:gd name="T70" fmla="*/ 398 w 561"/>
                <a:gd name="T71" fmla="*/ 34 h 813"/>
                <a:gd name="T72" fmla="*/ 399 w 561"/>
                <a:gd name="T73" fmla="*/ 70 h 813"/>
                <a:gd name="T74" fmla="*/ 401 w 561"/>
                <a:gd name="T75" fmla="*/ 105 h 813"/>
                <a:gd name="T76" fmla="*/ 398 w 561"/>
                <a:gd name="T77" fmla="*/ 140 h 813"/>
                <a:gd name="T78" fmla="*/ 393 w 561"/>
                <a:gd name="T79" fmla="*/ 177 h 813"/>
                <a:gd name="T80" fmla="*/ 387 w 561"/>
                <a:gd name="T81" fmla="*/ 211 h 813"/>
                <a:gd name="T82" fmla="*/ 381 w 561"/>
                <a:gd name="T83" fmla="*/ 244 h 813"/>
                <a:gd name="T84" fmla="*/ 375 w 561"/>
                <a:gd name="T85" fmla="*/ 278 h 813"/>
                <a:gd name="T86" fmla="*/ 365 w 561"/>
                <a:gd name="T87" fmla="*/ 309 h 813"/>
                <a:gd name="T88" fmla="*/ 351 w 561"/>
                <a:gd name="T89" fmla="*/ 345 h 813"/>
                <a:gd name="T90" fmla="*/ 305 w 561"/>
                <a:gd name="T91" fmla="*/ 446 h 813"/>
                <a:gd name="T92" fmla="*/ 284 w 561"/>
                <a:gd name="T93" fmla="*/ 476 h 813"/>
                <a:gd name="T94" fmla="*/ 265 w 561"/>
                <a:gd name="T95" fmla="*/ 505 h 813"/>
                <a:gd name="T96" fmla="*/ 244 w 561"/>
                <a:gd name="T97" fmla="*/ 533 h 813"/>
                <a:gd name="T98" fmla="*/ 222 w 561"/>
                <a:gd name="T99" fmla="*/ 560 h 813"/>
                <a:gd name="T100" fmla="*/ 196 w 561"/>
                <a:gd name="T101" fmla="*/ 585 h 813"/>
                <a:gd name="T102" fmla="*/ 173 w 561"/>
                <a:gd name="T103" fmla="*/ 609 h 813"/>
                <a:gd name="T104" fmla="*/ 144 w 561"/>
                <a:gd name="T105" fmla="*/ 634 h 813"/>
                <a:gd name="T106" fmla="*/ 118 w 561"/>
                <a:gd name="T107" fmla="*/ 656 h 813"/>
                <a:gd name="T108" fmla="*/ 16 w 561"/>
                <a:gd name="T109" fmla="*/ 563 h 8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61"/>
                <a:gd name="T166" fmla="*/ 0 h 813"/>
                <a:gd name="T167" fmla="*/ 561 w 561"/>
                <a:gd name="T168" fmla="*/ 813 h 8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61" h="813">
                  <a:moveTo>
                    <a:pt x="13" y="459"/>
                  </a:moveTo>
                  <a:lnTo>
                    <a:pt x="0" y="728"/>
                  </a:lnTo>
                  <a:lnTo>
                    <a:pt x="278" y="812"/>
                  </a:lnTo>
                  <a:lnTo>
                    <a:pt x="276" y="810"/>
                  </a:lnTo>
                  <a:lnTo>
                    <a:pt x="277" y="809"/>
                  </a:lnTo>
                  <a:lnTo>
                    <a:pt x="275" y="808"/>
                  </a:lnTo>
                  <a:lnTo>
                    <a:pt x="275" y="806"/>
                  </a:lnTo>
                  <a:lnTo>
                    <a:pt x="272" y="805"/>
                  </a:lnTo>
                  <a:lnTo>
                    <a:pt x="272" y="803"/>
                  </a:lnTo>
                  <a:lnTo>
                    <a:pt x="270" y="801"/>
                  </a:lnTo>
                  <a:lnTo>
                    <a:pt x="270" y="799"/>
                  </a:lnTo>
                  <a:lnTo>
                    <a:pt x="268" y="798"/>
                  </a:lnTo>
                  <a:lnTo>
                    <a:pt x="266" y="796"/>
                  </a:lnTo>
                  <a:lnTo>
                    <a:pt x="265" y="795"/>
                  </a:lnTo>
                  <a:lnTo>
                    <a:pt x="263" y="793"/>
                  </a:lnTo>
                  <a:lnTo>
                    <a:pt x="262" y="792"/>
                  </a:lnTo>
                  <a:lnTo>
                    <a:pt x="261" y="789"/>
                  </a:lnTo>
                  <a:lnTo>
                    <a:pt x="260" y="788"/>
                  </a:lnTo>
                  <a:lnTo>
                    <a:pt x="259" y="784"/>
                  </a:lnTo>
                  <a:lnTo>
                    <a:pt x="256" y="783"/>
                  </a:lnTo>
                  <a:lnTo>
                    <a:pt x="254" y="779"/>
                  </a:lnTo>
                  <a:lnTo>
                    <a:pt x="253" y="777"/>
                  </a:lnTo>
                  <a:lnTo>
                    <a:pt x="251" y="777"/>
                  </a:lnTo>
                  <a:lnTo>
                    <a:pt x="250" y="773"/>
                  </a:lnTo>
                  <a:lnTo>
                    <a:pt x="247" y="771"/>
                  </a:lnTo>
                  <a:lnTo>
                    <a:pt x="245" y="770"/>
                  </a:lnTo>
                  <a:lnTo>
                    <a:pt x="244" y="764"/>
                  </a:lnTo>
                  <a:lnTo>
                    <a:pt x="241" y="764"/>
                  </a:lnTo>
                  <a:lnTo>
                    <a:pt x="239" y="759"/>
                  </a:lnTo>
                  <a:lnTo>
                    <a:pt x="238" y="757"/>
                  </a:lnTo>
                  <a:lnTo>
                    <a:pt x="235" y="754"/>
                  </a:lnTo>
                  <a:lnTo>
                    <a:pt x="233" y="751"/>
                  </a:lnTo>
                  <a:lnTo>
                    <a:pt x="232" y="751"/>
                  </a:lnTo>
                  <a:lnTo>
                    <a:pt x="230" y="746"/>
                  </a:lnTo>
                  <a:lnTo>
                    <a:pt x="228" y="745"/>
                  </a:lnTo>
                  <a:lnTo>
                    <a:pt x="228" y="743"/>
                  </a:lnTo>
                  <a:lnTo>
                    <a:pt x="225" y="743"/>
                  </a:lnTo>
                  <a:lnTo>
                    <a:pt x="225" y="740"/>
                  </a:lnTo>
                  <a:lnTo>
                    <a:pt x="223" y="738"/>
                  </a:lnTo>
                  <a:lnTo>
                    <a:pt x="222" y="736"/>
                  </a:lnTo>
                  <a:lnTo>
                    <a:pt x="220" y="736"/>
                  </a:lnTo>
                  <a:lnTo>
                    <a:pt x="219" y="733"/>
                  </a:lnTo>
                  <a:lnTo>
                    <a:pt x="218" y="732"/>
                  </a:lnTo>
                  <a:lnTo>
                    <a:pt x="219" y="730"/>
                  </a:lnTo>
                  <a:lnTo>
                    <a:pt x="217" y="730"/>
                  </a:lnTo>
                  <a:lnTo>
                    <a:pt x="216" y="727"/>
                  </a:lnTo>
                  <a:lnTo>
                    <a:pt x="214" y="726"/>
                  </a:lnTo>
                  <a:lnTo>
                    <a:pt x="213" y="724"/>
                  </a:lnTo>
                  <a:lnTo>
                    <a:pt x="225" y="715"/>
                  </a:lnTo>
                  <a:lnTo>
                    <a:pt x="235" y="707"/>
                  </a:lnTo>
                  <a:lnTo>
                    <a:pt x="246" y="698"/>
                  </a:lnTo>
                  <a:lnTo>
                    <a:pt x="257" y="689"/>
                  </a:lnTo>
                  <a:lnTo>
                    <a:pt x="267" y="682"/>
                  </a:lnTo>
                  <a:lnTo>
                    <a:pt x="278" y="672"/>
                  </a:lnTo>
                  <a:lnTo>
                    <a:pt x="290" y="662"/>
                  </a:lnTo>
                  <a:lnTo>
                    <a:pt x="298" y="653"/>
                  </a:lnTo>
                  <a:lnTo>
                    <a:pt x="309" y="646"/>
                  </a:lnTo>
                  <a:lnTo>
                    <a:pt x="318" y="636"/>
                  </a:lnTo>
                  <a:lnTo>
                    <a:pt x="327" y="626"/>
                  </a:lnTo>
                  <a:lnTo>
                    <a:pt x="337" y="616"/>
                  </a:lnTo>
                  <a:lnTo>
                    <a:pt x="346" y="605"/>
                  </a:lnTo>
                  <a:lnTo>
                    <a:pt x="355" y="595"/>
                  </a:lnTo>
                  <a:lnTo>
                    <a:pt x="364" y="586"/>
                  </a:lnTo>
                  <a:lnTo>
                    <a:pt x="372" y="577"/>
                  </a:lnTo>
                  <a:lnTo>
                    <a:pt x="380" y="568"/>
                  </a:lnTo>
                  <a:lnTo>
                    <a:pt x="388" y="556"/>
                  </a:lnTo>
                  <a:lnTo>
                    <a:pt x="396" y="545"/>
                  </a:lnTo>
                  <a:lnTo>
                    <a:pt x="405" y="536"/>
                  </a:lnTo>
                  <a:lnTo>
                    <a:pt x="414" y="524"/>
                  </a:lnTo>
                  <a:lnTo>
                    <a:pt x="420" y="514"/>
                  </a:lnTo>
                  <a:lnTo>
                    <a:pt x="426" y="502"/>
                  </a:lnTo>
                  <a:lnTo>
                    <a:pt x="435" y="492"/>
                  </a:lnTo>
                  <a:lnTo>
                    <a:pt x="442" y="480"/>
                  </a:lnTo>
                  <a:lnTo>
                    <a:pt x="448" y="469"/>
                  </a:lnTo>
                  <a:lnTo>
                    <a:pt x="455" y="459"/>
                  </a:lnTo>
                  <a:lnTo>
                    <a:pt x="496" y="379"/>
                  </a:lnTo>
                  <a:lnTo>
                    <a:pt x="500" y="366"/>
                  </a:lnTo>
                  <a:lnTo>
                    <a:pt x="506" y="356"/>
                  </a:lnTo>
                  <a:lnTo>
                    <a:pt x="510" y="343"/>
                  </a:lnTo>
                  <a:lnTo>
                    <a:pt x="514" y="331"/>
                  </a:lnTo>
                  <a:lnTo>
                    <a:pt x="518" y="319"/>
                  </a:lnTo>
                  <a:lnTo>
                    <a:pt x="522" y="308"/>
                  </a:lnTo>
                  <a:lnTo>
                    <a:pt x="526" y="295"/>
                  </a:lnTo>
                  <a:lnTo>
                    <a:pt x="530" y="283"/>
                  </a:lnTo>
                  <a:lnTo>
                    <a:pt x="534" y="269"/>
                  </a:lnTo>
                  <a:lnTo>
                    <a:pt x="537" y="256"/>
                  </a:lnTo>
                  <a:lnTo>
                    <a:pt x="541" y="246"/>
                  </a:lnTo>
                  <a:lnTo>
                    <a:pt x="543" y="233"/>
                  </a:lnTo>
                  <a:lnTo>
                    <a:pt x="545" y="221"/>
                  </a:lnTo>
                  <a:lnTo>
                    <a:pt x="547" y="206"/>
                  </a:lnTo>
                  <a:lnTo>
                    <a:pt x="550" y="196"/>
                  </a:lnTo>
                  <a:lnTo>
                    <a:pt x="551" y="183"/>
                  </a:lnTo>
                  <a:lnTo>
                    <a:pt x="554" y="169"/>
                  </a:lnTo>
                  <a:lnTo>
                    <a:pt x="555" y="158"/>
                  </a:lnTo>
                  <a:lnTo>
                    <a:pt x="556" y="144"/>
                  </a:lnTo>
                  <a:lnTo>
                    <a:pt x="558" y="133"/>
                  </a:lnTo>
                  <a:lnTo>
                    <a:pt x="559" y="118"/>
                  </a:lnTo>
                  <a:lnTo>
                    <a:pt x="558" y="105"/>
                  </a:lnTo>
                  <a:lnTo>
                    <a:pt x="560" y="92"/>
                  </a:lnTo>
                  <a:lnTo>
                    <a:pt x="559" y="79"/>
                  </a:lnTo>
                  <a:lnTo>
                    <a:pt x="559" y="65"/>
                  </a:lnTo>
                  <a:lnTo>
                    <a:pt x="559" y="53"/>
                  </a:lnTo>
                  <a:lnTo>
                    <a:pt x="559" y="40"/>
                  </a:lnTo>
                  <a:lnTo>
                    <a:pt x="558" y="26"/>
                  </a:lnTo>
                  <a:lnTo>
                    <a:pt x="558" y="13"/>
                  </a:lnTo>
                  <a:lnTo>
                    <a:pt x="556" y="0"/>
                  </a:lnTo>
                  <a:lnTo>
                    <a:pt x="332" y="18"/>
                  </a:lnTo>
                  <a:lnTo>
                    <a:pt x="332" y="28"/>
                  </a:lnTo>
                  <a:lnTo>
                    <a:pt x="333" y="37"/>
                  </a:lnTo>
                  <a:lnTo>
                    <a:pt x="334" y="48"/>
                  </a:lnTo>
                  <a:lnTo>
                    <a:pt x="333" y="57"/>
                  </a:lnTo>
                  <a:lnTo>
                    <a:pt x="335" y="67"/>
                  </a:lnTo>
                  <a:lnTo>
                    <a:pt x="334" y="77"/>
                  </a:lnTo>
                  <a:lnTo>
                    <a:pt x="334" y="86"/>
                  </a:lnTo>
                  <a:lnTo>
                    <a:pt x="332" y="96"/>
                  </a:lnTo>
                  <a:lnTo>
                    <a:pt x="333" y="104"/>
                  </a:lnTo>
                  <a:lnTo>
                    <a:pt x="332" y="114"/>
                  </a:lnTo>
                  <a:lnTo>
                    <a:pt x="331" y="125"/>
                  </a:lnTo>
                  <a:lnTo>
                    <a:pt x="331" y="133"/>
                  </a:lnTo>
                  <a:lnTo>
                    <a:pt x="328" y="144"/>
                  </a:lnTo>
                  <a:lnTo>
                    <a:pt x="327" y="153"/>
                  </a:lnTo>
                  <a:lnTo>
                    <a:pt x="327" y="163"/>
                  </a:lnTo>
                  <a:lnTo>
                    <a:pt x="323" y="172"/>
                  </a:lnTo>
                  <a:lnTo>
                    <a:pt x="324" y="180"/>
                  </a:lnTo>
                  <a:lnTo>
                    <a:pt x="321" y="189"/>
                  </a:lnTo>
                  <a:lnTo>
                    <a:pt x="318" y="199"/>
                  </a:lnTo>
                  <a:lnTo>
                    <a:pt x="316" y="207"/>
                  </a:lnTo>
                  <a:lnTo>
                    <a:pt x="316" y="217"/>
                  </a:lnTo>
                  <a:lnTo>
                    <a:pt x="313" y="227"/>
                  </a:lnTo>
                  <a:lnTo>
                    <a:pt x="309" y="235"/>
                  </a:lnTo>
                  <a:lnTo>
                    <a:pt x="306" y="243"/>
                  </a:lnTo>
                  <a:lnTo>
                    <a:pt x="304" y="252"/>
                  </a:lnTo>
                  <a:lnTo>
                    <a:pt x="301" y="262"/>
                  </a:lnTo>
                  <a:lnTo>
                    <a:pt x="297" y="272"/>
                  </a:lnTo>
                  <a:lnTo>
                    <a:pt x="293" y="281"/>
                  </a:lnTo>
                  <a:lnTo>
                    <a:pt x="290" y="289"/>
                  </a:lnTo>
                  <a:lnTo>
                    <a:pt x="288" y="299"/>
                  </a:lnTo>
                  <a:lnTo>
                    <a:pt x="254" y="364"/>
                  </a:lnTo>
                  <a:lnTo>
                    <a:pt x="248" y="371"/>
                  </a:lnTo>
                  <a:lnTo>
                    <a:pt x="243" y="380"/>
                  </a:lnTo>
                  <a:lnTo>
                    <a:pt x="237" y="388"/>
                  </a:lnTo>
                  <a:lnTo>
                    <a:pt x="232" y="397"/>
                  </a:lnTo>
                  <a:lnTo>
                    <a:pt x="226" y="405"/>
                  </a:lnTo>
                  <a:lnTo>
                    <a:pt x="221" y="412"/>
                  </a:lnTo>
                  <a:lnTo>
                    <a:pt x="215" y="420"/>
                  </a:lnTo>
                  <a:lnTo>
                    <a:pt x="209" y="427"/>
                  </a:lnTo>
                  <a:lnTo>
                    <a:pt x="203" y="435"/>
                  </a:lnTo>
                  <a:lnTo>
                    <a:pt x="197" y="442"/>
                  </a:lnTo>
                  <a:lnTo>
                    <a:pt x="191" y="450"/>
                  </a:lnTo>
                  <a:lnTo>
                    <a:pt x="185" y="457"/>
                  </a:lnTo>
                  <a:lnTo>
                    <a:pt x="177" y="463"/>
                  </a:lnTo>
                  <a:lnTo>
                    <a:pt x="172" y="471"/>
                  </a:lnTo>
                  <a:lnTo>
                    <a:pt x="163" y="477"/>
                  </a:lnTo>
                  <a:lnTo>
                    <a:pt x="158" y="485"/>
                  </a:lnTo>
                  <a:lnTo>
                    <a:pt x="151" y="492"/>
                  </a:lnTo>
                  <a:lnTo>
                    <a:pt x="144" y="497"/>
                  </a:lnTo>
                  <a:lnTo>
                    <a:pt x="136" y="503"/>
                  </a:lnTo>
                  <a:lnTo>
                    <a:pt x="128" y="510"/>
                  </a:lnTo>
                  <a:lnTo>
                    <a:pt x="120" y="517"/>
                  </a:lnTo>
                  <a:lnTo>
                    <a:pt x="112" y="523"/>
                  </a:lnTo>
                  <a:lnTo>
                    <a:pt x="105" y="531"/>
                  </a:lnTo>
                  <a:lnTo>
                    <a:pt x="98" y="535"/>
                  </a:lnTo>
                  <a:lnTo>
                    <a:pt x="89" y="542"/>
                  </a:lnTo>
                  <a:lnTo>
                    <a:pt x="82" y="547"/>
                  </a:lnTo>
                  <a:lnTo>
                    <a:pt x="13" y="459"/>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68" name="Freeform 17">
              <a:extLst>
                <a:ext uri="{FF2B5EF4-FFF2-40B4-BE49-F238E27FC236}">
                  <a16:creationId xmlns:a16="http://schemas.microsoft.com/office/drawing/2014/main" id="{FE095CB2-B44C-3C39-7BC9-7097043281A6}"/>
                </a:ext>
              </a:extLst>
            </p:cNvPr>
            <p:cNvSpPr>
              <a:spLocks/>
            </p:cNvSpPr>
            <p:nvPr/>
          </p:nvSpPr>
          <p:spPr bwMode="auto">
            <a:xfrm>
              <a:off x="4700" y="1982"/>
              <a:ext cx="810" cy="1031"/>
            </a:xfrm>
            <a:custGeom>
              <a:avLst/>
              <a:gdLst>
                <a:gd name="T0" fmla="*/ 809 w 675"/>
                <a:gd name="T1" fmla="*/ 804 h 841"/>
                <a:gd name="T2" fmla="*/ 803 w 675"/>
                <a:gd name="T3" fmla="*/ 804 h 841"/>
                <a:gd name="T4" fmla="*/ 794 w 675"/>
                <a:gd name="T5" fmla="*/ 807 h 841"/>
                <a:gd name="T6" fmla="*/ 787 w 675"/>
                <a:gd name="T7" fmla="*/ 804 h 841"/>
                <a:gd name="T8" fmla="*/ 770 w 675"/>
                <a:gd name="T9" fmla="*/ 807 h 841"/>
                <a:gd name="T10" fmla="*/ 761 w 675"/>
                <a:gd name="T11" fmla="*/ 808 h 841"/>
                <a:gd name="T12" fmla="*/ 751 w 675"/>
                <a:gd name="T13" fmla="*/ 808 h 841"/>
                <a:gd name="T14" fmla="*/ 731 w 675"/>
                <a:gd name="T15" fmla="*/ 812 h 841"/>
                <a:gd name="T16" fmla="*/ 719 w 675"/>
                <a:gd name="T17" fmla="*/ 809 h 841"/>
                <a:gd name="T18" fmla="*/ 712 w 675"/>
                <a:gd name="T19" fmla="*/ 812 h 841"/>
                <a:gd name="T20" fmla="*/ 701 w 675"/>
                <a:gd name="T21" fmla="*/ 812 h 841"/>
                <a:gd name="T22" fmla="*/ 690 w 675"/>
                <a:gd name="T23" fmla="*/ 812 h 841"/>
                <a:gd name="T24" fmla="*/ 685 w 675"/>
                <a:gd name="T25" fmla="*/ 813 h 841"/>
                <a:gd name="T26" fmla="*/ 677 w 675"/>
                <a:gd name="T27" fmla="*/ 813 h 841"/>
                <a:gd name="T28" fmla="*/ 671 w 675"/>
                <a:gd name="T29" fmla="*/ 765 h 841"/>
                <a:gd name="T30" fmla="*/ 662 w 675"/>
                <a:gd name="T31" fmla="*/ 715 h 841"/>
                <a:gd name="T32" fmla="*/ 652 w 675"/>
                <a:gd name="T33" fmla="*/ 667 h 841"/>
                <a:gd name="T34" fmla="*/ 640 w 675"/>
                <a:gd name="T35" fmla="*/ 619 h 841"/>
                <a:gd name="T36" fmla="*/ 602 w 675"/>
                <a:gd name="T37" fmla="*/ 515 h 841"/>
                <a:gd name="T38" fmla="*/ 584 w 675"/>
                <a:gd name="T39" fmla="*/ 471 h 841"/>
                <a:gd name="T40" fmla="*/ 564 w 675"/>
                <a:gd name="T41" fmla="*/ 427 h 841"/>
                <a:gd name="T42" fmla="*/ 540 w 675"/>
                <a:gd name="T43" fmla="*/ 387 h 841"/>
                <a:gd name="T44" fmla="*/ 514 w 675"/>
                <a:gd name="T45" fmla="*/ 347 h 841"/>
                <a:gd name="T46" fmla="*/ 487 w 675"/>
                <a:gd name="T47" fmla="*/ 308 h 841"/>
                <a:gd name="T48" fmla="*/ 460 w 675"/>
                <a:gd name="T49" fmla="*/ 271 h 841"/>
                <a:gd name="T50" fmla="*/ 430 w 675"/>
                <a:gd name="T51" fmla="*/ 233 h 841"/>
                <a:gd name="T52" fmla="*/ 398 w 675"/>
                <a:gd name="T53" fmla="*/ 200 h 841"/>
                <a:gd name="T54" fmla="*/ 362 w 675"/>
                <a:gd name="T55" fmla="*/ 167 h 841"/>
                <a:gd name="T56" fmla="*/ 328 w 675"/>
                <a:gd name="T57" fmla="*/ 134 h 841"/>
                <a:gd name="T58" fmla="*/ 290 w 675"/>
                <a:gd name="T59" fmla="*/ 104 h 841"/>
                <a:gd name="T60" fmla="*/ 251 w 675"/>
                <a:gd name="T61" fmla="*/ 75 h 841"/>
                <a:gd name="T62" fmla="*/ 211 w 675"/>
                <a:gd name="T63" fmla="*/ 49 h 841"/>
                <a:gd name="T64" fmla="*/ 152 w 675"/>
                <a:gd name="T65" fmla="*/ 16 h 841"/>
                <a:gd name="T66" fmla="*/ 0 w 675"/>
                <a:gd name="T67" fmla="*/ 237 h 841"/>
                <a:gd name="T68" fmla="*/ 41 w 675"/>
                <a:gd name="T69" fmla="*/ 259 h 841"/>
                <a:gd name="T70" fmla="*/ 72 w 675"/>
                <a:gd name="T71" fmla="*/ 280 h 841"/>
                <a:gd name="T72" fmla="*/ 102 w 675"/>
                <a:gd name="T73" fmla="*/ 298 h 841"/>
                <a:gd name="T74" fmla="*/ 133 w 675"/>
                <a:gd name="T75" fmla="*/ 320 h 841"/>
                <a:gd name="T76" fmla="*/ 160 w 675"/>
                <a:gd name="T77" fmla="*/ 343 h 841"/>
                <a:gd name="T78" fmla="*/ 184 w 675"/>
                <a:gd name="T79" fmla="*/ 367 h 841"/>
                <a:gd name="T80" fmla="*/ 210 w 675"/>
                <a:gd name="T81" fmla="*/ 391 h 841"/>
                <a:gd name="T82" fmla="*/ 232 w 675"/>
                <a:gd name="T83" fmla="*/ 417 h 841"/>
                <a:gd name="T84" fmla="*/ 256 w 675"/>
                <a:gd name="T85" fmla="*/ 443 h 841"/>
                <a:gd name="T86" fmla="*/ 275 w 675"/>
                <a:gd name="T87" fmla="*/ 471 h 841"/>
                <a:gd name="T88" fmla="*/ 294 w 675"/>
                <a:gd name="T89" fmla="*/ 499 h 841"/>
                <a:gd name="T90" fmla="*/ 312 w 675"/>
                <a:gd name="T91" fmla="*/ 530 h 841"/>
                <a:gd name="T92" fmla="*/ 328 w 675"/>
                <a:gd name="T93" fmla="*/ 560 h 841"/>
                <a:gd name="T94" fmla="*/ 342 w 675"/>
                <a:gd name="T95" fmla="*/ 593 h 841"/>
                <a:gd name="T96" fmla="*/ 376 w 675"/>
                <a:gd name="T97" fmla="*/ 679 h 841"/>
                <a:gd name="T98" fmla="*/ 385 w 675"/>
                <a:gd name="T99" fmla="*/ 712 h 841"/>
                <a:gd name="T100" fmla="*/ 391 w 675"/>
                <a:gd name="T101" fmla="*/ 747 h 841"/>
                <a:gd name="T102" fmla="*/ 398 w 675"/>
                <a:gd name="T103" fmla="*/ 782 h 841"/>
                <a:gd name="T104" fmla="*/ 402 w 675"/>
                <a:gd name="T105" fmla="*/ 818 h 84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75"/>
                <a:gd name="T160" fmla="*/ 0 h 841"/>
                <a:gd name="T161" fmla="*/ 675 w 675"/>
                <a:gd name="T162" fmla="*/ 841 h 84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75" h="841">
                  <a:moveTo>
                    <a:pt x="222" y="685"/>
                  </a:moveTo>
                  <a:lnTo>
                    <a:pt x="455" y="840"/>
                  </a:lnTo>
                  <a:lnTo>
                    <a:pt x="674" y="656"/>
                  </a:lnTo>
                  <a:lnTo>
                    <a:pt x="672" y="656"/>
                  </a:lnTo>
                  <a:lnTo>
                    <a:pt x="670" y="657"/>
                  </a:lnTo>
                  <a:lnTo>
                    <a:pt x="669" y="656"/>
                  </a:lnTo>
                  <a:lnTo>
                    <a:pt x="667" y="658"/>
                  </a:lnTo>
                  <a:lnTo>
                    <a:pt x="665" y="656"/>
                  </a:lnTo>
                  <a:lnTo>
                    <a:pt x="662" y="658"/>
                  </a:lnTo>
                  <a:lnTo>
                    <a:pt x="661" y="656"/>
                  </a:lnTo>
                  <a:lnTo>
                    <a:pt x="658" y="658"/>
                  </a:lnTo>
                  <a:lnTo>
                    <a:pt x="656" y="656"/>
                  </a:lnTo>
                  <a:lnTo>
                    <a:pt x="651" y="659"/>
                  </a:lnTo>
                  <a:lnTo>
                    <a:pt x="648" y="657"/>
                  </a:lnTo>
                  <a:lnTo>
                    <a:pt x="642" y="658"/>
                  </a:lnTo>
                  <a:lnTo>
                    <a:pt x="641" y="658"/>
                  </a:lnTo>
                  <a:lnTo>
                    <a:pt x="636" y="659"/>
                  </a:lnTo>
                  <a:lnTo>
                    <a:pt x="634" y="659"/>
                  </a:lnTo>
                  <a:lnTo>
                    <a:pt x="630" y="658"/>
                  </a:lnTo>
                  <a:lnTo>
                    <a:pt x="627" y="659"/>
                  </a:lnTo>
                  <a:lnTo>
                    <a:pt x="626" y="659"/>
                  </a:lnTo>
                  <a:lnTo>
                    <a:pt x="621" y="661"/>
                  </a:lnTo>
                  <a:lnTo>
                    <a:pt x="617" y="659"/>
                  </a:lnTo>
                  <a:lnTo>
                    <a:pt x="609" y="662"/>
                  </a:lnTo>
                  <a:lnTo>
                    <a:pt x="605" y="660"/>
                  </a:lnTo>
                  <a:lnTo>
                    <a:pt x="601" y="662"/>
                  </a:lnTo>
                  <a:lnTo>
                    <a:pt x="599" y="660"/>
                  </a:lnTo>
                  <a:lnTo>
                    <a:pt x="597" y="662"/>
                  </a:lnTo>
                  <a:lnTo>
                    <a:pt x="595" y="661"/>
                  </a:lnTo>
                  <a:lnTo>
                    <a:pt x="593" y="662"/>
                  </a:lnTo>
                  <a:lnTo>
                    <a:pt x="588" y="661"/>
                  </a:lnTo>
                  <a:lnTo>
                    <a:pt x="586" y="660"/>
                  </a:lnTo>
                  <a:lnTo>
                    <a:pt x="584" y="662"/>
                  </a:lnTo>
                  <a:lnTo>
                    <a:pt x="581" y="661"/>
                  </a:lnTo>
                  <a:lnTo>
                    <a:pt x="577" y="663"/>
                  </a:lnTo>
                  <a:lnTo>
                    <a:pt x="575" y="662"/>
                  </a:lnTo>
                  <a:lnTo>
                    <a:pt x="573" y="662"/>
                  </a:lnTo>
                  <a:lnTo>
                    <a:pt x="571" y="662"/>
                  </a:lnTo>
                  <a:lnTo>
                    <a:pt x="571" y="663"/>
                  </a:lnTo>
                  <a:lnTo>
                    <a:pt x="567" y="662"/>
                  </a:lnTo>
                  <a:lnTo>
                    <a:pt x="566" y="664"/>
                  </a:lnTo>
                  <a:lnTo>
                    <a:pt x="564" y="663"/>
                  </a:lnTo>
                  <a:lnTo>
                    <a:pt x="562" y="649"/>
                  </a:lnTo>
                  <a:lnTo>
                    <a:pt x="561" y="636"/>
                  </a:lnTo>
                  <a:lnTo>
                    <a:pt x="559" y="624"/>
                  </a:lnTo>
                  <a:lnTo>
                    <a:pt x="558" y="608"/>
                  </a:lnTo>
                  <a:lnTo>
                    <a:pt x="555" y="596"/>
                  </a:lnTo>
                  <a:lnTo>
                    <a:pt x="552" y="583"/>
                  </a:lnTo>
                  <a:lnTo>
                    <a:pt x="549" y="570"/>
                  </a:lnTo>
                  <a:lnTo>
                    <a:pt x="547" y="557"/>
                  </a:lnTo>
                  <a:lnTo>
                    <a:pt x="543" y="544"/>
                  </a:lnTo>
                  <a:lnTo>
                    <a:pt x="541" y="531"/>
                  </a:lnTo>
                  <a:lnTo>
                    <a:pt x="537" y="519"/>
                  </a:lnTo>
                  <a:lnTo>
                    <a:pt x="533" y="505"/>
                  </a:lnTo>
                  <a:lnTo>
                    <a:pt x="531" y="493"/>
                  </a:lnTo>
                  <a:lnTo>
                    <a:pt x="509" y="431"/>
                  </a:lnTo>
                  <a:lnTo>
                    <a:pt x="502" y="420"/>
                  </a:lnTo>
                  <a:lnTo>
                    <a:pt x="498" y="407"/>
                  </a:lnTo>
                  <a:lnTo>
                    <a:pt x="492" y="396"/>
                  </a:lnTo>
                  <a:lnTo>
                    <a:pt x="487" y="384"/>
                  </a:lnTo>
                  <a:lnTo>
                    <a:pt x="481" y="373"/>
                  </a:lnTo>
                  <a:lnTo>
                    <a:pt x="476" y="362"/>
                  </a:lnTo>
                  <a:lnTo>
                    <a:pt x="470" y="348"/>
                  </a:lnTo>
                  <a:lnTo>
                    <a:pt x="462" y="337"/>
                  </a:lnTo>
                  <a:lnTo>
                    <a:pt x="457" y="327"/>
                  </a:lnTo>
                  <a:lnTo>
                    <a:pt x="450" y="316"/>
                  </a:lnTo>
                  <a:lnTo>
                    <a:pt x="444" y="303"/>
                  </a:lnTo>
                  <a:lnTo>
                    <a:pt x="435" y="294"/>
                  </a:lnTo>
                  <a:lnTo>
                    <a:pt x="428" y="283"/>
                  </a:lnTo>
                  <a:lnTo>
                    <a:pt x="422" y="272"/>
                  </a:lnTo>
                  <a:lnTo>
                    <a:pt x="414" y="261"/>
                  </a:lnTo>
                  <a:lnTo>
                    <a:pt x="406" y="251"/>
                  </a:lnTo>
                  <a:lnTo>
                    <a:pt x="399" y="240"/>
                  </a:lnTo>
                  <a:lnTo>
                    <a:pt x="391" y="230"/>
                  </a:lnTo>
                  <a:lnTo>
                    <a:pt x="383" y="221"/>
                  </a:lnTo>
                  <a:lnTo>
                    <a:pt x="375" y="210"/>
                  </a:lnTo>
                  <a:lnTo>
                    <a:pt x="366" y="201"/>
                  </a:lnTo>
                  <a:lnTo>
                    <a:pt x="358" y="190"/>
                  </a:lnTo>
                  <a:lnTo>
                    <a:pt x="349" y="182"/>
                  </a:lnTo>
                  <a:lnTo>
                    <a:pt x="340" y="171"/>
                  </a:lnTo>
                  <a:lnTo>
                    <a:pt x="332" y="163"/>
                  </a:lnTo>
                  <a:lnTo>
                    <a:pt x="321" y="153"/>
                  </a:lnTo>
                  <a:lnTo>
                    <a:pt x="313" y="144"/>
                  </a:lnTo>
                  <a:lnTo>
                    <a:pt x="302" y="136"/>
                  </a:lnTo>
                  <a:lnTo>
                    <a:pt x="292" y="128"/>
                  </a:lnTo>
                  <a:lnTo>
                    <a:pt x="283" y="118"/>
                  </a:lnTo>
                  <a:lnTo>
                    <a:pt x="273" y="109"/>
                  </a:lnTo>
                  <a:lnTo>
                    <a:pt x="263" y="101"/>
                  </a:lnTo>
                  <a:lnTo>
                    <a:pt x="252" y="92"/>
                  </a:lnTo>
                  <a:lnTo>
                    <a:pt x="242" y="85"/>
                  </a:lnTo>
                  <a:lnTo>
                    <a:pt x="233" y="76"/>
                  </a:lnTo>
                  <a:lnTo>
                    <a:pt x="221" y="69"/>
                  </a:lnTo>
                  <a:lnTo>
                    <a:pt x="209" y="61"/>
                  </a:lnTo>
                  <a:lnTo>
                    <a:pt x="199" y="54"/>
                  </a:lnTo>
                  <a:lnTo>
                    <a:pt x="187" y="47"/>
                  </a:lnTo>
                  <a:lnTo>
                    <a:pt x="176" y="40"/>
                  </a:lnTo>
                  <a:lnTo>
                    <a:pt x="164" y="32"/>
                  </a:lnTo>
                  <a:lnTo>
                    <a:pt x="153" y="26"/>
                  </a:lnTo>
                  <a:lnTo>
                    <a:pt x="127" y="13"/>
                  </a:lnTo>
                  <a:lnTo>
                    <a:pt x="116" y="7"/>
                  </a:lnTo>
                  <a:lnTo>
                    <a:pt x="104" y="0"/>
                  </a:lnTo>
                  <a:lnTo>
                    <a:pt x="0" y="193"/>
                  </a:lnTo>
                  <a:lnTo>
                    <a:pt x="18" y="202"/>
                  </a:lnTo>
                  <a:lnTo>
                    <a:pt x="27" y="207"/>
                  </a:lnTo>
                  <a:lnTo>
                    <a:pt x="34" y="211"/>
                  </a:lnTo>
                  <a:lnTo>
                    <a:pt x="43" y="217"/>
                  </a:lnTo>
                  <a:lnTo>
                    <a:pt x="53" y="221"/>
                  </a:lnTo>
                  <a:lnTo>
                    <a:pt x="60" y="228"/>
                  </a:lnTo>
                  <a:lnTo>
                    <a:pt x="70" y="232"/>
                  </a:lnTo>
                  <a:lnTo>
                    <a:pt x="77" y="238"/>
                  </a:lnTo>
                  <a:lnTo>
                    <a:pt x="85" y="243"/>
                  </a:lnTo>
                  <a:lnTo>
                    <a:pt x="93" y="248"/>
                  </a:lnTo>
                  <a:lnTo>
                    <a:pt x="102" y="255"/>
                  </a:lnTo>
                  <a:lnTo>
                    <a:pt x="111" y="261"/>
                  </a:lnTo>
                  <a:lnTo>
                    <a:pt x="118" y="266"/>
                  </a:lnTo>
                  <a:lnTo>
                    <a:pt x="125" y="274"/>
                  </a:lnTo>
                  <a:lnTo>
                    <a:pt x="133" y="280"/>
                  </a:lnTo>
                  <a:lnTo>
                    <a:pt x="142" y="285"/>
                  </a:lnTo>
                  <a:lnTo>
                    <a:pt x="145" y="291"/>
                  </a:lnTo>
                  <a:lnTo>
                    <a:pt x="153" y="299"/>
                  </a:lnTo>
                  <a:lnTo>
                    <a:pt x="161" y="305"/>
                  </a:lnTo>
                  <a:lnTo>
                    <a:pt x="168" y="312"/>
                  </a:lnTo>
                  <a:lnTo>
                    <a:pt x="175" y="319"/>
                  </a:lnTo>
                  <a:lnTo>
                    <a:pt x="180" y="327"/>
                  </a:lnTo>
                  <a:lnTo>
                    <a:pt x="187" y="334"/>
                  </a:lnTo>
                  <a:lnTo>
                    <a:pt x="193" y="340"/>
                  </a:lnTo>
                  <a:lnTo>
                    <a:pt x="198" y="347"/>
                  </a:lnTo>
                  <a:lnTo>
                    <a:pt x="206" y="354"/>
                  </a:lnTo>
                  <a:lnTo>
                    <a:pt x="213" y="361"/>
                  </a:lnTo>
                  <a:lnTo>
                    <a:pt x="217" y="370"/>
                  </a:lnTo>
                  <a:lnTo>
                    <a:pt x="224" y="377"/>
                  </a:lnTo>
                  <a:lnTo>
                    <a:pt x="229" y="384"/>
                  </a:lnTo>
                  <a:lnTo>
                    <a:pt x="236" y="393"/>
                  </a:lnTo>
                  <a:lnTo>
                    <a:pt x="240" y="401"/>
                  </a:lnTo>
                  <a:lnTo>
                    <a:pt x="245" y="407"/>
                  </a:lnTo>
                  <a:lnTo>
                    <a:pt x="249" y="416"/>
                  </a:lnTo>
                  <a:lnTo>
                    <a:pt x="256" y="425"/>
                  </a:lnTo>
                  <a:lnTo>
                    <a:pt x="260" y="432"/>
                  </a:lnTo>
                  <a:lnTo>
                    <a:pt x="264" y="441"/>
                  </a:lnTo>
                  <a:lnTo>
                    <a:pt x="269" y="450"/>
                  </a:lnTo>
                  <a:lnTo>
                    <a:pt x="273" y="457"/>
                  </a:lnTo>
                  <a:lnTo>
                    <a:pt x="278" y="465"/>
                  </a:lnTo>
                  <a:lnTo>
                    <a:pt x="282" y="473"/>
                  </a:lnTo>
                  <a:lnTo>
                    <a:pt x="285" y="484"/>
                  </a:lnTo>
                  <a:lnTo>
                    <a:pt x="290" y="491"/>
                  </a:lnTo>
                  <a:lnTo>
                    <a:pt x="294" y="500"/>
                  </a:lnTo>
                  <a:lnTo>
                    <a:pt x="313" y="554"/>
                  </a:lnTo>
                  <a:lnTo>
                    <a:pt x="315" y="563"/>
                  </a:lnTo>
                  <a:lnTo>
                    <a:pt x="317" y="573"/>
                  </a:lnTo>
                  <a:lnTo>
                    <a:pt x="321" y="581"/>
                  </a:lnTo>
                  <a:lnTo>
                    <a:pt x="323" y="590"/>
                  </a:lnTo>
                  <a:lnTo>
                    <a:pt x="325" y="600"/>
                  </a:lnTo>
                  <a:lnTo>
                    <a:pt x="326" y="609"/>
                  </a:lnTo>
                  <a:lnTo>
                    <a:pt x="330" y="619"/>
                  </a:lnTo>
                  <a:lnTo>
                    <a:pt x="331" y="630"/>
                  </a:lnTo>
                  <a:lnTo>
                    <a:pt x="332" y="638"/>
                  </a:lnTo>
                  <a:lnTo>
                    <a:pt x="334" y="647"/>
                  </a:lnTo>
                  <a:lnTo>
                    <a:pt x="334" y="658"/>
                  </a:lnTo>
                  <a:lnTo>
                    <a:pt x="335" y="667"/>
                  </a:lnTo>
                  <a:lnTo>
                    <a:pt x="336" y="677"/>
                  </a:lnTo>
                  <a:lnTo>
                    <a:pt x="222" y="685"/>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69" name="Freeform 18">
              <a:extLst>
                <a:ext uri="{FF2B5EF4-FFF2-40B4-BE49-F238E27FC236}">
                  <a16:creationId xmlns:a16="http://schemas.microsoft.com/office/drawing/2014/main" id="{B41A80CD-C3C0-8BD9-135E-AF9D6DE17213}"/>
                </a:ext>
              </a:extLst>
            </p:cNvPr>
            <p:cNvSpPr>
              <a:spLocks/>
            </p:cNvSpPr>
            <p:nvPr/>
          </p:nvSpPr>
          <p:spPr bwMode="auto">
            <a:xfrm>
              <a:off x="3801" y="1842"/>
              <a:ext cx="1121" cy="478"/>
            </a:xfrm>
            <a:custGeom>
              <a:avLst/>
              <a:gdLst>
                <a:gd name="T0" fmla="*/ 1120 w 934"/>
                <a:gd name="T1" fmla="*/ 333 h 390"/>
                <a:gd name="T2" fmla="*/ 994 w 934"/>
                <a:gd name="T3" fmla="*/ 116 h 390"/>
                <a:gd name="T4" fmla="*/ 963 w 934"/>
                <a:gd name="T5" fmla="*/ 104 h 390"/>
                <a:gd name="T6" fmla="*/ 933 w 934"/>
                <a:gd name="T7" fmla="*/ 92 h 390"/>
                <a:gd name="T8" fmla="*/ 900 w 934"/>
                <a:gd name="T9" fmla="*/ 80 h 390"/>
                <a:gd name="T10" fmla="*/ 869 w 934"/>
                <a:gd name="T11" fmla="*/ 70 h 390"/>
                <a:gd name="T12" fmla="*/ 837 w 934"/>
                <a:gd name="T13" fmla="*/ 59 h 390"/>
                <a:gd name="T14" fmla="*/ 803 w 934"/>
                <a:gd name="T15" fmla="*/ 50 h 390"/>
                <a:gd name="T16" fmla="*/ 772 w 934"/>
                <a:gd name="T17" fmla="*/ 44 h 390"/>
                <a:gd name="T18" fmla="*/ 742 w 934"/>
                <a:gd name="T19" fmla="*/ 36 h 390"/>
                <a:gd name="T20" fmla="*/ 709 w 934"/>
                <a:gd name="T21" fmla="*/ 31 h 390"/>
                <a:gd name="T22" fmla="*/ 677 w 934"/>
                <a:gd name="T23" fmla="*/ 28 h 390"/>
                <a:gd name="T24" fmla="*/ 643 w 934"/>
                <a:gd name="T25" fmla="*/ 22 h 390"/>
                <a:gd name="T26" fmla="*/ 612 w 934"/>
                <a:gd name="T27" fmla="*/ 18 h 390"/>
                <a:gd name="T28" fmla="*/ 580 w 934"/>
                <a:gd name="T29" fmla="*/ 21 h 390"/>
                <a:gd name="T30" fmla="*/ 547 w 934"/>
                <a:gd name="T31" fmla="*/ 18 h 390"/>
                <a:gd name="T32" fmla="*/ 516 w 934"/>
                <a:gd name="T33" fmla="*/ 18 h 390"/>
                <a:gd name="T34" fmla="*/ 482 w 934"/>
                <a:gd name="T35" fmla="*/ 21 h 390"/>
                <a:gd name="T36" fmla="*/ 450 w 934"/>
                <a:gd name="T37" fmla="*/ 23 h 390"/>
                <a:gd name="T38" fmla="*/ 421 w 934"/>
                <a:gd name="T39" fmla="*/ 27 h 390"/>
                <a:gd name="T40" fmla="*/ 386 w 934"/>
                <a:gd name="T41" fmla="*/ 31 h 390"/>
                <a:gd name="T42" fmla="*/ 356 w 934"/>
                <a:gd name="T43" fmla="*/ 36 h 390"/>
                <a:gd name="T44" fmla="*/ 326 w 934"/>
                <a:gd name="T45" fmla="*/ 40 h 390"/>
                <a:gd name="T46" fmla="*/ 294 w 934"/>
                <a:gd name="T47" fmla="*/ 48 h 390"/>
                <a:gd name="T48" fmla="*/ 265 w 934"/>
                <a:gd name="T49" fmla="*/ 56 h 390"/>
                <a:gd name="T50" fmla="*/ 160 w 934"/>
                <a:gd name="T51" fmla="*/ 94 h 390"/>
                <a:gd name="T52" fmla="*/ 130 w 934"/>
                <a:gd name="T53" fmla="*/ 108 h 390"/>
                <a:gd name="T54" fmla="*/ 100 w 934"/>
                <a:gd name="T55" fmla="*/ 121 h 390"/>
                <a:gd name="T56" fmla="*/ 70 w 934"/>
                <a:gd name="T57" fmla="*/ 137 h 390"/>
                <a:gd name="T58" fmla="*/ 42 w 934"/>
                <a:gd name="T59" fmla="*/ 153 h 390"/>
                <a:gd name="T60" fmla="*/ 13 w 934"/>
                <a:gd name="T61" fmla="*/ 170 h 390"/>
                <a:gd name="T62" fmla="*/ 144 w 934"/>
                <a:gd name="T63" fmla="*/ 401 h 390"/>
                <a:gd name="T64" fmla="*/ 166 w 934"/>
                <a:gd name="T65" fmla="*/ 387 h 390"/>
                <a:gd name="T66" fmla="*/ 187 w 934"/>
                <a:gd name="T67" fmla="*/ 376 h 390"/>
                <a:gd name="T68" fmla="*/ 208 w 934"/>
                <a:gd name="T69" fmla="*/ 368 h 390"/>
                <a:gd name="T70" fmla="*/ 230 w 934"/>
                <a:gd name="T71" fmla="*/ 353 h 390"/>
                <a:gd name="T72" fmla="*/ 253 w 934"/>
                <a:gd name="T73" fmla="*/ 343 h 390"/>
                <a:gd name="T74" fmla="*/ 275 w 934"/>
                <a:gd name="T75" fmla="*/ 335 h 390"/>
                <a:gd name="T76" fmla="*/ 296 w 934"/>
                <a:gd name="T77" fmla="*/ 328 h 390"/>
                <a:gd name="T78" fmla="*/ 318 w 934"/>
                <a:gd name="T79" fmla="*/ 317 h 390"/>
                <a:gd name="T80" fmla="*/ 342 w 934"/>
                <a:gd name="T81" fmla="*/ 311 h 390"/>
                <a:gd name="T82" fmla="*/ 365 w 934"/>
                <a:gd name="T83" fmla="*/ 304 h 390"/>
                <a:gd name="T84" fmla="*/ 386 w 934"/>
                <a:gd name="T85" fmla="*/ 300 h 390"/>
                <a:gd name="T86" fmla="*/ 409 w 934"/>
                <a:gd name="T87" fmla="*/ 297 h 390"/>
                <a:gd name="T88" fmla="*/ 434 w 934"/>
                <a:gd name="T89" fmla="*/ 294 h 390"/>
                <a:gd name="T90" fmla="*/ 457 w 934"/>
                <a:gd name="T91" fmla="*/ 288 h 390"/>
                <a:gd name="T92" fmla="*/ 482 w 934"/>
                <a:gd name="T93" fmla="*/ 286 h 390"/>
                <a:gd name="T94" fmla="*/ 502 w 934"/>
                <a:gd name="T95" fmla="*/ 283 h 390"/>
                <a:gd name="T96" fmla="*/ 528 w 934"/>
                <a:gd name="T97" fmla="*/ 282 h 390"/>
                <a:gd name="T98" fmla="*/ 550 w 934"/>
                <a:gd name="T99" fmla="*/ 283 h 390"/>
                <a:gd name="T100" fmla="*/ 574 w 934"/>
                <a:gd name="T101" fmla="*/ 282 h 390"/>
                <a:gd name="T102" fmla="*/ 599 w 934"/>
                <a:gd name="T103" fmla="*/ 283 h 390"/>
                <a:gd name="T104" fmla="*/ 621 w 934"/>
                <a:gd name="T105" fmla="*/ 287 h 390"/>
                <a:gd name="T106" fmla="*/ 643 w 934"/>
                <a:gd name="T107" fmla="*/ 287 h 390"/>
                <a:gd name="T108" fmla="*/ 669 w 934"/>
                <a:gd name="T109" fmla="*/ 292 h 390"/>
                <a:gd name="T110" fmla="*/ 691 w 934"/>
                <a:gd name="T111" fmla="*/ 295 h 390"/>
                <a:gd name="T112" fmla="*/ 712 w 934"/>
                <a:gd name="T113" fmla="*/ 302 h 390"/>
                <a:gd name="T114" fmla="*/ 736 w 934"/>
                <a:gd name="T115" fmla="*/ 304 h 390"/>
                <a:gd name="T116" fmla="*/ 761 w 934"/>
                <a:gd name="T117" fmla="*/ 313 h 390"/>
                <a:gd name="T118" fmla="*/ 784 w 934"/>
                <a:gd name="T119" fmla="*/ 319 h 390"/>
                <a:gd name="T120" fmla="*/ 805 w 934"/>
                <a:gd name="T121" fmla="*/ 326 h 390"/>
                <a:gd name="T122" fmla="*/ 838 w 934"/>
                <a:gd name="T123" fmla="*/ 340 h 390"/>
                <a:gd name="T124" fmla="*/ 873 w 934"/>
                <a:gd name="T125" fmla="*/ 354 h 39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34"/>
                <a:gd name="T190" fmla="*/ 0 h 390"/>
                <a:gd name="T191" fmla="*/ 934 w 934"/>
                <a:gd name="T192" fmla="*/ 390 h 39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34" h="390">
                  <a:moveTo>
                    <a:pt x="678" y="389"/>
                  </a:moveTo>
                  <a:lnTo>
                    <a:pt x="933" y="272"/>
                  </a:lnTo>
                  <a:lnTo>
                    <a:pt x="877" y="0"/>
                  </a:lnTo>
                  <a:lnTo>
                    <a:pt x="828" y="95"/>
                  </a:lnTo>
                  <a:lnTo>
                    <a:pt x="816" y="90"/>
                  </a:lnTo>
                  <a:lnTo>
                    <a:pt x="802" y="85"/>
                  </a:lnTo>
                  <a:lnTo>
                    <a:pt x="790" y="78"/>
                  </a:lnTo>
                  <a:lnTo>
                    <a:pt x="777" y="75"/>
                  </a:lnTo>
                  <a:lnTo>
                    <a:pt x="763" y="68"/>
                  </a:lnTo>
                  <a:lnTo>
                    <a:pt x="750" y="65"/>
                  </a:lnTo>
                  <a:lnTo>
                    <a:pt x="737" y="60"/>
                  </a:lnTo>
                  <a:lnTo>
                    <a:pt x="724" y="57"/>
                  </a:lnTo>
                  <a:lnTo>
                    <a:pt x="711" y="52"/>
                  </a:lnTo>
                  <a:lnTo>
                    <a:pt x="697" y="48"/>
                  </a:lnTo>
                  <a:lnTo>
                    <a:pt x="683" y="44"/>
                  </a:lnTo>
                  <a:lnTo>
                    <a:pt x="669" y="41"/>
                  </a:lnTo>
                  <a:lnTo>
                    <a:pt x="657" y="37"/>
                  </a:lnTo>
                  <a:lnTo>
                    <a:pt x="643" y="36"/>
                  </a:lnTo>
                  <a:lnTo>
                    <a:pt x="632" y="33"/>
                  </a:lnTo>
                  <a:lnTo>
                    <a:pt x="618" y="29"/>
                  </a:lnTo>
                  <a:lnTo>
                    <a:pt x="604" y="27"/>
                  </a:lnTo>
                  <a:lnTo>
                    <a:pt x="591" y="25"/>
                  </a:lnTo>
                  <a:lnTo>
                    <a:pt x="577" y="23"/>
                  </a:lnTo>
                  <a:lnTo>
                    <a:pt x="564" y="23"/>
                  </a:lnTo>
                  <a:lnTo>
                    <a:pt x="550" y="20"/>
                  </a:lnTo>
                  <a:lnTo>
                    <a:pt x="536" y="18"/>
                  </a:lnTo>
                  <a:lnTo>
                    <a:pt x="523" y="18"/>
                  </a:lnTo>
                  <a:lnTo>
                    <a:pt x="510" y="15"/>
                  </a:lnTo>
                  <a:lnTo>
                    <a:pt x="497" y="16"/>
                  </a:lnTo>
                  <a:lnTo>
                    <a:pt x="483" y="17"/>
                  </a:lnTo>
                  <a:lnTo>
                    <a:pt x="470" y="15"/>
                  </a:lnTo>
                  <a:lnTo>
                    <a:pt x="456" y="15"/>
                  </a:lnTo>
                  <a:lnTo>
                    <a:pt x="444" y="15"/>
                  </a:lnTo>
                  <a:lnTo>
                    <a:pt x="430" y="15"/>
                  </a:lnTo>
                  <a:lnTo>
                    <a:pt x="416" y="15"/>
                  </a:lnTo>
                  <a:lnTo>
                    <a:pt x="402" y="17"/>
                  </a:lnTo>
                  <a:lnTo>
                    <a:pt x="390" y="17"/>
                  </a:lnTo>
                  <a:lnTo>
                    <a:pt x="375" y="19"/>
                  </a:lnTo>
                  <a:lnTo>
                    <a:pt x="365" y="19"/>
                  </a:lnTo>
                  <a:lnTo>
                    <a:pt x="351" y="22"/>
                  </a:lnTo>
                  <a:lnTo>
                    <a:pt x="337" y="24"/>
                  </a:lnTo>
                  <a:lnTo>
                    <a:pt x="322" y="25"/>
                  </a:lnTo>
                  <a:lnTo>
                    <a:pt x="313" y="28"/>
                  </a:lnTo>
                  <a:lnTo>
                    <a:pt x="297" y="29"/>
                  </a:lnTo>
                  <a:lnTo>
                    <a:pt x="287" y="31"/>
                  </a:lnTo>
                  <a:lnTo>
                    <a:pt x="272" y="33"/>
                  </a:lnTo>
                  <a:lnTo>
                    <a:pt x="259" y="38"/>
                  </a:lnTo>
                  <a:lnTo>
                    <a:pt x="245" y="39"/>
                  </a:lnTo>
                  <a:lnTo>
                    <a:pt x="233" y="44"/>
                  </a:lnTo>
                  <a:lnTo>
                    <a:pt x="221" y="46"/>
                  </a:lnTo>
                  <a:lnTo>
                    <a:pt x="145" y="72"/>
                  </a:lnTo>
                  <a:lnTo>
                    <a:pt x="133" y="77"/>
                  </a:lnTo>
                  <a:lnTo>
                    <a:pt x="118" y="83"/>
                  </a:lnTo>
                  <a:lnTo>
                    <a:pt x="108" y="88"/>
                  </a:lnTo>
                  <a:lnTo>
                    <a:pt x="94" y="93"/>
                  </a:lnTo>
                  <a:lnTo>
                    <a:pt x="83" y="99"/>
                  </a:lnTo>
                  <a:lnTo>
                    <a:pt x="71" y="105"/>
                  </a:lnTo>
                  <a:lnTo>
                    <a:pt x="58" y="112"/>
                  </a:lnTo>
                  <a:lnTo>
                    <a:pt x="47" y="118"/>
                  </a:lnTo>
                  <a:lnTo>
                    <a:pt x="35" y="125"/>
                  </a:lnTo>
                  <a:lnTo>
                    <a:pt x="23" y="132"/>
                  </a:lnTo>
                  <a:lnTo>
                    <a:pt x="11" y="139"/>
                  </a:lnTo>
                  <a:lnTo>
                    <a:pt x="0" y="146"/>
                  </a:lnTo>
                  <a:lnTo>
                    <a:pt x="120" y="327"/>
                  </a:lnTo>
                  <a:lnTo>
                    <a:pt x="130" y="321"/>
                  </a:lnTo>
                  <a:lnTo>
                    <a:pt x="138" y="316"/>
                  </a:lnTo>
                  <a:lnTo>
                    <a:pt x="148" y="310"/>
                  </a:lnTo>
                  <a:lnTo>
                    <a:pt x="156" y="307"/>
                  </a:lnTo>
                  <a:lnTo>
                    <a:pt x="164" y="302"/>
                  </a:lnTo>
                  <a:lnTo>
                    <a:pt x="173" y="300"/>
                  </a:lnTo>
                  <a:lnTo>
                    <a:pt x="183" y="292"/>
                  </a:lnTo>
                  <a:lnTo>
                    <a:pt x="192" y="288"/>
                  </a:lnTo>
                  <a:lnTo>
                    <a:pt x="201" y="286"/>
                  </a:lnTo>
                  <a:lnTo>
                    <a:pt x="211" y="280"/>
                  </a:lnTo>
                  <a:lnTo>
                    <a:pt x="219" y="276"/>
                  </a:lnTo>
                  <a:lnTo>
                    <a:pt x="229" y="273"/>
                  </a:lnTo>
                  <a:lnTo>
                    <a:pt x="238" y="269"/>
                  </a:lnTo>
                  <a:lnTo>
                    <a:pt x="247" y="268"/>
                  </a:lnTo>
                  <a:lnTo>
                    <a:pt x="257" y="263"/>
                  </a:lnTo>
                  <a:lnTo>
                    <a:pt x="265" y="259"/>
                  </a:lnTo>
                  <a:lnTo>
                    <a:pt x="275" y="258"/>
                  </a:lnTo>
                  <a:lnTo>
                    <a:pt x="285" y="254"/>
                  </a:lnTo>
                  <a:lnTo>
                    <a:pt x="295" y="253"/>
                  </a:lnTo>
                  <a:lnTo>
                    <a:pt x="304" y="248"/>
                  </a:lnTo>
                  <a:lnTo>
                    <a:pt x="313" y="247"/>
                  </a:lnTo>
                  <a:lnTo>
                    <a:pt x="322" y="245"/>
                  </a:lnTo>
                  <a:lnTo>
                    <a:pt x="332" y="244"/>
                  </a:lnTo>
                  <a:lnTo>
                    <a:pt x="341" y="242"/>
                  </a:lnTo>
                  <a:lnTo>
                    <a:pt x="351" y="238"/>
                  </a:lnTo>
                  <a:lnTo>
                    <a:pt x="362" y="240"/>
                  </a:lnTo>
                  <a:lnTo>
                    <a:pt x="371" y="237"/>
                  </a:lnTo>
                  <a:lnTo>
                    <a:pt x="381" y="235"/>
                  </a:lnTo>
                  <a:lnTo>
                    <a:pt x="390" y="234"/>
                  </a:lnTo>
                  <a:lnTo>
                    <a:pt x="402" y="233"/>
                  </a:lnTo>
                  <a:lnTo>
                    <a:pt x="411" y="232"/>
                  </a:lnTo>
                  <a:lnTo>
                    <a:pt x="418" y="231"/>
                  </a:lnTo>
                  <a:lnTo>
                    <a:pt x="430" y="232"/>
                  </a:lnTo>
                  <a:lnTo>
                    <a:pt x="440" y="230"/>
                  </a:lnTo>
                  <a:lnTo>
                    <a:pt x="449" y="232"/>
                  </a:lnTo>
                  <a:lnTo>
                    <a:pt x="458" y="231"/>
                  </a:lnTo>
                  <a:lnTo>
                    <a:pt x="470" y="230"/>
                  </a:lnTo>
                  <a:lnTo>
                    <a:pt x="478" y="230"/>
                  </a:lnTo>
                  <a:lnTo>
                    <a:pt x="487" y="231"/>
                  </a:lnTo>
                  <a:lnTo>
                    <a:pt x="499" y="231"/>
                  </a:lnTo>
                  <a:lnTo>
                    <a:pt x="507" y="232"/>
                  </a:lnTo>
                  <a:lnTo>
                    <a:pt x="517" y="234"/>
                  </a:lnTo>
                  <a:lnTo>
                    <a:pt x="527" y="234"/>
                  </a:lnTo>
                  <a:lnTo>
                    <a:pt x="536" y="234"/>
                  </a:lnTo>
                  <a:lnTo>
                    <a:pt x="546" y="237"/>
                  </a:lnTo>
                  <a:lnTo>
                    <a:pt x="557" y="238"/>
                  </a:lnTo>
                  <a:lnTo>
                    <a:pt x="564" y="240"/>
                  </a:lnTo>
                  <a:lnTo>
                    <a:pt x="576" y="241"/>
                  </a:lnTo>
                  <a:lnTo>
                    <a:pt x="584" y="242"/>
                  </a:lnTo>
                  <a:lnTo>
                    <a:pt x="593" y="246"/>
                  </a:lnTo>
                  <a:lnTo>
                    <a:pt x="603" y="248"/>
                  </a:lnTo>
                  <a:lnTo>
                    <a:pt x="613" y="248"/>
                  </a:lnTo>
                  <a:lnTo>
                    <a:pt x="625" y="251"/>
                  </a:lnTo>
                  <a:lnTo>
                    <a:pt x="634" y="255"/>
                  </a:lnTo>
                  <a:lnTo>
                    <a:pt x="643" y="258"/>
                  </a:lnTo>
                  <a:lnTo>
                    <a:pt x="653" y="260"/>
                  </a:lnTo>
                  <a:lnTo>
                    <a:pt x="662" y="263"/>
                  </a:lnTo>
                  <a:lnTo>
                    <a:pt x="671" y="266"/>
                  </a:lnTo>
                  <a:lnTo>
                    <a:pt x="681" y="270"/>
                  </a:lnTo>
                  <a:lnTo>
                    <a:pt x="698" y="277"/>
                  </a:lnTo>
                  <a:lnTo>
                    <a:pt x="709" y="281"/>
                  </a:lnTo>
                  <a:lnTo>
                    <a:pt x="727" y="289"/>
                  </a:lnTo>
                  <a:lnTo>
                    <a:pt x="678" y="389"/>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0" name="Freeform 19">
              <a:extLst>
                <a:ext uri="{FF2B5EF4-FFF2-40B4-BE49-F238E27FC236}">
                  <a16:creationId xmlns:a16="http://schemas.microsoft.com/office/drawing/2014/main" id="{15760D83-9671-A269-3E78-93B8FB46EA4C}"/>
                </a:ext>
              </a:extLst>
            </p:cNvPr>
            <p:cNvSpPr>
              <a:spLocks/>
            </p:cNvSpPr>
            <p:nvPr/>
          </p:nvSpPr>
          <p:spPr bwMode="auto">
            <a:xfrm>
              <a:off x="3334" y="1934"/>
              <a:ext cx="674" cy="994"/>
            </a:xfrm>
            <a:custGeom>
              <a:avLst/>
              <a:gdLst>
                <a:gd name="T0" fmla="*/ 338 w 562"/>
                <a:gd name="T1" fmla="*/ 0 h 812"/>
                <a:gd name="T2" fmla="*/ 341 w 562"/>
                <a:gd name="T3" fmla="*/ 2 h 812"/>
                <a:gd name="T4" fmla="*/ 345 w 562"/>
                <a:gd name="T5" fmla="*/ 9 h 812"/>
                <a:gd name="T6" fmla="*/ 349 w 562"/>
                <a:gd name="T7" fmla="*/ 15 h 812"/>
                <a:gd name="T8" fmla="*/ 354 w 562"/>
                <a:gd name="T9" fmla="*/ 22 h 812"/>
                <a:gd name="T10" fmla="*/ 360 w 562"/>
                <a:gd name="T11" fmla="*/ 28 h 812"/>
                <a:gd name="T12" fmla="*/ 367 w 562"/>
                <a:gd name="T13" fmla="*/ 38 h 812"/>
                <a:gd name="T14" fmla="*/ 371 w 562"/>
                <a:gd name="T15" fmla="*/ 44 h 812"/>
                <a:gd name="T16" fmla="*/ 379 w 562"/>
                <a:gd name="T17" fmla="*/ 55 h 812"/>
                <a:gd name="T18" fmla="*/ 386 w 562"/>
                <a:gd name="T19" fmla="*/ 64 h 812"/>
                <a:gd name="T20" fmla="*/ 393 w 562"/>
                <a:gd name="T21" fmla="*/ 73 h 812"/>
                <a:gd name="T22" fmla="*/ 397 w 562"/>
                <a:gd name="T23" fmla="*/ 83 h 812"/>
                <a:gd name="T24" fmla="*/ 404 w 562"/>
                <a:gd name="T25" fmla="*/ 88 h 812"/>
                <a:gd name="T26" fmla="*/ 407 w 562"/>
                <a:gd name="T27" fmla="*/ 94 h 812"/>
                <a:gd name="T28" fmla="*/ 409 w 562"/>
                <a:gd name="T29" fmla="*/ 99 h 812"/>
                <a:gd name="T30" fmla="*/ 415 w 562"/>
                <a:gd name="T31" fmla="*/ 105 h 812"/>
                <a:gd name="T32" fmla="*/ 375 w 562"/>
                <a:gd name="T33" fmla="*/ 137 h 812"/>
                <a:gd name="T34" fmla="*/ 337 w 562"/>
                <a:gd name="T35" fmla="*/ 169 h 812"/>
                <a:gd name="T36" fmla="*/ 300 w 562"/>
                <a:gd name="T37" fmla="*/ 201 h 812"/>
                <a:gd name="T38" fmla="*/ 267 w 562"/>
                <a:gd name="T39" fmla="*/ 237 h 812"/>
                <a:gd name="T40" fmla="*/ 234 w 562"/>
                <a:gd name="T41" fmla="*/ 274 h 812"/>
                <a:gd name="T42" fmla="*/ 204 w 562"/>
                <a:gd name="T43" fmla="*/ 311 h 812"/>
                <a:gd name="T44" fmla="*/ 175 w 562"/>
                <a:gd name="T45" fmla="*/ 349 h 812"/>
                <a:gd name="T46" fmla="*/ 149 w 562"/>
                <a:gd name="T47" fmla="*/ 390 h 812"/>
                <a:gd name="T48" fmla="*/ 124 w 562"/>
                <a:gd name="T49" fmla="*/ 431 h 812"/>
                <a:gd name="T50" fmla="*/ 64 w 562"/>
                <a:gd name="T51" fmla="*/ 556 h 812"/>
                <a:gd name="T52" fmla="*/ 48 w 562"/>
                <a:gd name="T53" fmla="*/ 601 h 812"/>
                <a:gd name="T54" fmla="*/ 35 w 562"/>
                <a:gd name="T55" fmla="*/ 646 h 812"/>
                <a:gd name="T56" fmla="*/ 23 w 562"/>
                <a:gd name="T57" fmla="*/ 690 h 812"/>
                <a:gd name="T58" fmla="*/ 13 w 562"/>
                <a:gd name="T59" fmla="*/ 739 h 812"/>
                <a:gd name="T60" fmla="*/ 6 w 562"/>
                <a:gd name="T61" fmla="*/ 786 h 812"/>
                <a:gd name="T62" fmla="*/ 1 w 562"/>
                <a:gd name="T63" fmla="*/ 830 h 812"/>
                <a:gd name="T64" fmla="*/ 0 w 562"/>
                <a:gd name="T65" fmla="*/ 880 h 812"/>
                <a:gd name="T66" fmla="*/ 0 w 562"/>
                <a:gd name="T67" fmla="*/ 928 h 812"/>
                <a:gd name="T68" fmla="*/ 0 w 562"/>
                <a:gd name="T69" fmla="*/ 976 h 812"/>
                <a:gd name="T70" fmla="*/ 273 w 562"/>
                <a:gd name="T71" fmla="*/ 956 h 812"/>
                <a:gd name="T72" fmla="*/ 272 w 562"/>
                <a:gd name="T73" fmla="*/ 922 h 812"/>
                <a:gd name="T74" fmla="*/ 271 w 562"/>
                <a:gd name="T75" fmla="*/ 886 h 812"/>
                <a:gd name="T76" fmla="*/ 272 w 562"/>
                <a:gd name="T77" fmla="*/ 852 h 812"/>
                <a:gd name="T78" fmla="*/ 275 w 562"/>
                <a:gd name="T79" fmla="*/ 816 h 812"/>
                <a:gd name="T80" fmla="*/ 282 w 562"/>
                <a:gd name="T81" fmla="*/ 781 h 812"/>
                <a:gd name="T82" fmla="*/ 288 w 562"/>
                <a:gd name="T83" fmla="*/ 749 h 812"/>
                <a:gd name="T84" fmla="*/ 294 w 562"/>
                <a:gd name="T85" fmla="*/ 715 h 812"/>
                <a:gd name="T86" fmla="*/ 306 w 562"/>
                <a:gd name="T87" fmla="*/ 683 h 812"/>
                <a:gd name="T88" fmla="*/ 318 w 562"/>
                <a:gd name="T89" fmla="*/ 648 h 812"/>
                <a:gd name="T90" fmla="*/ 366 w 562"/>
                <a:gd name="T91" fmla="*/ 545 h 812"/>
                <a:gd name="T92" fmla="*/ 386 w 562"/>
                <a:gd name="T93" fmla="*/ 515 h 812"/>
                <a:gd name="T94" fmla="*/ 407 w 562"/>
                <a:gd name="T95" fmla="*/ 486 h 812"/>
                <a:gd name="T96" fmla="*/ 427 w 562"/>
                <a:gd name="T97" fmla="*/ 460 h 812"/>
                <a:gd name="T98" fmla="*/ 449 w 562"/>
                <a:gd name="T99" fmla="*/ 432 h 812"/>
                <a:gd name="T100" fmla="*/ 474 w 562"/>
                <a:gd name="T101" fmla="*/ 406 h 812"/>
                <a:gd name="T102" fmla="*/ 498 w 562"/>
                <a:gd name="T103" fmla="*/ 383 h 812"/>
                <a:gd name="T104" fmla="*/ 526 w 562"/>
                <a:gd name="T105" fmla="*/ 359 h 812"/>
                <a:gd name="T106" fmla="*/ 553 w 562"/>
                <a:gd name="T107" fmla="*/ 337 h 812"/>
                <a:gd name="T108" fmla="*/ 654 w 562"/>
                <a:gd name="T109" fmla="*/ 430 h 81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62"/>
                <a:gd name="T166" fmla="*/ 0 h 812"/>
                <a:gd name="T167" fmla="*/ 562 w 562"/>
                <a:gd name="T168" fmla="*/ 812 h 81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62" h="812">
                  <a:moveTo>
                    <a:pt x="545" y="351"/>
                  </a:moveTo>
                  <a:lnTo>
                    <a:pt x="561" y="82"/>
                  </a:lnTo>
                  <a:lnTo>
                    <a:pt x="282" y="0"/>
                  </a:lnTo>
                  <a:lnTo>
                    <a:pt x="282" y="2"/>
                  </a:lnTo>
                  <a:lnTo>
                    <a:pt x="284" y="2"/>
                  </a:lnTo>
                  <a:lnTo>
                    <a:pt x="285" y="5"/>
                  </a:lnTo>
                  <a:lnTo>
                    <a:pt x="287" y="5"/>
                  </a:lnTo>
                  <a:lnTo>
                    <a:pt x="288" y="7"/>
                  </a:lnTo>
                  <a:lnTo>
                    <a:pt x="290" y="8"/>
                  </a:lnTo>
                  <a:lnTo>
                    <a:pt x="290" y="10"/>
                  </a:lnTo>
                  <a:lnTo>
                    <a:pt x="291" y="12"/>
                  </a:lnTo>
                  <a:lnTo>
                    <a:pt x="292" y="14"/>
                  </a:lnTo>
                  <a:lnTo>
                    <a:pt x="294" y="15"/>
                  </a:lnTo>
                  <a:lnTo>
                    <a:pt x="295" y="18"/>
                  </a:lnTo>
                  <a:lnTo>
                    <a:pt x="297" y="18"/>
                  </a:lnTo>
                  <a:lnTo>
                    <a:pt x="298" y="22"/>
                  </a:lnTo>
                  <a:lnTo>
                    <a:pt x="300" y="23"/>
                  </a:lnTo>
                  <a:lnTo>
                    <a:pt x="300" y="26"/>
                  </a:lnTo>
                  <a:lnTo>
                    <a:pt x="303" y="28"/>
                  </a:lnTo>
                  <a:lnTo>
                    <a:pt x="306" y="31"/>
                  </a:lnTo>
                  <a:lnTo>
                    <a:pt x="306" y="33"/>
                  </a:lnTo>
                  <a:lnTo>
                    <a:pt x="308" y="34"/>
                  </a:lnTo>
                  <a:lnTo>
                    <a:pt x="309" y="36"/>
                  </a:lnTo>
                  <a:lnTo>
                    <a:pt x="312" y="40"/>
                  </a:lnTo>
                  <a:lnTo>
                    <a:pt x="313" y="41"/>
                  </a:lnTo>
                  <a:lnTo>
                    <a:pt x="316" y="45"/>
                  </a:lnTo>
                  <a:lnTo>
                    <a:pt x="319" y="47"/>
                  </a:lnTo>
                  <a:lnTo>
                    <a:pt x="320" y="52"/>
                  </a:lnTo>
                  <a:lnTo>
                    <a:pt x="322" y="52"/>
                  </a:lnTo>
                  <a:lnTo>
                    <a:pt x="325" y="56"/>
                  </a:lnTo>
                  <a:lnTo>
                    <a:pt x="326" y="59"/>
                  </a:lnTo>
                  <a:lnTo>
                    <a:pt x="328" y="60"/>
                  </a:lnTo>
                  <a:lnTo>
                    <a:pt x="329" y="65"/>
                  </a:lnTo>
                  <a:lnTo>
                    <a:pt x="331" y="65"/>
                  </a:lnTo>
                  <a:lnTo>
                    <a:pt x="331" y="68"/>
                  </a:lnTo>
                  <a:lnTo>
                    <a:pt x="333" y="68"/>
                  </a:lnTo>
                  <a:lnTo>
                    <a:pt x="334" y="70"/>
                  </a:lnTo>
                  <a:lnTo>
                    <a:pt x="337" y="72"/>
                  </a:lnTo>
                  <a:lnTo>
                    <a:pt x="337" y="74"/>
                  </a:lnTo>
                  <a:lnTo>
                    <a:pt x="339" y="75"/>
                  </a:lnTo>
                  <a:lnTo>
                    <a:pt x="339" y="77"/>
                  </a:lnTo>
                  <a:lnTo>
                    <a:pt x="342" y="78"/>
                  </a:lnTo>
                  <a:lnTo>
                    <a:pt x="340" y="80"/>
                  </a:lnTo>
                  <a:lnTo>
                    <a:pt x="341" y="81"/>
                  </a:lnTo>
                  <a:lnTo>
                    <a:pt x="343" y="83"/>
                  </a:lnTo>
                  <a:lnTo>
                    <a:pt x="345" y="83"/>
                  </a:lnTo>
                  <a:lnTo>
                    <a:pt x="346" y="86"/>
                  </a:lnTo>
                  <a:lnTo>
                    <a:pt x="334" y="95"/>
                  </a:lnTo>
                  <a:lnTo>
                    <a:pt x="325" y="103"/>
                  </a:lnTo>
                  <a:lnTo>
                    <a:pt x="313" y="112"/>
                  </a:lnTo>
                  <a:lnTo>
                    <a:pt x="303" y="120"/>
                  </a:lnTo>
                  <a:lnTo>
                    <a:pt x="292" y="129"/>
                  </a:lnTo>
                  <a:lnTo>
                    <a:pt x="281" y="138"/>
                  </a:lnTo>
                  <a:lnTo>
                    <a:pt x="270" y="147"/>
                  </a:lnTo>
                  <a:lnTo>
                    <a:pt x="261" y="156"/>
                  </a:lnTo>
                  <a:lnTo>
                    <a:pt x="250" y="164"/>
                  </a:lnTo>
                  <a:lnTo>
                    <a:pt x="241" y="175"/>
                  </a:lnTo>
                  <a:lnTo>
                    <a:pt x="232" y="185"/>
                  </a:lnTo>
                  <a:lnTo>
                    <a:pt x="223" y="194"/>
                  </a:lnTo>
                  <a:lnTo>
                    <a:pt x="213" y="204"/>
                  </a:lnTo>
                  <a:lnTo>
                    <a:pt x="204" y="214"/>
                  </a:lnTo>
                  <a:lnTo>
                    <a:pt x="195" y="224"/>
                  </a:lnTo>
                  <a:lnTo>
                    <a:pt x="188" y="233"/>
                  </a:lnTo>
                  <a:lnTo>
                    <a:pt x="179" y="243"/>
                  </a:lnTo>
                  <a:lnTo>
                    <a:pt x="170" y="254"/>
                  </a:lnTo>
                  <a:lnTo>
                    <a:pt x="163" y="265"/>
                  </a:lnTo>
                  <a:lnTo>
                    <a:pt x="154" y="274"/>
                  </a:lnTo>
                  <a:lnTo>
                    <a:pt x="146" y="285"/>
                  </a:lnTo>
                  <a:lnTo>
                    <a:pt x="138" y="296"/>
                  </a:lnTo>
                  <a:lnTo>
                    <a:pt x="133" y="308"/>
                  </a:lnTo>
                  <a:lnTo>
                    <a:pt x="124" y="319"/>
                  </a:lnTo>
                  <a:lnTo>
                    <a:pt x="117" y="329"/>
                  </a:lnTo>
                  <a:lnTo>
                    <a:pt x="112" y="340"/>
                  </a:lnTo>
                  <a:lnTo>
                    <a:pt x="103" y="352"/>
                  </a:lnTo>
                  <a:lnTo>
                    <a:pt x="63" y="431"/>
                  </a:lnTo>
                  <a:lnTo>
                    <a:pt x="59" y="444"/>
                  </a:lnTo>
                  <a:lnTo>
                    <a:pt x="53" y="454"/>
                  </a:lnTo>
                  <a:lnTo>
                    <a:pt x="49" y="468"/>
                  </a:lnTo>
                  <a:lnTo>
                    <a:pt x="46" y="480"/>
                  </a:lnTo>
                  <a:lnTo>
                    <a:pt x="40" y="491"/>
                  </a:lnTo>
                  <a:lnTo>
                    <a:pt x="37" y="502"/>
                  </a:lnTo>
                  <a:lnTo>
                    <a:pt x="33" y="515"/>
                  </a:lnTo>
                  <a:lnTo>
                    <a:pt x="29" y="528"/>
                  </a:lnTo>
                  <a:lnTo>
                    <a:pt x="25" y="539"/>
                  </a:lnTo>
                  <a:lnTo>
                    <a:pt x="22" y="553"/>
                  </a:lnTo>
                  <a:lnTo>
                    <a:pt x="19" y="564"/>
                  </a:lnTo>
                  <a:lnTo>
                    <a:pt x="16" y="577"/>
                  </a:lnTo>
                  <a:lnTo>
                    <a:pt x="13" y="590"/>
                  </a:lnTo>
                  <a:lnTo>
                    <a:pt x="11" y="604"/>
                  </a:lnTo>
                  <a:lnTo>
                    <a:pt x="9" y="615"/>
                  </a:lnTo>
                  <a:lnTo>
                    <a:pt x="7" y="628"/>
                  </a:lnTo>
                  <a:lnTo>
                    <a:pt x="5" y="642"/>
                  </a:lnTo>
                  <a:lnTo>
                    <a:pt x="4" y="653"/>
                  </a:lnTo>
                  <a:lnTo>
                    <a:pt x="3" y="667"/>
                  </a:lnTo>
                  <a:lnTo>
                    <a:pt x="1" y="678"/>
                  </a:lnTo>
                  <a:lnTo>
                    <a:pt x="0" y="692"/>
                  </a:lnTo>
                  <a:lnTo>
                    <a:pt x="1" y="704"/>
                  </a:lnTo>
                  <a:lnTo>
                    <a:pt x="0" y="719"/>
                  </a:lnTo>
                  <a:lnTo>
                    <a:pt x="1" y="732"/>
                  </a:lnTo>
                  <a:lnTo>
                    <a:pt x="0" y="745"/>
                  </a:lnTo>
                  <a:lnTo>
                    <a:pt x="0" y="758"/>
                  </a:lnTo>
                  <a:lnTo>
                    <a:pt x="0" y="769"/>
                  </a:lnTo>
                  <a:lnTo>
                    <a:pt x="0" y="784"/>
                  </a:lnTo>
                  <a:lnTo>
                    <a:pt x="0" y="797"/>
                  </a:lnTo>
                  <a:lnTo>
                    <a:pt x="3" y="811"/>
                  </a:lnTo>
                  <a:lnTo>
                    <a:pt x="227" y="792"/>
                  </a:lnTo>
                  <a:lnTo>
                    <a:pt x="228" y="781"/>
                  </a:lnTo>
                  <a:lnTo>
                    <a:pt x="227" y="773"/>
                  </a:lnTo>
                  <a:lnTo>
                    <a:pt x="225" y="762"/>
                  </a:lnTo>
                  <a:lnTo>
                    <a:pt x="227" y="753"/>
                  </a:lnTo>
                  <a:lnTo>
                    <a:pt x="225" y="743"/>
                  </a:lnTo>
                  <a:lnTo>
                    <a:pt x="225" y="733"/>
                  </a:lnTo>
                  <a:lnTo>
                    <a:pt x="226" y="724"/>
                  </a:lnTo>
                  <a:lnTo>
                    <a:pt x="227" y="714"/>
                  </a:lnTo>
                  <a:lnTo>
                    <a:pt x="227" y="706"/>
                  </a:lnTo>
                  <a:lnTo>
                    <a:pt x="227" y="696"/>
                  </a:lnTo>
                  <a:lnTo>
                    <a:pt x="229" y="686"/>
                  </a:lnTo>
                  <a:lnTo>
                    <a:pt x="229" y="677"/>
                  </a:lnTo>
                  <a:lnTo>
                    <a:pt x="229" y="667"/>
                  </a:lnTo>
                  <a:lnTo>
                    <a:pt x="232" y="656"/>
                  </a:lnTo>
                  <a:lnTo>
                    <a:pt x="233" y="647"/>
                  </a:lnTo>
                  <a:lnTo>
                    <a:pt x="235" y="638"/>
                  </a:lnTo>
                  <a:lnTo>
                    <a:pt x="235" y="630"/>
                  </a:lnTo>
                  <a:lnTo>
                    <a:pt x="238" y="622"/>
                  </a:lnTo>
                  <a:lnTo>
                    <a:pt x="240" y="612"/>
                  </a:lnTo>
                  <a:lnTo>
                    <a:pt x="244" y="602"/>
                  </a:lnTo>
                  <a:lnTo>
                    <a:pt x="244" y="592"/>
                  </a:lnTo>
                  <a:lnTo>
                    <a:pt x="245" y="584"/>
                  </a:lnTo>
                  <a:lnTo>
                    <a:pt x="251" y="575"/>
                  </a:lnTo>
                  <a:lnTo>
                    <a:pt x="253" y="566"/>
                  </a:lnTo>
                  <a:lnTo>
                    <a:pt x="255" y="558"/>
                  </a:lnTo>
                  <a:lnTo>
                    <a:pt x="257" y="548"/>
                  </a:lnTo>
                  <a:lnTo>
                    <a:pt x="263" y="538"/>
                  </a:lnTo>
                  <a:lnTo>
                    <a:pt x="265" y="529"/>
                  </a:lnTo>
                  <a:lnTo>
                    <a:pt x="269" y="521"/>
                  </a:lnTo>
                  <a:lnTo>
                    <a:pt x="272" y="512"/>
                  </a:lnTo>
                  <a:lnTo>
                    <a:pt x="305" y="445"/>
                  </a:lnTo>
                  <a:lnTo>
                    <a:pt x="312" y="438"/>
                  </a:lnTo>
                  <a:lnTo>
                    <a:pt x="316" y="431"/>
                  </a:lnTo>
                  <a:lnTo>
                    <a:pt x="322" y="421"/>
                  </a:lnTo>
                  <a:lnTo>
                    <a:pt x="326" y="413"/>
                  </a:lnTo>
                  <a:lnTo>
                    <a:pt x="333" y="405"/>
                  </a:lnTo>
                  <a:lnTo>
                    <a:pt x="339" y="397"/>
                  </a:lnTo>
                  <a:lnTo>
                    <a:pt x="345" y="390"/>
                  </a:lnTo>
                  <a:lnTo>
                    <a:pt x="351" y="384"/>
                  </a:lnTo>
                  <a:lnTo>
                    <a:pt x="356" y="376"/>
                  </a:lnTo>
                  <a:lnTo>
                    <a:pt x="363" y="368"/>
                  </a:lnTo>
                  <a:lnTo>
                    <a:pt x="368" y="361"/>
                  </a:lnTo>
                  <a:lnTo>
                    <a:pt x="374" y="353"/>
                  </a:lnTo>
                  <a:lnTo>
                    <a:pt x="382" y="346"/>
                  </a:lnTo>
                  <a:lnTo>
                    <a:pt x="387" y="339"/>
                  </a:lnTo>
                  <a:lnTo>
                    <a:pt x="395" y="332"/>
                  </a:lnTo>
                  <a:lnTo>
                    <a:pt x="401" y="324"/>
                  </a:lnTo>
                  <a:lnTo>
                    <a:pt x="409" y="318"/>
                  </a:lnTo>
                  <a:lnTo>
                    <a:pt x="415" y="313"/>
                  </a:lnTo>
                  <a:lnTo>
                    <a:pt x="424" y="306"/>
                  </a:lnTo>
                  <a:lnTo>
                    <a:pt x="430" y="300"/>
                  </a:lnTo>
                  <a:lnTo>
                    <a:pt x="439" y="293"/>
                  </a:lnTo>
                  <a:lnTo>
                    <a:pt x="446" y="287"/>
                  </a:lnTo>
                  <a:lnTo>
                    <a:pt x="455" y="280"/>
                  </a:lnTo>
                  <a:lnTo>
                    <a:pt x="461" y="275"/>
                  </a:lnTo>
                  <a:lnTo>
                    <a:pt x="471" y="269"/>
                  </a:lnTo>
                  <a:lnTo>
                    <a:pt x="478" y="263"/>
                  </a:lnTo>
                  <a:lnTo>
                    <a:pt x="545" y="351"/>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1" name="Freeform 20">
              <a:extLst>
                <a:ext uri="{FF2B5EF4-FFF2-40B4-BE49-F238E27FC236}">
                  <a16:creationId xmlns:a16="http://schemas.microsoft.com/office/drawing/2014/main" id="{E1908442-363D-518E-C3CC-6C8B6DCBA2E5}"/>
                </a:ext>
              </a:extLst>
            </p:cNvPr>
            <p:cNvSpPr>
              <a:spLocks/>
            </p:cNvSpPr>
            <p:nvPr/>
          </p:nvSpPr>
          <p:spPr bwMode="auto">
            <a:xfrm>
              <a:off x="3196" y="2709"/>
              <a:ext cx="808" cy="1029"/>
            </a:xfrm>
            <a:custGeom>
              <a:avLst/>
              <a:gdLst>
                <a:gd name="T0" fmla="*/ 0 w 673"/>
                <a:gd name="T1" fmla="*/ 223 h 840"/>
                <a:gd name="T2" fmla="*/ 4 w 673"/>
                <a:gd name="T3" fmla="*/ 222 h 840"/>
                <a:gd name="T4" fmla="*/ 13 w 673"/>
                <a:gd name="T5" fmla="*/ 222 h 840"/>
                <a:gd name="T6" fmla="*/ 23 w 673"/>
                <a:gd name="T7" fmla="*/ 222 h 840"/>
                <a:gd name="T8" fmla="*/ 34 w 673"/>
                <a:gd name="T9" fmla="*/ 219 h 840"/>
                <a:gd name="T10" fmla="*/ 48 w 673"/>
                <a:gd name="T11" fmla="*/ 221 h 840"/>
                <a:gd name="T12" fmla="*/ 64 w 673"/>
                <a:gd name="T13" fmla="*/ 218 h 840"/>
                <a:gd name="T14" fmla="*/ 77 w 673"/>
                <a:gd name="T15" fmla="*/ 217 h 840"/>
                <a:gd name="T16" fmla="*/ 88 w 673"/>
                <a:gd name="T17" fmla="*/ 217 h 840"/>
                <a:gd name="T18" fmla="*/ 95 w 673"/>
                <a:gd name="T19" fmla="*/ 218 h 840"/>
                <a:gd name="T20" fmla="*/ 107 w 673"/>
                <a:gd name="T21" fmla="*/ 217 h 840"/>
                <a:gd name="T22" fmla="*/ 113 w 673"/>
                <a:gd name="T23" fmla="*/ 217 h 840"/>
                <a:gd name="T24" fmla="*/ 119 w 673"/>
                <a:gd name="T25" fmla="*/ 216 h 840"/>
                <a:gd name="T26" fmla="*/ 128 w 673"/>
                <a:gd name="T27" fmla="*/ 216 h 840"/>
                <a:gd name="T28" fmla="*/ 133 w 673"/>
                <a:gd name="T29" fmla="*/ 233 h 840"/>
                <a:gd name="T30" fmla="*/ 139 w 673"/>
                <a:gd name="T31" fmla="*/ 283 h 840"/>
                <a:gd name="T32" fmla="*/ 150 w 673"/>
                <a:gd name="T33" fmla="*/ 328 h 840"/>
                <a:gd name="T34" fmla="*/ 160 w 673"/>
                <a:gd name="T35" fmla="*/ 377 h 840"/>
                <a:gd name="T36" fmla="*/ 173 w 673"/>
                <a:gd name="T37" fmla="*/ 424 h 840"/>
                <a:gd name="T38" fmla="*/ 211 w 673"/>
                <a:gd name="T39" fmla="*/ 529 h 840"/>
                <a:gd name="T40" fmla="*/ 231 w 673"/>
                <a:gd name="T41" fmla="*/ 572 h 840"/>
                <a:gd name="T42" fmla="*/ 253 w 673"/>
                <a:gd name="T43" fmla="*/ 615 h 840"/>
                <a:gd name="T44" fmla="*/ 276 w 673"/>
                <a:gd name="T45" fmla="*/ 655 h 840"/>
                <a:gd name="T46" fmla="*/ 300 w 673"/>
                <a:gd name="T47" fmla="*/ 696 h 840"/>
                <a:gd name="T48" fmla="*/ 328 w 673"/>
                <a:gd name="T49" fmla="*/ 734 h 840"/>
                <a:gd name="T50" fmla="*/ 357 w 673"/>
                <a:gd name="T51" fmla="*/ 771 h 840"/>
                <a:gd name="T52" fmla="*/ 390 w 673"/>
                <a:gd name="T53" fmla="*/ 805 h 840"/>
                <a:gd name="T54" fmla="*/ 420 w 673"/>
                <a:gd name="T55" fmla="*/ 840 h 840"/>
                <a:gd name="T56" fmla="*/ 455 w 673"/>
                <a:gd name="T57" fmla="*/ 872 h 840"/>
                <a:gd name="T58" fmla="*/ 491 w 673"/>
                <a:gd name="T59" fmla="*/ 904 h 840"/>
                <a:gd name="T60" fmla="*/ 529 w 673"/>
                <a:gd name="T61" fmla="*/ 936 h 840"/>
                <a:gd name="T62" fmla="*/ 569 w 673"/>
                <a:gd name="T63" fmla="*/ 960 h 840"/>
                <a:gd name="T64" fmla="*/ 609 w 673"/>
                <a:gd name="T65" fmla="*/ 989 h 840"/>
                <a:gd name="T66" fmla="*/ 668 w 673"/>
                <a:gd name="T67" fmla="*/ 1020 h 840"/>
                <a:gd name="T68" fmla="*/ 784 w 673"/>
                <a:gd name="T69" fmla="*/ 779 h 840"/>
                <a:gd name="T70" fmla="*/ 754 w 673"/>
                <a:gd name="T71" fmla="*/ 761 h 840"/>
                <a:gd name="T72" fmla="*/ 723 w 673"/>
                <a:gd name="T73" fmla="*/ 745 h 840"/>
                <a:gd name="T74" fmla="*/ 695 w 673"/>
                <a:gd name="T75" fmla="*/ 723 h 840"/>
                <a:gd name="T76" fmla="*/ 665 w 673"/>
                <a:gd name="T77" fmla="*/ 701 h 840"/>
                <a:gd name="T78" fmla="*/ 639 w 673"/>
                <a:gd name="T79" fmla="*/ 679 h 840"/>
                <a:gd name="T80" fmla="*/ 612 w 673"/>
                <a:gd name="T81" fmla="*/ 654 h 840"/>
                <a:gd name="T82" fmla="*/ 591 w 673"/>
                <a:gd name="T83" fmla="*/ 627 h 840"/>
                <a:gd name="T84" fmla="*/ 568 w 673"/>
                <a:gd name="T85" fmla="*/ 601 h 840"/>
                <a:gd name="T86" fmla="*/ 546 w 673"/>
                <a:gd name="T87" fmla="*/ 573 h 840"/>
                <a:gd name="T88" fmla="*/ 523 w 673"/>
                <a:gd name="T89" fmla="*/ 545 h 840"/>
                <a:gd name="T90" fmla="*/ 508 w 673"/>
                <a:gd name="T91" fmla="*/ 518 h 840"/>
                <a:gd name="T92" fmla="*/ 490 w 673"/>
                <a:gd name="T93" fmla="*/ 486 h 840"/>
                <a:gd name="T94" fmla="*/ 474 w 673"/>
                <a:gd name="T95" fmla="*/ 457 h 840"/>
                <a:gd name="T96" fmla="*/ 457 w 673"/>
                <a:gd name="T97" fmla="*/ 425 h 840"/>
                <a:gd name="T98" fmla="*/ 429 w 673"/>
                <a:gd name="T99" fmla="*/ 337 h 840"/>
                <a:gd name="T100" fmla="*/ 419 w 673"/>
                <a:gd name="T101" fmla="*/ 303 h 840"/>
                <a:gd name="T102" fmla="*/ 412 w 673"/>
                <a:gd name="T103" fmla="*/ 268 h 840"/>
                <a:gd name="T104" fmla="*/ 406 w 673"/>
                <a:gd name="T105" fmla="*/ 233 h 840"/>
                <a:gd name="T106" fmla="*/ 403 w 673"/>
                <a:gd name="T107" fmla="*/ 197 h 84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73"/>
                <a:gd name="T163" fmla="*/ 0 h 840"/>
                <a:gd name="T164" fmla="*/ 673 w 673"/>
                <a:gd name="T165" fmla="*/ 840 h 84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73" h="840">
                  <a:moveTo>
                    <a:pt x="450" y="153"/>
                  </a:moveTo>
                  <a:lnTo>
                    <a:pt x="219" y="0"/>
                  </a:lnTo>
                  <a:lnTo>
                    <a:pt x="0" y="182"/>
                  </a:lnTo>
                  <a:lnTo>
                    <a:pt x="2" y="184"/>
                  </a:lnTo>
                  <a:lnTo>
                    <a:pt x="3" y="181"/>
                  </a:lnTo>
                  <a:lnTo>
                    <a:pt x="6" y="181"/>
                  </a:lnTo>
                  <a:lnTo>
                    <a:pt x="9" y="182"/>
                  </a:lnTo>
                  <a:lnTo>
                    <a:pt x="11" y="181"/>
                  </a:lnTo>
                  <a:lnTo>
                    <a:pt x="13" y="182"/>
                  </a:lnTo>
                  <a:lnTo>
                    <a:pt x="18" y="180"/>
                  </a:lnTo>
                  <a:lnTo>
                    <a:pt x="19" y="181"/>
                  </a:lnTo>
                  <a:lnTo>
                    <a:pt x="21" y="181"/>
                  </a:lnTo>
                  <a:lnTo>
                    <a:pt x="24" y="181"/>
                  </a:lnTo>
                  <a:lnTo>
                    <a:pt x="28" y="179"/>
                  </a:lnTo>
                  <a:lnTo>
                    <a:pt x="33" y="180"/>
                  </a:lnTo>
                  <a:lnTo>
                    <a:pt x="38" y="179"/>
                  </a:lnTo>
                  <a:lnTo>
                    <a:pt x="40" y="180"/>
                  </a:lnTo>
                  <a:lnTo>
                    <a:pt x="44" y="178"/>
                  </a:lnTo>
                  <a:lnTo>
                    <a:pt x="47" y="179"/>
                  </a:lnTo>
                  <a:lnTo>
                    <a:pt x="53" y="178"/>
                  </a:lnTo>
                  <a:lnTo>
                    <a:pt x="55" y="179"/>
                  </a:lnTo>
                  <a:lnTo>
                    <a:pt x="58" y="179"/>
                  </a:lnTo>
                  <a:lnTo>
                    <a:pt x="64" y="177"/>
                  </a:lnTo>
                  <a:lnTo>
                    <a:pt x="65" y="178"/>
                  </a:lnTo>
                  <a:lnTo>
                    <a:pt x="68" y="177"/>
                  </a:lnTo>
                  <a:lnTo>
                    <a:pt x="73" y="177"/>
                  </a:lnTo>
                  <a:lnTo>
                    <a:pt x="74" y="178"/>
                  </a:lnTo>
                  <a:lnTo>
                    <a:pt x="77" y="177"/>
                  </a:lnTo>
                  <a:lnTo>
                    <a:pt x="79" y="178"/>
                  </a:lnTo>
                  <a:lnTo>
                    <a:pt x="83" y="177"/>
                  </a:lnTo>
                  <a:lnTo>
                    <a:pt x="86" y="177"/>
                  </a:lnTo>
                  <a:lnTo>
                    <a:pt x="89" y="177"/>
                  </a:lnTo>
                  <a:lnTo>
                    <a:pt x="90" y="176"/>
                  </a:lnTo>
                  <a:lnTo>
                    <a:pt x="92" y="176"/>
                  </a:lnTo>
                  <a:lnTo>
                    <a:pt x="94" y="177"/>
                  </a:lnTo>
                  <a:lnTo>
                    <a:pt x="97" y="176"/>
                  </a:lnTo>
                  <a:lnTo>
                    <a:pt x="99" y="177"/>
                  </a:lnTo>
                  <a:lnTo>
                    <a:pt x="99" y="176"/>
                  </a:lnTo>
                  <a:lnTo>
                    <a:pt x="101" y="177"/>
                  </a:lnTo>
                  <a:lnTo>
                    <a:pt x="104" y="176"/>
                  </a:lnTo>
                  <a:lnTo>
                    <a:pt x="107" y="176"/>
                  </a:lnTo>
                  <a:lnTo>
                    <a:pt x="108" y="176"/>
                  </a:lnTo>
                  <a:lnTo>
                    <a:pt x="109" y="176"/>
                  </a:lnTo>
                  <a:lnTo>
                    <a:pt x="111" y="190"/>
                  </a:lnTo>
                  <a:lnTo>
                    <a:pt x="114" y="203"/>
                  </a:lnTo>
                  <a:lnTo>
                    <a:pt x="116" y="215"/>
                  </a:lnTo>
                  <a:lnTo>
                    <a:pt x="116" y="231"/>
                  </a:lnTo>
                  <a:lnTo>
                    <a:pt x="119" y="242"/>
                  </a:lnTo>
                  <a:lnTo>
                    <a:pt x="120" y="255"/>
                  </a:lnTo>
                  <a:lnTo>
                    <a:pt x="125" y="268"/>
                  </a:lnTo>
                  <a:lnTo>
                    <a:pt x="126" y="283"/>
                  </a:lnTo>
                  <a:lnTo>
                    <a:pt x="131" y="294"/>
                  </a:lnTo>
                  <a:lnTo>
                    <a:pt x="133" y="308"/>
                  </a:lnTo>
                  <a:lnTo>
                    <a:pt x="137" y="320"/>
                  </a:lnTo>
                  <a:lnTo>
                    <a:pt x="142" y="334"/>
                  </a:lnTo>
                  <a:lnTo>
                    <a:pt x="144" y="346"/>
                  </a:lnTo>
                  <a:lnTo>
                    <a:pt x="165" y="407"/>
                  </a:lnTo>
                  <a:lnTo>
                    <a:pt x="171" y="420"/>
                  </a:lnTo>
                  <a:lnTo>
                    <a:pt x="176" y="432"/>
                  </a:lnTo>
                  <a:lnTo>
                    <a:pt x="182" y="443"/>
                  </a:lnTo>
                  <a:lnTo>
                    <a:pt x="186" y="455"/>
                  </a:lnTo>
                  <a:lnTo>
                    <a:pt x="192" y="467"/>
                  </a:lnTo>
                  <a:lnTo>
                    <a:pt x="198" y="478"/>
                  </a:lnTo>
                  <a:lnTo>
                    <a:pt x="204" y="491"/>
                  </a:lnTo>
                  <a:lnTo>
                    <a:pt x="211" y="502"/>
                  </a:lnTo>
                  <a:lnTo>
                    <a:pt x="217" y="512"/>
                  </a:lnTo>
                  <a:lnTo>
                    <a:pt x="223" y="525"/>
                  </a:lnTo>
                  <a:lnTo>
                    <a:pt x="230" y="535"/>
                  </a:lnTo>
                  <a:lnTo>
                    <a:pt x="238" y="545"/>
                  </a:lnTo>
                  <a:lnTo>
                    <a:pt x="244" y="556"/>
                  </a:lnTo>
                  <a:lnTo>
                    <a:pt x="250" y="568"/>
                  </a:lnTo>
                  <a:lnTo>
                    <a:pt x="259" y="578"/>
                  </a:lnTo>
                  <a:lnTo>
                    <a:pt x="266" y="587"/>
                  </a:lnTo>
                  <a:lnTo>
                    <a:pt x="273" y="599"/>
                  </a:lnTo>
                  <a:lnTo>
                    <a:pt x="283" y="610"/>
                  </a:lnTo>
                  <a:lnTo>
                    <a:pt x="291" y="618"/>
                  </a:lnTo>
                  <a:lnTo>
                    <a:pt x="297" y="629"/>
                  </a:lnTo>
                  <a:lnTo>
                    <a:pt x="306" y="639"/>
                  </a:lnTo>
                  <a:lnTo>
                    <a:pt x="315" y="649"/>
                  </a:lnTo>
                  <a:lnTo>
                    <a:pt x="325" y="657"/>
                  </a:lnTo>
                  <a:lnTo>
                    <a:pt x="332" y="668"/>
                  </a:lnTo>
                  <a:lnTo>
                    <a:pt x="343" y="676"/>
                  </a:lnTo>
                  <a:lnTo>
                    <a:pt x="350" y="686"/>
                  </a:lnTo>
                  <a:lnTo>
                    <a:pt x="361" y="696"/>
                  </a:lnTo>
                  <a:lnTo>
                    <a:pt x="371" y="704"/>
                  </a:lnTo>
                  <a:lnTo>
                    <a:pt x="379" y="712"/>
                  </a:lnTo>
                  <a:lnTo>
                    <a:pt x="390" y="722"/>
                  </a:lnTo>
                  <a:lnTo>
                    <a:pt x="400" y="730"/>
                  </a:lnTo>
                  <a:lnTo>
                    <a:pt x="409" y="738"/>
                  </a:lnTo>
                  <a:lnTo>
                    <a:pt x="419" y="747"/>
                  </a:lnTo>
                  <a:lnTo>
                    <a:pt x="431" y="754"/>
                  </a:lnTo>
                  <a:lnTo>
                    <a:pt x="441" y="764"/>
                  </a:lnTo>
                  <a:lnTo>
                    <a:pt x="453" y="770"/>
                  </a:lnTo>
                  <a:lnTo>
                    <a:pt x="464" y="778"/>
                  </a:lnTo>
                  <a:lnTo>
                    <a:pt x="474" y="784"/>
                  </a:lnTo>
                  <a:lnTo>
                    <a:pt x="485" y="792"/>
                  </a:lnTo>
                  <a:lnTo>
                    <a:pt x="496" y="799"/>
                  </a:lnTo>
                  <a:lnTo>
                    <a:pt x="507" y="807"/>
                  </a:lnTo>
                  <a:lnTo>
                    <a:pt x="519" y="815"/>
                  </a:lnTo>
                  <a:lnTo>
                    <a:pt x="544" y="825"/>
                  </a:lnTo>
                  <a:lnTo>
                    <a:pt x="556" y="833"/>
                  </a:lnTo>
                  <a:lnTo>
                    <a:pt x="568" y="839"/>
                  </a:lnTo>
                  <a:lnTo>
                    <a:pt x="672" y="646"/>
                  </a:lnTo>
                  <a:lnTo>
                    <a:pt x="653" y="636"/>
                  </a:lnTo>
                  <a:lnTo>
                    <a:pt x="646" y="632"/>
                  </a:lnTo>
                  <a:lnTo>
                    <a:pt x="637" y="628"/>
                  </a:lnTo>
                  <a:lnTo>
                    <a:pt x="628" y="621"/>
                  </a:lnTo>
                  <a:lnTo>
                    <a:pt x="619" y="617"/>
                  </a:lnTo>
                  <a:lnTo>
                    <a:pt x="611" y="611"/>
                  </a:lnTo>
                  <a:lnTo>
                    <a:pt x="602" y="608"/>
                  </a:lnTo>
                  <a:lnTo>
                    <a:pt x="594" y="601"/>
                  </a:lnTo>
                  <a:lnTo>
                    <a:pt x="585" y="596"/>
                  </a:lnTo>
                  <a:lnTo>
                    <a:pt x="579" y="590"/>
                  </a:lnTo>
                  <a:lnTo>
                    <a:pt x="569" y="583"/>
                  </a:lnTo>
                  <a:lnTo>
                    <a:pt x="560" y="578"/>
                  </a:lnTo>
                  <a:lnTo>
                    <a:pt x="554" y="572"/>
                  </a:lnTo>
                  <a:lnTo>
                    <a:pt x="547" y="565"/>
                  </a:lnTo>
                  <a:lnTo>
                    <a:pt x="538" y="560"/>
                  </a:lnTo>
                  <a:lnTo>
                    <a:pt x="532" y="554"/>
                  </a:lnTo>
                  <a:lnTo>
                    <a:pt x="526" y="547"/>
                  </a:lnTo>
                  <a:lnTo>
                    <a:pt x="519" y="539"/>
                  </a:lnTo>
                  <a:lnTo>
                    <a:pt x="510" y="534"/>
                  </a:lnTo>
                  <a:lnTo>
                    <a:pt x="504" y="526"/>
                  </a:lnTo>
                  <a:lnTo>
                    <a:pt x="498" y="519"/>
                  </a:lnTo>
                  <a:lnTo>
                    <a:pt x="492" y="512"/>
                  </a:lnTo>
                  <a:lnTo>
                    <a:pt x="486" y="505"/>
                  </a:lnTo>
                  <a:lnTo>
                    <a:pt x="478" y="497"/>
                  </a:lnTo>
                  <a:lnTo>
                    <a:pt x="473" y="491"/>
                  </a:lnTo>
                  <a:lnTo>
                    <a:pt x="466" y="484"/>
                  </a:lnTo>
                  <a:lnTo>
                    <a:pt x="460" y="476"/>
                  </a:lnTo>
                  <a:lnTo>
                    <a:pt x="455" y="468"/>
                  </a:lnTo>
                  <a:lnTo>
                    <a:pt x="448" y="461"/>
                  </a:lnTo>
                  <a:lnTo>
                    <a:pt x="442" y="455"/>
                  </a:lnTo>
                  <a:lnTo>
                    <a:pt x="436" y="445"/>
                  </a:lnTo>
                  <a:lnTo>
                    <a:pt x="433" y="438"/>
                  </a:lnTo>
                  <a:lnTo>
                    <a:pt x="426" y="431"/>
                  </a:lnTo>
                  <a:lnTo>
                    <a:pt x="423" y="423"/>
                  </a:lnTo>
                  <a:lnTo>
                    <a:pt x="416" y="413"/>
                  </a:lnTo>
                  <a:lnTo>
                    <a:pt x="411" y="406"/>
                  </a:lnTo>
                  <a:lnTo>
                    <a:pt x="408" y="397"/>
                  </a:lnTo>
                  <a:lnTo>
                    <a:pt x="402" y="389"/>
                  </a:lnTo>
                  <a:lnTo>
                    <a:pt x="399" y="381"/>
                  </a:lnTo>
                  <a:lnTo>
                    <a:pt x="395" y="373"/>
                  </a:lnTo>
                  <a:lnTo>
                    <a:pt x="390" y="365"/>
                  </a:lnTo>
                  <a:lnTo>
                    <a:pt x="386" y="355"/>
                  </a:lnTo>
                  <a:lnTo>
                    <a:pt x="381" y="347"/>
                  </a:lnTo>
                  <a:lnTo>
                    <a:pt x="377" y="338"/>
                  </a:lnTo>
                  <a:lnTo>
                    <a:pt x="359" y="284"/>
                  </a:lnTo>
                  <a:lnTo>
                    <a:pt x="357" y="275"/>
                  </a:lnTo>
                  <a:lnTo>
                    <a:pt x="354" y="266"/>
                  </a:lnTo>
                  <a:lnTo>
                    <a:pt x="352" y="257"/>
                  </a:lnTo>
                  <a:lnTo>
                    <a:pt x="349" y="247"/>
                  </a:lnTo>
                  <a:lnTo>
                    <a:pt x="348" y="239"/>
                  </a:lnTo>
                  <a:lnTo>
                    <a:pt x="346" y="229"/>
                  </a:lnTo>
                  <a:lnTo>
                    <a:pt x="343" y="219"/>
                  </a:lnTo>
                  <a:lnTo>
                    <a:pt x="340" y="209"/>
                  </a:lnTo>
                  <a:lnTo>
                    <a:pt x="340" y="199"/>
                  </a:lnTo>
                  <a:lnTo>
                    <a:pt x="338" y="190"/>
                  </a:lnTo>
                  <a:lnTo>
                    <a:pt x="338" y="181"/>
                  </a:lnTo>
                  <a:lnTo>
                    <a:pt x="336" y="171"/>
                  </a:lnTo>
                  <a:lnTo>
                    <a:pt x="336" y="161"/>
                  </a:lnTo>
                  <a:lnTo>
                    <a:pt x="450" y="153"/>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2" name="Freeform 21">
              <a:extLst>
                <a:ext uri="{FF2B5EF4-FFF2-40B4-BE49-F238E27FC236}">
                  <a16:creationId xmlns:a16="http://schemas.microsoft.com/office/drawing/2014/main" id="{1B381607-AC8C-3783-A565-7EE2D7DD273B}"/>
                </a:ext>
              </a:extLst>
            </p:cNvPr>
            <p:cNvSpPr>
              <a:spLocks/>
            </p:cNvSpPr>
            <p:nvPr/>
          </p:nvSpPr>
          <p:spPr bwMode="auto">
            <a:xfrm>
              <a:off x="3781" y="3404"/>
              <a:ext cx="1070" cy="479"/>
            </a:xfrm>
            <a:custGeom>
              <a:avLst/>
              <a:gdLst>
                <a:gd name="T0" fmla="*/ 0 w 891"/>
                <a:gd name="T1" fmla="*/ 143 h 391"/>
                <a:gd name="T2" fmla="*/ 124 w 891"/>
                <a:gd name="T3" fmla="*/ 360 h 391"/>
                <a:gd name="T4" fmla="*/ 159 w 891"/>
                <a:gd name="T5" fmla="*/ 374 h 391"/>
                <a:gd name="T6" fmla="*/ 181 w 891"/>
                <a:gd name="T7" fmla="*/ 382 h 391"/>
                <a:gd name="T8" fmla="*/ 208 w 891"/>
                <a:gd name="T9" fmla="*/ 392 h 391"/>
                <a:gd name="T10" fmla="*/ 231 w 891"/>
                <a:gd name="T11" fmla="*/ 401 h 391"/>
                <a:gd name="T12" fmla="*/ 259 w 891"/>
                <a:gd name="T13" fmla="*/ 409 h 391"/>
                <a:gd name="T14" fmla="*/ 286 w 891"/>
                <a:gd name="T15" fmla="*/ 417 h 391"/>
                <a:gd name="T16" fmla="*/ 313 w 891"/>
                <a:gd name="T17" fmla="*/ 423 h 391"/>
                <a:gd name="T18" fmla="*/ 341 w 891"/>
                <a:gd name="T19" fmla="*/ 428 h 391"/>
                <a:gd name="T20" fmla="*/ 369 w 891"/>
                <a:gd name="T21" fmla="*/ 434 h 391"/>
                <a:gd name="T22" fmla="*/ 397 w 891"/>
                <a:gd name="T23" fmla="*/ 440 h 391"/>
                <a:gd name="T24" fmla="*/ 428 w 891"/>
                <a:gd name="T25" fmla="*/ 445 h 391"/>
                <a:gd name="T26" fmla="*/ 458 w 891"/>
                <a:gd name="T27" fmla="*/ 448 h 391"/>
                <a:gd name="T28" fmla="*/ 488 w 891"/>
                <a:gd name="T29" fmla="*/ 450 h 391"/>
                <a:gd name="T30" fmla="*/ 520 w 891"/>
                <a:gd name="T31" fmla="*/ 452 h 391"/>
                <a:gd name="T32" fmla="*/ 549 w 891"/>
                <a:gd name="T33" fmla="*/ 454 h 391"/>
                <a:gd name="T34" fmla="*/ 580 w 891"/>
                <a:gd name="T35" fmla="*/ 454 h 391"/>
                <a:gd name="T36" fmla="*/ 611 w 891"/>
                <a:gd name="T37" fmla="*/ 454 h 391"/>
                <a:gd name="T38" fmla="*/ 644 w 891"/>
                <a:gd name="T39" fmla="*/ 452 h 391"/>
                <a:gd name="T40" fmla="*/ 675 w 891"/>
                <a:gd name="T41" fmla="*/ 448 h 391"/>
                <a:gd name="T42" fmla="*/ 707 w 891"/>
                <a:gd name="T43" fmla="*/ 447 h 391"/>
                <a:gd name="T44" fmla="*/ 741 w 891"/>
                <a:gd name="T45" fmla="*/ 442 h 391"/>
                <a:gd name="T46" fmla="*/ 771 w 891"/>
                <a:gd name="T47" fmla="*/ 437 h 391"/>
                <a:gd name="T48" fmla="*/ 803 w 891"/>
                <a:gd name="T49" fmla="*/ 430 h 391"/>
                <a:gd name="T50" fmla="*/ 835 w 891"/>
                <a:gd name="T51" fmla="*/ 423 h 391"/>
                <a:gd name="T52" fmla="*/ 897 w 891"/>
                <a:gd name="T53" fmla="*/ 405 h 391"/>
                <a:gd name="T54" fmla="*/ 931 w 891"/>
                <a:gd name="T55" fmla="*/ 397 h 391"/>
                <a:gd name="T56" fmla="*/ 961 w 891"/>
                <a:gd name="T57" fmla="*/ 382 h 391"/>
                <a:gd name="T58" fmla="*/ 993 w 891"/>
                <a:gd name="T59" fmla="*/ 368 h 391"/>
                <a:gd name="T60" fmla="*/ 1023 w 891"/>
                <a:gd name="T61" fmla="*/ 354 h 391"/>
                <a:gd name="T62" fmla="*/ 1056 w 891"/>
                <a:gd name="T63" fmla="*/ 336 h 391"/>
                <a:gd name="T64" fmla="*/ 915 w 891"/>
                <a:gd name="T65" fmla="*/ 282 h 391"/>
                <a:gd name="T66" fmla="*/ 914 w 891"/>
                <a:gd name="T67" fmla="*/ 115 h 391"/>
                <a:gd name="T68" fmla="*/ 893 w 891"/>
                <a:gd name="T69" fmla="*/ 125 h 391"/>
                <a:gd name="T70" fmla="*/ 871 w 891"/>
                <a:gd name="T71" fmla="*/ 134 h 391"/>
                <a:gd name="T72" fmla="*/ 853 w 891"/>
                <a:gd name="T73" fmla="*/ 143 h 391"/>
                <a:gd name="T74" fmla="*/ 830 w 891"/>
                <a:gd name="T75" fmla="*/ 151 h 391"/>
                <a:gd name="T76" fmla="*/ 757 w 891"/>
                <a:gd name="T77" fmla="*/ 172 h 391"/>
                <a:gd name="T78" fmla="*/ 736 w 891"/>
                <a:gd name="T79" fmla="*/ 178 h 391"/>
                <a:gd name="T80" fmla="*/ 717 w 891"/>
                <a:gd name="T81" fmla="*/ 180 h 391"/>
                <a:gd name="T82" fmla="*/ 695 w 891"/>
                <a:gd name="T83" fmla="*/ 185 h 391"/>
                <a:gd name="T84" fmla="*/ 674 w 891"/>
                <a:gd name="T85" fmla="*/ 187 h 391"/>
                <a:gd name="T86" fmla="*/ 654 w 891"/>
                <a:gd name="T87" fmla="*/ 191 h 391"/>
                <a:gd name="T88" fmla="*/ 633 w 891"/>
                <a:gd name="T89" fmla="*/ 195 h 391"/>
                <a:gd name="T90" fmla="*/ 612 w 891"/>
                <a:gd name="T91" fmla="*/ 195 h 391"/>
                <a:gd name="T92" fmla="*/ 592 w 891"/>
                <a:gd name="T93" fmla="*/ 194 h 391"/>
                <a:gd name="T94" fmla="*/ 570 w 891"/>
                <a:gd name="T95" fmla="*/ 194 h 391"/>
                <a:gd name="T96" fmla="*/ 550 w 891"/>
                <a:gd name="T97" fmla="*/ 195 h 391"/>
                <a:gd name="T98" fmla="*/ 528 w 891"/>
                <a:gd name="T99" fmla="*/ 194 h 391"/>
                <a:gd name="T100" fmla="*/ 509 w 891"/>
                <a:gd name="T101" fmla="*/ 192 h 391"/>
                <a:gd name="T102" fmla="*/ 488 w 891"/>
                <a:gd name="T103" fmla="*/ 189 h 391"/>
                <a:gd name="T104" fmla="*/ 465 w 891"/>
                <a:gd name="T105" fmla="*/ 185 h 391"/>
                <a:gd name="T106" fmla="*/ 443 w 891"/>
                <a:gd name="T107" fmla="*/ 181 h 391"/>
                <a:gd name="T108" fmla="*/ 423 w 891"/>
                <a:gd name="T109" fmla="*/ 179 h 391"/>
                <a:gd name="T110" fmla="*/ 400 w 891"/>
                <a:gd name="T111" fmla="*/ 173 h 391"/>
                <a:gd name="T112" fmla="*/ 379 w 891"/>
                <a:gd name="T113" fmla="*/ 168 h 391"/>
                <a:gd name="T114" fmla="*/ 357 w 891"/>
                <a:gd name="T115" fmla="*/ 160 h 391"/>
                <a:gd name="T116" fmla="*/ 335 w 891"/>
                <a:gd name="T117" fmla="*/ 154 h 391"/>
                <a:gd name="T118" fmla="*/ 313 w 891"/>
                <a:gd name="T119" fmla="*/ 147 h 391"/>
                <a:gd name="T120" fmla="*/ 291 w 891"/>
                <a:gd name="T121" fmla="*/ 138 h 391"/>
                <a:gd name="T122" fmla="*/ 270 w 891"/>
                <a:gd name="T123" fmla="*/ 131 h 391"/>
                <a:gd name="T124" fmla="*/ 245 w 891"/>
                <a:gd name="T125" fmla="*/ 121 h 39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891"/>
                <a:gd name="T190" fmla="*/ 0 h 391"/>
                <a:gd name="T191" fmla="*/ 891 w 891"/>
                <a:gd name="T192" fmla="*/ 391 h 39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891" h="391">
                  <a:moveTo>
                    <a:pt x="254" y="0"/>
                  </a:moveTo>
                  <a:lnTo>
                    <a:pt x="0" y="117"/>
                  </a:lnTo>
                  <a:lnTo>
                    <a:pt x="55" y="390"/>
                  </a:lnTo>
                  <a:lnTo>
                    <a:pt x="103" y="294"/>
                  </a:lnTo>
                  <a:lnTo>
                    <a:pt x="122" y="303"/>
                  </a:lnTo>
                  <a:lnTo>
                    <a:pt x="132" y="305"/>
                  </a:lnTo>
                  <a:lnTo>
                    <a:pt x="142" y="309"/>
                  </a:lnTo>
                  <a:lnTo>
                    <a:pt x="151" y="312"/>
                  </a:lnTo>
                  <a:lnTo>
                    <a:pt x="161" y="317"/>
                  </a:lnTo>
                  <a:lnTo>
                    <a:pt x="173" y="320"/>
                  </a:lnTo>
                  <a:lnTo>
                    <a:pt x="182" y="323"/>
                  </a:lnTo>
                  <a:lnTo>
                    <a:pt x="192" y="327"/>
                  </a:lnTo>
                  <a:lnTo>
                    <a:pt x="204" y="331"/>
                  </a:lnTo>
                  <a:lnTo>
                    <a:pt x="216" y="334"/>
                  </a:lnTo>
                  <a:lnTo>
                    <a:pt x="227" y="337"/>
                  </a:lnTo>
                  <a:lnTo>
                    <a:pt x="238" y="340"/>
                  </a:lnTo>
                  <a:lnTo>
                    <a:pt x="248" y="343"/>
                  </a:lnTo>
                  <a:lnTo>
                    <a:pt x="261" y="345"/>
                  </a:lnTo>
                  <a:lnTo>
                    <a:pt x="272" y="348"/>
                  </a:lnTo>
                  <a:lnTo>
                    <a:pt x="284" y="349"/>
                  </a:lnTo>
                  <a:lnTo>
                    <a:pt x="295" y="353"/>
                  </a:lnTo>
                  <a:lnTo>
                    <a:pt x="307" y="354"/>
                  </a:lnTo>
                  <a:lnTo>
                    <a:pt x="319" y="358"/>
                  </a:lnTo>
                  <a:lnTo>
                    <a:pt x="331" y="359"/>
                  </a:lnTo>
                  <a:lnTo>
                    <a:pt x="343" y="361"/>
                  </a:lnTo>
                  <a:lnTo>
                    <a:pt x="356" y="363"/>
                  </a:lnTo>
                  <a:lnTo>
                    <a:pt x="369" y="365"/>
                  </a:lnTo>
                  <a:lnTo>
                    <a:pt x="381" y="366"/>
                  </a:lnTo>
                  <a:lnTo>
                    <a:pt x="393" y="366"/>
                  </a:lnTo>
                  <a:lnTo>
                    <a:pt x="406" y="367"/>
                  </a:lnTo>
                  <a:lnTo>
                    <a:pt x="417" y="369"/>
                  </a:lnTo>
                  <a:lnTo>
                    <a:pt x="433" y="369"/>
                  </a:lnTo>
                  <a:lnTo>
                    <a:pt x="445" y="369"/>
                  </a:lnTo>
                  <a:lnTo>
                    <a:pt x="457" y="371"/>
                  </a:lnTo>
                  <a:lnTo>
                    <a:pt x="471" y="371"/>
                  </a:lnTo>
                  <a:lnTo>
                    <a:pt x="483" y="371"/>
                  </a:lnTo>
                  <a:lnTo>
                    <a:pt x="496" y="371"/>
                  </a:lnTo>
                  <a:lnTo>
                    <a:pt x="509" y="371"/>
                  </a:lnTo>
                  <a:lnTo>
                    <a:pt x="522" y="370"/>
                  </a:lnTo>
                  <a:lnTo>
                    <a:pt x="536" y="369"/>
                  </a:lnTo>
                  <a:lnTo>
                    <a:pt x="548" y="369"/>
                  </a:lnTo>
                  <a:lnTo>
                    <a:pt x="562" y="366"/>
                  </a:lnTo>
                  <a:lnTo>
                    <a:pt x="575" y="367"/>
                  </a:lnTo>
                  <a:lnTo>
                    <a:pt x="589" y="365"/>
                  </a:lnTo>
                  <a:lnTo>
                    <a:pt x="601" y="363"/>
                  </a:lnTo>
                  <a:lnTo>
                    <a:pt x="617" y="361"/>
                  </a:lnTo>
                  <a:lnTo>
                    <a:pt x="628" y="358"/>
                  </a:lnTo>
                  <a:lnTo>
                    <a:pt x="642" y="357"/>
                  </a:lnTo>
                  <a:lnTo>
                    <a:pt x="656" y="355"/>
                  </a:lnTo>
                  <a:lnTo>
                    <a:pt x="669" y="351"/>
                  </a:lnTo>
                  <a:lnTo>
                    <a:pt x="682" y="349"/>
                  </a:lnTo>
                  <a:lnTo>
                    <a:pt x="695" y="345"/>
                  </a:lnTo>
                  <a:lnTo>
                    <a:pt x="709" y="342"/>
                  </a:lnTo>
                  <a:lnTo>
                    <a:pt x="747" y="331"/>
                  </a:lnTo>
                  <a:lnTo>
                    <a:pt x="762" y="327"/>
                  </a:lnTo>
                  <a:lnTo>
                    <a:pt x="775" y="324"/>
                  </a:lnTo>
                  <a:lnTo>
                    <a:pt x="788" y="317"/>
                  </a:lnTo>
                  <a:lnTo>
                    <a:pt x="800" y="312"/>
                  </a:lnTo>
                  <a:lnTo>
                    <a:pt x="813" y="306"/>
                  </a:lnTo>
                  <a:lnTo>
                    <a:pt x="827" y="300"/>
                  </a:lnTo>
                  <a:lnTo>
                    <a:pt x="840" y="295"/>
                  </a:lnTo>
                  <a:lnTo>
                    <a:pt x="852" y="289"/>
                  </a:lnTo>
                  <a:lnTo>
                    <a:pt x="863" y="283"/>
                  </a:lnTo>
                  <a:lnTo>
                    <a:pt x="879" y="274"/>
                  </a:lnTo>
                  <a:lnTo>
                    <a:pt x="890" y="268"/>
                  </a:lnTo>
                  <a:lnTo>
                    <a:pt x="762" y="230"/>
                  </a:lnTo>
                  <a:lnTo>
                    <a:pt x="769" y="89"/>
                  </a:lnTo>
                  <a:lnTo>
                    <a:pt x="761" y="94"/>
                  </a:lnTo>
                  <a:lnTo>
                    <a:pt x="753" y="98"/>
                  </a:lnTo>
                  <a:lnTo>
                    <a:pt x="744" y="102"/>
                  </a:lnTo>
                  <a:lnTo>
                    <a:pt x="734" y="105"/>
                  </a:lnTo>
                  <a:lnTo>
                    <a:pt x="725" y="109"/>
                  </a:lnTo>
                  <a:lnTo>
                    <a:pt x="717" y="112"/>
                  </a:lnTo>
                  <a:lnTo>
                    <a:pt x="710" y="117"/>
                  </a:lnTo>
                  <a:lnTo>
                    <a:pt x="700" y="118"/>
                  </a:lnTo>
                  <a:lnTo>
                    <a:pt x="691" y="123"/>
                  </a:lnTo>
                  <a:lnTo>
                    <a:pt x="639" y="139"/>
                  </a:lnTo>
                  <a:lnTo>
                    <a:pt x="630" y="140"/>
                  </a:lnTo>
                  <a:lnTo>
                    <a:pt x="623" y="143"/>
                  </a:lnTo>
                  <a:lnTo>
                    <a:pt x="613" y="145"/>
                  </a:lnTo>
                  <a:lnTo>
                    <a:pt x="605" y="147"/>
                  </a:lnTo>
                  <a:lnTo>
                    <a:pt x="597" y="147"/>
                  </a:lnTo>
                  <a:lnTo>
                    <a:pt x="587" y="149"/>
                  </a:lnTo>
                  <a:lnTo>
                    <a:pt x="579" y="151"/>
                  </a:lnTo>
                  <a:lnTo>
                    <a:pt x="571" y="151"/>
                  </a:lnTo>
                  <a:lnTo>
                    <a:pt x="561" y="153"/>
                  </a:lnTo>
                  <a:lnTo>
                    <a:pt x="552" y="156"/>
                  </a:lnTo>
                  <a:lnTo>
                    <a:pt x="545" y="156"/>
                  </a:lnTo>
                  <a:lnTo>
                    <a:pt x="536" y="157"/>
                  </a:lnTo>
                  <a:lnTo>
                    <a:pt x="527" y="159"/>
                  </a:lnTo>
                  <a:lnTo>
                    <a:pt x="518" y="158"/>
                  </a:lnTo>
                  <a:lnTo>
                    <a:pt x="510" y="159"/>
                  </a:lnTo>
                  <a:lnTo>
                    <a:pt x="502" y="158"/>
                  </a:lnTo>
                  <a:lnTo>
                    <a:pt x="493" y="158"/>
                  </a:lnTo>
                  <a:lnTo>
                    <a:pt x="483" y="159"/>
                  </a:lnTo>
                  <a:lnTo>
                    <a:pt x="475" y="158"/>
                  </a:lnTo>
                  <a:lnTo>
                    <a:pt x="467" y="159"/>
                  </a:lnTo>
                  <a:lnTo>
                    <a:pt x="458" y="159"/>
                  </a:lnTo>
                  <a:lnTo>
                    <a:pt x="448" y="157"/>
                  </a:lnTo>
                  <a:lnTo>
                    <a:pt x="440" y="158"/>
                  </a:lnTo>
                  <a:lnTo>
                    <a:pt x="432" y="157"/>
                  </a:lnTo>
                  <a:lnTo>
                    <a:pt x="424" y="157"/>
                  </a:lnTo>
                  <a:lnTo>
                    <a:pt x="414" y="154"/>
                  </a:lnTo>
                  <a:lnTo>
                    <a:pt x="406" y="154"/>
                  </a:lnTo>
                  <a:lnTo>
                    <a:pt x="396" y="152"/>
                  </a:lnTo>
                  <a:lnTo>
                    <a:pt x="387" y="151"/>
                  </a:lnTo>
                  <a:lnTo>
                    <a:pt x="378" y="149"/>
                  </a:lnTo>
                  <a:lnTo>
                    <a:pt x="369" y="148"/>
                  </a:lnTo>
                  <a:lnTo>
                    <a:pt x="359" y="146"/>
                  </a:lnTo>
                  <a:lnTo>
                    <a:pt x="352" y="146"/>
                  </a:lnTo>
                  <a:lnTo>
                    <a:pt x="342" y="143"/>
                  </a:lnTo>
                  <a:lnTo>
                    <a:pt x="333" y="141"/>
                  </a:lnTo>
                  <a:lnTo>
                    <a:pt x="325" y="140"/>
                  </a:lnTo>
                  <a:lnTo>
                    <a:pt x="316" y="137"/>
                  </a:lnTo>
                  <a:lnTo>
                    <a:pt x="306" y="135"/>
                  </a:lnTo>
                  <a:lnTo>
                    <a:pt x="297" y="131"/>
                  </a:lnTo>
                  <a:lnTo>
                    <a:pt x="288" y="128"/>
                  </a:lnTo>
                  <a:lnTo>
                    <a:pt x="279" y="126"/>
                  </a:lnTo>
                  <a:lnTo>
                    <a:pt x="269" y="123"/>
                  </a:lnTo>
                  <a:lnTo>
                    <a:pt x="261" y="120"/>
                  </a:lnTo>
                  <a:lnTo>
                    <a:pt x="251" y="117"/>
                  </a:lnTo>
                  <a:lnTo>
                    <a:pt x="242" y="113"/>
                  </a:lnTo>
                  <a:lnTo>
                    <a:pt x="232" y="110"/>
                  </a:lnTo>
                  <a:lnTo>
                    <a:pt x="225" y="107"/>
                  </a:lnTo>
                  <a:lnTo>
                    <a:pt x="213" y="103"/>
                  </a:lnTo>
                  <a:lnTo>
                    <a:pt x="204" y="99"/>
                  </a:lnTo>
                  <a:lnTo>
                    <a:pt x="254" y="0"/>
                  </a:lnTo>
                </a:path>
              </a:pathLst>
            </a:custGeom>
            <a:noFill/>
            <a:ln w="9525" cap="rnd">
              <a:solidFill>
                <a:schemeClr val="bg1"/>
              </a:solidFill>
              <a:round/>
              <a:headEnd/>
              <a:tailEnd/>
            </a:ln>
            <a:extLst>
              <a:ext uri="{909E8E84-426E-40DD-AFC4-6F175D3DCCD1}">
                <a14:hiddenFill xmlns:a14="http://schemas.microsoft.com/office/drawing/2010/main">
                  <a:solidFill>
                    <a:srgbClr val="FFFFFF"/>
                  </a:solidFill>
                </a14:hiddenFill>
              </a:ext>
            </a:extLst>
          </p:spPr>
          <p:txBody>
            <a:bodyPr/>
            <a:lstStyle/>
            <a:p>
              <a:endParaRPr lang="es-AR"/>
            </a:p>
          </p:txBody>
        </p:sp>
        <p:sp>
          <p:nvSpPr>
            <p:cNvPr id="23573" name="Text Box 22">
              <a:extLst>
                <a:ext uri="{FF2B5EF4-FFF2-40B4-BE49-F238E27FC236}">
                  <a16:creationId xmlns:a16="http://schemas.microsoft.com/office/drawing/2014/main" id="{ABD3BC30-6ED6-51E3-069C-04B02AC9DFA6}"/>
                </a:ext>
              </a:extLst>
            </p:cNvPr>
            <p:cNvSpPr txBox="1">
              <a:spLocks noChangeArrowheads="1"/>
            </p:cNvSpPr>
            <p:nvPr/>
          </p:nvSpPr>
          <p:spPr bwMode="auto">
            <a:xfrm rot="19315933">
              <a:off x="3057" y="1862"/>
              <a:ext cx="139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Alineamiento Estratégico</a:t>
              </a:r>
              <a:endParaRPr lang="es-ES" altLang="es-AR" sz="2400">
                <a:latin typeface="Arial Narrow" panose="020B0606020202030204" pitchFamily="34" charset="0"/>
              </a:endParaRPr>
            </a:p>
          </p:txBody>
        </p:sp>
        <p:sp>
          <p:nvSpPr>
            <p:cNvPr id="23574" name="Text Box 23">
              <a:extLst>
                <a:ext uri="{FF2B5EF4-FFF2-40B4-BE49-F238E27FC236}">
                  <a16:creationId xmlns:a16="http://schemas.microsoft.com/office/drawing/2014/main" id="{F9C3ECCB-7BCD-AE08-33E4-BDD510333E79}"/>
                </a:ext>
              </a:extLst>
            </p:cNvPr>
            <p:cNvSpPr txBox="1">
              <a:spLocks noChangeArrowheads="1"/>
            </p:cNvSpPr>
            <p:nvPr/>
          </p:nvSpPr>
          <p:spPr bwMode="auto">
            <a:xfrm rot="2077634">
              <a:off x="4145" y="1804"/>
              <a:ext cx="139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Generación </a:t>
              </a:r>
            </a:p>
            <a:p>
              <a:pPr algn="ctr" eaLnBrk="1" hangingPunct="1">
                <a:spcBef>
                  <a:spcPct val="0"/>
                </a:spcBef>
                <a:buClrTx/>
                <a:buSzTx/>
                <a:buFontTx/>
                <a:buNone/>
              </a:pPr>
              <a:r>
                <a:rPr lang="es-MX" altLang="es-AR" sz="2400">
                  <a:latin typeface="Arial Narrow" panose="020B0606020202030204" pitchFamily="34" charset="0"/>
                </a:rPr>
                <a:t>de Valor</a:t>
              </a:r>
              <a:endParaRPr lang="es-ES" altLang="es-AR" sz="2400">
                <a:latin typeface="Arial Narrow" panose="020B0606020202030204" pitchFamily="34" charset="0"/>
              </a:endParaRPr>
            </a:p>
          </p:txBody>
        </p:sp>
        <p:sp>
          <p:nvSpPr>
            <p:cNvPr id="23575" name="Text Box 24">
              <a:extLst>
                <a:ext uri="{FF2B5EF4-FFF2-40B4-BE49-F238E27FC236}">
                  <a16:creationId xmlns:a16="http://schemas.microsoft.com/office/drawing/2014/main" id="{4C6AA48F-FBBC-FB82-5C77-127532364F2F}"/>
                </a:ext>
              </a:extLst>
            </p:cNvPr>
            <p:cNvSpPr txBox="1">
              <a:spLocks noChangeArrowheads="1"/>
            </p:cNvSpPr>
            <p:nvPr/>
          </p:nvSpPr>
          <p:spPr bwMode="auto">
            <a:xfrm rot="17348151">
              <a:off x="4473" y="2879"/>
              <a:ext cx="1413"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Administración </a:t>
              </a:r>
            </a:p>
            <a:p>
              <a:pPr algn="ctr" eaLnBrk="1" hangingPunct="1">
                <a:spcBef>
                  <a:spcPct val="0"/>
                </a:spcBef>
                <a:buClrTx/>
                <a:buSzTx/>
                <a:buFontTx/>
                <a:buNone/>
              </a:pPr>
              <a:r>
                <a:rPr lang="es-MX" altLang="es-AR" sz="2400">
                  <a:latin typeface="Arial Narrow" panose="020B0606020202030204" pitchFamily="34" charset="0"/>
                </a:rPr>
                <a:t>de Riesgos</a:t>
              </a:r>
              <a:endParaRPr lang="es-ES" altLang="es-AR" sz="2400">
                <a:latin typeface="Arial Narrow" panose="020B0606020202030204" pitchFamily="34" charset="0"/>
              </a:endParaRPr>
            </a:p>
          </p:txBody>
        </p:sp>
        <p:sp>
          <p:nvSpPr>
            <p:cNvPr id="23576" name="Text Box 25">
              <a:extLst>
                <a:ext uri="{FF2B5EF4-FFF2-40B4-BE49-F238E27FC236}">
                  <a16:creationId xmlns:a16="http://schemas.microsoft.com/office/drawing/2014/main" id="{5B853975-5283-CCD1-8492-104594BDF6AD}"/>
                </a:ext>
              </a:extLst>
            </p:cNvPr>
            <p:cNvSpPr txBox="1">
              <a:spLocks noChangeArrowheads="1"/>
            </p:cNvSpPr>
            <p:nvPr/>
          </p:nvSpPr>
          <p:spPr bwMode="auto">
            <a:xfrm>
              <a:off x="3634" y="3561"/>
              <a:ext cx="1395"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Administración </a:t>
              </a:r>
            </a:p>
            <a:p>
              <a:pPr algn="ctr" eaLnBrk="1" hangingPunct="1">
                <a:spcBef>
                  <a:spcPct val="0"/>
                </a:spcBef>
                <a:buClrTx/>
                <a:buSzTx/>
                <a:buFontTx/>
                <a:buNone/>
              </a:pPr>
              <a:r>
                <a:rPr lang="es-MX" altLang="es-AR" sz="2400">
                  <a:latin typeface="Arial Narrow" panose="020B0606020202030204" pitchFamily="34" charset="0"/>
                </a:rPr>
                <a:t>de Recursos</a:t>
              </a:r>
              <a:endParaRPr lang="es-ES" altLang="es-AR" sz="2400">
                <a:latin typeface="Arial Narrow" panose="020B0606020202030204" pitchFamily="34" charset="0"/>
              </a:endParaRPr>
            </a:p>
          </p:txBody>
        </p:sp>
        <p:sp>
          <p:nvSpPr>
            <p:cNvPr id="23577" name="Text Box 26">
              <a:extLst>
                <a:ext uri="{FF2B5EF4-FFF2-40B4-BE49-F238E27FC236}">
                  <a16:creationId xmlns:a16="http://schemas.microsoft.com/office/drawing/2014/main" id="{B0B72ACE-FA0B-2F58-A872-35564F51D952}"/>
                </a:ext>
              </a:extLst>
            </p:cNvPr>
            <p:cNvSpPr txBox="1">
              <a:spLocks noChangeArrowheads="1"/>
            </p:cNvSpPr>
            <p:nvPr/>
          </p:nvSpPr>
          <p:spPr bwMode="auto">
            <a:xfrm rot="4281738">
              <a:off x="2751" y="2873"/>
              <a:ext cx="1413"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s-MX" altLang="es-AR" sz="2400">
                  <a:latin typeface="Arial Narrow" panose="020B0606020202030204" pitchFamily="34" charset="0"/>
                </a:rPr>
                <a:t>Medición de Desempeño</a:t>
              </a:r>
              <a:endParaRPr lang="es-ES" altLang="es-AR" sz="2400">
                <a:latin typeface="Arial Narrow" panose="020B0606020202030204" pitchFamily="34" charset="0"/>
              </a:endParaRPr>
            </a:p>
          </p:txBody>
        </p:sp>
      </p:grpSp>
      <p:sp>
        <p:nvSpPr>
          <p:cNvPr id="23558" name="Text Box 27">
            <a:extLst>
              <a:ext uri="{FF2B5EF4-FFF2-40B4-BE49-F238E27FC236}">
                <a16:creationId xmlns:a16="http://schemas.microsoft.com/office/drawing/2014/main" id="{5736E07D-D4E1-889F-58E2-29953C42A089}"/>
              </a:ext>
            </a:extLst>
          </p:cNvPr>
          <p:cNvSpPr txBox="1">
            <a:spLocks noChangeArrowheads="1"/>
          </p:cNvSpPr>
          <p:nvPr/>
        </p:nvSpPr>
        <p:spPr bwMode="auto">
          <a:xfrm>
            <a:off x="1660526" y="618648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8BA2B4"/>
              </a:buClr>
              <a:buSzPct val="70000"/>
              <a:buFont typeface="Wingdings" panose="05000000000000000000" pitchFamily="2" charset="2"/>
              <a:buChar char=""/>
              <a:defRPr>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s-AR" altLang="es-AR" sz="240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4" name="Rectangle 4">
            <a:extLst>
              <a:ext uri="{FF2B5EF4-FFF2-40B4-BE49-F238E27FC236}">
                <a16:creationId xmlns:a16="http://schemas.microsoft.com/office/drawing/2014/main" id="{736DEAB5-73A6-D09D-F797-304034CB73B8}"/>
              </a:ext>
            </a:extLst>
          </p:cNvPr>
          <p:cNvSpPr>
            <a:spLocks noGrp="1" noChangeArrowheads="1"/>
          </p:cNvSpPr>
          <p:nvPr>
            <p:ph type="title"/>
          </p:nvPr>
        </p:nvSpPr>
        <p:spPr/>
        <p:txBody>
          <a:bodyPr>
            <a:normAutofit/>
          </a:bodyPr>
          <a:lstStyle/>
          <a:p>
            <a:pPr>
              <a:defRPr/>
            </a:pPr>
            <a:r>
              <a:rPr lang="es-MX" sz="4000">
                <a:effectLst>
                  <a:outerShdw blurRad="38100" dist="38100" dir="2700000" algn="tl">
                    <a:srgbClr val="000000"/>
                  </a:outerShdw>
                </a:effectLst>
              </a:rPr>
              <a:t>Gobierno TI</a:t>
            </a:r>
            <a:endParaRPr lang="es-ES" sz="4000">
              <a:effectLst>
                <a:outerShdw blurRad="38100" dist="38100" dir="2700000" algn="tl">
                  <a:srgbClr val="000000"/>
                </a:outerShdw>
              </a:effectLst>
            </a:endParaRPr>
          </a:p>
        </p:txBody>
      </p:sp>
      <p:sp>
        <p:nvSpPr>
          <p:cNvPr id="4" name="3 Marcador de contenido">
            <a:extLst>
              <a:ext uri="{FF2B5EF4-FFF2-40B4-BE49-F238E27FC236}">
                <a16:creationId xmlns:a16="http://schemas.microsoft.com/office/drawing/2014/main" id="{F025EC52-CC05-8960-4239-CE3D7C497EB5}"/>
              </a:ext>
            </a:extLst>
          </p:cNvPr>
          <p:cNvSpPr>
            <a:spLocks noGrp="1"/>
          </p:cNvSpPr>
          <p:nvPr>
            <p:ph sz="quarter" idx="1"/>
          </p:nvPr>
        </p:nvSpPr>
        <p:spPr>
          <a:xfrm>
            <a:off x="778598" y="1715956"/>
            <a:ext cx="11184801" cy="4937125"/>
          </a:xfrm>
        </p:spPr>
        <p:txBody>
          <a:bodyPr vert="horz" lIns="91440" tIns="45720" rIns="91440" bIns="45720" rtlCol="0" anchor="ctr">
            <a:normAutofit/>
          </a:bodyPr>
          <a:lstStyle/>
          <a:p>
            <a:pPr>
              <a:lnSpc>
                <a:spcPct val="80000"/>
              </a:lnSpc>
            </a:pPr>
            <a:r>
              <a:rPr lang="es-AR">
                <a:solidFill>
                  <a:schemeClr val="accent1"/>
                </a:solidFill>
              </a:rPr>
              <a:t>Cuando </a:t>
            </a:r>
            <a:r>
              <a:rPr lang="es-ES">
                <a:solidFill>
                  <a:schemeClr val="accent1"/>
                </a:solidFill>
              </a:rPr>
              <a:t>se implementa de manera correcta, el Gobierno de TI debería proveer seis resultados básicos:</a:t>
            </a:r>
          </a:p>
          <a:p>
            <a:pPr>
              <a:lnSpc>
                <a:spcPct val="80000"/>
              </a:lnSpc>
            </a:pPr>
            <a:endParaRPr lang="es-ES">
              <a:solidFill>
                <a:schemeClr val="accent1"/>
              </a:solidFill>
            </a:endParaRPr>
          </a:p>
          <a:p>
            <a:pPr lvl="1">
              <a:lnSpc>
                <a:spcPct val="80000"/>
              </a:lnSpc>
            </a:pPr>
            <a:r>
              <a:rPr lang="es-ES" sz="1800">
                <a:solidFill>
                  <a:schemeClr val="accent1"/>
                </a:solidFill>
              </a:rPr>
              <a:t>Alineación estratégica</a:t>
            </a:r>
          </a:p>
          <a:p>
            <a:pPr lvl="1">
              <a:lnSpc>
                <a:spcPct val="80000"/>
              </a:lnSpc>
            </a:pPr>
            <a:r>
              <a:rPr lang="es-ES" sz="1800">
                <a:solidFill>
                  <a:schemeClr val="accent1"/>
                </a:solidFill>
              </a:rPr>
              <a:t>Gestión del riesgo</a:t>
            </a:r>
          </a:p>
          <a:p>
            <a:pPr lvl="1">
              <a:lnSpc>
                <a:spcPct val="80000"/>
              </a:lnSpc>
            </a:pPr>
            <a:r>
              <a:rPr lang="es-ES" sz="1800">
                <a:solidFill>
                  <a:schemeClr val="accent1"/>
                </a:solidFill>
              </a:rPr>
              <a:t>Entrega de valor</a:t>
            </a:r>
          </a:p>
          <a:p>
            <a:pPr lvl="1">
              <a:lnSpc>
                <a:spcPct val="80000"/>
              </a:lnSpc>
            </a:pPr>
            <a:r>
              <a:rPr lang="es-ES" sz="1800">
                <a:solidFill>
                  <a:schemeClr val="accent1"/>
                </a:solidFill>
              </a:rPr>
              <a:t>Gestión de recursos</a:t>
            </a:r>
          </a:p>
          <a:p>
            <a:pPr lvl="1">
              <a:lnSpc>
                <a:spcPct val="80000"/>
              </a:lnSpc>
            </a:pPr>
            <a:r>
              <a:rPr lang="es-ES" sz="1800">
                <a:solidFill>
                  <a:schemeClr val="accent1"/>
                </a:solidFill>
              </a:rPr>
              <a:t>Medición del desempeño</a:t>
            </a:r>
          </a:p>
          <a:p>
            <a:pPr lvl="1">
              <a:lnSpc>
                <a:spcPct val="80000"/>
              </a:lnSpc>
            </a:pPr>
            <a:r>
              <a:rPr lang="es-ES" sz="1800">
                <a:solidFill>
                  <a:schemeClr val="accent1"/>
                </a:solidFill>
              </a:rPr>
              <a:t>Integración</a:t>
            </a:r>
            <a:endParaRPr lang="es-AR" sz="1800">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a:extLst>
              <a:ext uri="{FF2B5EF4-FFF2-40B4-BE49-F238E27FC236}">
                <a16:creationId xmlns:a16="http://schemas.microsoft.com/office/drawing/2014/main" id="{99557F75-F97A-9C1B-2217-D9DAE5F9EA4C}"/>
              </a:ext>
            </a:extLst>
          </p:cNvPr>
          <p:cNvSpPr>
            <a:spLocks noGrp="1"/>
          </p:cNvSpPr>
          <p:nvPr>
            <p:ph type="title"/>
          </p:nvPr>
        </p:nvSpPr>
        <p:spPr/>
        <p:txBody>
          <a:bodyPr/>
          <a:lstStyle/>
          <a:p>
            <a:pPr eaLnBrk="1" hangingPunct="1"/>
            <a:r>
              <a:rPr lang="es-AR" altLang="es-AR"/>
              <a:t>Gobierno TI</a:t>
            </a:r>
          </a:p>
        </p:txBody>
      </p:sp>
      <p:sp>
        <p:nvSpPr>
          <p:cNvPr id="26627" name="2 Marcador de contenido">
            <a:extLst>
              <a:ext uri="{FF2B5EF4-FFF2-40B4-BE49-F238E27FC236}">
                <a16:creationId xmlns:a16="http://schemas.microsoft.com/office/drawing/2014/main" id="{840D55AC-C9FB-8593-6E32-881E744BD94F}"/>
              </a:ext>
            </a:extLst>
          </p:cNvPr>
          <p:cNvSpPr>
            <a:spLocks noGrp="1"/>
          </p:cNvSpPr>
          <p:nvPr>
            <p:ph sz="quarter" idx="1"/>
          </p:nvPr>
        </p:nvSpPr>
        <p:spPr>
          <a:xfrm>
            <a:off x="425513" y="1715956"/>
            <a:ext cx="11362099" cy="4572132"/>
          </a:xfrm>
        </p:spPr>
        <p:txBody>
          <a:bodyPr/>
          <a:lstStyle/>
          <a:p>
            <a:pPr eaLnBrk="1" hangingPunct="1"/>
            <a:r>
              <a:rPr lang="es-AR" altLang="es-AR">
                <a:solidFill>
                  <a:schemeClr val="accent1"/>
                </a:solidFill>
              </a:rPr>
              <a:t>Se define como:</a:t>
            </a:r>
          </a:p>
          <a:p>
            <a:pPr lvl="1" eaLnBrk="1" hangingPunct="1"/>
            <a:r>
              <a:rPr lang="es-AR" altLang="es-AR">
                <a:solidFill>
                  <a:schemeClr val="accent1"/>
                </a:solidFill>
              </a:rPr>
              <a:t>el conjunto de responsabilidades y prácticas,  ejercidas por la Junta Directiva y la Gerencia Ejecutiva,  con la finalidad de:</a:t>
            </a:r>
          </a:p>
          <a:p>
            <a:pPr lvl="2" eaLnBrk="1" hangingPunct="1"/>
            <a:r>
              <a:rPr lang="es-AR" altLang="es-AR">
                <a:solidFill>
                  <a:schemeClr val="accent1"/>
                </a:solidFill>
              </a:rPr>
              <a:t>Brindar una dirección estratégica, </a:t>
            </a:r>
          </a:p>
          <a:p>
            <a:pPr lvl="2" eaLnBrk="1" hangingPunct="1"/>
            <a:r>
              <a:rPr lang="es-AR" altLang="es-AR">
                <a:solidFill>
                  <a:schemeClr val="accent1"/>
                </a:solidFill>
              </a:rPr>
              <a:t>Garantizar que se logren los objetivos, </a:t>
            </a:r>
          </a:p>
          <a:p>
            <a:pPr lvl="2" eaLnBrk="1" hangingPunct="1"/>
            <a:r>
              <a:rPr lang="es-AR" altLang="es-AR">
                <a:solidFill>
                  <a:schemeClr val="accent1"/>
                </a:solidFill>
              </a:rPr>
              <a:t>Determinar que los riesgos se administran en forma apropiada y</a:t>
            </a:r>
          </a:p>
          <a:p>
            <a:pPr lvl="2" eaLnBrk="1" hangingPunct="1"/>
            <a:r>
              <a:rPr lang="es-AR" altLang="es-AR">
                <a:solidFill>
                  <a:schemeClr val="accent1"/>
                </a:solidFill>
              </a:rPr>
              <a:t>Verificar que los recursos de la organización se utilizan responsablemente.  </a:t>
            </a:r>
          </a:p>
          <a:p>
            <a:pPr lvl="1"/>
            <a:r>
              <a:rPr lang="es-MX">
                <a:solidFill>
                  <a:schemeClr val="accent1"/>
                </a:solidFill>
              </a:rPr>
              <a:t>Es un conjunto de herramientas de soporte que permite a la gerencia de las organizaciones el cerrar la brecha entre los requerimientos de control, problemas técnicos y los riesgos del negocio.  </a:t>
            </a:r>
          </a:p>
          <a:p>
            <a:pPr lvl="2"/>
            <a:r>
              <a:rPr lang="es-MX">
                <a:solidFill>
                  <a:schemeClr val="accent1"/>
                </a:solidFill>
              </a:rPr>
              <a:t>Este marco provee buenas prácticas y presenta actividades para el Gobierno de TI que en una estructura manejable y lógica.</a:t>
            </a:r>
            <a:endParaRPr lang="es-AR" altLang="es-AR">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10" name="Rectangle 6">
            <a:extLst>
              <a:ext uri="{FF2B5EF4-FFF2-40B4-BE49-F238E27FC236}">
                <a16:creationId xmlns:a16="http://schemas.microsoft.com/office/drawing/2014/main" id="{BBCD8559-ADBE-36C9-C325-EA5D44DD2ADE}"/>
              </a:ext>
            </a:extLst>
          </p:cNvPr>
          <p:cNvSpPr>
            <a:spLocks noGrp="1" noChangeArrowheads="1"/>
          </p:cNvSpPr>
          <p:nvPr>
            <p:ph type="title"/>
          </p:nvPr>
        </p:nvSpPr>
        <p:spPr>
          <a:xfrm>
            <a:off x="506994" y="729658"/>
            <a:ext cx="11098516" cy="988332"/>
          </a:xfrm>
        </p:spPr>
        <p:txBody>
          <a:bodyPr>
            <a:normAutofit fontScale="90000"/>
          </a:bodyPr>
          <a:lstStyle/>
          <a:p>
            <a:pPr>
              <a:defRPr/>
            </a:pPr>
            <a:r>
              <a:rPr lang="es-MX" sz="4000"/>
              <a:t>Gobierno TI en Seguridad de la Información Marco Conceptual</a:t>
            </a:r>
            <a:endParaRPr lang="es-ES" sz="4000"/>
          </a:p>
        </p:txBody>
      </p:sp>
      <p:grpSp>
        <p:nvGrpSpPr>
          <p:cNvPr id="2" name="Grupo 1">
            <a:extLst>
              <a:ext uri="{FF2B5EF4-FFF2-40B4-BE49-F238E27FC236}">
                <a16:creationId xmlns:a16="http://schemas.microsoft.com/office/drawing/2014/main" id="{DF94DA79-F758-8DBF-41EB-6B66A3FE12F1}"/>
              </a:ext>
            </a:extLst>
          </p:cNvPr>
          <p:cNvGrpSpPr/>
          <p:nvPr/>
        </p:nvGrpSpPr>
        <p:grpSpPr>
          <a:xfrm>
            <a:off x="706170" y="1828800"/>
            <a:ext cx="10899339" cy="4734962"/>
            <a:chOff x="1809720" y="1142984"/>
            <a:chExt cx="8786874" cy="5286412"/>
          </a:xfrm>
        </p:grpSpPr>
        <p:sp>
          <p:nvSpPr>
            <p:cNvPr id="21" name="20 Flecha curvada hacia arriba">
              <a:extLst>
                <a:ext uri="{FF2B5EF4-FFF2-40B4-BE49-F238E27FC236}">
                  <a16:creationId xmlns:a16="http://schemas.microsoft.com/office/drawing/2014/main" id="{43384515-EFBB-EB60-4B37-A319A083C8F9}"/>
                </a:ext>
              </a:extLst>
            </p:cNvPr>
            <p:cNvSpPr/>
            <p:nvPr/>
          </p:nvSpPr>
          <p:spPr>
            <a:xfrm flipH="1">
              <a:off x="2099644" y="4188911"/>
              <a:ext cx="7711133" cy="2200824"/>
            </a:xfrm>
            <a:prstGeom prst="curvedUpArrow">
              <a:avLst>
                <a:gd name="adj1" fmla="val 18700"/>
                <a:gd name="adj2" fmla="val 50000"/>
                <a:gd name="adj3" fmla="val 23188"/>
              </a:avLst>
            </a:prstGeom>
            <a:solidFill>
              <a:schemeClr val="accent5">
                <a:lumMod val="60000"/>
                <a:lumOff val="40000"/>
              </a:schemeClr>
            </a:solidFill>
            <a:effectLst>
              <a:glow rad="63500">
                <a:schemeClr val="accent1">
                  <a:satMod val="175000"/>
                  <a:alpha val="40000"/>
                </a:schemeClr>
              </a:glow>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a:solidFill>
                  <a:schemeClr val="tx1"/>
                </a:solidFill>
                <a:effectLst>
                  <a:outerShdw blurRad="38100" dist="38100" dir="2700000" algn="tl">
                    <a:srgbClr val="000000">
                      <a:alpha val="43137"/>
                    </a:srgbClr>
                  </a:outerShdw>
                </a:effectLst>
              </a:endParaRPr>
            </a:p>
          </p:txBody>
        </p:sp>
        <p:sp>
          <p:nvSpPr>
            <p:cNvPr id="11266" name="Text Box 2">
              <a:extLst>
                <a:ext uri="{FF2B5EF4-FFF2-40B4-BE49-F238E27FC236}">
                  <a16:creationId xmlns:a16="http://schemas.microsoft.com/office/drawing/2014/main" id="{A6EFDF22-4446-E433-71AA-841712EA6D1C}"/>
                </a:ext>
              </a:extLst>
            </p:cNvPr>
            <p:cNvSpPr txBox="1">
              <a:spLocks noChangeArrowheads="1"/>
            </p:cNvSpPr>
            <p:nvPr/>
          </p:nvSpPr>
          <p:spPr bwMode="auto">
            <a:xfrm>
              <a:off x="2057400" y="1533525"/>
              <a:ext cx="7620000" cy="729430"/>
            </a:xfrm>
            <a:prstGeom prst="rect">
              <a:avLst/>
            </a:prstGeom>
            <a:noFill/>
            <a:ln w="9525">
              <a:noFill/>
              <a:miter lim="800000"/>
              <a:headEnd/>
              <a:tailEnd/>
            </a:ln>
          </p:spPr>
          <p:txBody>
            <a:bodyPr>
              <a:spAutoFit/>
            </a:bodyPr>
            <a:lstStyle/>
            <a:p>
              <a:pPr eaLnBrk="1" hangingPunct="1">
                <a:lnSpc>
                  <a:spcPct val="80000"/>
                </a:lnSpc>
                <a:spcBef>
                  <a:spcPct val="20000"/>
                </a:spcBef>
                <a:buFont typeface="Wingdings" pitchFamily="2" charset="2"/>
                <a:buNone/>
                <a:defRPr/>
              </a:pPr>
              <a:endParaRPr lang="en-US">
                <a:solidFill>
                  <a:srgbClr val="F8F8F8"/>
                </a:solidFill>
                <a:effectLst>
                  <a:outerShdw blurRad="38100" dist="38100" dir="2700000" algn="tl">
                    <a:srgbClr val="000000">
                      <a:alpha val="43137"/>
                    </a:srgbClr>
                  </a:outerShdw>
                </a:effectLst>
                <a:latin typeface="Arial" charset="0"/>
              </a:endParaRPr>
            </a:p>
            <a:p>
              <a:pPr>
                <a:spcBef>
                  <a:spcPct val="50000"/>
                </a:spcBef>
                <a:defRPr/>
              </a:pPr>
              <a:endParaRPr lang="en-US">
                <a:solidFill>
                  <a:srgbClr val="F8F8F8"/>
                </a:solidFill>
                <a:effectLst>
                  <a:outerShdw blurRad="38100" dist="38100" dir="2700000" algn="tl">
                    <a:srgbClr val="000000">
                      <a:alpha val="43137"/>
                    </a:srgbClr>
                  </a:outerShdw>
                </a:effectLst>
                <a:latin typeface="Arial" charset="0"/>
              </a:endParaRPr>
            </a:p>
          </p:txBody>
        </p:sp>
        <p:sp>
          <p:nvSpPr>
            <p:cNvPr id="8" name="7 Flecha derecha">
              <a:extLst>
                <a:ext uri="{FF2B5EF4-FFF2-40B4-BE49-F238E27FC236}">
                  <a16:creationId xmlns:a16="http://schemas.microsoft.com/office/drawing/2014/main" id="{5C552380-5CC2-1087-9EDF-23E68A430FED}"/>
                </a:ext>
              </a:extLst>
            </p:cNvPr>
            <p:cNvSpPr/>
            <p:nvPr/>
          </p:nvSpPr>
          <p:spPr>
            <a:xfrm>
              <a:off x="1809720" y="2285992"/>
              <a:ext cx="1785950" cy="1000132"/>
            </a:xfrm>
            <a:prstGeom prst="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Junta Directiva y Alta Gerencia</a:t>
              </a:r>
            </a:p>
          </p:txBody>
        </p:sp>
        <p:sp>
          <p:nvSpPr>
            <p:cNvPr id="9" name="8 Flecha derecha">
              <a:extLst>
                <a:ext uri="{FF2B5EF4-FFF2-40B4-BE49-F238E27FC236}">
                  <a16:creationId xmlns:a16="http://schemas.microsoft.com/office/drawing/2014/main" id="{06318C56-5F36-F4D8-D646-43587FF9A8BC}"/>
                </a:ext>
              </a:extLst>
            </p:cNvPr>
            <p:cNvSpPr/>
            <p:nvPr/>
          </p:nvSpPr>
          <p:spPr>
            <a:xfrm>
              <a:off x="1809720" y="3357562"/>
              <a:ext cx="1785950" cy="1000132"/>
            </a:xfrm>
            <a:prstGeom prst="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Comité de Seguridad</a:t>
              </a:r>
            </a:p>
          </p:txBody>
        </p:sp>
        <p:sp>
          <p:nvSpPr>
            <p:cNvPr id="10" name="9 Flecha derecha">
              <a:extLst>
                <a:ext uri="{FF2B5EF4-FFF2-40B4-BE49-F238E27FC236}">
                  <a16:creationId xmlns:a16="http://schemas.microsoft.com/office/drawing/2014/main" id="{638A8227-CCBC-8CA6-A7AF-8C444E494BDB}"/>
                </a:ext>
              </a:extLst>
            </p:cNvPr>
            <p:cNvSpPr/>
            <p:nvPr/>
          </p:nvSpPr>
          <p:spPr>
            <a:xfrm>
              <a:off x="1809720" y="1214422"/>
              <a:ext cx="1785950" cy="1000132"/>
            </a:xfrm>
            <a:prstGeom prst="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600">
                  <a:effectLst>
                    <a:outerShdw blurRad="38100" dist="38100" dir="2700000" algn="tl">
                      <a:srgbClr val="000000">
                        <a:alpha val="43137"/>
                      </a:srgbClr>
                    </a:outerShdw>
                  </a:effectLst>
                </a:rPr>
                <a:t>Directores</a:t>
              </a:r>
            </a:p>
          </p:txBody>
        </p:sp>
        <p:sp>
          <p:nvSpPr>
            <p:cNvPr id="11" name="10 Flecha a la derecha con muesca">
              <a:extLst>
                <a:ext uri="{FF2B5EF4-FFF2-40B4-BE49-F238E27FC236}">
                  <a16:creationId xmlns:a16="http://schemas.microsoft.com/office/drawing/2014/main" id="{AE175D2E-866A-B65F-D86A-425FA315CB91}"/>
                </a:ext>
              </a:extLst>
            </p:cNvPr>
            <p:cNvSpPr/>
            <p:nvPr/>
          </p:nvSpPr>
          <p:spPr>
            <a:xfrm>
              <a:off x="3809984" y="1142984"/>
              <a:ext cx="3786214" cy="1143008"/>
            </a:xfrm>
            <a:prstGeom prst="notched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2000">
                  <a:effectLst>
                    <a:outerShdw blurRad="38100" dist="38100" dir="2700000" algn="tl">
                      <a:srgbClr val="000000">
                        <a:alpha val="43137"/>
                      </a:srgbClr>
                    </a:outerShdw>
                  </a:effectLst>
                </a:rPr>
                <a:t>Estrategia de Negocio</a:t>
              </a:r>
            </a:p>
          </p:txBody>
        </p:sp>
        <p:sp>
          <p:nvSpPr>
            <p:cNvPr id="12" name="11 Flecha a la derecha con muesca">
              <a:extLst>
                <a:ext uri="{FF2B5EF4-FFF2-40B4-BE49-F238E27FC236}">
                  <a16:creationId xmlns:a16="http://schemas.microsoft.com/office/drawing/2014/main" id="{27389BF1-D1FF-135D-B66E-E44DC705EBBB}"/>
                </a:ext>
              </a:extLst>
            </p:cNvPr>
            <p:cNvSpPr/>
            <p:nvPr/>
          </p:nvSpPr>
          <p:spPr>
            <a:xfrm>
              <a:off x="4310050" y="2143116"/>
              <a:ext cx="3786214" cy="1143008"/>
            </a:xfrm>
            <a:prstGeom prst="notched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a:effectLst>
                    <a:outerShdw blurRad="38100" dist="38100" dir="2700000" algn="tl">
                      <a:srgbClr val="000000">
                        <a:alpha val="43137"/>
                      </a:srgbClr>
                    </a:outerShdw>
                  </a:effectLst>
                </a:rPr>
                <a:t>Gestión del riesgo/Estrategia de seguridad de la información </a:t>
              </a:r>
            </a:p>
          </p:txBody>
        </p:sp>
        <p:sp>
          <p:nvSpPr>
            <p:cNvPr id="13" name="12 Flecha a la derecha con muesca">
              <a:extLst>
                <a:ext uri="{FF2B5EF4-FFF2-40B4-BE49-F238E27FC236}">
                  <a16:creationId xmlns:a16="http://schemas.microsoft.com/office/drawing/2014/main" id="{BBD36ADC-39B8-E5DA-0036-643AD8B9A0C1}"/>
                </a:ext>
              </a:extLst>
            </p:cNvPr>
            <p:cNvSpPr/>
            <p:nvPr/>
          </p:nvSpPr>
          <p:spPr>
            <a:xfrm>
              <a:off x="5238744" y="3071810"/>
              <a:ext cx="3357586" cy="1143008"/>
            </a:xfrm>
            <a:prstGeom prst="notchedRightArrow">
              <a:avLst/>
            </a:prstGeom>
            <a:solidFill>
              <a:schemeClr val="accent5">
                <a:lumMod val="75000"/>
              </a:schemeClr>
            </a:solidFill>
            <a:ln>
              <a:solidFill>
                <a:schemeClr val="accent1">
                  <a:lumMod val="50000"/>
                </a:schemeClr>
              </a:solidFill>
            </a:ln>
            <a:effectLst>
              <a:glow rad="63500">
                <a:schemeClr val="accent1">
                  <a:satMod val="175000"/>
                  <a:alpha val="40000"/>
                </a:schemeClr>
              </a:glow>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a:effectLst>
                    <a:outerShdw blurRad="38100" dist="38100" dir="2700000" algn="tl">
                      <a:srgbClr val="000000">
                        <a:alpha val="43137"/>
                      </a:srgbClr>
                    </a:outerShdw>
                  </a:effectLst>
                </a:rPr>
                <a:t>Plan de acción de Seguridad,  Políticas y Normas</a:t>
              </a:r>
            </a:p>
          </p:txBody>
        </p:sp>
        <p:sp>
          <p:nvSpPr>
            <p:cNvPr id="14" name="13 Flecha abajo">
              <a:extLst>
                <a:ext uri="{FF2B5EF4-FFF2-40B4-BE49-F238E27FC236}">
                  <a16:creationId xmlns:a16="http://schemas.microsoft.com/office/drawing/2014/main" id="{CBAA999A-E3D2-9521-E2C9-6614EA6E94B4}"/>
                </a:ext>
              </a:extLst>
            </p:cNvPr>
            <p:cNvSpPr/>
            <p:nvPr/>
          </p:nvSpPr>
          <p:spPr>
            <a:xfrm>
              <a:off x="8596330" y="1428736"/>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Objetivos de Negocio</a:t>
              </a:r>
            </a:p>
          </p:txBody>
        </p:sp>
        <p:sp>
          <p:nvSpPr>
            <p:cNvPr id="15" name="14 Flecha abajo">
              <a:extLst>
                <a:ext uri="{FF2B5EF4-FFF2-40B4-BE49-F238E27FC236}">
                  <a16:creationId xmlns:a16="http://schemas.microsoft.com/office/drawing/2014/main" id="{7B32C7A0-7A3F-7DAB-105B-C0355C1FDABB}"/>
                </a:ext>
              </a:extLst>
            </p:cNvPr>
            <p:cNvSpPr/>
            <p:nvPr/>
          </p:nvSpPr>
          <p:spPr>
            <a:xfrm>
              <a:off x="8596330" y="2428868"/>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Atributos de Seguridad</a:t>
              </a:r>
            </a:p>
          </p:txBody>
        </p:sp>
        <p:sp>
          <p:nvSpPr>
            <p:cNvPr id="17" name="16 Flecha abajo">
              <a:extLst>
                <a:ext uri="{FF2B5EF4-FFF2-40B4-BE49-F238E27FC236}">
                  <a16:creationId xmlns:a16="http://schemas.microsoft.com/office/drawing/2014/main" id="{95588523-6C52-F11A-93C5-ED99748BB79A}"/>
                </a:ext>
              </a:extLst>
            </p:cNvPr>
            <p:cNvSpPr/>
            <p:nvPr/>
          </p:nvSpPr>
          <p:spPr>
            <a:xfrm>
              <a:off x="8596330" y="3429000"/>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Programa de Seguridad</a:t>
              </a:r>
            </a:p>
          </p:txBody>
        </p:sp>
        <p:sp>
          <p:nvSpPr>
            <p:cNvPr id="18" name="17 Flecha abajo">
              <a:extLst>
                <a:ext uri="{FF2B5EF4-FFF2-40B4-BE49-F238E27FC236}">
                  <a16:creationId xmlns:a16="http://schemas.microsoft.com/office/drawing/2014/main" id="{F61A80AB-F7BD-A3D0-E841-8E559B1D830C}"/>
                </a:ext>
              </a:extLst>
            </p:cNvPr>
            <p:cNvSpPr/>
            <p:nvPr/>
          </p:nvSpPr>
          <p:spPr>
            <a:xfrm>
              <a:off x="8596330" y="4500570"/>
              <a:ext cx="1928826" cy="857256"/>
            </a:xfrm>
            <a:prstGeom prst="downArrow">
              <a:avLst>
                <a:gd name="adj1" fmla="val 50000"/>
                <a:gd name="adj2" fmla="val 51502"/>
              </a:avLst>
            </a:prstGeom>
            <a:solidFill>
              <a:schemeClr val="accent5">
                <a:lumMod val="75000"/>
              </a:schemeClr>
            </a:solidFill>
            <a:ln>
              <a:solidFill>
                <a:schemeClr val="accent1">
                  <a:lumMod val="50000"/>
                </a:schemeClr>
              </a:solidFill>
            </a:ln>
            <a:effectLst>
              <a:glow rad="63500">
                <a:schemeClr val="accent1">
                  <a:satMod val="175000"/>
                  <a:alpha val="40000"/>
                </a:schemeClr>
              </a:glow>
              <a:outerShdw blurRad="50800" dist="38100" algn="l"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100">
                  <a:effectLst>
                    <a:outerShdw blurRad="38100" dist="38100" dir="2700000" algn="tl">
                      <a:srgbClr val="000000">
                        <a:alpha val="43137"/>
                      </a:srgbClr>
                    </a:outerShdw>
                  </a:effectLst>
                </a:rPr>
                <a:t>Implantación del Programa de Seguridad</a:t>
              </a:r>
            </a:p>
          </p:txBody>
        </p:sp>
        <p:sp>
          <p:nvSpPr>
            <p:cNvPr id="19" name="18 Llamada de flecha hacia arriba">
              <a:extLst>
                <a:ext uri="{FF2B5EF4-FFF2-40B4-BE49-F238E27FC236}">
                  <a16:creationId xmlns:a16="http://schemas.microsoft.com/office/drawing/2014/main" id="{8238C5AC-8D9C-2157-F414-EA7F2752B78A}"/>
                </a:ext>
              </a:extLst>
            </p:cNvPr>
            <p:cNvSpPr/>
            <p:nvPr/>
          </p:nvSpPr>
          <p:spPr>
            <a:xfrm>
              <a:off x="5595934" y="4000504"/>
              <a:ext cx="1571636" cy="1643074"/>
            </a:xfrm>
            <a:prstGeom prst="upArrowCallout">
              <a:avLst>
                <a:gd name="adj1" fmla="val 41902"/>
                <a:gd name="adj2" fmla="val 46127"/>
                <a:gd name="adj3" fmla="val 23592"/>
                <a:gd name="adj4" fmla="val 69288"/>
              </a:avLst>
            </a:prstGeom>
            <a:solidFill>
              <a:schemeClr val="accent1">
                <a:lumMod val="50000"/>
              </a:schemeClr>
            </a:solidFill>
            <a:ln>
              <a:solidFill>
                <a:schemeClr val="accent1">
                  <a:lumMod val="50000"/>
                </a:schemeClr>
              </a:solidFill>
            </a:ln>
            <a:effectLst>
              <a:glow rad="63500">
                <a:schemeClr val="accent1">
                  <a:satMod val="175000"/>
                  <a:alpha val="40000"/>
                </a:schemeClr>
              </a:glow>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sz="1400">
                  <a:effectLst>
                    <a:outerShdw blurRad="38100" dist="38100" dir="2700000" algn="tl">
                      <a:srgbClr val="000000">
                        <a:alpha val="43137"/>
                      </a:srgbClr>
                    </a:outerShdw>
                  </a:effectLst>
                </a:rPr>
                <a:t>Insumos del  Plan de Acción</a:t>
              </a:r>
            </a:p>
            <a:p>
              <a:pPr algn="ctr" eaLnBrk="1" hangingPunct="1">
                <a:defRPr/>
              </a:pPr>
              <a:endParaRPr lang="es-AR" sz="900">
                <a:effectLst>
                  <a:outerShdw blurRad="38100" dist="38100" dir="2700000" algn="tl">
                    <a:srgbClr val="000000">
                      <a:alpha val="43137"/>
                    </a:srgbClr>
                  </a:outerShdw>
                </a:effectLst>
              </a:endParaRPr>
            </a:p>
            <a:p>
              <a:pPr eaLnBrk="1" hangingPunct="1">
                <a:buFont typeface="Arial" pitchFamily="34" charset="0"/>
                <a:buChar char="•"/>
                <a:defRPr/>
              </a:pPr>
              <a:r>
                <a:rPr lang="es-AR" sz="1200">
                  <a:effectLst>
                    <a:outerShdw blurRad="38100" dist="38100" dir="2700000" algn="tl">
                      <a:srgbClr val="000000">
                        <a:alpha val="43137"/>
                      </a:srgbClr>
                    </a:outerShdw>
                  </a:effectLst>
                </a:rPr>
                <a:t>Recursos disponibles y restricciones</a:t>
              </a:r>
              <a:endParaRPr lang="es-AR" sz="1400">
                <a:effectLst>
                  <a:outerShdw blurRad="38100" dist="38100" dir="2700000" algn="tl">
                    <a:srgbClr val="000000">
                      <a:alpha val="43137"/>
                    </a:srgbClr>
                  </a:outerShdw>
                </a:effectLst>
              </a:endParaRPr>
            </a:p>
          </p:txBody>
        </p:sp>
        <p:sp>
          <p:nvSpPr>
            <p:cNvPr id="20" name="19 Llamada de flecha hacia arriba">
              <a:extLst>
                <a:ext uri="{FF2B5EF4-FFF2-40B4-BE49-F238E27FC236}">
                  <a16:creationId xmlns:a16="http://schemas.microsoft.com/office/drawing/2014/main" id="{5ECBC500-4772-243F-5D12-2E00AB9AC421}"/>
                </a:ext>
              </a:extLst>
            </p:cNvPr>
            <p:cNvSpPr/>
            <p:nvPr/>
          </p:nvSpPr>
          <p:spPr>
            <a:xfrm>
              <a:off x="3667108" y="3143248"/>
              <a:ext cx="1500198" cy="3286148"/>
            </a:xfrm>
            <a:prstGeom prst="upArrowCallout">
              <a:avLst>
                <a:gd name="adj1" fmla="val 41902"/>
                <a:gd name="adj2" fmla="val 46127"/>
                <a:gd name="adj3" fmla="val 23592"/>
                <a:gd name="adj4" fmla="val 84825"/>
              </a:avLst>
            </a:prstGeom>
            <a:solidFill>
              <a:schemeClr val="accent1">
                <a:lumMod val="50000"/>
              </a:schemeClr>
            </a:solidFill>
            <a:ln>
              <a:solidFill>
                <a:schemeClr val="accent1">
                  <a:lumMod val="50000"/>
                </a:schemeClr>
              </a:solidFill>
            </a:ln>
            <a:effectLst>
              <a:glow rad="63500">
                <a:schemeClr val="accent1">
                  <a:satMod val="175000"/>
                  <a:alpha val="40000"/>
                </a:schemeClr>
              </a:glow>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sz="1400">
                <a:effectLst>
                  <a:outerShdw blurRad="38100" dist="38100" dir="2700000" algn="tl">
                    <a:srgbClr val="000000">
                      <a:alpha val="43137"/>
                    </a:srgbClr>
                  </a:outerShdw>
                </a:effectLst>
              </a:endParaRPr>
            </a:p>
            <a:p>
              <a:pPr algn="ctr" eaLnBrk="1" hangingPunct="1">
                <a:defRPr/>
              </a:pPr>
              <a:endParaRPr lang="es-AR" sz="1200">
                <a:effectLst>
                  <a:outerShdw blurRad="38100" dist="38100" dir="2700000" algn="tl">
                    <a:srgbClr val="000000">
                      <a:alpha val="43137"/>
                    </a:srgbClr>
                  </a:outerShdw>
                </a:effectLst>
              </a:endParaRPr>
            </a:p>
            <a:p>
              <a:pPr algn="ctr" eaLnBrk="1" hangingPunct="1">
                <a:defRPr/>
              </a:pPr>
              <a:r>
                <a:rPr lang="es-AR" sz="1200">
                  <a:effectLst>
                    <a:outerShdw blurRad="38100" dist="38100" dir="2700000" algn="tl">
                      <a:srgbClr val="000000">
                        <a:alpha val="43137"/>
                      </a:srgbClr>
                    </a:outerShdw>
                  </a:effectLst>
                </a:rPr>
                <a:t>Insumos de la estrategia</a:t>
              </a:r>
            </a:p>
            <a:p>
              <a:pPr eaLnBrk="1" hangingPunct="1">
                <a:buFont typeface="Arial" pitchFamily="34" charset="0"/>
                <a:buChar char="•"/>
                <a:defRPr/>
              </a:pPr>
              <a:r>
                <a:rPr lang="es-AR" sz="1200">
                  <a:effectLst>
                    <a:outerShdw blurRad="38100" dist="38100" dir="2700000" algn="tl">
                      <a:srgbClr val="000000">
                        <a:alpha val="43137"/>
                      </a:srgbClr>
                    </a:outerShdw>
                  </a:effectLst>
                </a:rPr>
                <a:t>Estado actual y deseado de la seguridad</a:t>
              </a:r>
            </a:p>
            <a:p>
              <a:pPr eaLnBrk="1" hangingPunct="1">
                <a:buFont typeface="Arial" pitchFamily="34" charset="0"/>
                <a:buChar char="•"/>
                <a:defRPr/>
              </a:pPr>
              <a:r>
                <a:rPr lang="es-AR" sz="1200">
                  <a:effectLst>
                    <a:outerShdw blurRad="38100" dist="38100" dir="2700000" algn="tl">
                      <a:srgbClr val="000000">
                        <a:alpha val="43137"/>
                      </a:srgbClr>
                    </a:outerShdw>
                  </a:effectLst>
                </a:rPr>
                <a:t>Procesos de negocio y requerimientos</a:t>
              </a:r>
            </a:p>
            <a:p>
              <a:pPr eaLnBrk="1" hangingPunct="1">
                <a:buFont typeface="Arial" pitchFamily="34" charset="0"/>
                <a:buChar char="•"/>
                <a:defRPr/>
              </a:pPr>
              <a:r>
                <a:rPr lang="es-AR" sz="1200">
                  <a:effectLst>
                    <a:outerShdw blurRad="38100" dist="38100" dir="2700000" algn="tl">
                      <a:srgbClr val="000000">
                        <a:alpha val="43137"/>
                      </a:srgbClr>
                    </a:outerShdw>
                  </a:effectLst>
                </a:rPr>
                <a:t>Evaluación del riesgo</a:t>
              </a:r>
            </a:p>
            <a:p>
              <a:pPr eaLnBrk="1" hangingPunct="1">
                <a:buFont typeface="Arial" pitchFamily="34" charset="0"/>
                <a:buChar char="•"/>
                <a:defRPr/>
              </a:pPr>
              <a:r>
                <a:rPr lang="es-AR" sz="1200">
                  <a:effectLst>
                    <a:outerShdw blurRad="38100" dist="38100" dir="2700000" algn="tl">
                      <a:srgbClr val="000000">
                        <a:alpha val="43137"/>
                      </a:srgbClr>
                    </a:outerShdw>
                  </a:effectLst>
                </a:rPr>
                <a:t>Análisis de impacto de negocio (BIA)</a:t>
              </a:r>
            </a:p>
            <a:p>
              <a:pPr eaLnBrk="1" hangingPunct="1">
                <a:buFont typeface="Arial" pitchFamily="34" charset="0"/>
                <a:buChar char="•"/>
                <a:defRPr/>
              </a:pPr>
              <a:r>
                <a:rPr lang="es-AR" sz="1200">
                  <a:effectLst>
                    <a:outerShdw blurRad="38100" dist="38100" dir="2700000" algn="tl">
                      <a:srgbClr val="000000">
                        <a:alpha val="43137"/>
                      </a:srgbClr>
                    </a:outerShdw>
                  </a:effectLst>
                </a:rPr>
                <a:t>Requisitos regulatorios</a:t>
              </a:r>
            </a:p>
            <a:p>
              <a:pPr algn="ctr" eaLnBrk="1" hangingPunct="1">
                <a:defRPr/>
              </a:pPr>
              <a:endParaRPr lang="es-AR" sz="1600">
                <a:effectLst>
                  <a:outerShdw blurRad="38100" dist="38100" dir="2700000" algn="tl">
                    <a:srgbClr val="000000">
                      <a:alpha val="43137"/>
                    </a:srgbClr>
                  </a:outerShdw>
                </a:effectLst>
              </a:endParaRPr>
            </a:p>
            <a:p>
              <a:pPr algn="ctr" eaLnBrk="1" hangingPunct="1">
                <a:defRPr/>
              </a:pPr>
              <a:endParaRPr lang="es-AR" sz="1600">
                <a:effectLst>
                  <a:outerShdw blurRad="38100" dist="38100" dir="2700000" algn="tl">
                    <a:srgbClr val="000000">
                      <a:alpha val="43137"/>
                    </a:srgbClr>
                  </a:outerShdw>
                </a:effectLst>
              </a:endParaRPr>
            </a:p>
          </p:txBody>
        </p:sp>
        <p:sp>
          <p:nvSpPr>
            <p:cNvPr id="23" name="22 Flecha derecha">
              <a:extLst>
                <a:ext uri="{FF2B5EF4-FFF2-40B4-BE49-F238E27FC236}">
                  <a16:creationId xmlns:a16="http://schemas.microsoft.com/office/drawing/2014/main" id="{BC8C0B89-8010-07CA-B2D0-9A71482149AA}"/>
                </a:ext>
              </a:extLst>
            </p:cNvPr>
            <p:cNvSpPr/>
            <p:nvPr/>
          </p:nvSpPr>
          <p:spPr>
            <a:xfrm>
              <a:off x="7667636" y="5214950"/>
              <a:ext cx="2928958" cy="1071570"/>
            </a:xfrm>
            <a:prstGeom prst="rightArrow">
              <a:avLst/>
            </a:prstGeom>
            <a:solidFill>
              <a:schemeClr val="accent5">
                <a:lumMod val="75000"/>
              </a:schemeClr>
            </a:solidFill>
            <a:ln>
              <a:solidFill>
                <a:schemeClr val="accent1">
                  <a:lumMod val="50000"/>
                </a:schemeClr>
              </a:solidFill>
            </a:ln>
            <a:effectLst>
              <a:outerShdw blurRad="50800" dist="38100" dir="8100000" algn="tr" rotWithShape="0">
                <a:prstClr val="black">
                  <a:alpha val="40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s-AR">
                  <a:effectLst>
                    <a:outerShdw blurRad="38100" dist="38100" dir="2700000" algn="tl">
                      <a:srgbClr val="000000">
                        <a:alpha val="43137"/>
                      </a:srgbClr>
                    </a:outerShdw>
                  </a:effectLst>
                </a:rPr>
                <a:t>Objetivos de Seguridad</a:t>
              </a:r>
            </a:p>
          </p:txBody>
        </p:sp>
        <p:sp>
          <p:nvSpPr>
            <p:cNvPr id="28" name="27 CuadroTexto">
              <a:extLst>
                <a:ext uri="{FF2B5EF4-FFF2-40B4-BE49-F238E27FC236}">
                  <a16:creationId xmlns:a16="http://schemas.microsoft.com/office/drawing/2014/main" id="{EC237B92-0D6E-29C8-D4CB-7DEDCF34A0AB}"/>
                </a:ext>
              </a:extLst>
            </p:cNvPr>
            <p:cNvSpPr txBox="1"/>
            <p:nvPr/>
          </p:nvSpPr>
          <p:spPr>
            <a:xfrm>
              <a:off x="5810250" y="5757864"/>
              <a:ext cx="1570038" cy="600075"/>
            </a:xfrm>
            <a:prstGeom prst="rect">
              <a:avLst/>
            </a:prstGeom>
            <a:noFill/>
          </p:spPr>
          <p:txBody>
            <a:bodyPr wrap="none">
              <a:spAutoFit/>
            </a:bodyPr>
            <a:lstStyle/>
            <a:p>
              <a:pPr eaLnBrk="1" hangingPunct="1">
                <a:buFont typeface="Arial" pitchFamily="34" charset="0"/>
                <a:buChar char="•"/>
                <a:defRPr/>
              </a:pPr>
              <a:r>
                <a:rPr lang="es-AR" sz="1100">
                  <a:solidFill>
                    <a:srgbClr val="006600"/>
                  </a:solidFill>
                  <a:effectLst>
                    <a:outerShdw blurRad="38100" dist="38100" dir="2700000" algn="tl">
                      <a:srgbClr val="000000">
                        <a:alpha val="43137"/>
                      </a:srgbClr>
                    </a:outerShdw>
                  </a:effectLst>
                  <a:latin typeface="Arial" pitchFamily="34" charset="0"/>
                  <a:cs typeface="Arial" pitchFamily="34" charset="0"/>
                </a:rPr>
                <a:t>Monitoreo/métricas</a:t>
              </a:r>
            </a:p>
            <a:p>
              <a:pPr eaLnBrk="1" hangingPunct="1">
                <a:buFont typeface="Arial" pitchFamily="34" charset="0"/>
                <a:buChar char="•"/>
                <a:defRPr/>
              </a:pPr>
              <a:r>
                <a:rPr lang="es-AR" sz="1100">
                  <a:solidFill>
                    <a:srgbClr val="006600"/>
                  </a:solidFill>
                  <a:effectLst>
                    <a:outerShdw blurRad="38100" dist="38100" dir="2700000" algn="tl">
                      <a:srgbClr val="000000">
                        <a:alpha val="43137"/>
                      </a:srgbClr>
                    </a:outerShdw>
                  </a:effectLst>
                  <a:latin typeface="Arial" pitchFamily="34" charset="0"/>
                  <a:cs typeface="Arial" pitchFamily="34" charset="0"/>
                </a:rPr>
                <a:t>Informes</a:t>
              </a:r>
            </a:p>
            <a:p>
              <a:pPr eaLnBrk="1" hangingPunct="1">
                <a:buFont typeface="Arial" pitchFamily="34" charset="0"/>
                <a:buChar char="•"/>
                <a:defRPr/>
              </a:pPr>
              <a:r>
                <a:rPr lang="es-AR" sz="1100">
                  <a:solidFill>
                    <a:srgbClr val="006600"/>
                  </a:solidFill>
                  <a:effectLst>
                    <a:outerShdw blurRad="38100" dist="38100" dir="2700000" algn="tl">
                      <a:srgbClr val="000000">
                        <a:alpha val="43137"/>
                      </a:srgbClr>
                    </a:outerShdw>
                  </a:effectLst>
                  <a:latin typeface="Arial" pitchFamily="34" charset="0"/>
                  <a:cs typeface="Arial" pitchFamily="34" charset="0"/>
                </a:rPr>
                <a:t>Análisis de tendencia</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CEA068AA-B0F9-5961-4B23-ABCF8E6142EA}"/>
              </a:ext>
            </a:extLst>
          </p:cNvPr>
          <p:cNvSpPr>
            <a:spLocks noGrp="1"/>
          </p:cNvSpPr>
          <p:nvPr>
            <p:ph type="title"/>
          </p:nvPr>
        </p:nvSpPr>
        <p:spPr/>
        <p:txBody>
          <a:bodyPr>
            <a:normAutofit fontScale="90000"/>
          </a:bodyPr>
          <a:lstStyle/>
          <a:p>
            <a:pPr>
              <a:defRPr/>
            </a:pPr>
            <a:r>
              <a:rPr lang="es-AR" sz="3600"/>
              <a:t>Relación entre los productos de GSI y las responsabilidades de la Gerencia </a:t>
            </a:r>
          </a:p>
        </p:txBody>
      </p:sp>
      <p:graphicFrame>
        <p:nvGraphicFramePr>
          <p:cNvPr id="5" name="4 Tabla">
            <a:extLst>
              <a:ext uri="{FF2B5EF4-FFF2-40B4-BE49-F238E27FC236}">
                <a16:creationId xmlns:a16="http://schemas.microsoft.com/office/drawing/2014/main" id="{38861246-604C-27C4-2A28-CDA4015CBCA5}"/>
              </a:ext>
            </a:extLst>
          </p:cNvPr>
          <p:cNvGraphicFramePr>
            <a:graphicFrameLocks noGrp="1"/>
          </p:cNvGraphicFramePr>
          <p:nvPr>
            <p:extLst>
              <p:ext uri="{D42A27DB-BD31-4B8C-83A1-F6EECF244321}">
                <p14:modId xmlns:p14="http://schemas.microsoft.com/office/powerpoint/2010/main" val="1357067875"/>
              </p:ext>
            </p:extLst>
          </p:nvPr>
        </p:nvGraphicFramePr>
        <p:xfrm>
          <a:off x="488887" y="1955548"/>
          <a:ext cx="11116622" cy="4246075"/>
        </p:xfrm>
        <a:graphic>
          <a:graphicData uri="http://schemas.openxmlformats.org/drawingml/2006/table">
            <a:tbl>
              <a:tblPr firstRow="1" bandRow="1">
                <a:tableStyleId>{5C22544A-7EE6-4342-B048-85BDC9FD1C3A}</a:tableStyleId>
              </a:tblPr>
              <a:tblGrid>
                <a:gridCol w="1366801">
                  <a:extLst>
                    <a:ext uri="{9D8B030D-6E8A-4147-A177-3AD203B41FA5}">
                      <a16:colId xmlns:a16="http://schemas.microsoft.com/office/drawing/2014/main" val="20000"/>
                    </a:ext>
                  </a:extLst>
                </a:gridCol>
                <a:gridCol w="1640113">
                  <a:extLst>
                    <a:ext uri="{9D8B030D-6E8A-4147-A177-3AD203B41FA5}">
                      <a16:colId xmlns:a16="http://schemas.microsoft.com/office/drawing/2014/main" val="20001"/>
                    </a:ext>
                  </a:extLst>
                </a:gridCol>
                <a:gridCol w="1757354">
                  <a:extLst>
                    <a:ext uri="{9D8B030D-6E8A-4147-A177-3AD203B41FA5}">
                      <a16:colId xmlns:a16="http://schemas.microsoft.com/office/drawing/2014/main" val="20002"/>
                    </a:ext>
                  </a:extLst>
                </a:gridCol>
                <a:gridCol w="1522960">
                  <a:extLst>
                    <a:ext uri="{9D8B030D-6E8A-4147-A177-3AD203B41FA5}">
                      <a16:colId xmlns:a16="http://schemas.microsoft.com/office/drawing/2014/main" val="20003"/>
                    </a:ext>
                  </a:extLst>
                </a:gridCol>
                <a:gridCol w="1549037">
                  <a:extLst>
                    <a:ext uri="{9D8B030D-6E8A-4147-A177-3AD203B41FA5}">
                      <a16:colId xmlns:a16="http://schemas.microsoft.com/office/drawing/2014/main" val="20004"/>
                    </a:ext>
                  </a:extLst>
                </a:gridCol>
                <a:gridCol w="1640154">
                  <a:extLst>
                    <a:ext uri="{9D8B030D-6E8A-4147-A177-3AD203B41FA5}">
                      <a16:colId xmlns:a16="http://schemas.microsoft.com/office/drawing/2014/main" val="20005"/>
                    </a:ext>
                  </a:extLst>
                </a:gridCol>
                <a:gridCol w="1640203">
                  <a:extLst>
                    <a:ext uri="{9D8B030D-6E8A-4147-A177-3AD203B41FA5}">
                      <a16:colId xmlns:a16="http://schemas.microsoft.com/office/drawing/2014/main" val="20006"/>
                    </a:ext>
                  </a:extLst>
                </a:gridCol>
              </a:tblGrid>
              <a:tr h="431243">
                <a:tc>
                  <a:txBody>
                    <a:bodyPr/>
                    <a:lstStyle/>
                    <a:p>
                      <a:pPr algn="ctr"/>
                      <a:r>
                        <a:rPr lang="es-AR" sz="1000">
                          <a:effectLst>
                            <a:outerShdw blurRad="38100" dist="38100" dir="2700000" algn="tl">
                              <a:srgbClr val="000000">
                                <a:alpha val="43137"/>
                              </a:srgbClr>
                            </a:outerShdw>
                          </a:effectLst>
                        </a:rPr>
                        <a:t>Nivel gerencial</a:t>
                      </a:r>
                    </a:p>
                  </a:txBody>
                  <a:tcPr marL="91439" marR="91439" marT="45721" marB="45721"/>
                </a:tc>
                <a:tc>
                  <a:txBody>
                    <a:bodyPr/>
                    <a:lstStyle/>
                    <a:p>
                      <a:pPr algn="ctr"/>
                      <a:r>
                        <a:rPr lang="es-AR" sz="1000">
                          <a:effectLst>
                            <a:outerShdw blurRad="38100" dist="38100" dir="2700000" algn="tl">
                              <a:srgbClr val="000000">
                                <a:alpha val="43137"/>
                              </a:srgbClr>
                            </a:outerShdw>
                          </a:effectLst>
                        </a:rPr>
                        <a:t>Alineamiento estratégico</a:t>
                      </a:r>
                    </a:p>
                  </a:txBody>
                  <a:tcPr marL="91439" marR="91439" marT="45721" marB="45721"/>
                </a:tc>
                <a:tc>
                  <a:txBody>
                    <a:bodyPr/>
                    <a:lstStyle/>
                    <a:p>
                      <a:pPr algn="ctr"/>
                      <a:r>
                        <a:rPr lang="es-AR" sz="1000">
                          <a:effectLst>
                            <a:outerShdw blurRad="38100" dist="38100" dir="2700000" algn="tl">
                              <a:srgbClr val="000000">
                                <a:alpha val="43137"/>
                              </a:srgbClr>
                            </a:outerShdw>
                          </a:effectLst>
                        </a:rPr>
                        <a:t>Gestión del riesgo</a:t>
                      </a:r>
                    </a:p>
                  </a:txBody>
                  <a:tcPr marL="91439" marR="91439" marT="45721" marB="45721"/>
                </a:tc>
                <a:tc>
                  <a:txBody>
                    <a:bodyPr/>
                    <a:lstStyle/>
                    <a:p>
                      <a:pPr algn="ctr"/>
                      <a:r>
                        <a:rPr lang="es-AR" sz="1000">
                          <a:effectLst>
                            <a:outerShdw blurRad="38100" dist="38100" dir="2700000" algn="tl">
                              <a:srgbClr val="000000">
                                <a:alpha val="43137"/>
                              </a:srgbClr>
                            </a:outerShdw>
                          </a:effectLst>
                        </a:rPr>
                        <a:t>Entrega de valor</a:t>
                      </a:r>
                    </a:p>
                  </a:txBody>
                  <a:tcPr marL="91439" marR="91439" marT="45721" marB="45721"/>
                </a:tc>
                <a:tc>
                  <a:txBody>
                    <a:bodyPr/>
                    <a:lstStyle/>
                    <a:p>
                      <a:pPr algn="ctr"/>
                      <a:r>
                        <a:rPr lang="es-AR" sz="1000">
                          <a:effectLst>
                            <a:outerShdw blurRad="38100" dist="38100" dir="2700000" algn="tl">
                              <a:srgbClr val="000000">
                                <a:alpha val="43137"/>
                              </a:srgbClr>
                            </a:outerShdw>
                          </a:effectLst>
                        </a:rPr>
                        <a:t>Administración </a:t>
                      </a:r>
                      <a:r>
                        <a:rPr lang="es-AR" sz="1000" baseline="0">
                          <a:effectLst>
                            <a:outerShdw blurRad="38100" dist="38100" dir="2700000" algn="tl">
                              <a:srgbClr val="000000">
                                <a:alpha val="43137"/>
                              </a:srgbClr>
                            </a:outerShdw>
                          </a:effectLst>
                        </a:rPr>
                        <a:t> del desempeño</a:t>
                      </a:r>
                      <a:endParaRPr lang="es-AR" sz="1000">
                        <a:effectLst>
                          <a:outerShdw blurRad="38100" dist="38100" dir="2700000" algn="tl">
                            <a:srgbClr val="000000">
                              <a:alpha val="43137"/>
                            </a:srgbClr>
                          </a:outerShdw>
                        </a:effectLst>
                      </a:endParaRPr>
                    </a:p>
                  </a:txBody>
                  <a:tcPr marL="91439" marR="91439" marT="45721" marB="45721"/>
                </a:tc>
                <a:tc>
                  <a:txBody>
                    <a:bodyPr/>
                    <a:lstStyle/>
                    <a:p>
                      <a:pPr algn="ctr"/>
                      <a:r>
                        <a:rPr lang="es-AR" sz="1000">
                          <a:effectLst>
                            <a:outerShdw blurRad="38100" dist="38100" dir="2700000" algn="tl">
                              <a:srgbClr val="000000">
                                <a:alpha val="43137"/>
                              </a:srgbClr>
                            </a:outerShdw>
                          </a:effectLst>
                        </a:rPr>
                        <a:t>Gestión de recursos</a:t>
                      </a:r>
                    </a:p>
                  </a:txBody>
                  <a:tcPr marL="91439" marR="91439" marT="45721" marB="45721"/>
                </a:tc>
                <a:tc>
                  <a:txBody>
                    <a:bodyPr/>
                    <a:lstStyle/>
                    <a:p>
                      <a:pPr algn="ctr"/>
                      <a:r>
                        <a:rPr lang="es-AR" sz="1000">
                          <a:effectLst>
                            <a:outerShdw blurRad="38100" dist="38100" dir="2700000" algn="tl">
                              <a:srgbClr val="000000">
                                <a:alpha val="43137"/>
                              </a:srgbClr>
                            </a:outerShdw>
                          </a:effectLst>
                        </a:rPr>
                        <a:t>Aseguramiento</a:t>
                      </a:r>
                      <a:r>
                        <a:rPr lang="es-AR" sz="1000" baseline="0">
                          <a:effectLst>
                            <a:outerShdw blurRad="38100" dist="38100" dir="2700000" algn="tl">
                              <a:srgbClr val="000000">
                                <a:alpha val="43137"/>
                              </a:srgbClr>
                            </a:outerShdw>
                          </a:effectLst>
                        </a:rPr>
                        <a:t> del proceso</a:t>
                      </a:r>
                      <a:endParaRPr lang="es-AR" sz="1000">
                        <a:effectLst>
                          <a:outerShdw blurRad="38100" dist="38100" dir="2700000" algn="tl">
                            <a:srgbClr val="000000">
                              <a:alpha val="43137"/>
                            </a:srgbClr>
                          </a:outerShdw>
                        </a:effectLst>
                      </a:endParaRPr>
                    </a:p>
                  </a:txBody>
                  <a:tcPr marL="91439" marR="91439" marT="45721" marB="45721"/>
                </a:tc>
                <a:extLst>
                  <a:ext uri="{0D108BD9-81ED-4DB2-BD59-A6C34878D82A}">
                    <a16:rowId xmlns:a16="http://schemas.microsoft.com/office/drawing/2014/main" val="10000"/>
                  </a:ext>
                </a:extLst>
              </a:tr>
              <a:tr h="630277">
                <a:tc>
                  <a:txBody>
                    <a:bodyPr/>
                    <a:lstStyle/>
                    <a:p>
                      <a:r>
                        <a:rPr lang="es-AR" sz="800"/>
                        <a:t>Junta</a:t>
                      </a:r>
                      <a:r>
                        <a:rPr lang="es-AR" sz="800" baseline="0"/>
                        <a:t> Directiva</a:t>
                      </a:r>
                      <a:endParaRPr lang="es-AR" sz="800"/>
                    </a:p>
                  </a:txBody>
                  <a:tcPr marL="91439" marR="91439" marT="45721" marB="45721"/>
                </a:tc>
                <a:tc>
                  <a:txBody>
                    <a:bodyPr/>
                    <a:lstStyle/>
                    <a:p>
                      <a:r>
                        <a:rPr lang="es-AR" sz="800"/>
                        <a:t>Requerir  una alineación comprobable</a:t>
                      </a:r>
                    </a:p>
                  </a:txBody>
                  <a:tcPr marL="91439" marR="91439" marT="45721" marB="45721"/>
                </a:tc>
                <a:tc>
                  <a:txBody>
                    <a:bodyPr/>
                    <a:lstStyle/>
                    <a:p>
                      <a:pPr>
                        <a:buFont typeface="Arial" pitchFamily="34" charset="0"/>
                        <a:buChar char="•"/>
                      </a:pPr>
                      <a:r>
                        <a:rPr lang="es-AR" sz="800"/>
                        <a:t>Instituir la tolerancia al riesgo</a:t>
                      </a:r>
                    </a:p>
                    <a:p>
                      <a:pPr>
                        <a:buFont typeface="Arial" pitchFamily="34" charset="0"/>
                        <a:buChar char="•"/>
                      </a:pPr>
                      <a:r>
                        <a:rPr lang="es-AR" sz="800"/>
                        <a:t>Supervisar la política de gestión del</a:t>
                      </a:r>
                      <a:r>
                        <a:rPr lang="es-AR" sz="800" baseline="0"/>
                        <a:t> riesgo</a:t>
                      </a:r>
                    </a:p>
                    <a:p>
                      <a:pPr>
                        <a:buFont typeface="Arial" pitchFamily="34" charset="0"/>
                        <a:buChar char="•"/>
                      </a:pPr>
                      <a:r>
                        <a:rPr lang="es-AR" sz="800" baseline="0"/>
                        <a:t>Verificar el cumplimiento regulatorio</a:t>
                      </a:r>
                      <a:endParaRPr lang="es-AR" sz="800"/>
                    </a:p>
                  </a:txBody>
                  <a:tcPr marL="91439" marR="91439" marT="45721" marB="45721"/>
                </a:tc>
                <a:tc>
                  <a:txBody>
                    <a:bodyPr/>
                    <a:lstStyle/>
                    <a:p>
                      <a:r>
                        <a:rPr lang="es-AR" sz="800"/>
                        <a:t>Requerir información del costo de las actividades de seguridad</a:t>
                      </a:r>
                    </a:p>
                  </a:txBody>
                  <a:tcPr marL="91439" marR="91439" marT="45721" marB="45721"/>
                </a:tc>
                <a:tc>
                  <a:txBody>
                    <a:bodyPr/>
                    <a:lstStyle/>
                    <a:p>
                      <a:r>
                        <a:rPr lang="es-AR" sz="800"/>
                        <a:t>Requerir información de le efectividad de la seguridad</a:t>
                      </a:r>
                    </a:p>
                  </a:txBody>
                  <a:tcPr marL="91439" marR="91439" marT="45721" marB="45721"/>
                </a:tc>
                <a:tc>
                  <a:txBody>
                    <a:bodyPr/>
                    <a:lstStyle/>
                    <a:p>
                      <a:r>
                        <a:rPr lang="es-AR" sz="800"/>
                        <a:t>Instituir una política de gestión del conocimiento y utilización de los recursos</a:t>
                      </a:r>
                    </a:p>
                  </a:txBody>
                  <a:tcPr marL="91439" marR="91439" marT="45721" marB="45721"/>
                </a:tc>
                <a:tc>
                  <a:txBody>
                    <a:bodyPr/>
                    <a:lstStyle/>
                    <a:p>
                      <a:r>
                        <a:rPr lang="es-AR" sz="800"/>
                        <a:t>Supervisar la política de integración del proceso de aseguramiento</a:t>
                      </a:r>
                    </a:p>
                  </a:txBody>
                  <a:tcPr marL="91439" marR="91439" marT="45721" marB="45721"/>
                </a:tc>
                <a:extLst>
                  <a:ext uri="{0D108BD9-81ED-4DB2-BD59-A6C34878D82A}">
                    <a16:rowId xmlns:a16="http://schemas.microsoft.com/office/drawing/2014/main" val="10001"/>
                  </a:ext>
                </a:extLst>
              </a:tr>
              <a:tr h="762966">
                <a:tc>
                  <a:txBody>
                    <a:bodyPr/>
                    <a:lstStyle/>
                    <a:p>
                      <a:r>
                        <a:rPr lang="es-AR" sz="800"/>
                        <a:t>Gerencia Ejecutiva</a:t>
                      </a:r>
                    </a:p>
                  </a:txBody>
                  <a:tcPr marL="91439" marR="91439" marT="45721" marB="45721"/>
                </a:tc>
                <a:tc>
                  <a:txBody>
                    <a:bodyPr/>
                    <a:lstStyle/>
                    <a:p>
                      <a:r>
                        <a:rPr lang="es-AR" sz="800"/>
                        <a:t>Instituir</a:t>
                      </a:r>
                      <a:r>
                        <a:rPr lang="es-AR" sz="800" baseline="0"/>
                        <a:t> un proceso para integrar la seguridad con los objetivos del negocio</a:t>
                      </a:r>
                      <a:endParaRPr lang="es-AR" sz="800"/>
                    </a:p>
                  </a:txBody>
                  <a:tcPr marL="91439" marR="91439" marT="45721" marB="45721"/>
                </a:tc>
                <a:tc>
                  <a:txBody>
                    <a:bodyPr/>
                    <a:lstStyle/>
                    <a:p>
                      <a:pPr>
                        <a:buFont typeface="Arial" pitchFamily="34" charset="0"/>
                        <a:buChar char="•"/>
                      </a:pPr>
                      <a:r>
                        <a:rPr lang="es-AR" sz="800"/>
                        <a:t>Asegurar que los roles y responsabilidades incluyan la gestión del riesgo en todas las actividades</a:t>
                      </a:r>
                    </a:p>
                    <a:p>
                      <a:pPr>
                        <a:buFont typeface="Arial" pitchFamily="34" charset="0"/>
                        <a:buChar char="•"/>
                      </a:pPr>
                      <a:r>
                        <a:rPr lang="es-AR" sz="800"/>
                        <a:t>Monitorear</a:t>
                      </a:r>
                      <a:r>
                        <a:rPr lang="es-AR" sz="800" baseline="0"/>
                        <a:t> el cumplimiento regulatorio</a:t>
                      </a:r>
                      <a:endParaRPr lang="es-AR" sz="800"/>
                    </a:p>
                  </a:txBody>
                  <a:tcPr marL="91439" marR="91439" marT="45721" marB="45721"/>
                </a:tc>
                <a:tc>
                  <a:txBody>
                    <a:bodyPr/>
                    <a:lstStyle/>
                    <a:p>
                      <a:r>
                        <a:rPr lang="es-AR" sz="800"/>
                        <a:t>Requerir el estudio de casos de negocio de</a:t>
                      </a:r>
                      <a:r>
                        <a:rPr lang="es-AR" sz="800" baseline="0"/>
                        <a:t> las iniciativas de seguridad</a:t>
                      </a:r>
                      <a:endParaRPr lang="es-AR" sz="800"/>
                    </a:p>
                  </a:txBody>
                  <a:tcPr marL="91439" marR="91439" marT="45721" marB="45721"/>
                </a:tc>
                <a:tc>
                  <a:txBody>
                    <a:bodyPr/>
                    <a:lstStyle/>
                    <a:p>
                      <a:r>
                        <a:rPr lang="es-AR" sz="800"/>
                        <a:t>Requerir el monitoreo y medición de las actividades de seguridad </a:t>
                      </a:r>
                    </a:p>
                  </a:txBody>
                  <a:tcPr marL="91439" marR="91439" marT="45721" marB="45721"/>
                </a:tc>
                <a:tc>
                  <a:txBody>
                    <a:bodyPr/>
                    <a:lstStyle/>
                    <a:p>
                      <a:r>
                        <a:rPr lang="es-AR" sz="800"/>
                        <a:t>Garantizar un proceso para capturar el conocimiento y mediciones </a:t>
                      </a:r>
                      <a:r>
                        <a:rPr lang="es-AR" sz="800" baseline="0"/>
                        <a:t>eficientes </a:t>
                      </a:r>
                      <a:endParaRPr lang="es-AR" sz="800"/>
                    </a:p>
                  </a:txBody>
                  <a:tcPr marL="91439" marR="91439" marT="45721" marB="45721"/>
                </a:tc>
                <a:tc>
                  <a:txBody>
                    <a:bodyPr/>
                    <a:lstStyle/>
                    <a:p>
                      <a:r>
                        <a:rPr lang="es-AR" sz="800"/>
                        <a:t>Proveer  supervisión de todas las funciones de aseguramiento y planes de integración</a:t>
                      </a:r>
                    </a:p>
                  </a:txBody>
                  <a:tcPr marL="91439" marR="91439" marT="45721" marB="45721"/>
                </a:tc>
                <a:extLst>
                  <a:ext uri="{0D108BD9-81ED-4DB2-BD59-A6C34878D82A}">
                    <a16:rowId xmlns:a16="http://schemas.microsoft.com/office/drawing/2014/main" val="10002"/>
                  </a:ext>
                </a:extLst>
              </a:tr>
              <a:tr h="895656">
                <a:tc>
                  <a:txBody>
                    <a:bodyPr/>
                    <a:lstStyle/>
                    <a:p>
                      <a:r>
                        <a:rPr lang="es-AR" sz="800"/>
                        <a:t>Comité Gerencial</a:t>
                      </a:r>
                    </a:p>
                  </a:txBody>
                  <a:tcPr marL="91439" marR="91439" marT="45721" marB="45721"/>
                </a:tc>
                <a:tc>
                  <a:txBody>
                    <a:bodyPr/>
                    <a:lstStyle/>
                    <a:p>
                      <a:pPr>
                        <a:buFont typeface="Arial" pitchFamily="34" charset="0"/>
                        <a:buChar char="•"/>
                      </a:pPr>
                      <a:r>
                        <a:rPr lang="es-AR" sz="800"/>
                        <a:t>Revisar y asistir los esfuerzos de la estrategia de seguridad e integración</a:t>
                      </a:r>
                    </a:p>
                    <a:p>
                      <a:pPr>
                        <a:buFont typeface="Arial" pitchFamily="34" charset="0"/>
                        <a:buChar char="•"/>
                      </a:pPr>
                      <a:endParaRPr lang="es-AR" sz="800"/>
                    </a:p>
                    <a:p>
                      <a:pPr>
                        <a:buFont typeface="Arial" pitchFamily="34" charset="0"/>
                        <a:buChar char="•"/>
                      </a:pPr>
                      <a:r>
                        <a:rPr lang="es-AR" sz="800"/>
                        <a:t>Garantizar que los usuarios den apoyo a  </a:t>
                      </a:r>
                      <a:r>
                        <a:rPr lang="es-AR" sz="800" baseline="0"/>
                        <a:t>la integración</a:t>
                      </a:r>
                      <a:endParaRPr lang="es-AR" sz="800"/>
                    </a:p>
                  </a:txBody>
                  <a:tcPr marL="91439" marR="91439" marT="45721" marB="45721"/>
                </a:tc>
                <a:tc>
                  <a:txBody>
                    <a:bodyPr/>
                    <a:lstStyle/>
                    <a:p>
                      <a:r>
                        <a:rPr lang="es-AR" sz="800"/>
                        <a:t>Identificar riegos emergentes,</a:t>
                      </a:r>
                      <a:r>
                        <a:rPr lang="es-AR" sz="800" baseline="0"/>
                        <a:t>  promover las prácticas de seguridad en la unidad de negocio e identificar problemas de cumplimiento</a:t>
                      </a:r>
                      <a:endParaRPr lang="es-AR" sz="800"/>
                    </a:p>
                  </a:txBody>
                  <a:tcPr marL="91439" marR="91439" marT="45721" marB="45721"/>
                </a:tc>
                <a:tc>
                  <a:txBody>
                    <a:bodyPr/>
                    <a:lstStyle/>
                    <a:p>
                      <a:r>
                        <a:rPr lang="es-AR" sz="800"/>
                        <a:t>Revisar  la adecuación de </a:t>
                      </a:r>
                      <a:r>
                        <a:rPr lang="es-AR" sz="800" baseline="0"/>
                        <a:t>las iniciativas de seguridad para cubrir las funciones de negocio</a:t>
                      </a:r>
                      <a:endParaRPr lang="es-AR" sz="800"/>
                    </a:p>
                  </a:txBody>
                  <a:tcPr marL="91439" marR="91439" marT="45721" marB="45721"/>
                </a:tc>
                <a:tc>
                  <a:txBody>
                    <a:bodyPr/>
                    <a:lstStyle/>
                    <a:p>
                      <a:r>
                        <a:rPr lang="es-AR" sz="800"/>
                        <a:t>Revisar y proponer si las iniciativas</a:t>
                      </a:r>
                      <a:r>
                        <a:rPr lang="es-AR" sz="800" baseline="0"/>
                        <a:t> de seguridad  alcanzan los objetivos de negocio</a:t>
                      </a:r>
                      <a:endParaRPr lang="es-AR" sz="800"/>
                    </a:p>
                  </a:txBody>
                  <a:tcPr marL="91439" marR="91439" marT="45721" marB="45721"/>
                </a:tc>
                <a:tc>
                  <a:txBody>
                    <a:bodyPr/>
                    <a:lstStyle/>
                    <a:p>
                      <a:r>
                        <a:rPr lang="es-AR" sz="800"/>
                        <a:t>Revisar los procesos para captura del conocimiento y su divulgación</a:t>
                      </a:r>
                    </a:p>
                  </a:txBody>
                  <a:tcPr marL="91439" marR="91439" marT="45721" marB="45721"/>
                </a:tc>
                <a:tc>
                  <a:txBody>
                    <a:bodyPr/>
                    <a:lstStyle/>
                    <a:p>
                      <a:pPr>
                        <a:buFont typeface="Arial" pitchFamily="34" charset="0"/>
                        <a:buChar char="•"/>
                      </a:pPr>
                      <a:r>
                        <a:rPr lang="es-AR" sz="800"/>
                        <a:t>Identificar procesos de negocio críticos y los  proveedores de aseguramiento</a:t>
                      </a:r>
                    </a:p>
                    <a:p>
                      <a:pPr>
                        <a:buFont typeface="Arial" pitchFamily="34" charset="0"/>
                        <a:buChar char="•"/>
                      </a:pPr>
                      <a:endParaRPr lang="es-AR" sz="800"/>
                    </a:p>
                    <a:p>
                      <a:pPr>
                        <a:buFont typeface="Arial" pitchFamily="34" charset="0"/>
                        <a:buChar char="•"/>
                      </a:pPr>
                      <a:r>
                        <a:rPr lang="es-AR" sz="800"/>
                        <a:t>Dirigir los esfuerzos de integración de aseguramiento </a:t>
                      </a:r>
                    </a:p>
                  </a:txBody>
                  <a:tcPr marL="91439" marR="91439" marT="45721" marB="45721"/>
                </a:tc>
                <a:extLst>
                  <a:ext uri="{0D108BD9-81ED-4DB2-BD59-A6C34878D82A}">
                    <a16:rowId xmlns:a16="http://schemas.microsoft.com/office/drawing/2014/main" val="10003"/>
                  </a:ext>
                </a:extLst>
              </a:tr>
              <a:tr h="895656">
                <a:tc>
                  <a:txBody>
                    <a:bodyPr/>
                    <a:lstStyle/>
                    <a:p>
                      <a:r>
                        <a:rPr lang="es-AR" sz="800"/>
                        <a:t>CISO/Gestión de seguridad de información</a:t>
                      </a:r>
                    </a:p>
                  </a:txBody>
                  <a:tcPr marL="91439" marR="91439" marT="45721" marB="45721"/>
                </a:tc>
                <a:tc>
                  <a:txBody>
                    <a:bodyPr/>
                    <a:lstStyle/>
                    <a:p>
                      <a:r>
                        <a:rPr lang="es-AR" sz="800"/>
                        <a:t>Desarrollar  la estrategia de seguridad, vigilar el programa y las iniciativas y coordinar  con los dueños de los procesos de negocio para un alineamiento continuo.</a:t>
                      </a:r>
                      <a:r>
                        <a:rPr lang="es-AR" sz="800" baseline="0"/>
                        <a:t> </a:t>
                      </a:r>
                      <a:r>
                        <a:rPr lang="es-AR" sz="800"/>
                        <a:t> </a:t>
                      </a:r>
                    </a:p>
                  </a:txBody>
                  <a:tcPr marL="91439" marR="91439" marT="45721" marB="45721"/>
                </a:tc>
                <a:tc>
                  <a:txBody>
                    <a:bodyPr/>
                    <a:lstStyle/>
                    <a:p>
                      <a:pPr>
                        <a:buFont typeface="Arial" pitchFamily="34" charset="0"/>
                        <a:buChar char="•"/>
                      </a:pPr>
                      <a:r>
                        <a:rPr lang="es-AR" sz="800"/>
                        <a:t>Verificar</a:t>
                      </a:r>
                      <a:r>
                        <a:rPr lang="es-AR" sz="800" baseline="0"/>
                        <a:t> las evaluaciones del riesgo e impacto al negocio</a:t>
                      </a:r>
                    </a:p>
                    <a:p>
                      <a:pPr>
                        <a:buFont typeface="Arial" pitchFamily="34" charset="0"/>
                        <a:buChar char="•"/>
                      </a:pPr>
                      <a:r>
                        <a:rPr lang="es-AR" sz="800" baseline="0"/>
                        <a:t>Desarrollar estrategias de mitigación de riesgo</a:t>
                      </a:r>
                    </a:p>
                    <a:p>
                      <a:pPr>
                        <a:buFont typeface="Arial" pitchFamily="34" charset="0"/>
                        <a:buChar char="•"/>
                      </a:pPr>
                      <a:r>
                        <a:rPr lang="es-AR" sz="800" baseline="0"/>
                        <a:t>Exigir el cumplimiento de políticas y regulaciones</a:t>
                      </a:r>
                      <a:endParaRPr lang="es-AR" sz="800"/>
                    </a:p>
                  </a:txBody>
                  <a:tcPr marL="91439" marR="91439" marT="45721" marB="45721"/>
                </a:tc>
                <a:tc>
                  <a:txBody>
                    <a:bodyPr/>
                    <a:lstStyle/>
                    <a:p>
                      <a:r>
                        <a:rPr lang="es-AR" sz="800"/>
                        <a:t>Monitorear</a:t>
                      </a:r>
                      <a:r>
                        <a:rPr lang="es-AR" sz="800" baseline="0"/>
                        <a:t> la utilización y la eficiencia de los recursos de seguridad</a:t>
                      </a:r>
                      <a:endParaRPr lang="es-AR" sz="800"/>
                    </a:p>
                  </a:txBody>
                  <a:tcPr marL="91439" marR="91439" marT="45721" marB="45721"/>
                </a:tc>
                <a:tc>
                  <a:txBody>
                    <a:bodyPr/>
                    <a:lstStyle/>
                    <a:p>
                      <a:pPr>
                        <a:buFont typeface="Arial" pitchFamily="34" charset="0"/>
                        <a:buChar char="•"/>
                      </a:pPr>
                      <a:r>
                        <a:rPr lang="es-AR" sz="800"/>
                        <a:t>Desarrollar le implementar métodos de monitoreo y mediciones</a:t>
                      </a:r>
                    </a:p>
                    <a:p>
                      <a:pPr>
                        <a:buFont typeface="Arial" pitchFamily="34" charset="0"/>
                        <a:buChar char="•"/>
                      </a:pPr>
                      <a:r>
                        <a:rPr lang="es-AR" sz="800"/>
                        <a:t>Dirigir y monitorear las actividades de seguridad </a:t>
                      </a:r>
                    </a:p>
                  </a:txBody>
                  <a:tcPr marL="91439" marR="91439" marT="45721" marB="45721"/>
                </a:tc>
                <a:tc>
                  <a:txBody>
                    <a:bodyPr/>
                    <a:lstStyle/>
                    <a:p>
                      <a:r>
                        <a:rPr lang="es-AR" sz="800"/>
                        <a:t>Desarrollar  tanto métodos para captar y divulgar el conocimiento y mediciones para determinar la eficacia y eficiencia</a:t>
                      </a:r>
                    </a:p>
                  </a:txBody>
                  <a:tcPr marL="91439" marR="91439" marT="45721" marB="45721"/>
                </a:tc>
                <a:tc>
                  <a:txBody>
                    <a:bodyPr/>
                    <a:lstStyle/>
                    <a:p>
                      <a:pPr>
                        <a:buFont typeface="Arial" pitchFamily="34" charset="0"/>
                        <a:buChar char="•"/>
                      </a:pPr>
                      <a:r>
                        <a:rPr lang="es-AR" sz="800"/>
                        <a:t>Coordinar con otros proveedores de aseguramiento</a:t>
                      </a:r>
                    </a:p>
                    <a:p>
                      <a:endParaRPr lang="es-AR" sz="800"/>
                    </a:p>
                    <a:p>
                      <a:pPr>
                        <a:buFont typeface="Arial" pitchFamily="34" charset="0"/>
                        <a:buChar char="•"/>
                      </a:pPr>
                      <a:r>
                        <a:rPr lang="es-AR" sz="800"/>
                        <a:t>Garantizar que se identifiquen y resuelvan las brechas, los vacíos y las deficiencias</a:t>
                      </a:r>
                    </a:p>
                  </a:txBody>
                  <a:tcPr marL="91439" marR="91439" marT="45721" marB="45721"/>
                </a:tc>
                <a:extLst>
                  <a:ext uri="{0D108BD9-81ED-4DB2-BD59-A6C34878D82A}">
                    <a16:rowId xmlns:a16="http://schemas.microsoft.com/office/drawing/2014/main" val="10004"/>
                  </a:ext>
                </a:extLst>
              </a:tr>
              <a:tr h="630277">
                <a:tc>
                  <a:txBody>
                    <a:bodyPr/>
                    <a:lstStyle/>
                    <a:p>
                      <a:r>
                        <a:rPr lang="es-AR" sz="800"/>
                        <a:t>Ejecutivos de Auditoria</a:t>
                      </a:r>
                    </a:p>
                  </a:txBody>
                  <a:tcPr marL="91439" marR="91439" marT="45721" marB="45721"/>
                </a:tc>
                <a:tc>
                  <a:txBody>
                    <a:bodyPr/>
                    <a:lstStyle/>
                    <a:p>
                      <a:r>
                        <a:rPr lang="es-AR" sz="800"/>
                        <a:t>Evaluar</a:t>
                      </a:r>
                      <a:r>
                        <a:rPr lang="es-AR" sz="800" baseline="0"/>
                        <a:t> e informar el grado de alineación </a:t>
                      </a:r>
                      <a:endParaRPr lang="es-AR" sz="800"/>
                    </a:p>
                  </a:txBody>
                  <a:tcPr marL="91439" marR="91439" marT="45721" marB="45721"/>
                </a:tc>
                <a:tc>
                  <a:txBody>
                    <a:bodyPr/>
                    <a:lstStyle/>
                    <a:p>
                      <a:r>
                        <a:rPr lang="es-AR" sz="800"/>
                        <a:t>Evaluar e informar sobre las prácticas de gestión del riego y sus resultados</a:t>
                      </a:r>
                    </a:p>
                  </a:txBody>
                  <a:tcPr marL="91439" marR="91439" marT="45721" marB="45721"/>
                </a:tc>
                <a:tc>
                  <a:txBody>
                    <a:bodyPr/>
                    <a:lstStyle/>
                    <a:p>
                      <a:r>
                        <a:rPr lang="es-AR" sz="800"/>
                        <a:t>Evaluar e informar sobre la eficiencia</a:t>
                      </a:r>
                    </a:p>
                  </a:txBody>
                  <a:tcPr marL="91439" marR="91439" marT="45721" marB="45721"/>
                </a:tc>
                <a:tc>
                  <a:txBody>
                    <a:bodyPr/>
                    <a:lstStyle/>
                    <a:p>
                      <a:r>
                        <a:rPr lang="es-AR" sz="800"/>
                        <a:t>Evaluar e informar el grado de mediciones realizadas y los indicadores utilizados</a:t>
                      </a:r>
                    </a:p>
                  </a:txBody>
                  <a:tcPr marL="91439" marR="91439" marT="45721" marB="45721"/>
                </a:tc>
                <a:tc>
                  <a:txBody>
                    <a:bodyPr/>
                    <a:lstStyle/>
                    <a:p>
                      <a:r>
                        <a:rPr lang="es-AR" sz="800"/>
                        <a:t>Evaluar e informar sobre la eficiencia de la gestión de recursos</a:t>
                      </a:r>
                    </a:p>
                  </a:txBody>
                  <a:tcPr marL="91439" marR="91439" marT="45721" marB="45721"/>
                </a:tc>
                <a:tc>
                  <a:txBody>
                    <a:bodyPr/>
                    <a:lstStyle/>
                    <a:p>
                      <a:r>
                        <a:rPr lang="es-AR" sz="800"/>
                        <a:t>Evaluar e informar sobre la efectividad del proceso de aseguramiento</a:t>
                      </a:r>
                      <a:r>
                        <a:rPr lang="es-AR" sz="800" baseline="0"/>
                        <a:t> realizado por las distintas áreas de gestión</a:t>
                      </a:r>
                      <a:endParaRPr lang="es-AR" sz="800"/>
                    </a:p>
                  </a:txBody>
                  <a:tcPr marL="91439" marR="91439" marT="45721" marB="45721"/>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3 Título">
            <a:extLst>
              <a:ext uri="{FF2B5EF4-FFF2-40B4-BE49-F238E27FC236}">
                <a16:creationId xmlns:a16="http://schemas.microsoft.com/office/drawing/2014/main" id="{7F9DD91A-AAA0-4A71-2CFB-28B19A856907}"/>
              </a:ext>
            </a:extLst>
          </p:cNvPr>
          <p:cNvSpPr>
            <a:spLocks noGrp="1"/>
          </p:cNvSpPr>
          <p:nvPr>
            <p:ph type="title"/>
          </p:nvPr>
        </p:nvSpPr>
        <p:spPr/>
        <p:txBody>
          <a:bodyPr/>
          <a:lstStyle/>
          <a:p>
            <a:pPr eaLnBrk="1" hangingPunct="1"/>
            <a:r>
              <a:rPr lang="es-AR" altLang="es-AR"/>
              <a:t>Preguntas de Ejemplo</a:t>
            </a:r>
          </a:p>
        </p:txBody>
      </p:sp>
      <p:sp>
        <p:nvSpPr>
          <p:cNvPr id="30723" name="Rectangle 2">
            <a:extLst>
              <a:ext uri="{FF2B5EF4-FFF2-40B4-BE49-F238E27FC236}">
                <a16:creationId xmlns:a16="http://schemas.microsoft.com/office/drawing/2014/main" id="{4EC67787-8BC2-3F24-D7DC-4A377ACC1E80}"/>
              </a:ext>
            </a:extLst>
          </p:cNvPr>
          <p:cNvSpPr>
            <a:spLocks noGrp="1"/>
          </p:cNvSpPr>
          <p:nvPr>
            <p:ph sz="quarter" idx="1"/>
          </p:nvPr>
        </p:nvSpPr>
        <p:spPr>
          <a:xfrm>
            <a:off x="516048" y="1219201"/>
            <a:ext cx="11371152" cy="4937125"/>
          </a:xfrm>
        </p:spPr>
        <p:txBody>
          <a:bodyPr/>
          <a:lstStyle/>
          <a:p>
            <a:pPr marL="0" indent="0">
              <a:lnSpc>
                <a:spcPct val="90000"/>
              </a:lnSpc>
              <a:buNone/>
            </a:pPr>
            <a:endParaRPr lang="es-CO" altLang="es-AR" sz="2800">
              <a:solidFill>
                <a:schemeClr val="accent1"/>
              </a:solidFill>
            </a:endParaRPr>
          </a:p>
          <a:p>
            <a:pPr marL="0" indent="0">
              <a:lnSpc>
                <a:spcPct val="90000"/>
              </a:lnSpc>
              <a:buNone/>
            </a:pPr>
            <a:r>
              <a:rPr lang="es-CO" altLang="es-AR" sz="2800">
                <a:solidFill>
                  <a:schemeClr val="accent1"/>
                </a:solidFill>
              </a:rPr>
              <a:t>La responsabilidad </a:t>
            </a:r>
            <a:r>
              <a:rPr lang="es-CO" altLang="es-AR" sz="2800" b="1">
                <a:solidFill>
                  <a:schemeClr val="accent1"/>
                </a:solidFill>
              </a:rPr>
              <a:t>PRIMARIA</a:t>
            </a:r>
            <a:r>
              <a:rPr lang="es-CO" altLang="es-AR" sz="2800">
                <a:solidFill>
                  <a:schemeClr val="accent1"/>
                </a:solidFill>
              </a:rPr>
              <a:t> del Comité Gerencial de TI es:</a:t>
            </a:r>
          </a:p>
          <a:p>
            <a:pPr marL="0" indent="0">
              <a:lnSpc>
                <a:spcPct val="90000"/>
              </a:lnSpc>
              <a:buNone/>
            </a:pPr>
            <a:endParaRPr lang="es-CO" altLang="es-AR" sz="2800">
              <a:solidFill>
                <a:schemeClr val="accent1"/>
              </a:solidFill>
            </a:endParaRPr>
          </a:p>
          <a:p>
            <a:pPr marL="1244600" lvl="1" indent="-533400">
              <a:lnSpc>
                <a:spcPct val="90000"/>
              </a:lnSpc>
              <a:buFont typeface="Wingdings" panose="05000000000000000000" pitchFamily="2" charset="2"/>
              <a:buChar char="§"/>
            </a:pPr>
            <a:r>
              <a:rPr lang="es-CO" altLang="es-AR" sz="2400">
                <a:solidFill>
                  <a:schemeClr val="accent1"/>
                </a:solidFill>
              </a:rPr>
              <a:t>Establecer parámetros de dirección y monitoreo de desempeño.</a:t>
            </a:r>
          </a:p>
          <a:p>
            <a:pPr marL="1244600" lvl="1" indent="-533400">
              <a:lnSpc>
                <a:spcPct val="90000"/>
              </a:lnSpc>
              <a:buFont typeface="Wingdings" panose="05000000000000000000" pitchFamily="2" charset="2"/>
              <a:buChar char="§"/>
            </a:pPr>
            <a:r>
              <a:rPr lang="es-CO" altLang="es-AR" sz="2400">
                <a:solidFill>
                  <a:schemeClr val="accent1"/>
                </a:solidFill>
              </a:rPr>
              <a:t>Desarrollo de las políticas, normas y procedimientos.</a:t>
            </a:r>
          </a:p>
          <a:p>
            <a:pPr marL="1244600" lvl="1" indent="-533400">
              <a:lnSpc>
                <a:spcPct val="90000"/>
              </a:lnSpc>
              <a:buFont typeface="Wingdings" panose="05000000000000000000" pitchFamily="2" charset="2"/>
              <a:buChar char="§"/>
            </a:pPr>
            <a:r>
              <a:rPr lang="es-CO" altLang="es-AR" sz="2400">
                <a:solidFill>
                  <a:schemeClr val="accent1"/>
                </a:solidFill>
              </a:rPr>
              <a:t>Implementación de controles para el Plan de TI.</a:t>
            </a:r>
          </a:p>
          <a:p>
            <a:pPr marL="1244600" lvl="1" indent="-533400">
              <a:lnSpc>
                <a:spcPct val="90000"/>
              </a:lnSpc>
              <a:buFont typeface="Wingdings" panose="05000000000000000000" pitchFamily="2" charset="2"/>
              <a:buChar char="§"/>
            </a:pPr>
            <a:r>
              <a:rPr lang="es-CO" altLang="es-AR" sz="2400">
                <a:solidFill>
                  <a:schemeClr val="accent1"/>
                </a:solidFill>
              </a:rPr>
              <a:t>Proveer entrenamiento y/o capacitación para los empleados.</a:t>
            </a:r>
            <a:endParaRPr lang="en-US" altLang="es-AR" sz="2400">
              <a:solidFill>
                <a:schemeClr val="accen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5A5051E7-501A-49D3-A2E6-B940261F0800}"/>
              </a:ext>
            </a:extLst>
          </p:cNvPr>
          <p:cNvSpPr>
            <a:spLocks noGrp="1" noChangeArrowheads="1"/>
          </p:cNvSpPr>
          <p:nvPr>
            <p:ph type="title"/>
          </p:nvPr>
        </p:nvSpPr>
        <p:spPr/>
        <p:txBody>
          <a:bodyPr>
            <a:normAutofit fontScale="90000"/>
          </a:bodyPr>
          <a:lstStyle/>
          <a:p>
            <a:r>
              <a:rPr lang="es-MX" altLang="es-MX" sz="4000"/>
              <a:t>Gobierno de la Seguridad de Información</a:t>
            </a:r>
            <a:endParaRPr lang="es-ES" altLang="es-MX" sz="4000"/>
          </a:p>
        </p:txBody>
      </p:sp>
      <p:sp>
        <p:nvSpPr>
          <p:cNvPr id="454659" name="Rectangle 3">
            <a:extLst>
              <a:ext uri="{FF2B5EF4-FFF2-40B4-BE49-F238E27FC236}">
                <a16:creationId xmlns:a16="http://schemas.microsoft.com/office/drawing/2014/main" id="{481E0222-55E1-4FF7-BD7D-A731B9262ED9}"/>
              </a:ext>
            </a:extLst>
          </p:cNvPr>
          <p:cNvSpPr>
            <a:spLocks noGrp="1" noChangeArrowheads="1"/>
          </p:cNvSpPr>
          <p:nvPr>
            <p:ph idx="1"/>
          </p:nvPr>
        </p:nvSpPr>
        <p:spPr>
          <a:xfrm>
            <a:off x="445390" y="1890785"/>
            <a:ext cx="11029615" cy="3678303"/>
          </a:xfrm>
        </p:spPr>
        <p:txBody>
          <a:bodyPr>
            <a:normAutofit/>
          </a:bodyPr>
          <a:lstStyle/>
          <a:p>
            <a:pPr algn="just">
              <a:lnSpc>
                <a:spcPct val="150000"/>
              </a:lnSpc>
            </a:pPr>
            <a:r>
              <a:rPr lang="es-MX" altLang="es-MX">
                <a:solidFill>
                  <a:schemeClr val="accent1"/>
                </a:solidFill>
              </a:rPr>
              <a:t>Objetivo:</a:t>
            </a:r>
          </a:p>
          <a:p>
            <a:pPr lvl="1" algn="just">
              <a:lnSpc>
                <a:spcPct val="150000"/>
              </a:lnSpc>
            </a:pPr>
            <a:r>
              <a:rPr lang="es-MX" altLang="es-MX" sz="1800">
                <a:solidFill>
                  <a:schemeClr val="accent1"/>
                </a:solidFill>
              </a:rPr>
              <a:t>Integrar el planeamiento de TI dentro del contexto más amplio de planeamiento de negocios.</a:t>
            </a:r>
          </a:p>
          <a:p>
            <a:pPr lvl="1" algn="just">
              <a:lnSpc>
                <a:spcPct val="150000"/>
              </a:lnSpc>
            </a:pPr>
            <a:r>
              <a:rPr lang="es-MX" altLang="es-MX" sz="1800">
                <a:solidFill>
                  <a:schemeClr val="accent1"/>
                </a:solidFill>
              </a:rPr>
              <a:t>Comprende el desarrollo e integración de una unidad de organización y estructura de gestión con procesos de generación y presentación de informes.</a:t>
            </a:r>
          </a:p>
          <a:p>
            <a:pPr lvl="1" algn="just">
              <a:lnSpc>
                <a:spcPct val="150000"/>
              </a:lnSpc>
            </a:pPr>
            <a:r>
              <a:rPr lang="es-MX" altLang="es-MX" sz="1800">
                <a:solidFill>
                  <a:schemeClr val="accent1"/>
                </a:solidFill>
              </a:rPr>
              <a:t>Abarca todos los aspectos de un programa  de seguridad exitoso, el cual garantiza a la Dirección que sus riesgos están definidos y apropiadamente administrados.</a:t>
            </a:r>
          </a:p>
        </p:txBody>
      </p:sp>
      <p:sp>
        <p:nvSpPr>
          <p:cNvPr id="3" name="Marcador de número de diapositiva 2">
            <a:extLst>
              <a:ext uri="{FF2B5EF4-FFF2-40B4-BE49-F238E27FC236}">
                <a16:creationId xmlns:a16="http://schemas.microsoft.com/office/drawing/2014/main" id="{263049C8-7898-4E6A-8595-200A9467C51B}"/>
              </a:ext>
            </a:extLst>
          </p:cNvPr>
          <p:cNvSpPr>
            <a:spLocks noGrp="1"/>
          </p:cNvSpPr>
          <p:nvPr>
            <p:ph type="sldNum" sz="quarter" idx="12"/>
          </p:nvPr>
        </p:nvSpPr>
        <p:spPr/>
        <p:txBody>
          <a:bodyPr/>
          <a:lstStyle/>
          <a:p>
            <a:fld id="{30A8E979-4E28-491D-8002-836F9D9327AB}" type="slidenum">
              <a:rPr lang="es-MX" smtClean="0"/>
              <a:t>13</a:t>
            </a:fld>
            <a:endParaRPr lang="es-MX"/>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7BAE7BC-E551-4B0E-80EC-EDBC819936E7}"/>
              </a:ext>
            </a:extLst>
          </p:cNvPr>
          <p:cNvSpPr>
            <a:spLocks noGrp="1" noChangeArrowheads="1"/>
          </p:cNvSpPr>
          <p:nvPr>
            <p:ph type="title"/>
          </p:nvPr>
        </p:nvSpPr>
        <p:spPr>
          <a:noFill/>
          <a:ln/>
          <a:effectLst/>
          <a:extLst>
            <a:ext uri="{AF507438-7753-43E0-B8FC-AC1667EBCBE1}">
              <a14:hiddenEffects xmlns:a14="http://schemas.microsoft.com/office/drawing/2010/main">
                <a:effectLst>
                  <a:outerShdw dist="35921" dir="2700000" algn="ctr" rotWithShape="0">
                    <a:schemeClr val="tx2"/>
                  </a:outerShdw>
                </a:effectLst>
              </a14:hiddenEffects>
            </a:ext>
          </a:extLst>
        </p:spPr>
        <p:txBody>
          <a:bodyPr vert="horz" lIns="92075" tIns="46038" rIns="92075" bIns="46038" rtlCol="0" anchor="ctr">
            <a:normAutofit/>
          </a:bodyPr>
          <a:lstStyle/>
          <a:p>
            <a:r>
              <a:rPr lang="es-MX" altLang="es-MX" sz="2800"/>
              <a:t>Gobierno TI</a:t>
            </a:r>
            <a:endParaRPr lang="es-ES_tradnl" altLang="es-MX">
              <a:effectLst>
                <a:outerShdw blurRad="38100" dist="38100" dir="2700000" algn="tl">
                  <a:srgbClr val="000000"/>
                </a:outerShdw>
              </a:effectLst>
            </a:endParaRPr>
          </a:p>
        </p:txBody>
      </p:sp>
      <p:sp>
        <p:nvSpPr>
          <p:cNvPr id="7171" name="Rectangle 3">
            <a:extLst>
              <a:ext uri="{FF2B5EF4-FFF2-40B4-BE49-F238E27FC236}">
                <a16:creationId xmlns:a16="http://schemas.microsoft.com/office/drawing/2014/main" id="{ACCB70F3-9C94-4E34-BF45-F33E01F0ACC6}"/>
              </a:ext>
            </a:extLst>
          </p:cNvPr>
          <p:cNvSpPr>
            <a:spLocks noGrp="1" noChangeArrowheads="1"/>
          </p:cNvSpPr>
          <p:nvPr>
            <p:ph idx="1"/>
          </p:nvPr>
        </p:nvSpPr>
        <p:spPr>
          <a:xfrm>
            <a:off x="470780" y="2136618"/>
            <a:ext cx="11140028" cy="4340382"/>
          </a:xfrm>
          <a:noFill/>
          <a:ln/>
          <a:effectLst/>
          <a:extLst>
            <a:ext uri="{AF507438-7753-43E0-B8FC-AC1667EBCBE1}">
              <a14:hiddenEffects xmlns:a14="http://schemas.microsoft.com/office/drawing/2010/main">
                <a:effectLst>
                  <a:outerShdw dist="35921" dir="2700000" algn="ctr" rotWithShape="0">
                    <a:schemeClr val="tx2"/>
                  </a:outerShdw>
                </a:effectLst>
              </a14:hiddenEffects>
            </a:ext>
          </a:extLst>
        </p:spPr>
        <p:txBody>
          <a:bodyPr vert="horz" lIns="92075" tIns="46038" rIns="92075" bIns="46038" rtlCol="0">
            <a:normAutofit/>
          </a:bodyPr>
          <a:lstStyle/>
          <a:p>
            <a:pPr algn="just" defTabSz="762000">
              <a:spcBef>
                <a:spcPts val="0"/>
              </a:spcBef>
            </a:pPr>
            <a:r>
              <a:rPr lang="es-ES_tradnl" altLang="es-MX">
                <a:solidFill>
                  <a:schemeClr val="accent1"/>
                </a:solidFill>
              </a:rPr>
              <a:t>La creciente dependencia de la información de los sistemas que la procesan.</a:t>
            </a:r>
          </a:p>
          <a:p>
            <a:pPr algn="just" defTabSz="762000"/>
            <a:r>
              <a:rPr lang="es-ES_tradnl" altLang="es-MX">
                <a:solidFill>
                  <a:schemeClr val="accent1"/>
                </a:solidFill>
              </a:rPr>
              <a:t>Vulnerabilidad cada vez mayores y un amplio espectro de amenazas.</a:t>
            </a:r>
          </a:p>
          <a:p>
            <a:pPr algn="just" defTabSz="762000"/>
            <a:r>
              <a:rPr lang="es-ES_tradnl" altLang="es-MX">
                <a:solidFill>
                  <a:schemeClr val="accent1"/>
                </a:solidFill>
              </a:rPr>
              <a:t>Escala y costo de las inversiones presentes y futuras en sistemas y en TI (tecnología de información).</a:t>
            </a:r>
          </a:p>
          <a:p>
            <a:pPr algn="just" defTabSz="762000"/>
            <a:r>
              <a:rPr lang="es-MX" altLang="es-MX" sz="1800">
                <a:solidFill>
                  <a:schemeClr val="accent1"/>
                </a:solidFill>
              </a:rPr>
              <a:t>Establecer y mantener un marco que permita asegurar que las estrategias de TI están alineadas con los objetivos de negocio y son consistentes con las leyes y reglamentaciones aplicables.</a:t>
            </a:r>
            <a:endParaRPr lang="es-ES" altLang="es-MX" sz="1800">
              <a:solidFill>
                <a:schemeClr val="accent1"/>
              </a:solidFill>
            </a:endParaRPr>
          </a:p>
          <a:p>
            <a:pPr marL="0" indent="0" algn="just" defTabSz="762000">
              <a:buNone/>
            </a:pPr>
            <a:endParaRPr lang="es-ES_tradnl" altLang="es-MX">
              <a:solidFill>
                <a:schemeClr val="accent1"/>
              </a:solidFill>
            </a:endParaRPr>
          </a:p>
        </p:txBody>
      </p:sp>
      <p:sp>
        <p:nvSpPr>
          <p:cNvPr id="3" name="Marcador de número de diapositiva 2">
            <a:extLst>
              <a:ext uri="{FF2B5EF4-FFF2-40B4-BE49-F238E27FC236}">
                <a16:creationId xmlns:a16="http://schemas.microsoft.com/office/drawing/2014/main" id="{A93A6923-09CA-4192-815A-C60386B84CE5}"/>
              </a:ext>
            </a:extLst>
          </p:cNvPr>
          <p:cNvSpPr>
            <a:spLocks noGrp="1"/>
          </p:cNvSpPr>
          <p:nvPr>
            <p:ph type="sldNum" sz="quarter" idx="12"/>
          </p:nvPr>
        </p:nvSpPr>
        <p:spPr/>
        <p:txBody>
          <a:bodyPr/>
          <a:lstStyle/>
          <a:p>
            <a:fld id="{30A8E979-4E28-491D-8002-836F9D9327AB}" type="slidenum">
              <a:rPr lang="es-MX" smtClean="0"/>
              <a:t>14</a:t>
            </a:fld>
            <a:endParaRPr lang="es-MX"/>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a:extLst>
              <a:ext uri="{FF2B5EF4-FFF2-40B4-BE49-F238E27FC236}">
                <a16:creationId xmlns:a16="http://schemas.microsoft.com/office/drawing/2014/main" id="{B06DCF2E-C58B-429F-BE30-0889964553B3}"/>
              </a:ext>
            </a:extLst>
          </p:cNvPr>
          <p:cNvSpPr>
            <a:spLocks noGrp="1" noChangeArrowheads="1"/>
          </p:cNvSpPr>
          <p:nvPr>
            <p:ph type="title"/>
          </p:nvPr>
        </p:nvSpPr>
        <p:spPr/>
        <p:txBody>
          <a:bodyPr>
            <a:normAutofit/>
          </a:bodyPr>
          <a:lstStyle/>
          <a:p>
            <a:r>
              <a:rPr lang="es-MX" altLang="es-MX" sz="4000"/>
              <a:t>Gobierno TI</a:t>
            </a:r>
            <a:endParaRPr lang="es-ES" altLang="es-MX" sz="4000"/>
          </a:p>
        </p:txBody>
      </p:sp>
      <p:sp>
        <p:nvSpPr>
          <p:cNvPr id="455683" name="Rectangle 3">
            <a:extLst>
              <a:ext uri="{FF2B5EF4-FFF2-40B4-BE49-F238E27FC236}">
                <a16:creationId xmlns:a16="http://schemas.microsoft.com/office/drawing/2014/main" id="{F6A6186A-81F9-4F84-8DF4-C97F830754E9}"/>
              </a:ext>
            </a:extLst>
          </p:cNvPr>
          <p:cNvSpPr>
            <a:spLocks noGrp="1" noChangeArrowheads="1"/>
          </p:cNvSpPr>
          <p:nvPr>
            <p:ph idx="1"/>
          </p:nvPr>
        </p:nvSpPr>
        <p:spPr/>
        <p:txBody>
          <a:bodyPr>
            <a:noAutofit/>
          </a:bodyPr>
          <a:lstStyle/>
          <a:p>
            <a:pPr algn="just">
              <a:lnSpc>
                <a:spcPct val="150000"/>
              </a:lnSpc>
            </a:pPr>
            <a:r>
              <a:rPr lang="es-MX" altLang="es-MX" sz="1600">
                <a:solidFill>
                  <a:schemeClr val="accent1"/>
                </a:solidFill>
              </a:rPr>
              <a:t>Tareas:</a:t>
            </a:r>
          </a:p>
          <a:p>
            <a:pPr lvl="1" algn="just">
              <a:lnSpc>
                <a:spcPct val="150000"/>
              </a:lnSpc>
            </a:pPr>
            <a:r>
              <a:rPr lang="es-MX" altLang="es-MX">
                <a:solidFill>
                  <a:schemeClr val="accent1"/>
                </a:solidFill>
              </a:rPr>
              <a:t>Desarrollar la estrategia como soporte del negocio y de la Dirección.</a:t>
            </a:r>
          </a:p>
          <a:p>
            <a:pPr lvl="1" algn="just">
              <a:lnSpc>
                <a:spcPct val="150000"/>
              </a:lnSpc>
            </a:pPr>
            <a:r>
              <a:rPr lang="es-MX" altLang="es-MX">
                <a:solidFill>
                  <a:schemeClr val="accent1"/>
                </a:solidFill>
              </a:rPr>
              <a:t>Obtener el compromiso y apoyo en toda la empresa.</a:t>
            </a:r>
          </a:p>
          <a:p>
            <a:pPr lvl="1" algn="just">
              <a:lnSpc>
                <a:spcPct val="150000"/>
              </a:lnSpc>
            </a:pPr>
            <a:r>
              <a:rPr lang="es-MX" altLang="es-MX">
                <a:solidFill>
                  <a:schemeClr val="accent1"/>
                </a:solidFill>
              </a:rPr>
              <a:t>Asegurarse las definiciones de roles y responsabilidades en toda la empresa.</a:t>
            </a:r>
          </a:p>
          <a:p>
            <a:pPr lvl="1" algn="just">
              <a:lnSpc>
                <a:spcPct val="150000"/>
              </a:lnSpc>
            </a:pPr>
            <a:r>
              <a:rPr lang="es-MX" altLang="es-MX">
                <a:solidFill>
                  <a:schemeClr val="accent1"/>
                </a:solidFill>
              </a:rPr>
              <a:t>Establecer informe y canales de comunicación que brinden apoyo.</a:t>
            </a:r>
          </a:p>
          <a:p>
            <a:pPr lvl="1" algn="just">
              <a:lnSpc>
                <a:spcPct val="150000"/>
              </a:lnSpc>
            </a:pPr>
            <a:r>
              <a:rPr lang="es-MX" altLang="es-MX">
                <a:solidFill>
                  <a:schemeClr val="accent1"/>
                </a:solidFill>
              </a:rPr>
              <a:t>Identificar asuntos legales y reglamentarios actuales y los potenciales; determinando su impacto sobre la empresa.</a:t>
            </a:r>
          </a:p>
          <a:p>
            <a:pPr lvl="1" algn="just">
              <a:lnSpc>
                <a:spcPct val="150000"/>
              </a:lnSpc>
            </a:pPr>
            <a:r>
              <a:rPr lang="es-MX" altLang="es-MX">
                <a:solidFill>
                  <a:schemeClr val="accent1"/>
                </a:solidFill>
              </a:rPr>
              <a:t>Establecer y mantener políticas que sustenten los objetivos y metas del negocio.</a:t>
            </a:r>
          </a:p>
          <a:p>
            <a:pPr lvl="1" algn="just">
              <a:lnSpc>
                <a:spcPct val="150000"/>
              </a:lnSpc>
            </a:pPr>
            <a:r>
              <a:rPr lang="es-MX" altLang="es-MX">
                <a:solidFill>
                  <a:schemeClr val="accent1"/>
                </a:solidFill>
              </a:rPr>
              <a:t> Desarrollar guías y procedimientos que brinden apoyo a las políticas de la empresa.</a:t>
            </a:r>
          </a:p>
        </p:txBody>
      </p:sp>
      <p:sp>
        <p:nvSpPr>
          <p:cNvPr id="3" name="Marcador de número de diapositiva 2">
            <a:extLst>
              <a:ext uri="{FF2B5EF4-FFF2-40B4-BE49-F238E27FC236}">
                <a16:creationId xmlns:a16="http://schemas.microsoft.com/office/drawing/2014/main" id="{9DDC7A2D-8D93-4978-A293-4D8DF6F7EE09}"/>
              </a:ext>
            </a:extLst>
          </p:cNvPr>
          <p:cNvSpPr>
            <a:spLocks noGrp="1"/>
          </p:cNvSpPr>
          <p:nvPr>
            <p:ph type="sldNum" sz="quarter" idx="12"/>
          </p:nvPr>
        </p:nvSpPr>
        <p:spPr/>
        <p:txBody>
          <a:bodyPr/>
          <a:lstStyle/>
          <a:p>
            <a:fld id="{30A8E979-4E28-491D-8002-836F9D9327AB}" type="slidenum">
              <a:rPr lang="es-MX" smtClean="0"/>
              <a:t>15</a:t>
            </a:fld>
            <a:endParaRPr lang="es-MX"/>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a:extLst>
              <a:ext uri="{FF2B5EF4-FFF2-40B4-BE49-F238E27FC236}">
                <a16:creationId xmlns:a16="http://schemas.microsoft.com/office/drawing/2014/main" id="{709B8C53-2B64-45CE-BEC2-66AAB91B838B}"/>
              </a:ext>
            </a:extLst>
          </p:cNvPr>
          <p:cNvSpPr>
            <a:spLocks noChangeArrowheads="1"/>
          </p:cNvSpPr>
          <p:nvPr/>
        </p:nvSpPr>
        <p:spPr bwMode="auto">
          <a:xfrm>
            <a:off x="1752600" y="228600"/>
            <a:ext cx="6675438"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lvl1pPr algn="ctr">
              <a:defRPr sz="4400">
                <a:solidFill>
                  <a:srgbClr val="FFFF00"/>
                </a:solidFill>
                <a:latin typeface="Times New Roman" panose="02020603050405020304" pitchFamily="18" charset="0"/>
              </a:defRPr>
            </a:lvl1pPr>
            <a:lvl2pPr algn="ctr">
              <a:defRPr sz="4400">
                <a:solidFill>
                  <a:srgbClr val="FFFF00"/>
                </a:solidFill>
                <a:latin typeface="Times New Roman" panose="02020603050405020304" pitchFamily="18" charset="0"/>
              </a:defRPr>
            </a:lvl2pPr>
            <a:lvl3pPr algn="ctr">
              <a:defRPr sz="4400">
                <a:solidFill>
                  <a:srgbClr val="FFFF00"/>
                </a:solidFill>
                <a:latin typeface="Times New Roman" panose="02020603050405020304" pitchFamily="18" charset="0"/>
              </a:defRPr>
            </a:lvl3pPr>
            <a:lvl4pPr algn="ctr">
              <a:defRPr sz="4400">
                <a:solidFill>
                  <a:srgbClr val="FFFF00"/>
                </a:solidFill>
                <a:latin typeface="Times New Roman" panose="02020603050405020304" pitchFamily="18" charset="0"/>
              </a:defRPr>
            </a:lvl4pPr>
            <a:lvl5pPr algn="ctr">
              <a:defRPr sz="4400">
                <a:solidFill>
                  <a:srgbClr val="FFFF00"/>
                </a:solidFill>
                <a:latin typeface="Times New Roman" panose="02020603050405020304" pitchFamily="18" charset="0"/>
              </a:defRPr>
            </a:lvl5pPr>
            <a:lvl6pPr marL="457200" algn="ctr" fontAlgn="base">
              <a:spcBef>
                <a:spcPct val="0"/>
              </a:spcBef>
              <a:spcAft>
                <a:spcPct val="0"/>
              </a:spcAft>
              <a:defRPr sz="4400">
                <a:solidFill>
                  <a:srgbClr val="FFFF00"/>
                </a:solidFill>
                <a:latin typeface="Times New Roman" panose="02020603050405020304" pitchFamily="18" charset="0"/>
              </a:defRPr>
            </a:lvl6pPr>
            <a:lvl7pPr marL="914400" algn="ctr" fontAlgn="base">
              <a:spcBef>
                <a:spcPct val="0"/>
              </a:spcBef>
              <a:spcAft>
                <a:spcPct val="0"/>
              </a:spcAft>
              <a:defRPr sz="4400">
                <a:solidFill>
                  <a:srgbClr val="FFFF00"/>
                </a:solidFill>
                <a:latin typeface="Times New Roman" panose="02020603050405020304" pitchFamily="18" charset="0"/>
              </a:defRPr>
            </a:lvl7pPr>
            <a:lvl8pPr marL="1371600" algn="ctr" fontAlgn="base">
              <a:spcBef>
                <a:spcPct val="0"/>
              </a:spcBef>
              <a:spcAft>
                <a:spcPct val="0"/>
              </a:spcAft>
              <a:defRPr sz="4400">
                <a:solidFill>
                  <a:srgbClr val="FFFF00"/>
                </a:solidFill>
                <a:latin typeface="Times New Roman" panose="02020603050405020304" pitchFamily="18" charset="0"/>
              </a:defRPr>
            </a:lvl8pPr>
            <a:lvl9pPr marL="1828800" algn="ctr" fontAlgn="base">
              <a:spcBef>
                <a:spcPct val="0"/>
              </a:spcBef>
              <a:spcAft>
                <a:spcPct val="0"/>
              </a:spcAft>
              <a:defRPr sz="4400">
                <a:solidFill>
                  <a:srgbClr val="FFFF00"/>
                </a:solidFill>
                <a:latin typeface="Times New Roman" panose="02020603050405020304" pitchFamily="18" charset="0"/>
              </a:defRPr>
            </a:lvl9pPr>
          </a:lstStyle>
          <a:p>
            <a:endParaRPr lang="es-MX" altLang="es-MX">
              <a:solidFill>
                <a:schemeClr val="tx1"/>
              </a:solidFill>
              <a:effectLst>
                <a:outerShdw blurRad="38100" dist="38100" dir="2700000" algn="tl">
                  <a:srgbClr val="FFFFFF"/>
                </a:outerShdw>
              </a:effectLst>
              <a:latin typeface="Century Gothic" panose="020B0502020202020204" pitchFamily="34" charset="0"/>
            </a:endParaRPr>
          </a:p>
        </p:txBody>
      </p:sp>
      <p:sp>
        <p:nvSpPr>
          <p:cNvPr id="449539" name="Rectangle 3">
            <a:extLst>
              <a:ext uri="{FF2B5EF4-FFF2-40B4-BE49-F238E27FC236}">
                <a16:creationId xmlns:a16="http://schemas.microsoft.com/office/drawing/2014/main" id="{DD2ABE92-E055-4EAB-92C4-A4366496AAAE}"/>
              </a:ext>
            </a:extLst>
          </p:cNvPr>
          <p:cNvSpPr>
            <a:spLocks noGrp="1" noChangeArrowheads="1"/>
          </p:cNvSpPr>
          <p:nvPr>
            <p:ph type="title"/>
          </p:nvPr>
        </p:nvSpPr>
        <p:spPr/>
        <p:txBody>
          <a:bodyPr/>
          <a:lstStyle/>
          <a:p>
            <a:pPr algn="ctr"/>
            <a:r>
              <a:rPr lang="es-AR" altLang="es-MX"/>
              <a:t>Entregables </a:t>
            </a:r>
            <a:r>
              <a:rPr lang="es-AR" altLang="es-MX" sz="2800"/>
              <a:t>anteriormente 17799 </a:t>
            </a:r>
            <a:br>
              <a:rPr lang="es-AR" altLang="es-MX" sz="2800"/>
            </a:br>
            <a:r>
              <a:rPr lang="es-AR" altLang="es-MX" sz="2800"/>
              <a:t>hoy </a:t>
            </a:r>
            <a:r>
              <a:rPr lang="es-AR" altLang="es-MX"/>
              <a:t>ISO27002</a:t>
            </a:r>
            <a:endParaRPr lang="es-ES" altLang="es-MX" sz="2800"/>
          </a:p>
        </p:txBody>
      </p:sp>
      <p:pic>
        <p:nvPicPr>
          <p:cNvPr id="449540" name="Picture 4">
            <a:extLst>
              <a:ext uri="{FF2B5EF4-FFF2-40B4-BE49-F238E27FC236}">
                <a16:creationId xmlns:a16="http://schemas.microsoft.com/office/drawing/2014/main" id="{D0517F99-58F7-4F22-93BD-A5FEF1FC776E}"/>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4620395" y="2238659"/>
            <a:ext cx="7121949" cy="3382519"/>
          </a:xfrm>
          <a:noFill/>
          <a:ln/>
          <a:effectLst>
            <a:outerShdw dist="35921" dir="27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Marcador de número de diapositiva 2">
            <a:extLst>
              <a:ext uri="{FF2B5EF4-FFF2-40B4-BE49-F238E27FC236}">
                <a16:creationId xmlns:a16="http://schemas.microsoft.com/office/drawing/2014/main" id="{860B9979-BF8B-4697-A696-3360186342E1}"/>
              </a:ext>
            </a:extLst>
          </p:cNvPr>
          <p:cNvSpPr>
            <a:spLocks noGrp="1"/>
          </p:cNvSpPr>
          <p:nvPr>
            <p:ph type="sldNum" sz="quarter" idx="12"/>
          </p:nvPr>
        </p:nvSpPr>
        <p:spPr/>
        <p:txBody>
          <a:bodyPr/>
          <a:lstStyle/>
          <a:p>
            <a:fld id="{30A8E979-4E28-491D-8002-836F9D9327AB}" type="slidenum">
              <a:rPr lang="es-MX" smtClean="0"/>
              <a:t>16</a:t>
            </a:fld>
            <a:endParaRPr lang="es-MX"/>
          </a:p>
        </p:txBody>
      </p:sp>
      <p:sp>
        <p:nvSpPr>
          <p:cNvPr id="5" name="CuadroTexto 4">
            <a:extLst>
              <a:ext uri="{FF2B5EF4-FFF2-40B4-BE49-F238E27FC236}">
                <a16:creationId xmlns:a16="http://schemas.microsoft.com/office/drawing/2014/main" id="{D3157715-0673-71A9-2DC4-0D557BFBB837}"/>
              </a:ext>
            </a:extLst>
          </p:cNvPr>
          <p:cNvSpPr txBox="1"/>
          <p:nvPr/>
        </p:nvSpPr>
        <p:spPr>
          <a:xfrm>
            <a:off x="449656" y="2238659"/>
            <a:ext cx="3768504" cy="3785652"/>
          </a:xfrm>
          <a:prstGeom prst="rect">
            <a:avLst/>
          </a:prstGeom>
          <a:noFill/>
        </p:spPr>
        <p:txBody>
          <a:bodyPr wrap="square">
            <a:spAutoFit/>
          </a:bodyPr>
          <a:lstStyle/>
          <a:p>
            <a:pPr algn="ctr"/>
            <a:r>
              <a:rPr lang="es-MX" sz="2400" b="0" i="0">
                <a:solidFill>
                  <a:schemeClr val="accent1"/>
                </a:solidFill>
                <a:effectLst/>
                <a:latin typeface="Google Sans"/>
              </a:rPr>
              <a:t>ISO/IEC 27002 es una norma internacional que brinda orientación a las organizaciones que desean establecer, implantar y mejorar un sistema de gestión de seguridad de la información (SGSI) centrado en la ciberseguridad.</a:t>
            </a:r>
            <a:endParaRPr lang="es-AR" sz="2400">
              <a:solidFill>
                <a:schemeClr val="accent1"/>
              </a:solidFil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501" name="Rectangle 13">
            <a:extLst>
              <a:ext uri="{FF2B5EF4-FFF2-40B4-BE49-F238E27FC236}">
                <a16:creationId xmlns:a16="http://schemas.microsoft.com/office/drawing/2014/main" id="{D1351170-33F6-4338-94B9-A0B8E27C7A10}"/>
              </a:ext>
            </a:extLst>
          </p:cNvPr>
          <p:cNvSpPr>
            <a:spLocks noChangeArrowheads="1"/>
          </p:cNvSpPr>
          <p:nvPr/>
        </p:nvSpPr>
        <p:spPr bwMode="auto">
          <a:xfrm>
            <a:off x="5375275" y="1700214"/>
            <a:ext cx="4465638" cy="9366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7491" name="Rectangle 3">
            <a:extLst>
              <a:ext uri="{FF2B5EF4-FFF2-40B4-BE49-F238E27FC236}">
                <a16:creationId xmlns:a16="http://schemas.microsoft.com/office/drawing/2014/main" id="{97FC786E-0F5D-4C62-918E-D0EB40527ECE}"/>
              </a:ext>
            </a:extLst>
          </p:cNvPr>
          <p:cNvSpPr>
            <a:spLocks noGrp="1" noChangeArrowheads="1"/>
          </p:cNvSpPr>
          <p:nvPr>
            <p:ph type="title"/>
          </p:nvPr>
        </p:nvSpPr>
        <p:spPr>
          <a:xfrm>
            <a:off x="2209800" y="549275"/>
            <a:ext cx="7772400" cy="1143000"/>
          </a:xfrm>
        </p:spPr>
        <p:txBody>
          <a:bodyPr>
            <a:normAutofit fontScale="90000"/>
          </a:bodyPr>
          <a:lstStyle/>
          <a:p>
            <a:r>
              <a:rPr lang="es-AR" altLang="es-MX" sz="4000"/>
              <a:t>Metodología de </a:t>
            </a:r>
            <a:br>
              <a:rPr lang="es-AR" altLang="es-MX" sz="4000"/>
            </a:br>
            <a:r>
              <a:rPr lang="es-AR" altLang="es-MX" sz="4000"/>
              <a:t>Administración de riesgo</a:t>
            </a:r>
          </a:p>
        </p:txBody>
      </p:sp>
      <p:sp>
        <p:nvSpPr>
          <p:cNvPr id="447492" name="Rectangle 4">
            <a:extLst>
              <a:ext uri="{FF2B5EF4-FFF2-40B4-BE49-F238E27FC236}">
                <a16:creationId xmlns:a16="http://schemas.microsoft.com/office/drawing/2014/main" id="{CA48861A-DBA1-4560-B72B-C5059718CCB3}"/>
              </a:ext>
            </a:extLst>
          </p:cNvPr>
          <p:cNvSpPr>
            <a:spLocks noChangeArrowheads="1"/>
          </p:cNvSpPr>
          <p:nvPr/>
        </p:nvSpPr>
        <p:spPr bwMode="auto">
          <a:xfrm>
            <a:off x="2286000" y="1676400"/>
            <a:ext cx="3124200" cy="1447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7493" name="Text Box 5">
            <a:extLst>
              <a:ext uri="{FF2B5EF4-FFF2-40B4-BE49-F238E27FC236}">
                <a16:creationId xmlns:a16="http://schemas.microsoft.com/office/drawing/2014/main" id="{86470B32-F4DA-48A7-92F8-E5FE2DDC89CE}"/>
              </a:ext>
            </a:extLst>
          </p:cNvPr>
          <p:cNvSpPr txBox="1">
            <a:spLocks noChangeArrowheads="1"/>
          </p:cNvSpPr>
          <p:nvPr/>
        </p:nvSpPr>
        <p:spPr bwMode="auto">
          <a:xfrm>
            <a:off x="2457451" y="2221340"/>
            <a:ext cx="2590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AR" altLang="es-MX" sz="1200">
                <a:latin typeface="Arial" panose="020B0604020202020204" pitchFamily="34" charset="0"/>
              </a:rPr>
              <a:t>Permite optimizar las inversiones de seguridad y proteger en forma   proactiva  sus más importantes activos de información.</a:t>
            </a:r>
          </a:p>
        </p:txBody>
      </p:sp>
      <p:sp>
        <p:nvSpPr>
          <p:cNvPr id="447494" name="Text Box 6">
            <a:extLst>
              <a:ext uri="{FF2B5EF4-FFF2-40B4-BE49-F238E27FC236}">
                <a16:creationId xmlns:a16="http://schemas.microsoft.com/office/drawing/2014/main" id="{3B62B7A6-36BA-48C1-84AD-B4247BC5A2D0}"/>
              </a:ext>
            </a:extLst>
          </p:cNvPr>
          <p:cNvSpPr txBox="1">
            <a:spLocks noChangeArrowheads="1"/>
          </p:cNvSpPr>
          <p:nvPr/>
        </p:nvSpPr>
        <p:spPr bwMode="auto">
          <a:xfrm>
            <a:off x="6726239" y="2179636"/>
            <a:ext cx="2286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AR" altLang="es-MX" sz="1200">
                <a:latin typeface="Arial" panose="020B0604020202020204" pitchFamily="34" charset="0"/>
              </a:rPr>
              <a:t>Ayuda a mitigar el riesgo identificando y priorizando los  recursos de red, sus vulnerabilidades y amenazas.</a:t>
            </a:r>
          </a:p>
        </p:txBody>
      </p:sp>
      <p:sp>
        <p:nvSpPr>
          <p:cNvPr id="447495" name="Text Box 7">
            <a:extLst>
              <a:ext uri="{FF2B5EF4-FFF2-40B4-BE49-F238E27FC236}">
                <a16:creationId xmlns:a16="http://schemas.microsoft.com/office/drawing/2014/main" id="{7FC3DECD-3731-48E7-8FCF-41945FC04BC6}"/>
              </a:ext>
            </a:extLst>
          </p:cNvPr>
          <p:cNvSpPr txBox="1">
            <a:spLocks noChangeArrowheads="1"/>
          </p:cNvSpPr>
          <p:nvPr/>
        </p:nvSpPr>
        <p:spPr bwMode="auto">
          <a:xfrm>
            <a:off x="2286000" y="1752601"/>
            <a:ext cx="4038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s-AR" altLang="es-MX" b="1">
                <a:latin typeface="Arial" panose="020B0604020202020204" pitchFamily="34" charset="0"/>
              </a:rPr>
              <a:t>Identificar los activos bajo riesgos:</a:t>
            </a:r>
          </a:p>
        </p:txBody>
      </p:sp>
      <p:grpSp>
        <p:nvGrpSpPr>
          <p:cNvPr id="4" name="Grupo 3">
            <a:extLst>
              <a:ext uri="{FF2B5EF4-FFF2-40B4-BE49-F238E27FC236}">
                <a16:creationId xmlns:a16="http://schemas.microsoft.com/office/drawing/2014/main" id="{8107B133-4BBD-723F-4A5A-DF58E3E996D5}"/>
              </a:ext>
            </a:extLst>
          </p:cNvPr>
          <p:cNvGrpSpPr/>
          <p:nvPr/>
        </p:nvGrpSpPr>
        <p:grpSpPr>
          <a:xfrm>
            <a:off x="2209800" y="3124200"/>
            <a:ext cx="7124323" cy="3358081"/>
            <a:chOff x="2209800" y="2550361"/>
            <a:chExt cx="7620000" cy="4044116"/>
          </a:xfrm>
        </p:grpSpPr>
        <p:pic>
          <p:nvPicPr>
            <p:cNvPr id="447490" name="Picture 2">
              <a:extLst>
                <a:ext uri="{FF2B5EF4-FFF2-40B4-BE49-F238E27FC236}">
                  <a16:creationId xmlns:a16="http://schemas.microsoft.com/office/drawing/2014/main" id="{F880207C-33EC-48F5-897B-451B9F414C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550361"/>
              <a:ext cx="7620000" cy="4044116"/>
            </a:xfrm>
            <a:prstGeom prst="rect">
              <a:avLst/>
            </a:prstGeom>
            <a:noFill/>
            <a:extLst>
              <a:ext uri="{909E8E84-426E-40DD-AFC4-6F175D3DCCD1}">
                <a14:hiddenFill xmlns:a14="http://schemas.microsoft.com/office/drawing/2010/main">
                  <a:solidFill>
                    <a:srgbClr val="FFFFFF"/>
                  </a:solidFill>
                </a14:hiddenFill>
              </a:ext>
            </a:extLst>
          </p:spPr>
        </p:pic>
        <p:grpSp>
          <p:nvGrpSpPr>
            <p:cNvPr id="447496" name="Group 8">
              <a:extLst>
                <a:ext uri="{FF2B5EF4-FFF2-40B4-BE49-F238E27FC236}">
                  <a16:creationId xmlns:a16="http://schemas.microsoft.com/office/drawing/2014/main" id="{AA27DACD-3E53-4255-9888-29BA7B35C1F2}"/>
                </a:ext>
              </a:extLst>
            </p:cNvPr>
            <p:cNvGrpSpPr>
              <a:grpSpLocks/>
            </p:cNvGrpSpPr>
            <p:nvPr/>
          </p:nvGrpSpPr>
          <p:grpSpPr bwMode="auto">
            <a:xfrm>
              <a:off x="3581401" y="3276601"/>
              <a:ext cx="3886200" cy="2636838"/>
              <a:chOff x="1296" y="2064"/>
              <a:chExt cx="2448" cy="1661"/>
            </a:xfrm>
          </p:grpSpPr>
          <p:sp>
            <p:nvSpPr>
              <p:cNvPr id="447498" name="Text Box 10">
                <a:extLst>
                  <a:ext uri="{FF2B5EF4-FFF2-40B4-BE49-F238E27FC236}">
                    <a16:creationId xmlns:a16="http://schemas.microsoft.com/office/drawing/2014/main" id="{60CA325C-90A9-46FD-A082-C9EC2A575104}"/>
                  </a:ext>
                </a:extLst>
              </p:cNvPr>
              <p:cNvSpPr txBox="1">
                <a:spLocks noChangeArrowheads="1"/>
              </p:cNvSpPr>
              <p:nvPr/>
            </p:nvSpPr>
            <p:spPr bwMode="auto">
              <a:xfrm>
                <a:off x="1296" y="2304"/>
                <a:ext cx="924" cy="173"/>
              </a:xfrm>
              <a:prstGeom prst="rect">
                <a:avLst/>
              </a:prstGeom>
              <a:gradFill rotWithShape="1">
                <a:gsLst>
                  <a:gs pos="0">
                    <a:srgbClr val="EAEAEA">
                      <a:alpha val="71001"/>
                    </a:srgbClr>
                  </a:gs>
                  <a:gs pos="100000">
                    <a:srgbClr val="EAEAEA">
                      <a:gamma/>
                      <a:shade val="85882"/>
                      <a:invGamma/>
                      <a:alpha val="71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b="1">
                    <a:latin typeface="Arial Narrow" panose="020B0606020202030204" pitchFamily="34" charset="0"/>
                  </a:rPr>
                  <a:t>VULNERABILIDADES</a:t>
                </a:r>
                <a:endParaRPr lang="es-ES" altLang="es-MX" sz="1200" b="1">
                  <a:latin typeface="Arial Narrow" panose="020B0606020202030204" pitchFamily="34" charset="0"/>
                </a:endParaRPr>
              </a:p>
            </p:txBody>
          </p:sp>
          <p:sp>
            <p:nvSpPr>
              <p:cNvPr id="447499" name="Text Box 11">
                <a:extLst>
                  <a:ext uri="{FF2B5EF4-FFF2-40B4-BE49-F238E27FC236}">
                    <a16:creationId xmlns:a16="http://schemas.microsoft.com/office/drawing/2014/main" id="{9FE74C61-D556-4F3D-9603-84BDB33F44B4}"/>
                  </a:ext>
                </a:extLst>
              </p:cNvPr>
              <p:cNvSpPr txBox="1">
                <a:spLocks noChangeArrowheads="1"/>
              </p:cNvSpPr>
              <p:nvPr/>
            </p:nvSpPr>
            <p:spPr bwMode="auto">
              <a:xfrm>
                <a:off x="3277" y="2064"/>
                <a:ext cx="467" cy="173"/>
              </a:xfrm>
              <a:prstGeom prst="rect">
                <a:avLst/>
              </a:prstGeom>
              <a:gradFill rotWithShape="1">
                <a:gsLst>
                  <a:gs pos="0">
                    <a:srgbClr val="EAEAEA">
                      <a:alpha val="71001"/>
                    </a:srgbClr>
                  </a:gs>
                  <a:gs pos="100000">
                    <a:srgbClr val="EAEAEA">
                      <a:gamma/>
                      <a:shade val="85882"/>
                      <a:invGamma/>
                      <a:alpha val="71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b="1">
                    <a:latin typeface="Arial Narrow" panose="020B0606020202030204" pitchFamily="34" charset="0"/>
                  </a:rPr>
                  <a:t>ACTIVOS</a:t>
                </a:r>
                <a:endParaRPr lang="es-ES" altLang="es-MX" sz="1200" b="1">
                  <a:latin typeface="Arial Narrow" panose="020B0606020202030204" pitchFamily="34" charset="0"/>
                </a:endParaRPr>
              </a:p>
            </p:txBody>
          </p:sp>
          <p:sp>
            <p:nvSpPr>
              <p:cNvPr id="447500" name="Text Box 12">
                <a:extLst>
                  <a:ext uri="{FF2B5EF4-FFF2-40B4-BE49-F238E27FC236}">
                    <a16:creationId xmlns:a16="http://schemas.microsoft.com/office/drawing/2014/main" id="{A7E06E00-6F68-47B1-BADA-3D49948DD0EA}"/>
                  </a:ext>
                </a:extLst>
              </p:cNvPr>
              <p:cNvSpPr txBox="1">
                <a:spLocks noChangeArrowheads="1"/>
              </p:cNvSpPr>
              <p:nvPr/>
            </p:nvSpPr>
            <p:spPr bwMode="auto">
              <a:xfrm>
                <a:off x="2400" y="3552"/>
                <a:ext cx="564" cy="173"/>
              </a:xfrm>
              <a:prstGeom prst="rect">
                <a:avLst/>
              </a:prstGeom>
              <a:gradFill rotWithShape="1">
                <a:gsLst>
                  <a:gs pos="0">
                    <a:srgbClr val="EAEAEA">
                      <a:alpha val="71001"/>
                    </a:srgbClr>
                  </a:gs>
                  <a:gs pos="100000">
                    <a:srgbClr val="EAEAEA">
                      <a:gamma/>
                      <a:shade val="85882"/>
                      <a:invGamma/>
                      <a:alpha val="71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b="1">
                    <a:latin typeface="Arial Narrow" panose="020B0606020202030204" pitchFamily="34" charset="0"/>
                  </a:rPr>
                  <a:t>AMENAZAS</a:t>
                </a:r>
                <a:endParaRPr lang="es-ES" altLang="es-MX" sz="1200" b="1">
                  <a:latin typeface="Arial Narrow" panose="020B0606020202030204" pitchFamily="34" charset="0"/>
                </a:endParaRPr>
              </a:p>
            </p:txBody>
          </p:sp>
        </p:grpSp>
      </p:grpSp>
      <p:sp>
        <p:nvSpPr>
          <p:cNvPr id="3" name="Marcador de número de diapositiva 2">
            <a:extLst>
              <a:ext uri="{FF2B5EF4-FFF2-40B4-BE49-F238E27FC236}">
                <a16:creationId xmlns:a16="http://schemas.microsoft.com/office/drawing/2014/main" id="{85240A2B-6716-4C30-B378-6EEAA0E2EC5A}"/>
              </a:ext>
            </a:extLst>
          </p:cNvPr>
          <p:cNvSpPr>
            <a:spLocks noGrp="1"/>
          </p:cNvSpPr>
          <p:nvPr>
            <p:ph type="sldNum" sz="quarter" idx="12"/>
          </p:nvPr>
        </p:nvSpPr>
        <p:spPr/>
        <p:txBody>
          <a:bodyPr/>
          <a:lstStyle/>
          <a:p>
            <a:fld id="{30A8E979-4E28-491D-8002-836F9D9327AB}" type="slidenum">
              <a:rPr lang="es-MX" smtClean="0"/>
              <a:t>17</a:t>
            </a:fld>
            <a:endParaRPr lang="es-MX"/>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a:extLst>
              <a:ext uri="{FF2B5EF4-FFF2-40B4-BE49-F238E27FC236}">
                <a16:creationId xmlns:a16="http://schemas.microsoft.com/office/drawing/2014/main" id="{9C5AEA6A-653C-490F-8022-66ADF1426C40}"/>
              </a:ext>
            </a:extLst>
          </p:cNvPr>
          <p:cNvSpPr>
            <a:spLocks noGrp="1" noChangeArrowheads="1"/>
          </p:cNvSpPr>
          <p:nvPr>
            <p:ph type="title"/>
          </p:nvPr>
        </p:nvSpPr>
        <p:spPr>
          <a:xfrm>
            <a:off x="2209800" y="476250"/>
            <a:ext cx="7772400" cy="1143000"/>
          </a:xfrm>
        </p:spPr>
        <p:txBody>
          <a:bodyPr/>
          <a:lstStyle/>
          <a:p>
            <a:r>
              <a:rPr lang="es-AR" altLang="es-MX" sz="4300"/>
              <a:t>Ciclo de vida</a:t>
            </a:r>
            <a:endParaRPr lang="es-ES" altLang="es-MX" sz="4300"/>
          </a:p>
        </p:txBody>
      </p:sp>
      <p:sp>
        <p:nvSpPr>
          <p:cNvPr id="448517" name="Text Box 5">
            <a:extLst>
              <a:ext uri="{FF2B5EF4-FFF2-40B4-BE49-F238E27FC236}">
                <a16:creationId xmlns:a16="http://schemas.microsoft.com/office/drawing/2014/main" id="{007CCC75-950F-4739-B364-3AFDD7FAA001}"/>
              </a:ext>
            </a:extLst>
          </p:cNvPr>
          <p:cNvSpPr txBox="1">
            <a:spLocks noChangeArrowheads="1"/>
          </p:cNvSpPr>
          <p:nvPr/>
        </p:nvSpPr>
        <p:spPr bwMode="auto">
          <a:xfrm>
            <a:off x="660903" y="2974218"/>
            <a:ext cx="377529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s-AR" altLang="es-MX">
                <a:solidFill>
                  <a:schemeClr val="accent1"/>
                </a:solidFill>
                <a:latin typeface="Arial" panose="020B0604020202020204" pitchFamily="34" charset="0"/>
              </a:rPr>
              <a:t>La evaluación de riesgos y el sistema de administración necesitan dirigirse mediante un ciclo de vida completo de las vulnerabilidades que vaya desde su identificación hasta la remediación.</a:t>
            </a:r>
            <a:endParaRPr lang="en-US" altLang="es-MX">
              <a:solidFill>
                <a:schemeClr val="accent1"/>
              </a:solidFill>
              <a:latin typeface="Arial" panose="020B0604020202020204" pitchFamily="34" charset="0"/>
            </a:endParaRPr>
          </a:p>
        </p:txBody>
      </p:sp>
      <p:grpSp>
        <p:nvGrpSpPr>
          <p:cNvPr id="5" name="Grupo 4">
            <a:extLst>
              <a:ext uri="{FF2B5EF4-FFF2-40B4-BE49-F238E27FC236}">
                <a16:creationId xmlns:a16="http://schemas.microsoft.com/office/drawing/2014/main" id="{9F3B63E3-E2D9-FB1D-AA4A-90909916A753}"/>
              </a:ext>
            </a:extLst>
          </p:cNvPr>
          <p:cNvGrpSpPr/>
          <p:nvPr/>
        </p:nvGrpSpPr>
        <p:grpSpPr>
          <a:xfrm>
            <a:off x="5006566" y="1846908"/>
            <a:ext cx="5878006" cy="4562945"/>
            <a:chOff x="3905251" y="1371601"/>
            <a:chExt cx="6654799" cy="5438775"/>
          </a:xfrm>
        </p:grpSpPr>
        <p:pic>
          <p:nvPicPr>
            <p:cNvPr id="448519" name="Picture 7">
              <a:extLst>
                <a:ext uri="{FF2B5EF4-FFF2-40B4-BE49-F238E27FC236}">
                  <a16:creationId xmlns:a16="http://schemas.microsoft.com/office/drawing/2014/main" id="{0FB7577D-040A-4973-9602-C3D20AF2E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1" y="1371601"/>
              <a:ext cx="4678363" cy="5438775"/>
            </a:xfrm>
            <a:prstGeom prst="rect">
              <a:avLst/>
            </a:prstGeom>
            <a:noFill/>
            <a:extLst>
              <a:ext uri="{909E8E84-426E-40DD-AFC4-6F175D3DCCD1}">
                <a14:hiddenFill xmlns:a14="http://schemas.microsoft.com/office/drawing/2010/main">
                  <a:solidFill>
                    <a:srgbClr val="FFFFFF"/>
                  </a:solidFill>
                </a14:hiddenFill>
              </a:ext>
            </a:extLst>
          </p:spPr>
        </p:pic>
        <p:sp>
          <p:nvSpPr>
            <p:cNvPr id="448521" name="Text Box 9">
              <a:extLst>
                <a:ext uri="{FF2B5EF4-FFF2-40B4-BE49-F238E27FC236}">
                  <a16:creationId xmlns:a16="http://schemas.microsoft.com/office/drawing/2014/main" id="{928FCD00-800D-4F1F-8559-2AA63CF995B0}"/>
                </a:ext>
              </a:extLst>
            </p:cNvPr>
            <p:cNvSpPr txBox="1">
              <a:spLocks noChangeArrowheads="1"/>
            </p:cNvSpPr>
            <p:nvPr/>
          </p:nvSpPr>
          <p:spPr bwMode="auto">
            <a:xfrm>
              <a:off x="4849813" y="1600200"/>
              <a:ext cx="23241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latin typeface="Arial" panose="020B0604020202020204" pitchFamily="34" charset="0"/>
                </a:rPr>
                <a:t> </a:t>
              </a:r>
              <a:r>
                <a:rPr lang="es-AR" altLang="es-MX" sz="1000" b="1">
                  <a:solidFill>
                    <a:schemeClr val="folHlink"/>
                  </a:solidFill>
                  <a:latin typeface="Arial Narrow" panose="020B0606020202030204" pitchFamily="34" charset="0"/>
                </a:rPr>
                <a:t>POLITICA</a:t>
              </a:r>
            </a:p>
            <a:p>
              <a:pPr>
                <a:lnSpc>
                  <a:spcPct val="80000"/>
                </a:lnSpc>
              </a:pPr>
              <a:r>
                <a:rPr lang="es-AR" altLang="es-MX" sz="900">
                  <a:latin typeface="Arial" panose="020B0604020202020204" pitchFamily="34" charset="0"/>
                </a:rPr>
                <a:t> </a:t>
              </a:r>
              <a:r>
                <a:rPr lang="es-AR" altLang="es-MX" sz="900">
                  <a:solidFill>
                    <a:srgbClr val="5F5F5F"/>
                  </a:solidFill>
                  <a:latin typeface="Arial" panose="020B0604020202020204" pitchFamily="34" charset="0"/>
                </a:rPr>
                <a:t>Establecer proceso, normas y estándares</a:t>
              </a:r>
              <a:endParaRPr lang="es-ES" altLang="es-MX" sz="900">
                <a:solidFill>
                  <a:srgbClr val="5F5F5F"/>
                </a:solidFill>
                <a:latin typeface="Arial" panose="020B0604020202020204" pitchFamily="34" charset="0"/>
              </a:endParaRPr>
            </a:p>
          </p:txBody>
        </p:sp>
        <p:sp>
          <p:nvSpPr>
            <p:cNvPr id="448522" name="Text Box 10">
              <a:extLst>
                <a:ext uri="{FF2B5EF4-FFF2-40B4-BE49-F238E27FC236}">
                  <a16:creationId xmlns:a16="http://schemas.microsoft.com/office/drawing/2014/main" id="{16008F2A-7E52-4F20-9F7A-44B3FF6D5626}"/>
                </a:ext>
              </a:extLst>
            </p:cNvPr>
            <p:cNvSpPr txBox="1">
              <a:spLocks noChangeArrowheads="1"/>
            </p:cNvSpPr>
            <p:nvPr/>
          </p:nvSpPr>
          <p:spPr bwMode="auto">
            <a:xfrm>
              <a:off x="5478463" y="1981200"/>
              <a:ext cx="18478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INVENTARIO</a:t>
              </a:r>
            </a:p>
            <a:p>
              <a:pPr>
                <a:lnSpc>
                  <a:spcPct val="80000"/>
                </a:lnSpc>
              </a:pPr>
              <a:r>
                <a:rPr lang="es-AR" altLang="es-MX" sz="900">
                  <a:solidFill>
                    <a:srgbClr val="5F5F5F"/>
                  </a:solidFill>
                  <a:latin typeface="Arial" panose="020B0604020202020204" pitchFamily="34" charset="0"/>
                </a:rPr>
                <a:t>Identificar todos los activos de TI</a:t>
              </a:r>
              <a:endParaRPr lang="es-ES" altLang="es-MX" sz="900">
                <a:solidFill>
                  <a:srgbClr val="5F5F5F"/>
                </a:solidFill>
                <a:latin typeface="Arial" panose="020B0604020202020204" pitchFamily="34" charset="0"/>
              </a:endParaRPr>
            </a:p>
          </p:txBody>
        </p:sp>
        <p:sp>
          <p:nvSpPr>
            <p:cNvPr id="448523" name="Text Box 11">
              <a:extLst>
                <a:ext uri="{FF2B5EF4-FFF2-40B4-BE49-F238E27FC236}">
                  <a16:creationId xmlns:a16="http://schemas.microsoft.com/office/drawing/2014/main" id="{F324D678-2ED9-464B-9AFF-B5DD65DE6556}"/>
                </a:ext>
              </a:extLst>
            </p:cNvPr>
            <p:cNvSpPr txBox="1">
              <a:spLocks noChangeArrowheads="1"/>
            </p:cNvSpPr>
            <p:nvPr/>
          </p:nvSpPr>
          <p:spPr bwMode="auto">
            <a:xfrm>
              <a:off x="6411913" y="2419350"/>
              <a:ext cx="24765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latin typeface="Arial" panose="020B0604020202020204" pitchFamily="34" charset="0"/>
                </a:rPr>
                <a:t> </a:t>
              </a:r>
              <a:r>
                <a:rPr lang="es-AR" altLang="es-MX" sz="1000" b="1">
                  <a:solidFill>
                    <a:schemeClr val="folHlink"/>
                  </a:solidFill>
                  <a:latin typeface="Arial Narrow" panose="020B0606020202030204" pitchFamily="34" charset="0"/>
                </a:rPr>
                <a:t>PRIORIZAR</a:t>
              </a:r>
            </a:p>
            <a:p>
              <a:pPr>
                <a:lnSpc>
                  <a:spcPct val="80000"/>
                </a:lnSpc>
              </a:pPr>
              <a:r>
                <a:rPr lang="es-AR" altLang="es-MX" sz="900">
                  <a:latin typeface="Arial" panose="020B0604020202020204" pitchFamily="34" charset="0"/>
                </a:rPr>
                <a:t> </a:t>
              </a:r>
              <a:r>
                <a:rPr lang="es-AR" altLang="es-MX" sz="900">
                  <a:solidFill>
                    <a:srgbClr val="5F5F5F"/>
                  </a:solidFill>
                  <a:latin typeface="Arial" panose="020B0604020202020204" pitchFamily="34" charset="0"/>
                </a:rPr>
                <a:t>Asignar a los activos el valor para el negocio</a:t>
              </a:r>
              <a:endParaRPr lang="es-ES" altLang="es-MX" sz="900">
                <a:solidFill>
                  <a:srgbClr val="5F5F5F"/>
                </a:solidFill>
                <a:latin typeface="Arial" panose="020B0604020202020204" pitchFamily="34" charset="0"/>
              </a:endParaRPr>
            </a:p>
          </p:txBody>
        </p:sp>
        <p:sp>
          <p:nvSpPr>
            <p:cNvPr id="448524" name="Text Box 12">
              <a:extLst>
                <a:ext uri="{FF2B5EF4-FFF2-40B4-BE49-F238E27FC236}">
                  <a16:creationId xmlns:a16="http://schemas.microsoft.com/office/drawing/2014/main" id="{A38F0744-44F7-4857-98BD-F3D06C9C53F7}"/>
                </a:ext>
              </a:extLst>
            </p:cNvPr>
            <p:cNvSpPr txBox="1">
              <a:spLocks noChangeArrowheads="1"/>
            </p:cNvSpPr>
            <p:nvPr/>
          </p:nvSpPr>
          <p:spPr bwMode="auto">
            <a:xfrm>
              <a:off x="7288213" y="2819400"/>
              <a:ext cx="25082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VULNERABILIDADES</a:t>
              </a:r>
            </a:p>
            <a:p>
              <a:pPr>
                <a:lnSpc>
                  <a:spcPct val="80000"/>
                </a:lnSpc>
              </a:pPr>
              <a:r>
                <a:rPr lang="es-AR" altLang="es-MX" sz="900">
                  <a:solidFill>
                    <a:srgbClr val="5F5F5F"/>
                  </a:solidFill>
                  <a:latin typeface="Arial" panose="020B0604020202020204" pitchFamily="34" charset="0"/>
                </a:rPr>
                <a:t>Determinar las vulnerabilidades de los activos</a:t>
              </a:r>
              <a:endParaRPr lang="es-ES" altLang="es-MX" sz="900">
                <a:solidFill>
                  <a:srgbClr val="5F5F5F"/>
                </a:solidFill>
                <a:latin typeface="Arial" panose="020B0604020202020204" pitchFamily="34" charset="0"/>
              </a:endParaRPr>
            </a:p>
          </p:txBody>
        </p:sp>
        <p:sp>
          <p:nvSpPr>
            <p:cNvPr id="448525" name="Text Box 13">
              <a:extLst>
                <a:ext uri="{FF2B5EF4-FFF2-40B4-BE49-F238E27FC236}">
                  <a16:creationId xmlns:a16="http://schemas.microsoft.com/office/drawing/2014/main" id="{DBAB7408-6638-463F-BF4A-AADFF94C0A37}"/>
                </a:ext>
              </a:extLst>
            </p:cNvPr>
            <p:cNvSpPr txBox="1">
              <a:spLocks noChangeArrowheads="1"/>
            </p:cNvSpPr>
            <p:nvPr/>
          </p:nvSpPr>
          <p:spPr bwMode="auto">
            <a:xfrm>
              <a:off x="8502650" y="3810000"/>
              <a:ext cx="20574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solidFill>
                    <a:srgbClr val="FFFF00"/>
                  </a:solidFill>
                  <a:effectLst>
                    <a:outerShdw blurRad="38100" dist="38100" dir="2700000" algn="tl">
                      <a:srgbClr val="000000"/>
                    </a:outerShdw>
                  </a:effectLst>
                  <a:latin typeface="Arial" panose="020B0604020202020204" pitchFamily="34" charset="0"/>
                </a:rPr>
                <a:t> </a:t>
              </a:r>
              <a:r>
                <a:rPr lang="es-AR" altLang="es-MX" sz="1000" b="1">
                  <a:solidFill>
                    <a:srgbClr val="FFFF00"/>
                  </a:solidFill>
                  <a:effectLst>
                    <a:outerShdw blurRad="38100" dist="38100" dir="2700000" algn="tl">
                      <a:srgbClr val="000000"/>
                    </a:outerShdw>
                  </a:effectLst>
                  <a:latin typeface="Arial Narrow" panose="020B0606020202030204" pitchFamily="34" charset="0"/>
                </a:rPr>
                <a:t>AMENAZAS</a:t>
              </a:r>
            </a:p>
            <a:p>
              <a:pPr>
                <a:lnSpc>
                  <a:spcPct val="80000"/>
                </a:lnSpc>
              </a:pPr>
              <a:r>
                <a:rPr lang="es-AR" altLang="es-MX" sz="900">
                  <a:solidFill>
                    <a:srgbClr val="FFFF00"/>
                  </a:solidFill>
                  <a:effectLst>
                    <a:outerShdw blurRad="38100" dist="38100" dir="2700000" algn="tl">
                      <a:srgbClr val="000000"/>
                    </a:outerShdw>
                  </a:effectLst>
                  <a:latin typeface="Arial" panose="020B0604020202020204" pitchFamily="34" charset="0"/>
                </a:rPr>
                <a:t> Visualizar las amenazas potenciales</a:t>
              </a:r>
              <a:endParaRPr lang="es-ES" altLang="es-MX" sz="900">
                <a:solidFill>
                  <a:srgbClr val="FFFF00"/>
                </a:solidFill>
                <a:effectLst>
                  <a:outerShdw blurRad="38100" dist="38100" dir="2700000" algn="tl">
                    <a:srgbClr val="000000"/>
                  </a:outerShdw>
                </a:effectLst>
                <a:latin typeface="Arial" panose="020B0604020202020204" pitchFamily="34" charset="0"/>
              </a:endParaRPr>
            </a:p>
          </p:txBody>
        </p:sp>
        <p:sp>
          <p:nvSpPr>
            <p:cNvPr id="448526" name="Text Box 14">
              <a:extLst>
                <a:ext uri="{FF2B5EF4-FFF2-40B4-BE49-F238E27FC236}">
                  <a16:creationId xmlns:a16="http://schemas.microsoft.com/office/drawing/2014/main" id="{656E04FA-C74E-4792-B92D-3EDC008AB8F3}"/>
                </a:ext>
              </a:extLst>
            </p:cNvPr>
            <p:cNvSpPr txBox="1">
              <a:spLocks noChangeArrowheads="1"/>
            </p:cNvSpPr>
            <p:nvPr/>
          </p:nvSpPr>
          <p:spPr bwMode="auto">
            <a:xfrm>
              <a:off x="7272339" y="5314950"/>
              <a:ext cx="2454275"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RIESGO</a:t>
              </a:r>
            </a:p>
            <a:p>
              <a:pPr>
                <a:lnSpc>
                  <a:spcPct val="80000"/>
                </a:lnSpc>
              </a:pPr>
              <a:r>
                <a:rPr lang="es-AR" altLang="es-MX" sz="900">
                  <a:solidFill>
                    <a:srgbClr val="5F5F5F"/>
                  </a:solidFill>
                  <a:latin typeface="Arial" panose="020B0604020202020204" pitchFamily="34" charset="0"/>
                </a:rPr>
                <a:t>Determinar el nivel de riesgo = Ac x V x Am  </a:t>
              </a:r>
              <a:endParaRPr lang="es-ES" altLang="es-MX" sz="900">
                <a:solidFill>
                  <a:srgbClr val="5F5F5F"/>
                </a:solidFill>
                <a:latin typeface="Arial" panose="020B0604020202020204" pitchFamily="34" charset="0"/>
              </a:endParaRPr>
            </a:p>
          </p:txBody>
        </p:sp>
        <p:sp>
          <p:nvSpPr>
            <p:cNvPr id="448527" name="Text Box 15">
              <a:extLst>
                <a:ext uri="{FF2B5EF4-FFF2-40B4-BE49-F238E27FC236}">
                  <a16:creationId xmlns:a16="http://schemas.microsoft.com/office/drawing/2014/main" id="{DB744EFD-6893-4DBC-BA70-0995CDF8701E}"/>
                </a:ext>
              </a:extLst>
            </p:cNvPr>
            <p:cNvSpPr txBox="1">
              <a:spLocks noChangeArrowheads="1"/>
            </p:cNvSpPr>
            <p:nvPr/>
          </p:nvSpPr>
          <p:spPr bwMode="auto">
            <a:xfrm>
              <a:off x="6367463" y="5695950"/>
              <a:ext cx="23685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a:latin typeface="Arial" panose="020B0604020202020204" pitchFamily="34" charset="0"/>
                </a:rPr>
                <a:t> </a:t>
              </a:r>
              <a:r>
                <a:rPr lang="es-AR" altLang="es-MX" sz="1000" b="1">
                  <a:solidFill>
                    <a:schemeClr val="folHlink"/>
                  </a:solidFill>
                  <a:latin typeface="Arial Narrow" panose="020B0606020202030204" pitchFamily="34" charset="0"/>
                </a:rPr>
                <a:t>REMEDIACION</a:t>
              </a:r>
            </a:p>
            <a:p>
              <a:pPr>
                <a:lnSpc>
                  <a:spcPct val="80000"/>
                </a:lnSpc>
              </a:pPr>
              <a:r>
                <a:rPr lang="es-AR" altLang="es-MX" sz="900">
                  <a:latin typeface="Arial" panose="020B0604020202020204" pitchFamily="34" charset="0"/>
                </a:rPr>
                <a:t> T</a:t>
              </a:r>
              <a:r>
                <a:rPr lang="es-AR" altLang="es-MX" sz="900">
                  <a:solidFill>
                    <a:srgbClr val="5F5F5F"/>
                  </a:solidFill>
                  <a:latin typeface="Arial" panose="020B0604020202020204" pitchFamily="34" charset="0"/>
                </a:rPr>
                <a:t>ratamiento proactivo de vulnerabilidades.</a:t>
              </a:r>
              <a:endParaRPr lang="es-ES" altLang="es-MX" sz="900">
                <a:solidFill>
                  <a:srgbClr val="5F5F5F"/>
                </a:solidFill>
                <a:latin typeface="Arial" panose="020B0604020202020204" pitchFamily="34" charset="0"/>
              </a:endParaRPr>
            </a:p>
          </p:txBody>
        </p:sp>
        <p:sp>
          <p:nvSpPr>
            <p:cNvPr id="448528" name="Text Box 16">
              <a:extLst>
                <a:ext uri="{FF2B5EF4-FFF2-40B4-BE49-F238E27FC236}">
                  <a16:creationId xmlns:a16="http://schemas.microsoft.com/office/drawing/2014/main" id="{C7292E17-B79C-40C9-88F0-DD29F8EBBF3D}"/>
                </a:ext>
              </a:extLst>
            </p:cNvPr>
            <p:cNvSpPr txBox="1">
              <a:spLocks noChangeArrowheads="1"/>
            </p:cNvSpPr>
            <p:nvPr/>
          </p:nvSpPr>
          <p:spPr bwMode="auto">
            <a:xfrm>
              <a:off x="4849813" y="6477000"/>
              <a:ext cx="22161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lang="es-AR" altLang="es-MX" sz="1000" b="1">
                  <a:solidFill>
                    <a:schemeClr val="folHlink"/>
                  </a:solidFill>
                  <a:latin typeface="Arial Narrow" panose="020B0606020202030204" pitchFamily="34" charset="0"/>
                </a:rPr>
                <a:t>CUMPLIMIENTO</a:t>
              </a:r>
            </a:p>
            <a:p>
              <a:pPr>
                <a:lnSpc>
                  <a:spcPct val="80000"/>
                </a:lnSpc>
              </a:pPr>
              <a:r>
                <a:rPr lang="es-AR" altLang="es-MX" sz="900">
                  <a:latin typeface="Arial" panose="020B0604020202020204" pitchFamily="34" charset="0"/>
                </a:rPr>
                <a:t> </a:t>
              </a:r>
              <a:r>
                <a:rPr lang="es-AR" altLang="es-MX" sz="900">
                  <a:solidFill>
                    <a:srgbClr val="5F5F5F"/>
                  </a:solidFill>
                  <a:latin typeface="Arial" panose="020B0604020202020204" pitchFamily="34" charset="0"/>
                </a:rPr>
                <a:t>Revisión del cumplimiento de la política</a:t>
              </a:r>
              <a:endParaRPr lang="es-ES" altLang="es-MX" sz="900">
                <a:solidFill>
                  <a:srgbClr val="5F5F5F"/>
                </a:solidFill>
                <a:latin typeface="Arial" panose="020B0604020202020204" pitchFamily="34" charset="0"/>
              </a:endParaRPr>
            </a:p>
          </p:txBody>
        </p:sp>
        <p:sp>
          <p:nvSpPr>
            <p:cNvPr id="448529" name="Text Box 17">
              <a:extLst>
                <a:ext uri="{FF2B5EF4-FFF2-40B4-BE49-F238E27FC236}">
                  <a16:creationId xmlns:a16="http://schemas.microsoft.com/office/drawing/2014/main" id="{54C090A1-053F-480F-8F3F-39CA4D75EAE4}"/>
                </a:ext>
              </a:extLst>
            </p:cNvPr>
            <p:cNvSpPr txBox="1">
              <a:spLocks noChangeArrowheads="1"/>
            </p:cNvSpPr>
            <p:nvPr/>
          </p:nvSpPr>
          <p:spPr bwMode="auto">
            <a:xfrm>
              <a:off x="5465763" y="6096000"/>
              <a:ext cx="31940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anose="02020603050405020304" pitchFamily="18" charset="0"/>
                </a:defRPr>
              </a:lvl1pPr>
              <a:lvl2pPr marL="800100" indent="-342900">
                <a:defRPr sz="2400">
                  <a:solidFill>
                    <a:schemeClr val="tx1"/>
                  </a:solidFill>
                  <a:latin typeface="Times New Roman" panose="02020603050405020304" pitchFamily="18" charset="0"/>
                </a:defRPr>
              </a:lvl2pPr>
              <a:lvl3pPr marL="1257300" indent="-342900">
                <a:defRPr sz="2400">
                  <a:solidFill>
                    <a:schemeClr val="tx1"/>
                  </a:solidFill>
                  <a:latin typeface="Times New Roman" panose="02020603050405020304" pitchFamily="18" charset="0"/>
                </a:defRPr>
              </a:lvl3pPr>
              <a:lvl4pPr marL="1714500" indent="-342900">
                <a:defRPr sz="2400">
                  <a:solidFill>
                    <a:schemeClr val="tx1"/>
                  </a:solidFill>
                  <a:latin typeface="Times New Roman" panose="02020603050405020304" pitchFamily="18" charset="0"/>
                </a:defRPr>
              </a:lvl4pPr>
              <a:lvl5pPr marL="2171700" indent="-342900">
                <a:defRPr sz="2400">
                  <a:solidFill>
                    <a:schemeClr val="tx1"/>
                  </a:solidFill>
                  <a:latin typeface="Times New Roman" panose="02020603050405020304" pitchFamily="18" charset="0"/>
                </a:defRPr>
              </a:lvl5pPr>
              <a:lvl6pPr marL="2628900" indent="-342900" fontAlgn="base">
                <a:spcBef>
                  <a:spcPct val="0"/>
                </a:spcBef>
                <a:spcAft>
                  <a:spcPct val="0"/>
                </a:spcAft>
                <a:defRPr sz="2400">
                  <a:solidFill>
                    <a:schemeClr val="tx1"/>
                  </a:solidFill>
                  <a:latin typeface="Times New Roman" panose="02020603050405020304" pitchFamily="18" charset="0"/>
                </a:defRPr>
              </a:lvl6pPr>
              <a:lvl7pPr marL="3086100" indent="-342900" fontAlgn="base">
                <a:spcBef>
                  <a:spcPct val="0"/>
                </a:spcBef>
                <a:spcAft>
                  <a:spcPct val="0"/>
                </a:spcAft>
                <a:defRPr sz="2400">
                  <a:solidFill>
                    <a:schemeClr val="tx1"/>
                  </a:solidFill>
                  <a:latin typeface="Times New Roman" panose="02020603050405020304" pitchFamily="18" charset="0"/>
                </a:defRPr>
              </a:lvl7pPr>
              <a:lvl8pPr marL="3543300" indent="-342900" fontAlgn="base">
                <a:spcBef>
                  <a:spcPct val="0"/>
                </a:spcBef>
                <a:spcAft>
                  <a:spcPct val="0"/>
                </a:spcAft>
                <a:defRPr sz="2400">
                  <a:solidFill>
                    <a:schemeClr val="tx1"/>
                  </a:solidFill>
                  <a:latin typeface="Times New Roman" panose="02020603050405020304" pitchFamily="18" charset="0"/>
                </a:defRPr>
              </a:lvl8pPr>
              <a:lvl9pPr marL="4000500" indent="-342900" fontAlgn="base">
                <a:spcBef>
                  <a:spcPct val="0"/>
                </a:spcBef>
                <a:spcAft>
                  <a:spcPct val="0"/>
                </a:spcAft>
                <a:defRPr sz="2400">
                  <a:solidFill>
                    <a:schemeClr val="tx1"/>
                  </a:solidFill>
                  <a:latin typeface="Times New Roman" panose="02020603050405020304" pitchFamily="18" charset="0"/>
                </a:defRPr>
              </a:lvl9pPr>
            </a:lstStyle>
            <a:p>
              <a:pPr>
                <a:lnSpc>
                  <a:spcPct val="80000"/>
                </a:lnSpc>
              </a:pPr>
              <a:r>
                <a:rPr lang="es-AR" altLang="es-MX" sz="1000" b="1">
                  <a:solidFill>
                    <a:schemeClr val="folHlink"/>
                  </a:solidFill>
                  <a:latin typeface="Arial Narrow" panose="020B0606020202030204" pitchFamily="34" charset="0"/>
                </a:rPr>
                <a:t>MEDICION</a:t>
              </a:r>
            </a:p>
            <a:p>
              <a:pPr>
                <a:lnSpc>
                  <a:spcPct val="80000"/>
                </a:lnSpc>
              </a:pPr>
              <a:r>
                <a:rPr lang="es-AR" altLang="es-MX" sz="900">
                  <a:solidFill>
                    <a:srgbClr val="5F5F5F"/>
                  </a:solidFill>
                  <a:latin typeface="Arial" panose="020B0604020202020204" pitchFamily="34" charset="0"/>
                </a:rPr>
                <a:t>Medir el impacto de las decisiones y acciones de seguridad</a:t>
              </a:r>
              <a:endParaRPr lang="es-ES" altLang="es-MX" sz="900">
                <a:solidFill>
                  <a:srgbClr val="5F5F5F"/>
                </a:solidFill>
                <a:latin typeface="Arial" panose="020B0604020202020204" pitchFamily="34" charset="0"/>
              </a:endParaRPr>
            </a:p>
          </p:txBody>
        </p:sp>
        <p:sp>
          <p:nvSpPr>
            <p:cNvPr id="448530" name="Text Box 18">
              <a:extLst>
                <a:ext uri="{FF2B5EF4-FFF2-40B4-BE49-F238E27FC236}">
                  <a16:creationId xmlns:a16="http://schemas.microsoft.com/office/drawing/2014/main" id="{4F674F19-0024-4C6E-8987-2A2FC695E323}"/>
                </a:ext>
              </a:extLst>
            </p:cNvPr>
            <p:cNvSpPr txBox="1">
              <a:spLocks noChangeArrowheads="1"/>
            </p:cNvSpPr>
            <p:nvPr/>
          </p:nvSpPr>
          <p:spPr bwMode="auto">
            <a:xfrm>
              <a:off x="5383214" y="3840164"/>
              <a:ext cx="1393395" cy="276999"/>
            </a:xfrm>
            <a:prstGeom prst="rect">
              <a:avLst/>
            </a:prstGeom>
            <a:gradFill rotWithShape="1">
              <a:gsLst>
                <a:gs pos="0">
                  <a:srgbClr val="CC0000">
                    <a:alpha val="60001"/>
                  </a:srgbClr>
                </a:gs>
                <a:gs pos="100000">
                  <a:srgbClr val="CC0000">
                    <a:gamma/>
                    <a:shade val="76078"/>
                    <a:invGamma/>
                    <a:alpha val="60001"/>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AR" altLang="es-MX" sz="1200">
                  <a:solidFill>
                    <a:schemeClr val="bg1"/>
                  </a:solidFill>
                  <a:latin typeface="OfficinaSans-Bold" pitchFamily="2" charset="0"/>
                </a:rPr>
                <a:t>ACTIVOS DIGITALES</a:t>
              </a:r>
              <a:endParaRPr lang="es-ES" altLang="es-MX" sz="1200">
                <a:solidFill>
                  <a:schemeClr val="bg1"/>
                </a:solidFill>
                <a:latin typeface="OfficinaSans-Bold" pitchFamily="2" charset="0"/>
              </a:endParaRPr>
            </a:p>
          </p:txBody>
        </p:sp>
      </p:grpSp>
      <p:sp>
        <p:nvSpPr>
          <p:cNvPr id="3" name="Marcador de número de diapositiva 2">
            <a:extLst>
              <a:ext uri="{FF2B5EF4-FFF2-40B4-BE49-F238E27FC236}">
                <a16:creationId xmlns:a16="http://schemas.microsoft.com/office/drawing/2014/main" id="{758ED926-F712-4D0E-9379-4741F7DF996E}"/>
              </a:ext>
            </a:extLst>
          </p:cNvPr>
          <p:cNvSpPr>
            <a:spLocks noGrp="1"/>
          </p:cNvSpPr>
          <p:nvPr>
            <p:ph type="sldNum" sz="quarter" idx="12"/>
          </p:nvPr>
        </p:nvSpPr>
        <p:spPr/>
        <p:txBody>
          <a:bodyPr/>
          <a:lstStyle/>
          <a:p>
            <a:fld id="{30A8E979-4E28-491D-8002-836F9D9327AB}" type="slidenum">
              <a:rPr lang="es-MX" smtClean="0"/>
              <a:t>18</a:t>
            </a:fld>
            <a:endParaRPr lang="es-MX"/>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a:extLst>
              <a:ext uri="{FF2B5EF4-FFF2-40B4-BE49-F238E27FC236}">
                <a16:creationId xmlns:a16="http://schemas.microsoft.com/office/drawing/2014/main" id="{1BCECB21-2EFC-40F8-A01E-0D604B1DAB95}"/>
              </a:ext>
            </a:extLst>
          </p:cNvPr>
          <p:cNvSpPr>
            <a:spLocks noGrp="1" noChangeArrowheads="1"/>
          </p:cNvSpPr>
          <p:nvPr>
            <p:ph type="title"/>
          </p:nvPr>
        </p:nvSpPr>
        <p:spPr/>
        <p:txBody>
          <a:bodyPr/>
          <a:lstStyle/>
          <a:p>
            <a:r>
              <a:rPr lang="en-US" altLang="es-MX" dirty="0" err="1"/>
              <a:t>Estándares</a:t>
            </a:r>
            <a:r>
              <a:rPr lang="en-US" altLang="es-MX" dirty="0"/>
              <a:t>/MARCOS REGULATORIOS</a:t>
            </a:r>
            <a:endParaRPr lang="es-ES" altLang="es-MX" dirty="0"/>
          </a:p>
        </p:txBody>
      </p:sp>
      <p:grpSp>
        <p:nvGrpSpPr>
          <p:cNvPr id="4" name="Grupo 3">
            <a:extLst>
              <a:ext uri="{FF2B5EF4-FFF2-40B4-BE49-F238E27FC236}">
                <a16:creationId xmlns:a16="http://schemas.microsoft.com/office/drawing/2014/main" id="{D922BD7C-7BCE-11E0-1E92-05DDD3085D96}"/>
              </a:ext>
            </a:extLst>
          </p:cNvPr>
          <p:cNvGrpSpPr/>
          <p:nvPr/>
        </p:nvGrpSpPr>
        <p:grpSpPr>
          <a:xfrm>
            <a:off x="1566250" y="1717990"/>
            <a:ext cx="8992050" cy="4791452"/>
            <a:chOff x="2424113" y="1657351"/>
            <a:chExt cx="7712304" cy="4795838"/>
          </a:xfrm>
        </p:grpSpPr>
        <p:sp>
          <p:nvSpPr>
            <p:cNvPr id="446467" name="AutoShape 3">
              <a:extLst>
                <a:ext uri="{FF2B5EF4-FFF2-40B4-BE49-F238E27FC236}">
                  <a16:creationId xmlns:a16="http://schemas.microsoft.com/office/drawing/2014/main" id="{E8C8BF67-A955-4A74-A948-39CA44C8245A}"/>
                </a:ext>
              </a:extLst>
            </p:cNvPr>
            <p:cNvSpPr>
              <a:spLocks noChangeArrowheads="1"/>
            </p:cNvSpPr>
            <p:nvPr/>
          </p:nvSpPr>
          <p:spPr bwMode="auto">
            <a:xfrm>
              <a:off x="2765426" y="5926138"/>
              <a:ext cx="6754813" cy="3032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68" name="AutoShape 4">
              <a:extLst>
                <a:ext uri="{FF2B5EF4-FFF2-40B4-BE49-F238E27FC236}">
                  <a16:creationId xmlns:a16="http://schemas.microsoft.com/office/drawing/2014/main" id="{AF5AA7B8-7E89-4BF4-AFEC-9643D9995C0A}"/>
                </a:ext>
              </a:extLst>
            </p:cNvPr>
            <p:cNvSpPr>
              <a:spLocks noChangeArrowheads="1"/>
            </p:cNvSpPr>
            <p:nvPr/>
          </p:nvSpPr>
          <p:spPr bwMode="auto">
            <a:xfrm>
              <a:off x="5148263" y="3449638"/>
              <a:ext cx="1973262"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69" name="AutoShape 5">
              <a:extLst>
                <a:ext uri="{FF2B5EF4-FFF2-40B4-BE49-F238E27FC236}">
                  <a16:creationId xmlns:a16="http://schemas.microsoft.com/office/drawing/2014/main" id="{77CD315E-F999-4731-985A-0F9C387911F5}"/>
                </a:ext>
              </a:extLst>
            </p:cNvPr>
            <p:cNvSpPr>
              <a:spLocks noChangeArrowheads="1"/>
            </p:cNvSpPr>
            <p:nvPr/>
          </p:nvSpPr>
          <p:spPr bwMode="auto">
            <a:xfrm>
              <a:off x="7539038" y="3449638"/>
              <a:ext cx="1973262"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70" name="AutoShape 6">
              <a:extLst>
                <a:ext uri="{FF2B5EF4-FFF2-40B4-BE49-F238E27FC236}">
                  <a16:creationId xmlns:a16="http://schemas.microsoft.com/office/drawing/2014/main" id="{5DA9AC4D-EC3B-4B3F-9429-927A2B358CB6}"/>
                </a:ext>
              </a:extLst>
            </p:cNvPr>
            <p:cNvSpPr>
              <a:spLocks noChangeArrowheads="1"/>
            </p:cNvSpPr>
            <p:nvPr/>
          </p:nvSpPr>
          <p:spPr bwMode="auto">
            <a:xfrm>
              <a:off x="5148263" y="2490788"/>
              <a:ext cx="1973262"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pPr algn="ctr"/>
              <a:endParaRPr lang="es-AR" altLang="es-MX"/>
            </a:p>
          </p:txBody>
        </p:sp>
        <p:sp>
          <p:nvSpPr>
            <p:cNvPr id="446471" name="AutoShape 7">
              <a:extLst>
                <a:ext uri="{FF2B5EF4-FFF2-40B4-BE49-F238E27FC236}">
                  <a16:creationId xmlns:a16="http://schemas.microsoft.com/office/drawing/2014/main" id="{4B69548C-2A7B-42DC-8BD9-7FA6EFE72A6E}"/>
                </a:ext>
              </a:extLst>
            </p:cNvPr>
            <p:cNvSpPr>
              <a:spLocks noChangeArrowheads="1"/>
            </p:cNvSpPr>
            <p:nvPr/>
          </p:nvSpPr>
          <p:spPr bwMode="auto">
            <a:xfrm>
              <a:off x="5148263" y="1657351"/>
              <a:ext cx="1973262" cy="455613"/>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pPr algn="ctr"/>
              <a:endParaRPr lang="es-AR" altLang="es-MX"/>
            </a:p>
          </p:txBody>
        </p:sp>
        <p:sp>
          <p:nvSpPr>
            <p:cNvPr id="446472" name="AutoShape 8">
              <a:extLst>
                <a:ext uri="{FF2B5EF4-FFF2-40B4-BE49-F238E27FC236}">
                  <a16:creationId xmlns:a16="http://schemas.microsoft.com/office/drawing/2014/main" id="{38BA64D9-DB3F-40D7-B2E6-9AC3EFD95AC2}"/>
                </a:ext>
              </a:extLst>
            </p:cNvPr>
            <p:cNvSpPr>
              <a:spLocks noChangeArrowheads="1"/>
            </p:cNvSpPr>
            <p:nvPr/>
          </p:nvSpPr>
          <p:spPr bwMode="auto">
            <a:xfrm>
              <a:off x="2765426" y="3449638"/>
              <a:ext cx="1973263" cy="455612"/>
            </a:xfrm>
            <a:prstGeom prst="roundRect">
              <a:avLst>
                <a:gd name="adj" fmla="val 16667"/>
              </a:avLst>
            </a:prstGeom>
            <a:solidFill>
              <a:srgbClr val="EAEAEA"/>
            </a:solidFill>
            <a:ln w="38100">
              <a:solidFill>
                <a:srgbClr val="6699FF"/>
              </a:solidFill>
              <a:round/>
              <a:headEnd/>
              <a:tailEnd/>
            </a:ln>
            <a:effectLst>
              <a:outerShdw dist="35921" dir="2700000" algn="ctr" rotWithShape="0">
                <a:schemeClr val="bg2"/>
              </a:outerShdw>
            </a:effectLst>
          </p:spPr>
          <p:txBody>
            <a:bodyPr wrap="none" anchor="ctr"/>
            <a:lstStyle/>
            <a:p>
              <a:endParaRPr lang="es-MX"/>
            </a:p>
          </p:txBody>
        </p:sp>
        <p:sp>
          <p:nvSpPr>
            <p:cNvPr id="446473" name="Text Box 9">
              <a:extLst>
                <a:ext uri="{FF2B5EF4-FFF2-40B4-BE49-F238E27FC236}">
                  <a16:creationId xmlns:a16="http://schemas.microsoft.com/office/drawing/2014/main" id="{15033194-6ECC-4465-B4DA-570CC1351BA9}"/>
                </a:ext>
              </a:extLst>
            </p:cNvPr>
            <p:cNvSpPr txBox="1">
              <a:spLocks noChangeArrowheads="1"/>
            </p:cNvSpPr>
            <p:nvPr/>
          </p:nvSpPr>
          <p:spPr bwMode="auto">
            <a:xfrm>
              <a:off x="5354638" y="1731963"/>
              <a:ext cx="16684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Fuentes Regulatorias</a:t>
              </a:r>
            </a:p>
          </p:txBody>
        </p:sp>
        <p:sp>
          <p:nvSpPr>
            <p:cNvPr id="446474" name="Text Box 10">
              <a:extLst>
                <a:ext uri="{FF2B5EF4-FFF2-40B4-BE49-F238E27FC236}">
                  <a16:creationId xmlns:a16="http://schemas.microsoft.com/office/drawing/2014/main" id="{326D5A29-93CB-45CF-A093-F6A1F92DF6F8}"/>
                </a:ext>
              </a:extLst>
            </p:cNvPr>
            <p:cNvSpPr txBox="1">
              <a:spLocks noChangeArrowheads="1"/>
            </p:cNvSpPr>
            <p:nvPr/>
          </p:nvSpPr>
          <p:spPr bwMode="auto">
            <a:xfrm>
              <a:off x="5761038" y="2565400"/>
              <a:ext cx="7858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Políticas</a:t>
              </a:r>
            </a:p>
          </p:txBody>
        </p:sp>
        <p:sp>
          <p:nvSpPr>
            <p:cNvPr id="446475" name="Text Box 11">
              <a:extLst>
                <a:ext uri="{FF2B5EF4-FFF2-40B4-BE49-F238E27FC236}">
                  <a16:creationId xmlns:a16="http://schemas.microsoft.com/office/drawing/2014/main" id="{D88395A4-6980-4EF8-B4B8-F606708832D0}"/>
                </a:ext>
              </a:extLst>
            </p:cNvPr>
            <p:cNvSpPr txBox="1">
              <a:spLocks noChangeArrowheads="1"/>
            </p:cNvSpPr>
            <p:nvPr/>
          </p:nvSpPr>
          <p:spPr bwMode="auto">
            <a:xfrm>
              <a:off x="5219701" y="3524250"/>
              <a:ext cx="16605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Controles de Gestión</a:t>
              </a:r>
            </a:p>
          </p:txBody>
        </p:sp>
        <p:sp>
          <p:nvSpPr>
            <p:cNvPr id="446476" name="Text Box 12">
              <a:extLst>
                <a:ext uri="{FF2B5EF4-FFF2-40B4-BE49-F238E27FC236}">
                  <a16:creationId xmlns:a16="http://schemas.microsoft.com/office/drawing/2014/main" id="{75E53A5D-9F8B-4766-9B5C-24ED701D9279}"/>
                </a:ext>
              </a:extLst>
            </p:cNvPr>
            <p:cNvSpPr txBox="1">
              <a:spLocks noChangeArrowheads="1"/>
            </p:cNvSpPr>
            <p:nvPr/>
          </p:nvSpPr>
          <p:spPr bwMode="auto">
            <a:xfrm>
              <a:off x="2681288" y="3524250"/>
              <a:ext cx="21145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Controles Organizacionales</a:t>
              </a:r>
            </a:p>
          </p:txBody>
        </p:sp>
        <p:sp>
          <p:nvSpPr>
            <p:cNvPr id="446477" name="Text Box 13">
              <a:extLst>
                <a:ext uri="{FF2B5EF4-FFF2-40B4-BE49-F238E27FC236}">
                  <a16:creationId xmlns:a16="http://schemas.microsoft.com/office/drawing/2014/main" id="{4CC56055-80E3-47E3-B226-F55C01FCBACF}"/>
                </a:ext>
              </a:extLst>
            </p:cNvPr>
            <p:cNvSpPr txBox="1">
              <a:spLocks noChangeArrowheads="1"/>
            </p:cNvSpPr>
            <p:nvPr/>
          </p:nvSpPr>
          <p:spPr bwMode="auto">
            <a:xfrm>
              <a:off x="7720014" y="3524250"/>
              <a:ext cx="15382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latin typeface="Arial Narrow" panose="020B0606020202030204" pitchFamily="34" charset="0"/>
                </a:rPr>
                <a:t>Controles Técnicos</a:t>
              </a:r>
            </a:p>
          </p:txBody>
        </p:sp>
        <p:cxnSp>
          <p:nvCxnSpPr>
            <p:cNvPr id="446478" name="AutoShape 14">
              <a:extLst>
                <a:ext uri="{FF2B5EF4-FFF2-40B4-BE49-F238E27FC236}">
                  <a16:creationId xmlns:a16="http://schemas.microsoft.com/office/drawing/2014/main" id="{19C95EEF-9C88-4B0C-9C27-D1A654F005BD}"/>
                </a:ext>
              </a:extLst>
            </p:cNvPr>
            <p:cNvCxnSpPr>
              <a:cxnSpLocks noChangeShapeType="1"/>
              <a:stCxn id="446471" idx="2"/>
              <a:endCxn id="446470" idx="0"/>
            </p:cNvCxnSpPr>
            <p:nvPr/>
          </p:nvCxnSpPr>
          <p:spPr bwMode="auto">
            <a:xfrm>
              <a:off x="6135688" y="2132014"/>
              <a:ext cx="0" cy="339725"/>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79" name="AutoShape 15">
              <a:extLst>
                <a:ext uri="{FF2B5EF4-FFF2-40B4-BE49-F238E27FC236}">
                  <a16:creationId xmlns:a16="http://schemas.microsoft.com/office/drawing/2014/main" id="{BBA19A06-84E6-4E3F-A7C0-E958EEB68D8A}"/>
                </a:ext>
              </a:extLst>
            </p:cNvPr>
            <p:cNvCxnSpPr>
              <a:cxnSpLocks noChangeShapeType="1"/>
              <a:stCxn id="446470" idx="2"/>
              <a:endCxn id="446472" idx="0"/>
            </p:cNvCxnSpPr>
            <p:nvPr/>
          </p:nvCxnSpPr>
          <p:spPr bwMode="auto">
            <a:xfrm rot="5400000">
              <a:off x="4711700" y="2006600"/>
              <a:ext cx="465138" cy="2382838"/>
            </a:xfrm>
            <a:prstGeom prst="bentConnector3">
              <a:avLst>
                <a:gd name="adj1" fmla="val 49829"/>
              </a:avLst>
            </a:prstGeom>
            <a:noFill/>
            <a:ln w="28575" cap="rnd">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80" name="AutoShape 16">
              <a:extLst>
                <a:ext uri="{FF2B5EF4-FFF2-40B4-BE49-F238E27FC236}">
                  <a16:creationId xmlns:a16="http://schemas.microsoft.com/office/drawing/2014/main" id="{FAA1008E-2FDB-4900-B0AD-C3504819A30F}"/>
                </a:ext>
              </a:extLst>
            </p:cNvPr>
            <p:cNvCxnSpPr>
              <a:cxnSpLocks noChangeShapeType="1"/>
              <a:stCxn id="446470" idx="2"/>
              <a:endCxn id="446469" idx="0"/>
            </p:cNvCxnSpPr>
            <p:nvPr/>
          </p:nvCxnSpPr>
          <p:spPr bwMode="auto">
            <a:xfrm rot="16200000" flipH="1">
              <a:off x="7098507" y="2002632"/>
              <a:ext cx="465138" cy="2390775"/>
            </a:xfrm>
            <a:prstGeom prst="bentConnector3">
              <a:avLst>
                <a:gd name="adj1" fmla="val 49829"/>
              </a:avLst>
            </a:prstGeom>
            <a:noFill/>
            <a:ln w="28575" cap="rnd">
              <a:solidFill>
                <a:schemeClr val="tx1"/>
              </a:solidFill>
              <a:prstDash val="sysDot"/>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81" name="AutoShape 17">
              <a:extLst>
                <a:ext uri="{FF2B5EF4-FFF2-40B4-BE49-F238E27FC236}">
                  <a16:creationId xmlns:a16="http://schemas.microsoft.com/office/drawing/2014/main" id="{CCC4B89C-4649-40E9-A374-52AD36E4E9F1}"/>
                </a:ext>
              </a:extLst>
            </p:cNvPr>
            <p:cNvCxnSpPr>
              <a:cxnSpLocks noChangeShapeType="1"/>
              <a:stCxn id="446470" idx="2"/>
              <a:endCxn id="446468" idx="0"/>
            </p:cNvCxnSpPr>
            <p:nvPr/>
          </p:nvCxnSpPr>
          <p:spPr bwMode="auto">
            <a:xfrm>
              <a:off x="6135688" y="2965450"/>
              <a:ext cx="0" cy="465138"/>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46482" name="Group 18">
              <a:extLst>
                <a:ext uri="{FF2B5EF4-FFF2-40B4-BE49-F238E27FC236}">
                  <a16:creationId xmlns:a16="http://schemas.microsoft.com/office/drawing/2014/main" id="{CCBE06CA-B347-470E-B5A9-BEA38F452F23}"/>
                </a:ext>
              </a:extLst>
            </p:cNvPr>
            <p:cNvGrpSpPr>
              <a:grpSpLocks/>
            </p:cNvGrpSpPr>
            <p:nvPr/>
          </p:nvGrpSpPr>
          <p:grpSpPr bwMode="auto">
            <a:xfrm>
              <a:off x="4275139" y="2949575"/>
              <a:ext cx="606425" cy="604838"/>
              <a:chOff x="4835" y="2464"/>
              <a:chExt cx="516" cy="542"/>
            </a:xfrm>
          </p:grpSpPr>
          <p:pic>
            <p:nvPicPr>
              <p:cNvPr id="446483" name="Picture 19">
                <a:extLst>
                  <a:ext uri="{FF2B5EF4-FFF2-40B4-BE49-F238E27FC236}">
                    <a16:creationId xmlns:a16="http://schemas.microsoft.com/office/drawing/2014/main" id="{A4C0D04B-98E6-4D83-81CF-12DDD22F9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4" y="2464"/>
                <a:ext cx="397" cy="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6484" name="Picture 20">
                <a:extLst>
                  <a:ext uri="{FF2B5EF4-FFF2-40B4-BE49-F238E27FC236}">
                    <a16:creationId xmlns:a16="http://schemas.microsoft.com/office/drawing/2014/main" id="{BC8EFA8D-BFD5-4EF0-ABBA-C8C1805AB3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5" y="2577"/>
                <a:ext cx="239" cy="429"/>
              </a:xfrm>
              <a:prstGeom prst="rect">
                <a:avLst/>
              </a:prstGeom>
              <a:noFill/>
              <a:extLst>
                <a:ext uri="{909E8E84-426E-40DD-AFC4-6F175D3DCCD1}">
                  <a14:hiddenFill xmlns:a14="http://schemas.microsoft.com/office/drawing/2010/main">
                    <a:solidFill>
                      <a:srgbClr val="FFFFFF"/>
                    </a:solidFill>
                  </a14:hiddenFill>
                </a:ext>
              </a:extLst>
            </p:spPr>
          </p:pic>
        </p:grpSp>
        <p:pic>
          <p:nvPicPr>
            <p:cNvPr id="446485" name="Picture 21">
              <a:extLst>
                <a:ext uri="{FF2B5EF4-FFF2-40B4-BE49-F238E27FC236}">
                  <a16:creationId xmlns:a16="http://schemas.microsoft.com/office/drawing/2014/main" id="{A635712C-C1A2-464E-9E84-9FC0CC77C0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1613" y="3024188"/>
              <a:ext cx="608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46486" name="Group 22">
              <a:extLst>
                <a:ext uri="{FF2B5EF4-FFF2-40B4-BE49-F238E27FC236}">
                  <a16:creationId xmlns:a16="http://schemas.microsoft.com/office/drawing/2014/main" id="{99D049B1-7C1F-40B9-9B4E-FF6FAE5DDDEE}"/>
                </a:ext>
              </a:extLst>
            </p:cNvPr>
            <p:cNvGrpSpPr>
              <a:grpSpLocks/>
            </p:cNvGrpSpPr>
            <p:nvPr/>
          </p:nvGrpSpPr>
          <p:grpSpPr bwMode="auto">
            <a:xfrm>
              <a:off x="9056689" y="3022601"/>
              <a:ext cx="606425" cy="460375"/>
              <a:chOff x="3190" y="894"/>
              <a:chExt cx="677" cy="446"/>
            </a:xfrm>
          </p:grpSpPr>
          <p:pic>
            <p:nvPicPr>
              <p:cNvPr id="446487" name="Picture 23">
                <a:extLst>
                  <a:ext uri="{FF2B5EF4-FFF2-40B4-BE49-F238E27FC236}">
                    <a16:creationId xmlns:a16="http://schemas.microsoft.com/office/drawing/2014/main" id="{239B0B0D-E49F-4298-B907-49F130FE95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0" y="1090"/>
                <a:ext cx="6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pic>
            <p:nvPicPr>
              <p:cNvPr id="446488" name="Picture 24">
                <a:extLst>
                  <a:ext uri="{FF2B5EF4-FFF2-40B4-BE49-F238E27FC236}">
                    <a16:creationId xmlns:a16="http://schemas.microsoft.com/office/drawing/2014/main" id="{0F0A88BF-D981-4085-A4D3-EC6F0C138A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 y="894"/>
                <a:ext cx="271" cy="382"/>
              </a:xfrm>
              <a:prstGeom prst="rect">
                <a:avLst/>
              </a:prstGeom>
              <a:noFill/>
              <a:extLst>
                <a:ext uri="{909E8E84-426E-40DD-AFC4-6F175D3DCCD1}">
                  <a14:hiddenFill xmlns:a14="http://schemas.microsoft.com/office/drawing/2010/main">
                    <a:solidFill>
                      <a:srgbClr val="FFFFFF"/>
                    </a:solidFill>
                  </a14:hiddenFill>
                </a:ext>
              </a:extLst>
            </p:spPr>
          </p:pic>
          <p:pic>
            <p:nvPicPr>
              <p:cNvPr id="446489" name="Picture 25">
                <a:extLst>
                  <a:ext uri="{FF2B5EF4-FFF2-40B4-BE49-F238E27FC236}">
                    <a16:creationId xmlns:a16="http://schemas.microsoft.com/office/drawing/2014/main" id="{937C040E-8A16-4294-9A54-2E6A0D8F11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2" y="914"/>
                <a:ext cx="259" cy="381"/>
              </a:xfrm>
              <a:prstGeom prst="rect">
                <a:avLst/>
              </a:prstGeom>
              <a:noFill/>
              <a:extLst>
                <a:ext uri="{909E8E84-426E-40DD-AFC4-6F175D3DCCD1}">
                  <a14:hiddenFill xmlns:a14="http://schemas.microsoft.com/office/drawing/2010/main">
                    <a:solidFill>
                      <a:srgbClr val="FFFFFF"/>
                    </a:solidFill>
                  </a14:hiddenFill>
                </a:ext>
              </a:extLst>
            </p:spPr>
          </p:pic>
        </p:grpSp>
        <p:sp>
          <p:nvSpPr>
            <p:cNvPr id="446490" name="Text Box 26">
              <a:extLst>
                <a:ext uri="{FF2B5EF4-FFF2-40B4-BE49-F238E27FC236}">
                  <a16:creationId xmlns:a16="http://schemas.microsoft.com/office/drawing/2014/main" id="{38BF7EA5-3EA9-403B-8AF0-9668F27E449A}"/>
                </a:ext>
              </a:extLst>
            </p:cNvPr>
            <p:cNvSpPr txBox="1">
              <a:spLocks noChangeArrowheads="1"/>
            </p:cNvSpPr>
            <p:nvPr/>
          </p:nvSpPr>
          <p:spPr bwMode="auto">
            <a:xfrm>
              <a:off x="3397250" y="5905500"/>
              <a:ext cx="800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effectLst>
                    <a:outerShdw blurRad="38100" dist="38100" dir="2700000" algn="tl">
                      <a:srgbClr val="FFFFFF"/>
                    </a:outerShdw>
                  </a:effectLst>
                  <a:latin typeface="Arial Narrow" panose="020B0606020202030204" pitchFamily="34" charset="0"/>
                </a:rPr>
                <a:t>Personal</a:t>
              </a:r>
            </a:p>
          </p:txBody>
        </p:sp>
        <p:sp>
          <p:nvSpPr>
            <p:cNvPr id="446491" name="Text Box 27">
              <a:extLst>
                <a:ext uri="{FF2B5EF4-FFF2-40B4-BE49-F238E27FC236}">
                  <a16:creationId xmlns:a16="http://schemas.microsoft.com/office/drawing/2014/main" id="{CFA95D42-8134-409B-B6E6-AD325F7D49F4}"/>
                </a:ext>
              </a:extLst>
            </p:cNvPr>
            <p:cNvSpPr txBox="1">
              <a:spLocks noChangeArrowheads="1"/>
            </p:cNvSpPr>
            <p:nvPr/>
          </p:nvSpPr>
          <p:spPr bwMode="auto">
            <a:xfrm>
              <a:off x="5667375" y="5905500"/>
              <a:ext cx="839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effectLst>
                    <a:outerShdw blurRad="38100" dist="38100" dir="2700000" algn="tl">
                      <a:srgbClr val="FFFFFF"/>
                    </a:outerShdw>
                  </a:effectLst>
                  <a:latin typeface="Arial Narrow" panose="020B0606020202030204" pitchFamily="34" charset="0"/>
                </a:rPr>
                <a:t>Procesos</a:t>
              </a:r>
            </a:p>
          </p:txBody>
        </p:sp>
        <p:sp>
          <p:nvSpPr>
            <p:cNvPr id="446492" name="Text Box 28">
              <a:extLst>
                <a:ext uri="{FF2B5EF4-FFF2-40B4-BE49-F238E27FC236}">
                  <a16:creationId xmlns:a16="http://schemas.microsoft.com/office/drawing/2014/main" id="{B6CFE3F4-F2CA-4A17-ABDF-BFC3C4CE10A9}"/>
                </a:ext>
              </a:extLst>
            </p:cNvPr>
            <p:cNvSpPr txBox="1">
              <a:spLocks noChangeArrowheads="1"/>
            </p:cNvSpPr>
            <p:nvPr/>
          </p:nvSpPr>
          <p:spPr bwMode="auto">
            <a:xfrm>
              <a:off x="8062914" y="5905500"/>
              <a:ext cx="9540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effectLst>
                    <a:outerShdw blurRad="38100" dist="38100" dir="2700000" algn="tl">
                      <a:srgbClr val="FFFFFF"/>
                    </a:outerShdw>
                  </a:effectLst>
                  <a:latin typeface="Arial Narrow" panose="020B0606020202030204" pitchFamily="34" charset="0"/>
                </a:rPr>
                <a:t>Tecnologia</a:t>
              </a:r>
            </a:p>
          </p:txBody>
        </p:sp>
        <p:cxnSp>
          <p:nvCxnSpPr>
            <p:cNvPr id="446493" name="AutoShape 29">
              <a:extLst>
                <a:ext uri="{FF2B5EF4-FFF2-40B4-BE49-F238E27FC236}">
                  <a16:creationId xmlns:a16="http://schemas.microsoft.com/office/drawing/2014/main" id="{021BE454-609F-4F7F-BC13-27B967FA6912}"/>
                </a:ext>
              </a:extLst>
            </p:cNvPr>
            <p:cNvCxnSpPr>
              <a:cxnSpLocks noChangeShapeType="1"/>
              <a:stCxn id="446472" idx="2"/>
              <a:endCxn id="446490" idx="0"/>
            </p:cNvCxnSpPr>
            <p:nvPr/>
          </p:nvCxnSpPr>
          <p:spPr bwMode="auto">
            <a:xfrm>
              <a:off x="3752850" y="3924300"/>
              <a:ext cx="44450" cy="1981200"/>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94" name="AutoShape 30">
              <a:extLst>
                <a:ext uri="{FF2B5EF4-FFF2-40B4-BE49-F238E27FC236}">
                  <a16:creationId xmlns:a16="http://schemas.microsoft.com/office/drawing/2014/main" id="{2E3ED1E7-603D-40B7-96BD-1D4B7E4136D9}"/>
                </a:ext>
              </a:extLst>
            </p:cNvPr>
            <p:cNvCxnSpPr>
              <a:cxnSpLocks noChangeShapeType="1"/>
              <a:stCxn id="446468" idx="2"/>
              <a:endCxn id="446491" idx="0"/>
            </p:cNvCxnSpPr>
            <p:nvPr/>
          </p:nvCxnSpPr>
          <p:spPr bwMode="auto">
            <a:xfrm flipH="1">
              <a:off x="6088064" y="3924300"/>
              <a:ext cx="47625" cy="1981200"/>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6495" name="AutoShape 31">
              <a:extLst>
                <a:ext uri="{FF2B5EF4-FFF2-40B4-BE49-F238E27FC236}">
                  <a16:creationId xmlns:a16="http://schemas.microsoft.com/office/drawing/2014/main" id="{23E4521C-D5E3-4531-AF38-27A7FB285EE3}"/>
                </a:ext>
              </a:extLst>
            </p:cNvPr>
            <p:cNvCxnSpPr>
              <a:cxnSpLocks noChangeShapeType="1"/>
              <a:stCxn id="446469" idx="2"/>
              <a:endCxn id="446492" idx="0"/>
            </p:cNvCxnSpPr>
            <p:nvPr/>
          </p:nvCxnSpPr>
          <p:spPr bwMode="auto">
            <a:xfrm>
              <a:off x="8526464" y="3924300"/>
              <a:ext cx="14287" cy="1981200"/>
            </a:xfrm>
            <a:prstGeom prst="straightConnector1">
              <a:avLst/>
            </a:prstGeom>
            <a:noFill/>
            <a:ln w="28575"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6496" name="Rectangle 32">
              <a:extLst>
                <a:ext uri="{FF2B5EF4-FFF2-40B4-BE49-F238E27FC236}">
                  <a16:creationId xmlns:a16="http://schemas.microsoft.com/office/drawing/2014/main" id="{5151FE56-FEF5-4151-B326-13E05690B539}"/>
                </a:ext>
              </a:extLst>
            </p:cNvPr>
            <p:cNvSpPr>
              <a:spLocks noChangeArrowheads="1"/>
            </p:cNvSpPr>
            <p:nvPr/>
          </p:nvSpPr>
          <p:spPr bwMode="auto">
            <a:xfrm>
              <a:off x="5260975" y="4168776"/>
              <a:ext cx="1727200" cy="1590675"/>
            </a:xfrm>
            <a:prstGeom prst="rect">
              <a:avLst/>
            </a:prstGeom>
            <a:solidFill>
              <a:srgbClr val="3077AE"/>
            </a:solidFill>
            <a:ln w="9525">
              <a:solidFill>
                <a:srgbClr val="EAEA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Gestión de riesgo</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Plan de contingencia</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Respuesta a Incidentes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Seguridad física</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Seguridad personal</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Verificación de certificación</a:t>
              </a:r>
            </a:p>
          </p:txBody>
        </p:sp>
        <p:sp>
          <p:nvSpPr>
            <p:cNvPr id="446497" name="Rectangle 33">
              <a:extLst>
                <a:ext uri="{FF2B5EF4-FFF2-40B4-BE49-F238E27FC236}">
                  <a16:creationId xmlns:a16="http://schemas.microsoft.com/office/drawing/2014/main" id="{0A9B834C-E2C7-4C2D-889B-3D58A9A4A241}"/>
                </a:ext>
              </a:extLst>
            </p:cNvPr>
            <p:cNvSpPr>
              <a:spLocks noChangeArrowheads="1"/>
            </p:cNvSpPr>
            <p:nvPr/>
          </p:nvSpPr>
          <p:spPr bwMode="auto">
            <a:xfrm>
              <a:off x="7823201" y="4168776"/>
              <a:ext cx="1463675" cy="1590675"/>
            </a:xfrm>
            <a:prstGeom prst="rect">
              <a:avLst/>
            </a:prstGeom>
            <a:solidFill>
              <a:srgbClr val="3077AE"/>
            </a:solidFill>
            <a:ln w="9525">
              <a:solidFill>
                <a:srgbClr val="EAEA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Control de Accesos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ID &amp; Autenticación</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Auditoría</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Cifrado</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Detección de Incidentes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Redes</a:t>
              </a:r>
            </a:p>
          </p:txBody>
        </p:sp>
        <p:sp>
          <p:nvSpPr>
            <p:cNvPr id="446498" name="Rectangle 34">
              <a:extLst>
                <a:ext uri="{FF2B5EF4-FFF2-40B4-BE49-F238E27FC236}">
                  <a16:creationId xmlns:a16="http://schemas.microsoft.com/office/drawing/2014/main" id="{61E899FC-7F6C-4B53-BFAD-3ECF54341C86}"/>
                </a:ext>
              </a:extLst>
            </p:cNvPr>
            <p:cNvSpPr>
              <a:spLocks noChangeArrowheads="1"/>
            </p:cNvSpPr>
            <p:nvPr/>
          </p:nvSpPr>
          <p:spPr bwMode="auto">
            <a:xfrm>
              <a:off x="2767013" y="4168776"/>
              <a:ext cx="1973262" cy="1590675"/>
            </a:xfrm>
            <a:prstGeom prst="rect">
              <a:avLst/>
            </a:prstGeom>
            <a:solidFill>
              <a:srgbClr val="3077AE"/>
            </a:solidFill>
            <a:ln w="9525">
              <a:solidFill>
                <a:srgbClr val="EAEAEA"/>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Clasificación de Información</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Comunicaciones</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Uso Aceptable</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Seguridad Perimetral</a:t>
              </a:r>
            </a:p>
            <a:p>
              <a:pPr algn="ctr" eaLnBrk="0" hangingPunct="0"/>
              <a:r>
                <a:rPr lang="es-AR" altLang="es-MX" sz="1400">
                  <a:solidFill>
                    <a:schemeClr val="bg1"/>
                  </a:solidFill>
                  <a:effectLst>
                    <a:outerShdw blurRad="38100" dist="38100" dir="2700000" algn="tl">
                      <a:srgbClr val="000000"/>
                    </a:outerShdw>
                  </a:effectLst>
                  <a:latin typeface="Arial Narrow" panose="020B0606020202030204" pitchFamily="34" charset="0"/>
                </a:rPr>
                <a:t>Respuesta a Incidentes</a:t>
              </a:r>
            </a:p>
            <a:p>
              <a:pPr algn="ctr" eaLnBrk="0" hangingPunct="0"/>
              <a:endParaRPr lang="es-AR" altLang="es-MX" sz="1400">
                <a:solidFill>
                  <a:schemeClr val="bg1"/>
                </a:solidFill>
                <a:effectLst>
                  <a:outerShdw blurRad="38100" dist="38100" dir="2700000" algn="tl">
                    <a:srgbClr val="000000"/>
                  </a:outerShdw>
                </a:effectLst>
                <a:latin typeface="Arial Narrow" panose="020B0606020202030204" pitchFamily="34" charset="0"/>
              </a:endParaRPr>
            </a:p>
          </p:txBody>
        </p:sp>
        <p:sp>
          <p:nvSpPr>
            <p:cNvPr id="446499" name="AutoShape 35">
              <a:extLst>
                <a:ext uri="{FF2B5EF4-FFF2-40B4-BE49-F238E27FC236}">
                  <a16:creationId xmlns:a16="http://schemas.microsoft.com/office/drawing/2014/main" id="{C22C1DF4-1766-4492-AAA9-36915FEA753B}"/>
                </a:ext>
              </a:extLst>
            </p:cNvPr>
            <p:cNvSpPr>
              <a:spLocks noChangeArrowheads="1"/>
            </p:cNvSpPr>
            <p:nvPr/>
          </p:nvSpPr>
          <p:spPr bwMode="auto">
            <a:xfrm>
              <a:off x="3638550" y="381476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0" name="AutoShape 36">
              <a:extLst>
                <a:ext uri="{FF2B5EF4-FFF2-40B4-BE49-F238E27FC236}">
                  <a16:creationId xmlns:a16="http://schemas.microsoft.com/office/drawing/2014/main" id="{C25C8528-7FDB-43B5-BFBF-6B31C0E507B0}"/>
                </a:ext>
              </a:extLst>
            </p:cNvPr>
            <p:cNvSpPr>
              <a:spLocks noChangeArrowheads="1"/>
            </p:cNvSpPr>
            <p:nvPr/>
          </p:nvSpPr>
          <p:spPr bwMode="auto">
            <a:xfrm>
              <a:off x="6015038" y="381476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1" name="AutoShape 37">
              <a:extLst>
                <a:ext uri="{FF2B5EF4-FFF2-40B4-BE49-F238E27FC236}">
                  <a16:creationId xmlns:a16="http://schemas.microsoft.com/office/drawing/2014/main" id="{6BF85EEB-4E1F-492B-B199-C8781EA88EB8}"/>
                </a:ext>
              </a:extLst>
            </p:cNvPr>
            <p:cNvSpPr>
              <a:spLocks noChangeArrowheads="1"/>
            </p:cNvSpPr>
            <p:nvPr/>
          </p:nvSpPr>
          <p:spPr bwMode="auto">
            <a:xfrm>
              <a:off x="8410575" y="381476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2" name="AutoShape 38">
              <a:extLst>
                <a:ext uri="{FF2B5EF4-FFF2-40B4-BE49-F238E27FC236}">
                  <a16:creationId xmlns:a16="http://schemas.microsoft.com/office/drawing/2014/main" id="{8EC4137A-3FA3-4FB7-BC5C-9246AE433C51}"/>
                </a:ext>
              </a:extLst>
            </p:cNvPr>
            <p:cNvSpPr>
              <a:spLocks noChangeArrowheads="1"/>
            </p:cNvSpPr>
            <p:nvPr/>
          </p:nvSpPr>
          <p:spPr bwMode="auto">
            <a:xfrm>
              <a:off x="6015038" y="2889250"/>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3" name="AutoShape 39">
              <a:extLst>
                <a:ext uri="{FF2B5EF4-FFF2-40B4-BE49-F238E27FC236}">
                  <a16:creationId xmlns:a16="http://schemas.microsoft.com/office/drawing/2014/main" id="{9791AFC6-CDF7-4798-B6F2-61CBE8B247B2}"/>
                </a:ext>
              </a:extLst>
            </p:cNvPr>
            <p:cNvSpPr>
              <a:spLocks noChangeArrowheads="1"/>
            </p:cNvSpPr>
            <p:nvPr/>
          </p:nvSpPr>
          <p:spPr bwMode="auto">
            <a:xfrm>
              <a:off x="6015038" y="2055813"/>
              <a:ext cx="228600" cy="228600"/>
            </a:xfrm>
            <a:prstGeom prst="triangle">
              <a:avLst>
                <a:gd name="adj" fmla="val 50000"/>
              </a:avLst>
            </a:prstGeom>
            <a:solidFill>
              <a:srgbClr val="6699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4" name="Oval 40">
              <a:extLst>
                <a:ext uri="{FF2B5EF4-FFF2-40B4-BE49-F238E27FC236}">
                  <a16:creationId xmlns:a16="http://schemas.microsoft.com/office/drawing/2014/main" id="{06C65A40-61B4-410D-8A44-FAB87C7E7F55}"/>
                </a:ext>
              </a:extLst>
            </p:cNvPr>
            <p:cNvSpPr>
              <a:spLocks noChangeArrowheads="1"/>
            </p:cNvSpPr>
            <p:nvPr/>
          </p:nvSpPr>
          <p:spPr bwMode="auto">
            <a:xfrm>
              <a:off x="2974975" y="5694364"/>
              <a:ext cx="1517650" cy="758825"/>
            </a:xfrm>
            <a:prstGeom prst="ellipse">
              <a:avLst/>
            </a:prstGeom>
            <a:noFill/>
            <a:ln w="38100">
              <a:solidFill>
                <a:srgbClr val="99CCFF"/>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5" name="Oval 41">
              <a:extLst>
                <a:ext uri="{FF2B5EF4-FFF2-40B4-BE49-F238E27FC236}">
                  <a16:creationId xmlns:a16="http://schemas.microsoft.com/office/drawing/2014/main" id="{77061D43-97DA-4CED-919B-95377AD80D69}"/>
                </a:ext>
              </a:extLst>
            </p:cNvPr>
            <p:cNvSpPr>
              <a:spLocks noChangeArrowheads="1"/>
            </p:cNvSpPr>
            <p:nvPr/>
          </p:nvSpPr>
          <p:spPr bwMode="auto">
            <a:xfrm>
              <a:off x="5365750" y="5694364"/>
              <a:ext cx="1517650" cy="758825"/>
            </a:xfrm>
            <a:prstGeom prst="ellipse">
              <a:avLst/>
            </a:prstGeom>
            <a:noFill/>
            <a:ln w="38100">
              <a:solidFill>
                <a:srgbClr val="99CCFF"/>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6" name="Oval 42">
              <a:extLst>
                <a:ext uri="{FF2B5EF4-FFF2-40B4-BE49-F238E27FC236}">
                  <a16:creationId xmlns:a16="http://schemas.microsoft.com/office/drawing/2014/main" id="{C644C8A7-83DA-4A79-A64B-51647DFAE33C}"/>
                </a:ext>
              </a:extLst>
            </p:cNvPr>
            <p:cNvSpPr>
              <a:spLocks noChangeArrowheads="1"/>
            </p:cNvSpPr>
            <p:nvPr/>
          </p:nvSpPr>
          <p:spPr bwMode="auto">
            <a:xfrm>
              <a:off x="7794625" y="5694364"/>
              <a:ext cx="1517650" cy="758825"/>
            </a:xfrm>
            <a:prstGeom prst="ellipse">
              <a:avLst/>
            </a:prstGeom>
            <a:noFill/>
            <a:ln w="38100">
              <a:solidFill>
                <a:srgbClr val="99CCFF"/>
              </a:solidFill>
              <a:round/>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46507" name="Text Box 43">
              <a:extLst>
                <a:ext uri="{FF2B5EF4-FFF2-40B4-BE49-F238E27FC236}">
                  <a16:creationId xmlns:a16="http://schemas.microsoft.com/office/drawing/2014/main" id="{35CC33E1-8418-4786-936F-F1CA44B144EC}"/>
                </a:ext>
              </a:extLst>
            </p:cNvPr>
            <p:cNvSpPr txBox="1">
              <a:spLocks noChangeArrowheads="1"/>
            </p:cNvSpPr>
            <p:nvPr/>
          </p:nvSpPr>
          <p:spPr bwMode="auto">
            <a:xfrm>
              <a:off x="7262814" y="1716089"/>
              <a:ext cx="990977"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Sarbanes</a:t>
              </a:r>
            </a:p>
          </p:txBody>
        </p:sp>
        <p:sp>
          <p:nvSpPr>
            <p:cNvPr id="446508" name="Text Box 44">
              <a:extLst>
                <a:ext uri="{FF2B5EF4-FFF2-40B4-BE49-F238E27FC236}">
                  <a16:creationId xmlns:a16="http://schemas.microsoft.com/office/drawing/2014/main" id="{862ABE1F-CD09-4967-BB6E-DFE51C8697E3}"/>
                </a:ext>
              </a:extLst>
            </p:cNvPr>
            <p:cNvSpPr txBox="1">
              <a:spLocks noChangeArrowheads="1"/>
            </p:cNvSpPr>
            <p:nvPr/>
          </p:nvSpPr>
          <p:spPr bwMode="auto">
            <a:xfrm>
              <a:off x="2424113" y="1716089"/>
              <a:ext cx="593432"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NIST</a:t>
              </a:r>
            </a:p>
          </p:txBody>
        </p:sp>
        <p:sp>
          <p:nvSpPr>
            <p:cNvPr id="446509" name="Text Box 45">
              <a:extLst>
                <a:ext uri="{FF2B5EF4-FFF2-40B4-BE49-F238E27FC236}">
                  <a16:creationId xmlns:a16="http://schemas.microsoft.com/office/drawing/2014/main" id="{C816549B-656E-434C-AA49-20C360C0A60C}"/>
                </a:ext>
              </a:extLst>
            </p:cNvPr>
            <p:cNvSpPr txBox="1">
              <a:spLocks noChangeArrowheads="1"/>
            </p:cNvSpPr>
            <p:nvPr/>
          </p:nvSpPr>
          <p:spPr bwMode="auto">
            <a:xfrm>
              <a:off x="8415339" y="1716089"/>
              <a:ext cx="730777"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HIPAA</a:t>
              </a:r>
            </a:p>
          </p:txBody>
        </p:sp>
        <p:sp>
          <p:nvSpPr>
            <p:cNvPr id="446510" name="Text Box 46">
              <a:extLst>
                <a:ext uri="{FF2B5EF4-FFF2-40B4-BE49-F238E27FC236}">
                  <a16:creationId xmlns:a16="http://schemas.microsoft.com/office/drawing/2014/main" id="{EA8B70BF-615F-4437-9F4C-D103211A2E65}"/>
                </a:ext>
              </a:extLst>
            </p:cNvPr>
            <p:cNvSpPr txBox="1">
              <a:spLocks noChangeArrowheads="1"/>
            </p:cNvSpPr>
            <p:nvPr/>
          </p:nvSpPr>
          <p:spPr bwMode="auto">
            <a:xfrm>
              <a:off x="9324976" y="1716089"/>
              <a:ext cx="811441"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Basel II</a:t>
              </a:r>
            </a:p>
          </p:txBody>
        </p:sp>
        <p:sp>
          <p:nvSpPr>
            <p:cNvPr id="446511" name="Text Box 47">
              <a:extLst>
                <a:ext uri="{FF2B5EF4-FFF2-40B4-BE49-F238E27FC236}">
                  <a16:creationId xmlns:a16="http://schemas.microsoft.com/office/drawing/2014/main" id="{BD0ABDE8-EBC2-438A-AA14-EF16EBADE89C}"/>
                </a:ext>
              </a:extLst>
            </p:cNvPr>
            <p:cNvSpPr txBox="1">
              <a:spLocks noChangeArrowheads="1"/>
            </p:cNvSpPr>
            <p:nvPr/>
          </p:nvSpPr>
          <p:spPr bwMode="auto">
            <a:xfrm>
              <a:off x="3990975" y="1716089"/>
              <a:ext cx="1040670"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ISO 27002</a:t>
              </a:r>
            </a:p>
          </p:txBody>
        </p:sp>
        <p:sp>
          <p:nvSpPr>
            <p:cNvPr id="446512" name="Text Box 48">
              <a:extLst>
                <a:ext uri="{FF2B5EF4-FFF2-40B4-BE49-F238E27FC236}">
                  <a16:creationId xmlns:a16="http://schemas.microsoft.com/office/drawing/2014/main" id="{689E946B-F181-4958-A02B-6DE0B03221CC}"/>
                </a:ext>
              </a:extLst>
            </p:cNvPr>
            <p:cNvSpPr txBox="1">
              <a:spLocks noChangeArrowheads="1"/>
            </p:cNvSpPr>
            <p:nvPr/>
          </p:nvSpPr>
          <p:spPr bwMode="auto">
            <a:xfrm>
              <a:off x="3148014" y="1716089"/>
              <a:ext cx="713657" cy="307777"/>
            </a:xfrm>
            <a:prstGeom prst="rect">
              <a:avLst/>
            </a:prstGeom>
            <a:solidFill>
              <a:srgbClr val="6699FF"/>
            </a:solidFill>
            <a:ln w="2857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s-AR" altLang="es-MX" sz="1400" b="1">
                  <a:solidFill>
                    <a:schemeClr val="bg1"/>
                  </a:solidFill>
                  <a:latin typeface="Arial" panose="020B0604020202020204" pitchFamily="34" charset="0"/>
                </a:rPr>
                <a:t>COSO</a:t>
              </a:r>
            </a:p>
          </p:txBody>
        </p:sp>
      </p:grpSp>
      <p:sp>
        <p:nvSpPr>
          <p:cNvPr id="3" name="Marcador de número de diapositiva 2">
            <a:extLst>
              <a:ext uri="{FF2B5EF4-FFF2-40B4-BE49-F238E27FC236}">
                <a16:creationId xmlns:a16="http://schemas.microsoft.com/office/drawing/2014/main" id="{1B7F5B11-8FFA-4436-A7DC-D8610BC6AEBB}"/>
              </a:ext>
            </a:extLst>
          </p:cNvPr>
          <p:cNvSpPr>
            <a:spLocks noGrp="1"/>
          </p:cNvSpPr>
          <p:nvPr>
            <p:ph type="sldNum" sz="quarter" idx="12"/>
          </p:nvPr>
        </p:nvSpPr>
        <p:spPr/>
        <p:txBody>
          <a:bodyPr/>
          <a:lstStyle/>
          <a:p>
            <a:fld id="{30A8E979-4E28-491D-8002-836F9D9327AB}" type="slidenum">
              <a:rPr lang="es-MX" smtClean="0"/>
              <a:t>19</a:t>
            </a:fld>
            <a:endParaRPr lang="es-MX"/>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B5B0AEB-EF19-73E7-7D5E-7F7E48620D8A}"/>
              </a:ext>
            </a:extLst>
          </p:cNvPr>
          <p:cNvGraphicFramePr>
            <a:graphicFrameLocks noGrp="1"/>
          </p:cNvGraphicFramePr>
          <p:nvPr>
            <p:extLst>
              <p:ext uri="{D42A27DB-BD31-4B8C-83A1-F6EECF244321}">
                <p14:modId xmlns:p14="http://schemas.microsoft.com/office/powerpoint/2010/main" val="1798889979"/>
              </p:ext>
            </p:extLst>
          </p:nvPr>
        </p:nvGraphicFramePr>
        <p:xfrm>
          <a:off x="395111" y="1872074"/>
          <a:ext cx="11015842" cy="4476479"/>
        </p:xfrm>
        <a:graphic>
          <a:graphicData uri="http://schemas.openxmlformats.org/drawingml/2006/table">
            <a:tbl>
              <a:tblPr bandRow="1">
                <a:tableStyleId>{5C22544A-7EE6-4342-B048-85BDC9FD1C3A}</a:tableStyleId>
              </a:tblPr>
              <a:tblGrid>
                <a:gridCol w="5507921">
                  <a:extLst>
                    <a:ext uri="{9D8B030D-6E8A-4147-A177-3AD203B41FA5}">
                      <a16:colId xmlns:a16="http://schemas.microsoft.com/office/drawing/2014/main" val="4061206960"/>
                    </a:ext>
                  </a:extLst>
                </a:gridCol>
                <a:gridCol w="5507921">
                  <a:extLst>
                    <a:ext uri="{9D8B030D-6E8A-4147-A177-3AD203B41FA5}">
                      <a16:colId xmlns:a16="http://schemas.microsoft.com/office/drawing/2014/main" val="751504798"/>
                    </a:ext>
                  </a:extLst>
                </a:gridCol>
              </a:tblGrid>
              <a:tr h="288187">
                <a:tc>
                  <a:txBody>
                    <a:bodyPr/>
                    <a:lstStyle/>
                    <a:p>
                      <a:pPr>
                        <a:buNone/>
                      </a:pPr>
                      <a:endParaRPr lang="en-US" sz="1400" dirty="0">
                        <a:solidFill>
                          <a:schemeClr val="accent1"/>
                        </a:solidFill>
                      </a:endParaRPr>
                    </a:p>
                  </a:txBody>
                  <a:tcPr anchor="ctr">
                    <a:lnL>
                      <a:noFill/>
                    </a:lnL>
                    <a:lnR>
                      <a:noFill/>
                    </a:lnR>
                    <a:lnT>
                      <a:noFill/>
                    </a:lnT>
                    <a:lnB>
                      <a:noFill/>
                    </a:lnB>
                    <a:noFill/>
                  </a:tcPr>
                </a:tc>
                <a:tc>
                  <a:txBody>
                    <a:bodyPr/>
                    <a:lstStyle/>
                    <a:p>
                      <a:pPr>
                        <a:buNone/>
                      </a:pPr>
                      <a:endParaRPr lang="en-US" sz="1400" dirty="0">
                        <a:solidFill>
                          <a:schemeClr val="accent1"/>
                        </a:solidFill>
                      </a:endParaRPr>
                    </a:p>
                  </a:txBody>
                  <a:tcPr anchor="ctr">
                    <a:lnL>
                      <a:noFill/>
                    </a:lnL>
                    <a:lnR>
                      <a:noFill/>
                    </a:lnR>
                    <a:lnT>
                      <a:noFill/>
                    </a:lnT>
                    <a:lnB>
                      <a:noFill/>
                    </a:lnB>
                    <a:noFill/>
                  </a:tcPr>
                </a:tc>
                <a:extLst>
                  <a:ext uri="{0D108BD9-81ED-4DB2-BD59-A6C34878D82A}">
                    <a16:rowId xmlns:a16="http://schemas.microsoft.com/office/drawing/2014/main" val="3655848907"/>
                  </a:ext>
                </a:extLst>
              </a:tr>
              <a:tr h="486936">
                <a:tc>
                  <a:txBody>
                    <a:bodyPr/>
                    <a:lstStyle/>
                    <a:p>
                      <a:pPr>
                        <a:buNone/>
                      </a:pPr>
                      <a:r>
                        <a:rPr lang="en-US" sz="1400" b="1" dirty="0">
                          <a:solidFill>
                            <a:schemeClr val="accent1"/>
                          </a:solidFill>
                        </a:rPr>
                        <a:t>NIST</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a:solidFill>
                            <a:schemeClr val="accent1"/>
                          </a:solidFill>
                        </a:rPr>
                        <a:t>Marco de </a:t>
                      </a:r>
                      <a:r>
                        <a:rPr lang="en-US" sz="1400" dirty="0" err="1">
                          <a:solidFill>
                            <a:schemeClr val="accent1"/>
                          </a:solidFill>
                        </a:rPr>
                        <a:t>buenas</a:t>
                      </a:r>
                      <a:r>
                        <a:rPr lang="en-US" sz="1400" dirty="0">
                          <a:solidFill>
                            <a:schemeClr val="accent1"/>
                          </a:solidFill>
                        </a:rPr>
                        <a:t> </a:t>
                      </a:r>
                      <a:r>
                        <a:rPr lang="en-US" sz="1400" dirty="0" err="1">
                          <a:solidFill>
                            <a:schemeClr val="accent1"/>
                          </a:solidFill>
                        </a:rPr>
                        <a:t>prácticas</a:t>
                      </a:r>
                      <a:r>
                        <a:rPr lang="en-US" sz="1400" dirty="0">
                          <a:solidFill>
                            <a:schemeClr val="accent1"/>
                          </a:solidFill>
                        </a:rPr>
                        <a:t> para </a:t>
                      </a:r>
                      <a:r>
                        <a:rPr lang="en-US" sz="1400" b="1" dirty="0" err="1">
                          <a:solidFill>
                            <a:schemeClr val="accent1"/>
                          </a:solidFill>
                        </a:rPr>
                        <a:t>gestionar</a:t>
                      </a:r>
                      <a:r>
                        <a:rPr lang="en-US" sz="1400" b="1" dirty="0">
                          <a:solidFill>
                            <a:schemeClr val="accent1"/>
                          </a:solidFill>
                        </a:rPr>
                        <a:t> y </a:t>
                      </a:r>
                      <a:r>
                        <a:rPr lang="en-US" sz="1400" b="1" dirty="0" err="1">
                          <a:solidFill>
                            <a:schemeClr val="accent1"/>
                          </a:solidFill>
                        </a:rPr>
                        <a:t>proteger</a:t>
                      </a:r>
                      <a:r>
                        <a:rPr lang="en-US" sz="1400" b="1" dirty="0">
                          <a:solidFill>
                            <a:schemeClr val="accent1"/>
                          </a:solidFill>
                        </a:rPr>
                        <a:t> la </a:t>
                      </a:r>
                      <a:r>
                        <a:rPr lang="en-US" sz="1400" b="1" dirty="0" err="1">
                          <a:solidFill>
                            <a:schemeClr val="accent1"/>
                          </a:solidFill>
                        </a:rPr>
                        <a:t>ciberseguridad</a:t>
                      </a:r>
                      <a:r>
                        <a:rPr lang="en-US" sz="1400" dirty="0">
                          <a:solidFill>
                            <a:schemeClr val="accent1"/>
                          </a:solidFill>
                        </a:rPr>
                        <a:t> de </a:t>
                      </a:r>
                      <a:r>
                        <a:rPr lang="en-US" sz="1400" dirty="0" err="1">
                          <a:solidFill>
                            <a:schemeClr val="accent1"/>
                          </a:solidFill>
                        </a:rPr>
                        <a:t>una</a:t>
                      </a:r>
                      <a:r>
                        <a:rPr lang="en-US" sz="1400" dirty="0">
                          <a:solidFill>
                            <a:schemeClr val="accent1"/>
                          </a:solidFill>
                        </a:rPr>
                        <a:t> </a:t>
                      </a:r>
                      <a:r>
                        <a:rPr lang="en-US" sz="1400" dirty="0" err="1">
                          <a:solidFill>
                            <a:schemeClr val="accent1"/>
                          </a:solidFill>
                        </a:rPr>
                        <a:t>organización</a:t>
                      </a:r>
                      <a:r>
                        <a:rPr lang="en-US" sz="1400"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666651632"/>
                  </a:ext>
                </a:extLst>
              </a:tr>
              <a:tr h="486936">
                <a:tc>
                  <a:txBody>
                    <a:bodyPr/>
                    <a:lstStyle/>
                    <a:p>
                      <a:pPr>
                        <a:buNone/>
                      </a:pPr>
                      <a:r>
                        <a:rPr lang="en-US" sz="1400" b="1" dirty="0">
                          <a:solidFill>
                            <a:schemeClr val="accent1"/>
                          </a:solidFill>
                        </a:rPr>
                        <a:t>COSO</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a:solidFill>
                            <a:schemeClr val="accent1"/>
                          </a:solidFill>
                        </a:rPr>
                        <a:t>Marco para </a:t>
                      </a:r>
                      <a:r>
                        <a:rPr lang="en-US" sz="1400" dirty="0" err="1">
                          <a:solidFill>
                            <a:schemeClr val="accent1"/>
                          </a:solidFill>
                        </a:rPr>
                        <a:t>mejorar</a:t>
                      </a:r>
                      <a:r>
                        <a:rPr lang="en-US" sz="1400" dirty="0">
                          <a:solidFill>
                            <a:schemeClr val="accent1"/>
                          </a:solidFill>
                        </a:rPr>
                        <a:t> el </a:t>
                      </a:r>
                      <a:r>
                        <a:rPr lang="en-US" sz="1400" b="1" dirty="0">
                          <a:solidFill>
                            <a:schemeClr val="accent1"/>
                          </a:solidFill>
                        </a:rPr>
                        <a:t>control </a:t>
                      </a:r>
                      <a:r>
                        <a:rPr lang="en-US" sz="1400" b="1" dirty="0" err="1">
                          <a:solidFill>
                            <a:schemeClr val="accent1"/>
                          </a:solidFill>
                        </a:rPr>
                        <a:t>interno</a:t>
                      </a:r>
                      <a:r>
                        <a:rPr lang="en-US" sz="1400" b="1" dirty="0">
                          <a:solidFill>
                            <a:schemeClr val="accent1"/>
                          </a:solidFill>
                        </a:rPr>
                        <a:t>, la </a:t>
                      </a:r>
                      <a:r>
                        <a:rPr lang="en-US" sz="1400" b="1" dirty="0" err="1">
                          <a:solidFill>
                            <a:schemeClr val="accent1"/>
                          </a:solidFill>
                        </a:rPr>
                        <a:t>gestión</a:t>
                      </a:r>
                      <a:r>
                        <a:rPr lang="en-US" sz="1400" b="1" dirty="0">
                          <a:solidFill>
                            <a:schemeClr val="accent1"/>
                          </a:solidFill>
                        </a:rPr>
                        <a:t> de </a:t>
                      </a:r>
                      <a:r>
                        <a:rPr lang="en-US" sz="1400" b="1" dirty="0" err="1">
                          <a:solidFill>
                            <a:schemeClr val="accent1"/>
                          </a:solidFill>
                        </a:rPr>
                        <a:t>riesgos</a:t>
                      </a:r>
                      <a:r>
                        <a:rPr lang="en-US" sz="1400" b="1" dirty="0">
                          <a:solidFill>
                            <a:schemeClr val="accent1"/>
                          </a:solidFill>
                        </a:rPr>
                        <a:t> y la </a:t>
                      </a:r>
                      <a:r>
                        <a:rPr lang="en-US" sz="1400" b="1" dirty="0" err="1">
                          <a:solidFill>
                            <a:schemeClr val="accent1"/>
                          </a:solidFill>
                        </a:rPr>
                        <a:t>transparencia</a:t>
                      </a:r>
                      <a:r>
                        <a:rPr lang="en-US" sz="1400" dirty="0">
                          <a:solidFill>
                            <a:schemeClr val="accent1"/>
                          </a:solidFill>
                        </a:rPr>
                        <a:t> de </a:t>
                      </a:r>
                      <a:r>
                        <a:rPr lang="en-US" sz="1400" dirty="0" err="1">
                          <a:solidFill>
                            <a:schemeClr val="accent1"/>
                          </a:solidFill>
                        </a:rPr>
                        <a:t>una</a:t>
                      </a:r>
                      <a:r>
                        <a:rPr lang="en-US" sz="1400" dirty="0">
                          <a:solidFill>
                            <a:schemeClr val="accent1"/>
                          </a:solidFill>
                        </a:rPr>
                        <a:t> </a:t>
                      </a:r>
                      <a:r>
                        <a:rPr lang="en-US" sz="1400" dirty="0" err="1">
                          <a:solidFill>
                            <a:schemeClr val="accent1"/>
                          </a:solidFill>
                        </a:rPr>
                        <a:t>organización</a:t>
                      </a:r>
                      <a:r>
                        <a:rPr lang="en-US" sz="1400"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1930308523"/>
                  </a:ext>
                </a:extLst>
              </a:tr>
              <a:tr h="685686">
                <a:tc>
                  <a:txBody>
                    <a:bodyPr/>
                    <a:lstStyle/>
                    <a:p>
                      <a:pPr>
                        <a:buNone/>
                      </a:pPr>
                      <a:r>
                        <a:rPr lang="en-US" sz="1400" b="1" dirty="0">
                          <a:solidFill>
                            <a:schemeClr val="accent1"/>
                          </a:solidFill>
                        </a:rPr>
                        <a:t>ISO/IEC 27002</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a:solidFill>
                            <a:schemeClr val="accent1"/>
                          </a:solidFill>
                        </a:rPr>
                        <a:t>Guía de </a:t>
                      </a:r>
                      <a:r>
                        <a:rPr lang="en-US" sz="1400" dirty="0" err="1">
                          <a:solidFill>
                            <a:schemeClr val="accent1"/>
                          </a:solidFill>
                        </a:rPr>
                        <a:t>buenas</a:t>
                      </a:r>
                      <a:r>
                        <a:rPr lang="en-US" sz="1400" dirty="0">
                          <a:solidFill>
                            <a:schemeClr val="accent1"/>
                          </a:solidFill>
                        </a:rPr>
                        <a:t> </a:t>
                      </a:r>
                      <a:r>
                        <a:rPr lang="en-US" sz="1400" dirty="0" err="1">
                          <a:solidFill>
                            <a:schemeClr val="accent1"/>
                          </a:solidFill>
                        </a:rPr>
                        <a:t>prácticas</a:t>
                      </a:r>
                      <a:r>
                        <a:rPr lang="en-US" sz="1400" dirty="0">
                          <a:solidFill>
                            <a:schemeClr val="accent1"/>
                          </a:solidFill>
                        </a:rPr>
                        <a:t> para </a:t>
                      </a:r>
                      <a:r>
                        <a:rPr lang="en-US" sz="1400" dirty="0" err="1">
                          <a:solidFill>
                            <a:schemeClr val="accent1"/>
                          </a:solidFill>
                        </a:rPr>
                        <a:t>implementar</a:t>
                      </a:r>
                      <a:r>
                        <a:rPr lang="en-US" sz="1400" dirty="0">
                          <a:solidFill>
                            <a:schemeClr val="accent1"/>
                          </a:solidFill>
                        </a:rPr>
                        <a:t> </a:t>
                      </a:r>
                      <a:r>
                        <a:rPr lang="en-US" sz="1400" b="1" dirty="0" err="1">
                          <a:solidFill>
                            <a:schemeClr val="accent1"/>
                          </a:solidFill>
                        </a:rPr>
                        <a:t>controles</a:t>
                      </a:r>
                      <a:r>
                        <a:rPr lang="en-US" sz="1400" b="1" dirty="0">
                          <a:solidFill>
                            <a:schemeClr val="accent1"/>
                          </a:solidFill>
                        </a:rPr>
                        <a:t> de </a:t>
                      </a:r>
                      <a:r>
                        <a:rPr lang="en-US" sz="1400" b="1" dirty="0" err="1">
                          <a:solidFill>
                            <a:schemeClr val="accent1"/>
                          </a:solidFill>
                        </a:rPr>
                        <a:t>seguridad</a:t>
                      </a:r>
                      <a:r>
                        <a:rPr lang="en-US" sz="1400" b="1" dirty="0">
                          <a:solidFill>
                            <a:schemeClr val="accent1"/>
                          </a:solidFill>
                        </a:rPr>
                        <a:t> de la </a:t>
                      </a:r>
                      <a:r>
                        <a:rPr lang="en-US" sz="1400" b="1" dirty="0" err="1">
                          <a:solidFill>
                            <a:schemeClr val="accent1"/>
                          </a:solidFill>
                        </a:rPr>
                        <a:t>información</a:t>
                      </a:r>
                      <a:r>
                        <a:rPr lang="en-US" sz="1400" dirty="0">
                          <a:solidFill>
                            <a:schemeClr val="accent1"/>
                          </a:solidFill>
                        </a:rPr>
                        <a:t>, </a:t>
                      </a:r>
                      <a:r>
                        <a:rPr lang="en-US" sz="1400" dirty="0" err="1">
                          <a:solidFill>
                            <a:schemeClr val="accent1"/>
                          </a:solidFill>
                        </a:rPr>
                        <a:t>como</a:t>
                      </a:r>
                      <a:r>
                        <a:rPr lang="en-US" sz="1400" dirty="0">
                          <a:solidFill>
                            <a:schemeClr val="accent1"/>
                          </a:solidFill>
                        </a:rPr>
                        <a:t> </a:t>
                      </a:r>
                      <a:r>
                        <a:rPr lang="en-US" sz="1400" dirty="0" err="1">
                          <a:solidFill>
                            <a:schemeClr val="accent1"/>
                          </a:solidFill>
                        </a:rPr>
                        <a:t>accesos</a:t>
                      </a:r>
                      <a:r>
                        <a:rPr lang="en-US" sz="1400" dirty="0">
                          <a:solidFill>
                            <a:schemeClr val="accent1"/>
                          </a:solidFill>
                        </a:rPr>
                        <a:t>, </a:t>
                      </a:r>
                      <a:r>
                        <a:rPr lang="en-US" sz="1400" dirty="0" err="1">
                          <a:solidFill>
                            <a:schemeClr val="accent1"/>
                          </a:solidFill>
                        </a:rPr>
                        <a:t>contraseñas</a:t>
                      </a:r>
                      <a:r>
                        <a:rPr lang="en-US" sz="1400" dirty="0">
                          <a:solidFill>
                            <a:schemeClr val="accent1"/>
                          </a:solidFill>
                        </a:rPr>
                        <a:t>, </a:t>
                      </a:r>
                      <a:r>
                        <a:rPr lang="en-US" sz="1400" dirty="0" err="1">
                          <a:solidFill>
                            <a:schemeClr val="accent1"/>
                          </a:solidFill>
                        </a:rPr>
                        <a:t>copias</a:t>
                      </a:r>
                      <a:r>
                        <a:rPr lang="en-US" sz="1400" dirty="0">
                          <a:solidFill>
                            <a:schemeClr val="accent1"/>
                          </a:solidFill>
                        </a:rPr>
                        <a:t> de </a:t>
                      </a:r>
                      <a:r>
                        <a:rPr lang="en-US" sz="1400" dirty="0" err="1">
                          <a:solidFill>
                            <a:schemeClr val="accent1"/>
                          </a:solidFill>
                        </a:rPr>
                        <a:t>seguridad</a:t>
                      </a:r>
                      <a:r>
                        <a:rPr lang="en-US" sz="1400" dirty="0">
                          <a:solidFill>
                            <a:schemeClr val="accent1"/>
                          </a:solidFill>
                        </a:rPr>
                        <a:t> y </a:t>
                      </a:r>
                      <a:r>
                        <a:rPr lang="en-US" sz="1400" dirty="0" err="1">
                          <a:solidFill>
                            <a:schemeClr val="accent1"/>
                          </a:solidFill>
                        </a:rPr>
                        <a:t>gestión</a:t>
                      </a:r>
                      <a:r>
                        <a:rPr lang="en-US" sz="1400" dirty="0">
                          <a:solidFill>
                            <a:schemeClr val="accent1"/>
                          </a:solidFill>
                        </a:rPr>
                        <a:t> de </a:t>
                      </a:r>
                      <a:r>
                        <a:rPr lang="en-US" sz="1400" dirty="0" err="1">
                          <a:solidFill>
                            <a:schemeClr val="accent1"/>
                          </a:solidFill>
                        </a:rPr>
                        <a:t>incidentes</a:t>
                      </a:r>
                      <a:r>
                        <a:rPr lang="en-US" sz="1400"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680589401"/>
                  </a:ext>
                </a:extLst>
              </a:tr>
              <a:tr h="635999">
                <a:tc>
                  <a:txBody>
                    <a:bodyPr/>
                    <a:lstStyle/>
                    <a:p>
                      <a:pPr>
                        <a:buNone/>
                      </a:pPr>
                      <a:r>
                        <a:rPr lang="en-US" sz="1400" b="1" dirty="0">
                          <a:solidFill>
                            <a:schemeClr val="accent1"/>
                          </a:solidFill>
                        </a:rPr>
                        <a:t>Sarbanes-Oxley (SOX)</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a:solidFill>
                            <a:schemeClr val="accent1"/>
                          </a:solidFill>
                        </a:rPr>
                        <a:t>Ley de EE. UU. </a:t>
                      </a:r>
                      <a:r>
                        <a:rPr lang="en-US" sz="1400" dirty="0" err="1">
                          <a:solidFill>
                            <a:schemeClr val="accent1"/>
                          </a:solidFill>
                        </a:rPr>
                        <a:t>que</a:t>
                      </a:r>
                      <a:r>
                        <a:rPr lang="en-US" sz="1400" dirty="0">
                          <a:solidFill>
                            <a:schemeClr val="accent1"/>
                          </a:solidFill>
                        </a:rPr>
                        <a:t> </a:t>
                      </a:r>
                      <a:r>
                        <a:rPr lang="en-US" sz="1400" dirty="0" err="1">
                          <a:solidFill>
                            <a:schemeClr val="accent1"/>
                          </a:solidFill>
                        </a:rPr>
                        <a:t>busca</a:t>
                      </a:r>
                      <a:r>
                        <a:rPr lang="en-US" sz="1400" dirty="0">
                          <a:solidFill>
                            <a:schemeClr val="accent1"/>
                          </a:solidFill>
                        </a:rPr>
                        <a:t> </a:t>
                      </a:r>
                      <a:r>
                        <a:rPr lang="en-US" sz="1400" dirty="0" err="1">
                          <a:solidFill>
                            <a:schemeClr val="accent1"/>
                          </a:solidFill>
                        </a:rPr>
                        <a:t>mejorar</a:t>
                      </a:r>
                      <a:r>
                        <a:rPr lang="en-US" sz="1400" dirty="0">
                          <a:solidFill>
                            <a:schemeClr val="accent1"/>
                          </a:solidFill>
                        </a:rPr>
                        <a:t> la </a:t>
                      </a:r>
                      <a:r>
                        <a:rPr lang="en-US" sz="1400" b="1" dirty="0" err="1">
                          <a:solidFill>
                            <a:schemeClr val="accent1"/>
                          </a:solidFill>
                        </a:rPr>
                        <a:t>transparencia</a:t>
                      </a:r>
                      <a:r>
                        <a:rPr lang="en-US" sz="1400" b="1" dirty="0">
                          <a:solidFill>
                            <a:schemeClr val="accent1"/>
                          </a:solidFill>
                        </a:rPr>
                        <a:t> y </a:t>
                      </a:r>
                      <a:r>
                        <a:rPr lang="en-US" sz="1400" b="1" dirty="0" err="1">
                          <a:solidFill>
                            <a:schemeClr val="accent1"/>
                          </a:solidFill>
                        </a:rPr>
                        <a:t>confiabilidad</a:t>
                      </a:r>
                      <a:r>
                        <a:rPr lang="en-US" sz="1400" b="1" dirty="0">
                          <a:solidFill>
                            <a:schemeClr val="accent1"/>
                          </a:solidFill>
                        </a:rPr>
                        <a:t> de la </a:t>
                      </a:r>
                      <a:r>
                        <a:rPr lang="en-US" sz="1400" b="1" dirty="0" err="1">
                          <a:solidFill>
                            <a:schemeClr val="accent1"/>
                          </a:solidFill>
                        </a:rPr>
                        <a:t>información</a:t>
                      </a:r>
                      <a:r>
                        <a:rPr lang="en-US" sz="1400" b="1" dirty="0">
                          <a:solidFill>
                            <a:schemeClr val="accent1"/>
                          </a:solidFill>
                        </a:rPr>
                        <a:t> </a:t>
                      </a:r>
                      <a:r>
                        <a:rPr lang="en-US" sz="1400" b="1" dirty="0" err="1">
                          <a:solidFill>
                            <a:schemeClr val="accent1"/>
                          </a:solidFill>
                        </a:rPr>
                        <a:t>financiera</a:t>
                      </a:r>
                      <a:r>
                        <a:rPr lang="en-US" sz="1400" dirty="0">
                          <a:solidFill>
                            <a:schemeClr val="accent1"/>
                          </a:solidFill>
                        </a:rPr>
                        <a:t> de las </a:t>
                      </a:r>
                      <a:r>
                        <a:rPr lang="en-US" sz="1400" dirty="0" err="1">
                          <a:solidFill>
                            <a:schemeClr val="accent1"/>
                          </a:solidFill>
                        </a:rPr>
                        <a:t>empresas</a:t>
                      </a:r>
                      <a:r>
                        <a:rPr lang="en-US" sz="1400"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227990198"/>
                  </a:ext>
                </a:extLst>
              </a:tr>
              <a:tr h="486936">
                <a:tc>
                  <a:txBody>
                    <a:bodyPr/>
                    <a:lstStyle/>
                    <a:p>
                      <a:pPr>
                        <a:buNone/>
                      </a:pPr>
                      <a:r>
                        <a:rPr lang="en-US" sz="1400" b="1" dirty="0">
                          <a:solidFill>
                            <a:schemeClr val="accent1"/>
                          </a:solidFill>
                        </a:rPr>
                        <a:t>HIPAA</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a:solidFill>
                            <a:schemeClr val="accent1"/>
                          </a:solidFill>
                        </a:rPr>
                        <a:t>Ley de EE. UU. </a:t>
                      </a:r>
                      <a:r>
                        <a:rPr lang="en-US" sz="1400" dirty="0" err="1">
                          <a:solidFill>
                            <a:schemeClr val="accent1"/>
                          </a:solidFill>
                        </a:rPr>
                        <a:t>que</a:t>
                      </a:r>
                      <a:r>
                        <a:rPr lang="en-US" sz="1400" dirty="0">
                          <a:solidFill>
                            <a:schemeClr val="accent1"/>
                          </a:solidFill>
                        </a:rPr>
                        <a:t> </a:t>
                      </a:r>
                      <a:r>
                        <a:rPr lang="en-US" sz="1400" dirty="0" err="1">
                          <a:solidFill>
                            <a:schemeClr val="accent1"/>
                          </a:solidFill>
                        </a:rPr>
                        <a:t>establece</a:t>
                      </a:r>
                      <a:r>
                        <a:rPr lang="en-US" sz="1400" dirty="0">
                          <a:solidFill>
                            <a:schemeClr val="accent1"/>
                          </a:solidFill>
                        </a:rPr>
                        <a:t> </a:t>
                      </a:r>
                      <a:r>
                        <a:rPr lang="en-US" sz="1400" dirty="0" err="1">
                          <a:solidFill>
                            <a:schemeClr val="accent1"/>
                          </a:solidFill>
                        </a:rPr>
                        <a:t>requisitos</a:t>
                      </a:r>
                      <a:r>
                        <a:rPr lang="en-US" sz="1400" dirty="0">
                          <a:solidFill>
                            <a:schemeClr val="accent1"/>
                          </a:solidFill>
                        </a:rPr>
                        <a:t> para </a:t>
                      </a:r>
                      <a:r>
                        <a:rPr lang="en-US" sz="1400" b="1" dirty="0" err="1">
                          <a:solidFill>
                            <a:schemeClr val="accent1"/>
                          </a:solidFill>
                        </a:rPr>
                        <a:t>proteger</a:t>
                      </a:r>
                      <a:r>
                        <a:rPr lang="en-US" sz="1400" b="1" dirty="0">
                          <a:solidFill>
                            <a:schemeClr val="accent1"/>
                          </a:solidFill>
                        </a:rPr>
                        <a:t> la </a:t>
                      </a:r>
                      <a:r>
                        <a:rPr lang="en-US" sz="1400" b="1" dirty="0" err="1">
                          <a:solidFill>
                            <a:schemeClr val="accent1"/>
                          </a:solidFill>
                        </a:rPr>
                        <a:t>información</a:t>
                      </a:r>
                      <a:r>
                        <a:rPr lang="en-US" sz="1400" b="1" dirty="0">
                          <a:solidFill>
                            <a:schemeClr val="accent1"/>
                          </a:solidFill>
                        </a:rPr>
                        <a:t> </a:t>
                      </a:r>
                      <a:r>
                        <a:rPr lang="en-US" sz="1400" b="1" dirty="0" err="1">
                          <a:solidFill>
                            <a:schemeClr val="accent1"/>
                          </a:solidFill>
                        </a:rPr>
                        <a:t>médica</a:t>
                      </a:r>
                      <a:r>
                        <a:rPr lang="en-US" sz="1400" b="1" dirty="0">
                          <a:solidFill>
                            <a:schemeClr val="accent1"/>
                          </a:solidFill>
                        </a:rPr>
                        <a:t> y de </a:t>
                      </a:r>
                      <a:r>
                        <a:rPr lang="en-US" sz="1400" b="1" dirty="0" err="1">
                          <a:solidFill>
                            <a:schemeClr val="accent1"/>
                          </a:solidFill>
                        </a:rPr>
                        <a:t>salud</a:t>
                      </a:r>
                      <a:r>
                        <a:rPr lang="en-US" sz="1400" dirty="0">
                          <a:solidFill>
                            <a:schemeClr val="accent1"/>
                          </a:solidFill>
                        </a:rPr>
                        <a:t> de las personas.</a:t>
                      </a:r>
                    </a:p>
                  </a:txBody>
                  <a:tcPr anchor="ctr">
                    <a:lnL>
                      <a:noFill/>
                    </a:lnL>
                    <a:lnR>
                      <a:noFill/>
                    </a:lnR>
                    <a:lnT>
                      <a:noFill/>
                    </a:lnT>
                    <a:lnB>
                      <a:noFill/>
                    </a:lnB>
                    <a:noFill/>
                  </a:tcPr>
                </a:tc>
                <a:extLst>
                  <a:ext uri="{0D108BD9-81ED-4DB2-BD59-A6C34878D82A}">
                    <a16:rowId xmlns:a16="http://schemas.microsoft.com/office/drawing/2014/main" val="1666657508"/>
                  </a:ext>
                </a:extLst>
              </a:tr>
              <a:tr h="486936">
                <a:tc>
                  <a:txBody>
                    <a:bodyPr/>
                    <a:lstStyle/>
                    <a:p>
                      <a:pPr>
                        <a:buNone/>
                      </a:pPr>
                      <a:r>
                        <a:rPr lang="en-US" sz="1400" b="1" dirty="0">
                          <a:solidFill>
                            <a:schemeClr val="accent1"/>
                          </a:solidFill>
                        </a:rPr>
                        <a:t>Basel II</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a:solidFill>
                            <a:schemeClr val="accent1"/>
                          </a:solidFill>
                        </a:rPr>
                        <a:t>Marco para </a:t>
                      </a:r>
                      <a:r>
                        <a:rPr lang="en-US" sz="1400" dirty="0" err="1">
                          <a:solidFill>
                            <a:schemeClr val="accent1"/>
                          </a:solidFill>
                        </a:rPr>
                        <a:t>que</a:t>
                      </a:r>
                      <a:r>
                        <a:rPr lang="en-US" sz="1400" dirty="0">
                          <a:solidFill>
                            <a:schemeClr val="accent1"/>
                          </a:solidFill>
                        </a:rPr>
                        <a:t> </a:t>
                      </a:r>
                      <a:r>
                        <a:rPr lang="en-US" sz="1400" dirty="0" err="1">
                          <a:solidFill>
                            <a:schemeClr val="accent1"/>
                          </a:solidFill>
                        </a:rPr>
                        <a:t>los</a:t>
                      </a:r>
                      <a:r>
                        <a:rPr lang="en-US" sz="1400" dirty="0">
                          <a:solidFill>
                            <a:schemeClr val="accent1"/>
                          </a:solidFill>
                        </a:rPr>
                        <a:t> </a:t>
                      </a:r>
                      <a:r>
                        <a:rPr lang="en-US" sz="1400" b="1" dirty="0" err="1">
                          <a:solidFill>
                            <a:schemeClr val="accent1"/>
                          </a:solidFill>
                        </a:rPr>
                        <a:t>bancos</a:t>
                      </a:r>
                      <a:r>
                        <a:rPr lang="en-US" sz="1400" b="1" dirty="0">
                          <a:solidFill>
                            <a:schemeClr val="accent1"/>
                          </a:solidFill>
                        </a:rPr>
                        <a:t> </a:t>
                      </a:r>
                      <a:r>
                        <a:rPr lang="en-US" sz="1400" b="1" dirty="0" err="1">
                          <a:solidFill>
                            <a:schemeClr val="accent1"/>
                          </a:solidFill>
                        </a:rPr>
                        <a:t>gestionen</a:t>
                      </a:r>
                      <a:r>
                        <a:rPr lang="en-US" sz="1400" b="1" dirty="0">
                          <a:solidFill>
                            <a:schemeClr val="accent1"/>
                          </a:solidFill>
                        </a:rPr>
                        <a:t> </a:t>
                      </a:r>
                      <a:r>
                        <a:rPr lang="en-US" sz="1400" b="1" dirty="0" err="1">
                          <a:solidFill>
                            <a:schemeClr val="accent1"/>
                          </a:solidFill>
                        </a:rPr>
                        <a:t>mejor</a:t>
                      </a:r>
                      <a:r>
                        <a:rPr lang="en-US" sz="1400" b="1" dirty="0">
                          <a:solidFill>
                            <a:schemeClr val="accent1"/>
                          </a:solidFill>
                        </a:rPr>
                        <a:t> sus </a:t>
                      </a:r>
                      <a:r>
                        <a:rPr lang="en-US" sz="1400" b="1" dirty="0" err="1">
                          <a:solidFill>
                            <a:schemeClr val="accent1"/>
                          </a:solidFill>
                        </a:rPr>
                        <a:t>riesgos</a:t>
                      </a:r>
                      <a:r>
                        <a:rPr lang="en-US" sz="1400" dirty="0">
                          <a:solidFill>
                            <a:schemeClr val="accent1"/>
                          </a:solidFill>
                        </a:rPr>
                        <a:t>, </a:t>
                      </a:r>
                      <a:r>
                        <a:rPr lang="en-US" sz="1400" dirty="0" err="1">
                          <a:solidFill>
                            <a:schemeClr val="accent1"/>
                          </a:solidFill>
                        </a:rPr>
                        <a:t>especialmente</a:t>
                      </a:r>
                      <a:r>
                        <a:rPr lang="en-US" sz="1400" dirty="0">
                          <a:solidFill>
                            <a:schemeClr val="accent1"/>
                          </a:solidFill>
                        </a:rPr>
                        <a:t> el </a:t>
                      </a:r>
                      <a:r>
                        <a:rPr lang="en-US" sz="1400" dirty="0" err="1">
                          <a:solidFill>
                            <a:schemeClr val="accent1"/>
                          </a:solidFill>
                        </a:rPr>
                        <a:t>riesgo</a:t>
                      </a:r>
                      <a:r>
                        <a:rPr lang="en-US" sz="1400" dirty="0">
                          <a:solidFill>
                            <a:schemeClr val="accent1"/>
                          </a:solidFill>
                        </a:rPr>
                        <a:t> </a:t>
                      </a:r>
                      <a:r>
                        <a:rPr lang="en-US" sz="1400" dirty="0" err="1">
                          <a:solidFill>
                            <a:schemeClr val="accent1"/>
                          </a:solidFill>
                        </a:rPr>
                        <a:t>crediticio</a:t>
                      </a:r>
                      <a:r>
                        <a:rPr lang="en-US" sz="1400" dirty="0">
                          <a:solidFill>
                            <a:schemeClr val="accent1"/>
                          </a:solidFill>
                        </a:rPr>
                        <a:t>, de mercado y </a:t>
                      </a:r>
                      <a:r>
                        <a:rPr lang="en-US" sz="1400" dirty="0" err="1">
                          <a:solidFill>
                            <a:schemeClr val="accent1"/>
                          </a:solidFill>
                        </a:rPr>
                        <a:t>operacional</a:t>
                      </a:r>
                      <a:r>
                        <a:rPr lang="en-US" sz="1400"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3776839005"/>
                  </a:ext>
                </a:extLst>
              </a:tr>
              <a:tr h="685686">
                <a:tc>
                  <a:txBody>
                    <a:bodyPr/>
                    <a:lstStyle/>
                    <a:p>
                      <a:pPr>
                        <a:buNone/>
                      </a:pPr>
                      <a:r>
                        <a:rPr lang="en-US" sz="1400" b="1" dirty="0">
                          <a:solidFill>
                            <a:schemeClr val="accent1"/>
                          </a:solidFill>
                        </a:rPr>
                        <a:t>DORA</a:t>
                      </a:r>
                      <a:endParaRPr lang="en-US" sz="1400" dirty="0">
                        <a:solidFill>
                          <a:schemeClr val="accent1"/>
                        </a:solidFill>
                      </a:endParaRPr>
                    </a:p>
                  </a:txBody>
                  <a:tcPr anchor="ctr">
                    <a:lnL>
                      <a:noFill/>
                    </a:lnL>
                    <a:lnR>
                      <a:noFill/>
                    </a:lnR>
                    <a:lnT>
                      <a:noFill/>
                    </a:lnT>
                    <a:lnB>
                      <a:noFill/>
                    </a:lnB>
                    <a:noFill/>
                  </a:tcPr>
                </a:tc>
                <a:tc>
                  <a:txBody>
                    <a:bodyPr/>
                    <a:lstStyle/>
                    <a:p>
                      <a:pPr>
                        <a:buNone/>
                      </a:pPr>
                      <a:r>
                        <a:rPr lang="en-US" sz="1400" dirty="0" err="1">
                          <a:solidFill>
                            <a:schemeClr val="accent1"/>
                          </a:solidFill>
                        </a:rPr>
                        <a:t>Reglamento</a:t>
                      </a:r>
                      <a:r>
                        <a:rPr lang="en-US" sz="1400" dirty="0">
                          <a:solidFill>
                            <a:schemeClr val="accent1"/>
                          </a:solidFill>
                        </a:rPr>
                        <a:t> de la Unión Europea </a:t>
                      </a:r>
                      <a:r>
                        <a:rPr lang="en-US" sz="1400" dirty="0" err="1">
                          <a:solidFill>
                            <a:schemeClr val="accent1"/>
                          </a:solidFill>
                        </a:rPr>
                        <a:t>que</a:t>
                      </a:r>
                      <a:r>
                        <a:rPr lang="en-US" sz="1400" dirty="0">
                          <a:solidFill>
                            <a:schemeClr val="accent1"/>
                          </a:solidFill>
                        </a:rPr>
                        <a:t> </a:t>
                      </a:r>
                      <a:r>
                        <a:rPr lang="en-US" sz="1400" dirty="0" err="1">
                          <a:solidFill>
                            <a:schemeClr val="accent1"/>
                          </a:solidFill>
                        </a:rPr>
                        <a:t>busca</a:t>
                      </a:r>
                      <a:r>
                        <a:rPr lang="en-US" sz="1400" dirty="0">
                          <a:solidFill>
                            <a:schemeClr val="accent1"/>
                          </a:solidFill>
                        </a:rPr>
                        <a:t> </a:t>
                      </a:r>
                      <a:r>
                        <a:rPr lang="en-US" sz="1400" dirty="0" err="1">
                          <a:solidFill>
                            <a:schemeClr val="accent1"/>
                          </a:solidFill>
                        </a:rPr>
                        <a:t>fortalecer</a:t>
                      </a:r>
                      <a:r>
                        <a:rPr lang="en-US" sz="1400" dirty="0">
                          <a:solidFill>
                            <a:schemeClr val="accent1"/>
                          </a:solidFill>
                        </a:rPr>
                        <a:t> la </a:t>
                      </a:r>
                      <a:r>
                        <a:rPr lang="en-US" sz="1400" b="1" dirty="0" err="1">
                          <a:solidFill>
                            <a:schemeClr val="accent1"/>
                          </a:solidFill>
                        </a:rPr>
                        <a:t>resiliencia</a:t>
                      </a:r>
                      <a:r>
                        <a:rPr lang="en-US" sz="1400" b="1" dirty="0">
                          <a:solidFill>
                            <a:schemeClr val="accent1"/>
                          </a:solidFill>
                        </a:rPr>
                        <a:t> </a:t>
                      </a:r>
                      <a:r>
                        <a:rPr lang="en-US" sz="1400" b="1" dirty="0" err="1">
                          <a:solidFill>
                            <a:schemeClr val="accent1"/>
                          </a:solidFill>
                        </a:rPr>
                        <a:t>operativa</a:t>
                      </a:r>
                      <a:r>
                        <a:rPr lang="en-US" sz="1400" b="1" dirty="0">
                          <a:solidFill>
                            <a:schemeClr val="accent1"/>
                          </a:solidFill>
                        </a:rPr>
                        <a:t> digital del sector </a:t>
                      </a:r>
                      <a:r>
                        <a:rPr lang="en-US" sz="1400" b="1" dirty="0" err="1">
                          <a:solidFill>
                            <a:schemeClr val="accent1"/>
                          </a:solidFill>
                        </a:rPr>
                        <a:t>financiero</a:t>
                      </a:r>
                      <a:r>
                        <a:rPr lang="en-US" sz="1400" dirty="0">
                          <a:solidFill>
                            <a:schemeClr val="accent1"/>
                          </a:solidFill>
                        </a:rPr>
                        <a:t>, </a:t>
                      </a:r>
                      <a:r>
                        <a:rPr lang="en-US" sz="1400" dirty="0" err="1">
                          <a:solidFill>
                            <a:schemeClr val="accent1"/>
                          </a:solidFill>
                        </a:rPr>
                        <a:t>incluyendo</a:t>
                      </a:r>
                      <a:r>
                        <a:rPr lang="en-US" sz="1400" dirty="0">
                          <a:solidFill>
                            <a:schemeClr val="accent1"/>
                          </a:solidFill>
                        </a:rPr>
                        <a:t> la </a:t>
                      </a:r>
                      <a:r>
                        <a:rPr lang="en-US" sz="1400" dirty="0" err="1">
                          <a:solidFill>
                            <a:schemeClr val="accent1"/>
                          </a:solidFill>
                        </a:rPr>
                        <a:t>gestión</a:t>
                      </a:r>
                      <a:r>
                        <a:rPr lang="en-US" sz="1400" dirty="0">
                          <a:solidFill>
                            <a:schemeClr val="accent1"/>
                          </a:solidFill>
                        </a:rPr>
                        <a:t> de </a:t>
                      </a:r>
                      <a:r>
                        <a:rPr lang="en-US" sz="1400" dirty="0" err="1">
                          <a:solidFill>
                            <a:schemeClr val="accent1"/>
                          </a:solidFill>
                        </a:rPr>
                        <a:t>riesgos</a:t>
                      </a:r>
                      <a:r>
                        <a:rPr lang="en-US" sz="1400" dirty="0">
                          <a:solidFill>
                            <a:schemeClr val="accent1"/>
                          </a:solidFill>
                        </a:rPr>
                        <a:t> </a:t>
                      </a:r>
                      <a:r>
                        <a:rPr lang="en-US" sz="1400" dirty="0" err="1">
                          <a:solidFill>
                            <a:schemeClr val="accent1"/>
                          </a:solidFill>
                        </a:rPr>
                        <a:t>tecnológicos</a:t>
                      </a:r>
                      <a:r>
                        <a:rPr lang="en-US" sz="1400" dirty="0">
                          <a:solidFill>
                            <a:schemeClr val="accent1"/>
                          </a:solidFill>
                        </a:rPr>
                        <a:t> y </a:t>
                      </a:r>
                      <a:r>
                        <a:rPr lang="en-US" sz="1400" dirty="0" err="1">
                          <a:solidFill>
                            <a:schemeClr val="accent1"/>
                          </a:solidFill>
                        </a:rPr>
                        <a:t>ciberseguridad</a:t>
                      </a:r>
                      <a:r>
                        <a:rPr lang="en-US" sz="1400" dirty="0">
                          <a:solidFill>
                            <a:schemeClr val="accent1"/>
                          </a:solidFill>
                        </a:rPr>
                        <a:t>.</a:t>
                      </a:r>
                    </a:p>
                  </a:txBody>
                  <a:tcPr anchor="ctr">
                    <a:lnL>
                      <a:noFill/>
                    </a:lnL>
                    <a:lnR>
                      <a:noFill/>
                    </a:lnR>
                    <a:lnT>
                      <a:noFill/>
                    </a:lnT>
                    <a:lnB>
                      <a:noFill/>
                    </a:lnB>
                    <a:noFill/>
                  </a:tcPr>
                </a:tc>
                <a:extLst>
                  <a:ext uri="{0D108BD9-81ED-4DB2-BD59-A6C34878D82A}">
                    <a16:rowId xmlns:a16="http://schemas.microsoft.com/office/drawing/2014/main" val="2138400007"/>
                  </a:ext>
                </a:extLst>
              </a:tr>
            </a:tbl>
          </a:graphicData>
        </a:graphic>
      </p:graphicFrame>
      <p:sp>
        <p:nvSpPr>
          <p:cNvPr id="5" name="Rectangle 2">
            <a:extLst>
              <a:ext uri="{FF2B5EF4-FFF2-40B4-BE49-F238E27FC236}">
                <a16:creationId xmlns:a16="http://schemas.microsoft.com/office/drawing/2014/main" id="{F5E2A7CD-776A-9AA2-C691-21D333346192}"/>
              </a:ext>
            </a:extLst>
          </p:cNvPr>
          <p:cNvSpPr txBox="1">
            <a:spLocks noChangeArrowheads="1"/>
          </p:cNvSpPr>
          <p:nvPr/>
        </p:nvSpPr>
        <p:spPr>
          <a:xfrm>
            <a:off x="728294" y="882058"/>
            <a:ext cx="11029616" cy="988332"/>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s-MX" dirty="0" err="1"/>
              <a:t>Estándares</a:t>
            </a:r>
            <a:r>
              <a:rPr lang="en-US" altLang="es-MX" dirty="0"/>
              <a:t>/MARCOS REGULATORIOS</a:t>
            </a:r>
            <a:endParaRPr lang="es-ES" altLang="es-MX" dirty="0"/>
          </a:p>
        </p:txBody>
      </p:sp>
    </p:spTree>
    <p:extLst>
      <p:ext uri="{BB962C8B-B14F-4D97-AF65-F5344CB8AC3E}">
        <p14:creationId xmlns:p14="http://schemas.microsoft.com/office/powerpoint/2010/main" val="1722949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CA6C546D-E482-EEA3-7F38-D0FD13021086}"/>
              </a:ext>
            </a:extLst>
          </p:cNvPr>
          <p:cNvSpPr txBox="1"/>
          <p:nvPr/>
        </p:nvSpPr>
        <p:spPr>
          <a:xfrm>
            <a:off x="968963" y="2469445"/>
            <a:ext cx="10254071" cy="267765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b="1" dirty="0">
                <a:solidFill>
                  <a:srgbClr val="1A3260"/>
                </a:solidFill>
              </a:rPr>
              <a:t>NIST / ISO 27002</a:t>
            </a:r>
            <a:r>
              <a:rPr lang="en-US" sz="2400" dirty="0">
                <a:solidFill>
                  <a:srgbClr val="1A3260"/>
                </a:solidFill>
              </a:rPr>
              <a:t> → </a:t>
            </a:r>
            <a:r>
              <a:rPr lang="en-US" sz="2400" dirty="0" err="1">
                <a:solidFill>
                  <a:srgbClr val="1A3260"/>
                </a:solidFill>
              </a:rPr>
              <a:t>Seguridad</a:t>
            </a:r>
            <a:r>
              <a:rPr lang="en-US" sz="2400" dirty="0">
                <a:solidFill>
                  <a:srgbClr val="1A3260"/>
                </a:solidFill>
              </a:rPr>
              <a:t> de la </a:t>
            </a:r>
            <a:r>
              <a:rPr lang="en-US" sz="2400" dirty="0" err="1">
                <a:solidFill>
                  <a:srgbClr val="1A3260"/>
                </a:solidFill>
              </a:rPr>
              <a:t>información</a:t>
            </a:r>
            <a:r>
              <a:rPr lang="en-US" sz="2400" dirty="0">
                <a:solidFill>
                  <a:srgbClr val="1A3260"/>
                </a:solidFill>
              </a:rPr>
              <a:t>.</a:t>
            </a:r>
            <a:endParaRPr lang="es-ES" sz="2400" dirty="0"/>
          </a:p>
          <a:p>
            <a:r>
              <a:rPr lang="en-US" sz="2400" b="1" dirty="0">
                <a:solidFill>
                  <a:srgbClr val="1A3260"/>
                </a:solidFill>
              </a:rPr>
              <a:t>COSO</a:t>
            </a:r>
            <a:r>
              <a:rPr lang="en-US" sz="2400" dirty="0">
                <a:solidFill>
                  <a:srgbClr val="1A3260"/>
                </a:solidFill>
              </a:rPr>
              <a:t> → Control </a:t>
            </a:r>
            <a:r>
              <a:rPr lang="en-US" sz="2400" dirty="0" err="1">
                <a:solidFill>
                  <a:srgbClr val="1A3260"/>
                </a:solidFill>
              </a:rPr>
              <a:t>interno</a:t>
            </a:r>
            <a:r>
              <a:rPr lang="en-US" sz="2400" dirty="0">
                <a:solidFill>
                  <a:srgbClr val="1A3260"/>
                </a:solidFill>
              </a:rPr>
              <a:t> y </a:t>
            </a:r>
            <a:r>
              <a:rPr lang="en-US" sz="2400" dirty="0" err="1">
                <a:solidFill>
                  <a:srgbClr val="1A3260"/>
                </a:solidFill>
              </a:rPr>
              <a:t>gestión</a:t>
            </a:r>
            <a:r>
              <a:rPr lang="en-US" sz="2400" dirty="0">
                <a:solidFill>
                  <a:srgbClr val="1A3260"/>
                </a:solidFill>
              </a:rPr>
              <a:t> de </a:t>
            </a:r>
            <a:r>
              <a:rPr lang="en-US" sz="2400" dirty="0" err="1">
                <a:solidFill>
                  <a:srgbClr val="1A3260"/>
                </a:solidFill>
              </a:rPr>
              <a:t>riesgos</a:t>
            </a:r>
            <a:r>
              <a:rPr lang="en-US" sz="2400" dirty="0">
                <a:solidFill>
                  <a:srgbClr val="1A3260"/>
                </a:solidFill>
              </a:rPr>
              <a:t>.</a:t>
            </a:r>
          </a:p>
          <a:p>
            <a:r>
              <a:rPr lang="en-US" sz="2400" b="1" dirty="0">
                <a:solidFill>
                  <a:srgbClr val="1A3260"/>
                </a:solidFill>
              </a:rPr>
              <a:t>SOX</a:t>
            </a:r>
            <a:r>
              <a:rPr lang="en-US" sz="2400" dirty="0">
                <a:solidFill>
                  <a:srgbClr val="1A3260"/>
                </a:solidFill>
              </a:rPr>
              <a:t> → </a:t>
            </a:r>
            <a:r>
              <a:rPr lang="en-US" sz="2400" dirty="0" err="1">
                <a:solidFill>
                  <a:srgbClr val="1A3260"/>
                </a:solidFill>
              </a:rPr>
              <a:t>Información</a:t>
            </a:r>
            <a:r>
              <a:rPr lang="en-US" sz="2400" dirty="0">
                <a:solidFill>
                  <a:srgbClr val="1A3260"/>
                </a:solidFill>
              </a:rPr>
              <a:t> y </a:t>
            </a:r>
            <a:r>
              <a:rPr lang="en-US" sz="2400" dirty="0" err="1">
                <a:solidFill>
                  <a:srgbClr val="1A3260"/>
                </a:solidFill>
              </a:rPr>
              <a:t>controles</a:t>
            </a:r>
            <a:r>
              <a:rPr lang="en-US" sz="2400" dirty="0">
                <a:solidFill>
                  <a:srgbClr val="1A3260"/>
                </a:solidFill>
              </a:rPr>
              <a:t> </a:t>
            </a:r>
            <a:r>
              <a:rPr lang="en-US" sz="2400" dirty="0" err="1">
                <a:solidFill>
                  <a:srgbClr val="1A3260"/>
                </a:solidFill>
              </a:rPr>
              <a:t>financieros</a:t>
            </a:r>
            <a:r>
              <a:rPr lang="en-US" sz="2400" dirty="0">
                <a:solidFill>
                  <a:srgbClr val="1A3260"/>
                </a:solidFill>
              </a:rPr>
              <a:t>.</a:t>
            </a:r>
          </a:p>
          <a:p>
            <a:r>
              <a:rPr lang="en-US" sz="2400" b="1" dirty="0">
                <a:solidFill>
                  <a:srgbClr val="1A3260"/>
                </a:solidFill>
              </a:rPr>
              <a:t>HIPAA</a:t>
            </a:r>
            <a:r>
              <a:rPr lang="en-US" sz="2400" dirty="0">
                <a:solidFill>
                  <a:srgbClr val="1A3260"/>
                </a:solidFill>
              </a:rPr>
              <a:t> → </a:t>
            </a:r>
            <a:r>
              <a:rPr lang="en-US" sz="2400" dirty="0" err="1">
                <a:solidFill>
                  <a:srgbClr val="1A3260"/>
                </a:solidFill>
              </a:rPr>
              <a:t>Protección</a:t>
            </a:r>
            <a:r>
              <a:rPr lang="en-US" sz="2400" dirty="0">
                <a:solidFill>
                  <a:srgbClr val="1A3260"/>
                </a:solidFill>
              </a:rPr>
              <a:t> de </a:t>
            </a:r>
            <a:r>
              <a:rPr lang="en-US" sz="2400" dirty="0" err="1">
                <a:solidFill>
                  <a:srgbClr val="1A3260"/>
                </a:solidFill>
              </a:rPr>
              <a:t>información</a:t>
            </a:r>
            <a:r>
              <a:rPr lang="en-US" sz="2400" dirty="0">
                <a:solidFill>
                  <a:srgbClr val="1A3260"/>
                </a:solidFill>
              </a:rPr>
              <a:t> de </a:t>
            </a:r>
            <a:r>
              <a:rPr lang="en-US" sz="2400" dirty="0" err="1">
                <a:solidFill>
                  <a:srgbClr val="1A3260"/>
                </a:solidFill>
              </a:rPr>
              <a:t>salud</a:t>
            </a:r>
            <a:r>
              <a:rPr lang="en-US" sz="2400" dirty="0">
                <a:solidFill>
                  <a:srgbClr val="1A3260"/>
                </a:solidFill>
              </a:rPr>
              <a:t>.</a:t>
            </a:r>
          </a:p>
          <a:p>
            <a:r>
              <a:rPr lang="en-US" sz="2400" b="1" dirty="0">
                <a:solidFill>
                  <a:srgbClr val="1A3260"/>
                </a:solidFill>
              </a:rPr>
              <a:t>Basel II</a:t>
            </a:r>
            <a:r>
              <a:rPr lang="en-US" sz="2400" dirty="0">
                <a:solidFill>
                  <a:srgbClr val="1A3260"/>
                </a:solidFill>
              </a:rPr>
              <a:t> → </a:t>
            </a:r>
            <a:r>
              <a:rPr lang="en-US" sz="2400" dirty="0" err="1">
                <a:solidFill>
                  <a:srgbClr val="1A3260"/>
                </a:solidFill>
              </a:rPr>
              <a:t>Riesgos</a:t>
            </a:r>
            <a:r>
              <a:rPr lang="en-US" sz="2400" dirty="0">
                <a:solidFill>
                  <a:srgbClr val="1A3260"/>
                </a:solidFill>
              </a:rPr>
              <a:t> </a:t>
            </a:r>
            <a:r>
              <a:rPr lang="en-US" sz="2400" dirty="0" err="1">
                <a:solidFill>
                  <a:srgbClr val="1A3260"/>
                </a:solidFill>
              </a:rPr>
              <a:t>en</a:t>
            </a:r>
            <a:r>
              <a:rPr lang="en-US" sz="2400" dirty="0">
                <a:solidFill>
                  <a:srgbClr val="1A3260"/>
                </a:solidFill>
              </a:rPr>
              <a:t> </a:t>
            </a:r>
            <a:r>
              <a:rPr lang="en-US" sz="2400" dirty="0" err="1">
                <a:solidFill>
                  <a:srgbClr val="1A3260"/>
                </a:solidFill>
              </a:rPr>
              <a:t>entidades</a:t>
            </a:r>
            <a:r>
              <a:rPr lang="en-US" sz="2400" dirty="0">
                <a:solidFill>
                  <a:srgbClr val="1A3260"/>
                </a:solidFill>
              </a:rPr>
              <a:t> </a:t>
            </a:r>
            <a:r>
              <a:rPr lang="en-US" sz="2400" dirty="0" err="1">
                <a:solidFill>
                  <a:srgbClr val="1A3260"/>
                </a:solidFill>
              </a:rPr>
              <a:t>bancarias</a:t>
            </a:r>
            <a:r>
              <a:rPr lang="en-US" sz="2400" dirty="0">
                <a:solidFill>
                  <a:srgbClr val="1A3260"/>
                </a:solidFill>
              </a:rPr>
              <a:t>.</a:t>
            </a:r>
          </a:p>
          <a:p>
            <a:r>
              <a:rPr lang="en-US" sz="2400" b="1" dirty="0">
                <a:solidFill>
                  <a:srgbClr val="1A3260"/>
                </a:solidFill>
              </a:rPr>
              <a:t>DORA</a:t>
            </a:r>
            <a:r>
              <a:rPr lang="en-US" sz="2400" dirty="0">
                <a:solidFill>
                  <a:srgbClr val="1A3260"/>
                </a:solidFill>
              </a:rPr>
              <a:t> → </a:t>
            </a:r>
            <a:r>
              <a:rPr lang="en-US" sz="2400" dirty="0" err="1">
                <a:solidFill>
                  <a:srgbClr val="1A3260"/>
                </a:solidFill>
              </a:rPr>
              <a:t>Resiliencia</a:t>
            </a:r>
            <a:r>
              <a:rPr lang="en-US" sz="2400" dirty="0">
                <a:solidFill>
                  <a:srgbClr val="1A3260"/>
                </a:solidFill>
              </a:rPr>
              <a:t> y </a:t>
            </a:r>
            <a:r>
              <a:rPr lang="en-US" sz="2400" dirty="0" err="1">
                <a:solidFill>
                  <a:srgbClr val="1A3260"/>
                </a:solidFill>
              </a:rPr>
              <a:t>riesgos</a:t>
            </a:r>
            <a:r>
              <a:rPr lang="en-US" sz="2400" dirty="0">
                <a:solidFill>
                  <a:srgbClr val="1A3260"/>
                </a:solidFill>
              </a:rPr>
              <a:t> </a:t>
            </a:r>
            <a:r>
              <a:rPr lang="en-US" sz="2400" dirty="0" err="1">
                <a:solidFill>
                  <a:srgbClr val="1A3260"/>
                </a:solidFill>
              </a:rPr>
              <a:t>tecnológicos</a:t>
            </a:r>
            <a:r>
              <a:rPr lang="en-US" sz="2400" dirty="0">
                <a:solidFill>
                  <a:srgbClr val="1A3260"/>
                </a:solidFill>
              </a:rPr>
              <a:t> </a:t>
            </a:r>
            <a:r>
              <a:rPr lang="en-US" sz="2400" dirty="0" err="1">
                <a:solidFill>
                  <a:srgbClr val="1A3260"/>
                </a:solidFill>
              </a:rPr>
              <a:t>en</a:t>
            </a:r>
            <a:r>
              <a:rPr lang="en-US" sz="2400" dirty="0">
                <a:solidFill>
                  <a:srgbClr val="1A3260"/>
                </a:solidFill>
              </a:rPr>
              <a:t> el sector </a:t>
            </a:r>
            <a:r>
              <a:rPr lang="en-US" sz="2400" dirty="0" err="1">
                <a:solidFill>
                  <a:srgbClr val="1A3260"/>
                </a:solidFill>
              </a:rPr>
              <a:t>financiero</a:t>
            </a:r>
            <a:r>
              <a:rPr lang="en-US" sz="2400" dirty="0">
                <a:solidFill>
                  <a:srgbClr val="1A3260"/>
                </a:solidFill>
              </a:rPr>
              <a:t> </a:t>
            </a:r>
            <a:r>
              <a:rPr lang="en-US" sz="2400" dirty="0" err="1">
                <a:solidFill>
                  <a:srgbClr val="1A3260"/>
                </a:solidFill>
              </a:rPr>
              <a:t>europeo</a:t>
            </a:r>
            <a:r>
              <a:rPr lang="en-US" sz="2400" dirty="0">
                <a:solidFill>
                  <a:srgbClr val="1A3260"/>
                </a:solidFill>
              </a:rPr>
              <a:t>.</a:t>
            </a:r>
          </a:p>
          <a:p>
            <a:pPr algn="ctr"/>
            <a:endParaRPr lang="en-US" sz="2400">
              <a:solidFill>
                <a:srgbClr val="1A3260"/>
              </a:solidFill>
            </a:endParaRPr>
          </a:p>
        </p:txBody>
      </p:sp>
      <p:sp>
        <p:nvSpPr>
          <p:cNvPr id="5" name="Rectangle 2">
            <a:extLst>
              <a:ext uri="{FF2B5EF4-FFF2-40B4-BE49-F238E27FC236}">
                <a16:creationId xmlns:a16="http://schemas.microsoft.com/office/drawing/2014/main" id="{BEB6A199-31BF-008B-2914-A923DEACA1F1}"/>
              </a:ext>
            </a:extLst>
          </p:cNvPr>
          <p:cNvSpPr txBox="1">
            <a:spLocks noChangeArrowheads="1"/>
          </p:cNvSpPr>
          <p:nvPr/>
        </p:nvSpPr>
        <p:spPr>
          <a:xfrm>
            <a:off x="728294" y="882058"/>
            <a:ext cx="11029616" cy="988332"/>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s-MX" dirty="0" err="1"/>
              <a:t>Estándares</a:t>
            </a:r>
            <a:r>
              <a:rPr lang="en-US" altLang="es-MX" dirty="0"/>
              <a:t>/MARCOS REGULATORIOS</a:t>
            </a:r>
            <a:endParaRPr lang="es-ES" altLang="es-MX" dirty="0"/>
          </a:p>
        </p:txBody>
      </p:sp>
    </p:spTree>
    <p:extLst>
      <p:ext uri="{BB962C8B-B14F-4D97-AF65-F5344CB8AC3E}">
        <p14:creationId xmlns:p14="http://schemas.microsoft.com/office/powerpoint/2010/main" val="2367929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4" name="Rectangle 4">
            <a:extLst>
              <a:ext uri="{FF2B5EF4-FFF2-40B4-BE49-F238E27FC236}">
                <a16:creationId xmlns:a16="http://schemas.microsoft.com/office/drawing/2014/main" id="{A3092E80-0A54-45F7-9C1B-580E18E660E3}"/>
              </a:ext>
            </a:extLst>
          </p:cNvPr>
          <p:cNvSpPr>
            <a:spLocks noGrp="1" noChangeArrowheads="1"/>
          </p:cNvSpPr>
          <p:nvPr>
            <p:ph type="title"/>
          </p:nvPr>
        </p:nvSpPr>
        <p:spPr/>
        <p:txBody>
          <a:bodyPr>
            <a:normAutofit/>
          </a:bodyPr>
          <a:lstStyle/>
          <a:p>
            <a:r>
              <a:rPr lang="es-MX" altLang="es-MX" sz="4000">
                <a:effectLst>
                  <a:outerShdw blurRad="38100" dist="38100" dir="2700000" algn="tl">
                    <a:srgbClr val="C0C0C0"/>
                  </a:outerShdw>
                </a:effectLst>
              </a:rPr>
              <a:t>Gobierno TI</a:t>
            </a:r>
            <a:endParaRPr lang="es-ES" altLang="es-MX" sz="4000">
              <a:effectLst>
                <a:outerShdw blurRad="38100" dist="38100" dir="2700000" algn="tl">
                  <a:srgbClr val="C0C0C0"/>
                </a:outerShdw>
              </a:effectLst>
            </a:endParaRPr>
          </a:p>
        </p:txBody>
      </p:sp>
      <p:sp>
        <p:nvSpPr>
          <p:cNvPr id="460802" name="Rectangle 2">
            <a:extLst>
              <a:ext uri="{FF2B5EF4-FFF2-40B4-BE49-F238E27FC236}">
                <a16:creationId xmlns:a16="http://schemas.microsoft.com/office/drawing/2014/main" id="{F38BB5B7-30AF-4CCB-9085-B37E21A81CE9}"/>
              </a:ext>
            </a:extLst>
          </p:cNvPr>
          <p:cNvSpPr>
            <a:spLocks noGrp="1" noChangeArrowheads="1"/>
          </p:cNvSpPr>
          <p:nvPr>
            <p:ph idx="1"/>
          </p:nvPr>
        </p:nvSpPr>
        <p:spPr>
          <a:xfrm>
            <a:off x="443620" y="1916113"/>
            <a:ext cx="11167188" cy="4419600"/>
          </a:xfrm>
        </p:spPr>
        <p:txBody>
          <a:bodyPr vert="horz" lIns="91440" tIns="45720" rIns="91440" bIns="45720" rtlCol="0">
            <a:normAutofit/>
          </a:bodyPr>
          <a:lstStyle/>
          <a:p>
            <a:pPr marL="0" indent="0" algn="just">
              <a:lnSpc>
                <a:spcPct val="150000"/>
              </a:lnSpc>
              <a:buNone/>
            </a:pPr>
            <a:r>
              <a:rPr lang="es-ES" altLang="es-MX">
                <a:solidFill>
                  <a:schemeClr val="accent1"/>
                </a:solidFill>
              </a:rPr>
              <a:t>Cuando se implementa de manera correcta, el Gobierno TI debería proveer cuatro resultados básicos:</a:t>
            </a:r>
          </a:p>
          <a:p>
            <a:pPr marL="0" indent="0" algn="just">
              <a:lnSpc>
                <a:spcPct val="150000"/>
              </a:lnSpc>
              <a:buNone/>
            </a:pPr>
            <a:endParaRPr lang="es-ES" altLang="es-MX">
              <a:solidFill>
                <a:schemeClr val="accent1"/>
              </a:solidFill>
            </a:endParaRPr>
          </a:p>
          <a:p>
            <a:pPr lvl="1"/>
            <a:r>
              <a:rPr lang="es-ES" altLang="es-MX" sz="1800">
                <a:solidFill>
                  <a:schemeClr val="accent1"/>
                </a:solidFill>
              </a:rPr>
              <a:t>Alineación estratégica</a:t>
            </a:r>
          </a:p>
          <a:p>
            <a:pPr lvl="1"/>
            <a:r>
              <a:rPr lang="es-ES" altLang="es-MX" sz="1800">
                <a:solidFill>
                  <a:schemeClr val="accent1"/>
                </a:solidFill>
              </a:rPr>
              <a:t>Entrega de valor</a:t>
            </a:r>
          </a:p>
          <a:p>
            <a:pPr lvl="1"/>
            <a:r>
              <a:rPr lang="es-ES" altLang="es-MX" sz="1800">
                <a:solidFill>
                  <a:schemeClr val="accent1"/>
                </a:solidFill>
              </a:rPr>
              <a:t>Gestión de riesgos</a:t>
            </a:r>
          </a:p>
          <a:p>
            <a:pPr lvl="1"/>
            <a:r>
              <a:rPr lang="es-ES" altLang="es-MX" sz="1800">
                <a:solidFill>
                  <a:schemeClr val="accent1"/>
                </a:solidFill>
              </a:rPr>
              <a:t>Medición del desempeño</a:t>
            </a:r>
            <a:endParaRPr lang="en-US" altLang="es-MX" sz="1800">
              <a:solidFill>
                <a:schemeClr val="accent1"/>
              </a:solidFill>
            </a:endParaRPr>
          </a:p>
        </p:txBody>
      </p:sp>
      <p:sp>
        <p:nvSpPr>
          <p:cNvPr id="3" name="Marcador de número de diapositiva 2">
            <a:extLst>
              <a:ext uri="{FF2B5EF4-FFF2-40B4-BE49-F238E27FC236}">
                <a16:creationId xmlns:a16="http://schemas.microsoft.com/office/drawing/2014/main" id="{C8E69202-9F76-4636-AA2F-ECB261BE0C9A}"/>
              </a:ext>
            </a:extLst>
          </p:cNvPr>
          <p:cNvSpPr>
            <a:spLocks noGrp="1"/>
          </p:cNvSpPr>
          <p:nvPr>
            <p:ph type="sldNum" sz="quarter" idx="12"/>
          </p:nvPr>
        </p:nvSpPr>
        <p:spPr/>
        <p:txBody>
          <a:bodyPr/>
          <a:lstStyle/>
          <a:p>
            <a:fld id="{30A8E979-4E28-491D-8002-836F9D9327AB}" type="slidenum">
              <a:rPr lang="es-MX" smtClean="0"/>
              <a:t>22</a:t>
            </a:fld>
            <a:endParaRPr lang="es-MX"/>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901" name="Rectangle 5">
            <a:extLst>
              <a:ext uri="{FF2B5EF4-FFF2-40B4-BE49-F238E27FC236}">
                <a16:creationId xmlns:a16="http://schemas.microsoft.com/office/drawing/2014/main" id="{CB3AEE61-19D1-4D6D-A034-0C5FD8E7DF90}"/>
              </a:ext>
            </a:extLst>
          </p:cNvPr>
          <p:cNvSpPr>
            <a:spLocks noGrp="1" noChangeArrowheads="1"/>
          </p:cNvSpPr>
          <p:nvPr>
            <p:ph type="title"/>
          </p:nvPr>
        </p:nvSpPr>
        <p:spPr/>
        <p:txBody>
          <a:bodyPr>
            <a:normAutofit/>
          </a:bodyPr>
          <a:lstStyle/>
          <a:p>
            <a:r>
              <a:rPr lang="es-MX" altLang="es-MX" sz="4000">
                <a:effectLst>
                  <a:outerShdw blurRad="38100" dist="38100" dir="2700000" algn="tl">
                    <a:srgbClr val="C0C0C0"/>
                  </a:outerShdw>
                </a:effectLst>
              </a:rPr>
              <a:t>Gobierno TI</a:t>
            </a:r>
            <a:endParaRPr lang="es-ES" altLang="es-MX" sz="4000">
              <a:effectLst>
                <a:outerShdw blurRad="38100" dist="38100" dir="2700000" algn="tl">
                  <a:srgbClr val="C0C0C0"/>
                </a:outerShdw>
              </a:effectLst>
            </a:endParaRPr>
          </a:p>
        </p:txBody>
      </p:sp>
      <p:sp>
        <p:nvSpPr>
          <p:cNvPr id="464898" name="Rectangle 2">
            <a:extLst>
              <a:ext uri="{FF2B5EF4-FFF2-40B4-BE49-F238E27FC236}">
                <a16:creationId xmlns:a16="http://schemas.microsoft.com/office/drawing/2014/main" id="{19807659-56C5-4873-9BB0-886B72D11E0E}"/>
              </a:ext>
            </a:extLst>
          </p:cNvPr>
          <p:cNvSpPr>
            <a:spLocks noGrp="1" noChangeArrowheads="1"/>
          </p:cNvSpPr>
          <p:nvPr>
            <p:ph idx="1"/>
          </p:nvPr>
        </p:nvSpPr>
        <p:spPr>
          <a:xfrm>
            <a:off x="581191" y="1991762"/>
            <a:ext cx="10774349" cy="4029626"/>
          </a:xfrm>
        </p:spPr>
        <p:txBody>
          <a:bodyPr>
            <a:normAutofit fontScale="77500" lnSpcReduction="20000"/>
          </a:bodyPr>
          <a:lstStyle/>
          <a:p>
            <a:pPr marL="0" indent="0">
              <a:lnSpc>
                <a:spcPct val="110000"/>
              </a:lnSpc>
              <a:buNone/>
            </a:pPr>
            <a:r>
              <a:rPr lang="es-ES" altLang="es-MX" sz="1900" b="1">
                <a:solidFill>
                  <a:schemeClr val="accent1"/>
                </a:solidFill>
              </a:rPr>
              <a:t>Alineación Estratégica</a:t>
            </a:r>
          </a:p>
          <a:p>
            <a:pPr lvl="1">
              <a:lnSpc>
                <a:spcPct val="110000"/>
              </a:lnSpc>
              <a:buFont typeface="Wingdings" panose="05000000000000000000" pitchFamily="2" charset="2"/>
              <a:buChar char="§"/>
            </a:pPr>
            <a:r>
              <a:rPr lang="es-ES" altLang="es-MX" sz="1900">
                <a:solidFill>
                  <a:schemeClr val="accent1"/>
                </a:solidFill>
              </a:rPr>
              <a:t>Los requisitos en tecnología de la información deberían darse como consecuencia de los requisitos del negocio.</a:t>
            </a:r>
          </a:p>
          <a:p>
            <a:pPr lvl="1">
              <a:lnSpc>
                <a:spcPct val="110000"/>
              </a:lnSpc>
              <a:buFont typeface="Wingdings" panose="05000000000000000000" pitchFamily="2" charset="2"/>
              <a:buChar char="§"/>
            </a:pPr>
            <a:r>
              <a:rPr lang="es-ES" altLang="es-MX" sz="1900">
                <a:solidFill>
                  <a:schemeClr val="accent1"/>
                </a:solidFill>
              </a:rPr>
              <a:t>Las soluciones de la tecnología  de la información necesitan satisfacer los procesos del negocio.</a:t>
            </a:r>
          </a:p>
          <a:p>
            <a:pPr lvl="1">
              <a:lnSpc>
                <a:spcPct val="110000"/>
              </a:lnSpc>
              <a:buFont typeface="Wingdings" panose="05000000000000000000" pitchFamily="2" charset="2"/>
              <a:buChar char="§"/>
            </a:pPr>
            <a:r>
              <a:rPr lang="es-ES" altLang="es-MX" sz="1900">
                <a:solidFill>
                  <a:schemeClr val="accent1"/>
                </a:solidFill>
              </a:rPr>
              <a:t>La inversión en la tecnología de la información debería estar alineada con la estrategia del negocio y el perfil de riesgo acordado.</a:t>
            </a:r>
          </a:p>
          <a:p>
            <a:pPr>
              <a:lnSpc>
                <a:spcPct val="110000"/>
              </a:lnSpc>
              <a:buFont typeface="Wingdings" panose="05000000000000000000" pitchFamily="2" charset="2"/>
              <a:buChar char="§"/>
            </a:pPr>
            <a:endParaRPr lang="es-ES" altLang="es-MX" sz="1900">
              <a:solidFill>
                <a:schemeClr val="accent1"/>
              </a:solidFill>
            </a:endParaRPr>
          </a:p>
          <a:p>
            <a:pPr marL="0" indent="0">
              <a:lnSpc>
                <a:spcPct val="110000"/>
              </a:lnSpc>
              <a:buNone/>
            </a:pPr>
            <a:r>
              <a:rPr lang="es-ES" altLang="es-MX" sz="1900" b="1">
                <a:solidFill>
                  <a:schemeClr val="accent1"/>
                </a:solidFill>
              </a:rPr>
              <a:t>Entrega de Valor</a:t>
            </a:r>
            <a:endParaRPr lang="es-ES" altLang="es-MX" sz="1900">
              <a:solidFill>
                <a:schemeClr val="accent1"/>
              </a:solidFill>
            </a:endParaRPr>
          </a:p>
          <a:p>
            <a:pPr lvl="1">
              <a:lnSpc>
                <a:spcPct val="110000"/>
              </a:lnSpc>
              <a:buFont typeface="Wingdings" panose="05000000000000000000" pitchFamily="2" charset="2"/>
              <a:buChar char="§"/>
            </a:pPr>
            <a:r>
              <a:rPr lang="es-ES" altLang="es-MX" sz="1900">
                <a:solidFill>
                  <a:schemeClr val="accent1"/>
                </a:solidFill>
              </a:rPr>
              <a:t>Los requisitos mínimos y adecuados para satisfacer las necesidades del negocio.</a:t>
            </a:r>
          </a:p>
          <a:p>
            <a:pPr lvl="1">
              <a:lnSpc>
                <a:spcPct val="110000"/>
              </a:lnSpc>
              <a:buFont typeface="Wingdings" panose="05000000000000000000" pitchFamily="2" charset="2"/>
              <a:buChar char="§"/>
            </a:pPr>
            <a:r>
              <a:rPr lang="es-ES" altLang="es-MX" sz="1900">
                <a:solidFill>
                  <a:schemeClr val="accent1"/>
                </a:solidFill>
              </a:rPr>
              <a:t>Un esfuerzo correctamente priorizado y distribuido hacia las áreas que generan mayor impacto y/o beneficio para el negocio.</a:t>
            </a:r>
          </a:p>
          <a:p>
            <a:pPr lvl="1">
              <a:lnSpc>
                <a:spcPct val="110000"/>
              </a:lnSpc>
              <a:buFont typeface="Wingdings" panose="05000000000000000000" pitchFamily="2" charset="2"/>
              <a:buChar char="§"/>
            </a:pPr>
            <a:r>
              <a:rPr lang="es-ES" altLang="es-MX" sz="1900">
                <a:solidFill>
                  <a:schemeClr val="accent1"/>
                </a:solidFill>
              </a:rPr>
              <a:t>Soluciones institucionalizadas  y personalizadas.</a:t>
            </a:r>
          </a:p>
          <a:p>
            <a:pPr lvl="1">
              <a:lnSpc>
                <a:spcPct val="110000"/>
              </a:lnSpc>
              <a:buFont typeface="Wingdings" panose="05000000000000000000" pitchFamily="2" charset="2"/>
              <a:buChar char="§"/>
            </a:pPr>
            <a:r>
              <a:rPr lang="es-ES" altLang="es-MX" sz="1900">
                <a:solidFill>
                  <a:schemeClr val="accent1"/>
                </a:solidFill>
              </a:rPr>
              <a:t>Soluciones completas en términos tecnológicos, que cubren la organización y sus procesos. </a:t>
            </a:r>
          </a:p>
          <a:p>
            <a:pPr lvl="1">
              <a:lnSpc>
                <a:spcPct val="110000"/>
              </a:lnSpc>
              <a:buFont typeface="Wingdings" panose="05000000000000000000" pitchFamily="2" charset="2"/>
              <a:buChar char="§"/>
            </a:pPr>
            <a:r>
              <a:rPr lang="es-ES" altLang="es-MX" sz="1900">
                <a:solidFill>
                  <a:schemeClr val="accent1"/>
                </a:solidFill>
              </a:rPr>
              <a:t>Una cultura de mejoramiento continuo.</a:t>
            </a:r>
            <a:r>
              <a:rPr lang="en-US" altLang="es-MX" sz="1900">
                <a:solidFill>
                  <a:schemeClr val="accent1"/>
                </a:solidFill>
              </a:rPr>
              <a:t> </a:t>
            </a:r>
          </a:p>
        </p:txBody>
      </p:sp>
      <p:sp>
        <p:nvSpPr>
          <p:cNvPr id="464899" name="Text Box 3">
            <a:extLst>
              <a:ext uri="{FF2B5EF4-FFF2-40B4-BE49-F238E27FC236}">
                <a16:creationId xmlns:a16="http://schemas.microsoft.com/office/drawing/2014/main" id="{02CE8856-5867-4F87-B2EF-114358A7F646}"/>
              </a:ext>
            </a:extLst>
          </p:cNvPr>
          <p:cNvSpPr txBox="1">
            <a:spLocks noChangeArrowheads="1"/>
          </p:cNvSpPr>
          <p:nvPr/>
        </p:nvSpPr>
        <p:spPr bwMode="auto">
          <a:xfrm>
            <a:off x="2057400" y="1676400"/>
            <a:ext cx="7620000" cy="72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buFont typeface="Wingdings" panose="05000000000000000000" pitchFamily="2" charset="2"/>
              <a:buNone/>
            </a:pPr>
            <a:endParaRPr lang="en-US" altLang="es-MX">
              <a:solidFill>
                <a:srgbClr val="F8F8F8"/>
              </a:solidFill>
              <a:latin typeface="Arial" panose="020B0604020202020204" pitchFamily="34" charset="0"/>
            </a:endParaRPr>
          </a:p>
          <a:p>
            <a:pPr eaLnBrk="0" hangingPunct="0">
              <a:spcBef>
                <a:spcPct val="50000"/>
              </a:spcBef>
            </a:pPr>
            <a:endParaRPr lang="en-US" altLang="es-MX">
              <a:solidFill>
                <a:srgbClr val="F8F8F8"/>
              </a:solidFill>
              <a:latin typeface="Arial" panose="020B0604020202020204" pitchFamily="34" charset="0"/>
            </a:endParaRPr>
          </a:p>
        </p:txBody>
      </p:sp>
      <p:sp>
        <p:nvSpPr>
          <p:cNvPr id="3" name="Marcador de número de diapositiva 2">
            <a:extLst>
              <a:ext uri="{FF2B5EF4-FFF2-40B4-BE49-F238E27FC236}">
                <a16:creationId xmlns:a16="http://schemas.microsoft.com/office/drawing/2014/main" id="{E1F84EF0-2F2D-4165-9F9A-B3CE39B3BDD3}"/>
              </a:ext>
            </a:extLst>
          </p:cNvPr>
          <p:cNvSpPr>
            <a:spLocks noGrp="1"/>
          </p:cNvSpPr>
          <p:nvPr>
            <p:ph type="sldNum" sz="quarter" idx="12"/>
          </p:nvPr>
        </p:nvSpPr>
        <p:spPr/>
        <p:txBody>
          <a:bodyPr/>
          <a:lstStyle/>
          <a:p>
            <a:fld id="{30A8E979-4E28-491D-8002-836F9D9327AB}" type="slidenum">
              <a:rPr lang="es-MX" smtClean="0"/>
              <a:t>23</a:t>
            </a:fld>
            <a:endParaRPr lang="es-MX"/>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8" name="Rectangle 4">
            <a:extLst>
              <a:ext uri="{FF2B5EF4-FFF2-40B4-BE49-F238E27FC236}">
                <a16:creationId xmlns:a16="http://schemas.microsoft.com/office/drawing/2014/main" id="{45B14DBD-D210-4E57-9EB3-006962066586}"/>
              </a:ext>
            </a:extLst>
          </p:cNvPr>
          <p:cNvSpPr>
            <a:spLocks noGrp="1" noChangeArrowheads="1"/>
          </p:cNvSpPr>
          <p:nvPr>
            <p:ph type="title"/>
          </p:nvPr>
        </p:nvSpPr>
        <p:spPr/>
        <p:txBody>
          <a:bodyPr>
            <a:normAutofit/>
          </a:bodyPr>
          <a:lstStyle/>
          <a:p>
            <a:r>
              <a:rPr lang="es-MX" altLang="es-MX" sz="4000">
                <a:effectLst>
                  <a:outerShdw blurRad="38100" dist="38100" dir="2700000" algn="tl">
                    <a:srgbClr val="C0C0C0"/>
                  </a:outerShdw>
                </a:effectLst>
              </a:rPr>
              <a:t>Gobierno TI</a:t>
            </a:r>
            <a:endParaRPr lang="es-ES" altLang="es-MX" sz="4000">
              <a:effectLst>
                <a:outerShdw blurRad="38100" dist="38100" dir="2700000" algn="tl">
                  <a:srgbClr val="C0C0C0"/>
                </a:outerShdw>
              </a:effectLst>
            </a:endParaRPr>
          </a:p>
        </p:txBody>
      </p:sp>
      <p:sp>
        <p:nvSpPr>
          <p:cNvPr id="466946" name="Rectangle 2">
            <a:extLst>
              <a:ext uri="{FF2B5EF4-FFF2-40B4-BE49-F238E27FC236}">
                <a16:creationId xmlns:a16="http://schemas.microsoft.com/office/drawing/2014/main" id="{9FB61540-4548-4E14-BCA9-23FB3C565C78}"/>
              </a:ext>
            </a:extLst>
          </p:cNvPr>
          <p:cNvSpPr>
            <a:spLocks noGrp="1" noChangeArrowheads="1"/>
          </p:cNvSpPr>
          <p:nvPr>
            <p:ph idx="1"/>
          </p:nvPr>
        </p:nvSpPr>
        <p:spPr>
          <a:xfrm>
            <a:off x="506994" y="1848982"/>
            <a:ext cx="11233841" cy="4629150"/>
          </a:xfrm>
        </p:spPr>
        <p:txBody>
          <a:bodyPr>
            <a:normAutofit fontScale="77500" lnSpcReduction="20000"/>
          </a:bodyPr>
          <a:lstStyle/>
          <a:p>
            <a:pPr marL="0" indent="0">
              <a:lnSpc>
                <a:spcPct val="150000"/>
              </a:lnSpc>
              <a:buNone/>
            </a:pPr>
            <a:r>
              <a:rPr lang="es-ES" altLang="es-MX" sz="1900" b="1">
                <a:solidFill>
                  <a:schemeClr val="accent1"/>
                </a:solidFill>
              </a:rPr>
              <a:t>Gestión de Riesgos</a:t>
            </a:r>
          </a:p>
          <a:p>
            <a:pPr marL="862400" lvl="1" indent="-342900">
              <a:lnSpc>
                <a:spcPct val="150000"/>
              </a:lnSpc>
              <a:buFont typeface="Wingdings" panose="05000000000000000000" pitchFamily="2" charset="2"/>
              <a:buChar char="§"/>
            </a:pPr>
            <a:r>
              <a:rPr lang="es-ES" altLang="es-MX" sz="1900">
                <a:solidFill>
                  <a:schemeClr val="accent1"/>
                </a:solidFill>
              </a:rPr>
              <a:t>Un perfil de riesgo acordado para el negocio.</a:t>
            </a:r>
          </a:p>
          <a:p>
            <a:pPr marL="862400" lvl="1" indent="-342900">
              <a:lnSpc>
                <a:spcPct val="150000"/>
              </a:lnSpc>
              <a:buFont typeface="Wingdings" panose="05000000000000000000" pitchFamily="2" charset="2"/>
              <a:buChar char="§"/>
            </a:pPr>
            <a:r>
              <a:rPr lang="es-ES" altLang="es-MX" sz="1900">
                <a:solidFill>
                  <a:schemeClr val="accent1"/>
                </a:solidFill>
              </a:rPr>
              <a:t>Entendimiento de la exposición ante el riesgo.</a:t>
            </a:r>
          </a:p>
          <a:p>
            <a:pPr marL="862400" lvl="1" indent="-342900">
              <a:lnSpc>
                <a:spcPct val="150000"/>
              </a:lnSpc>
              <a:buFont typeface="Wingdings" panose="05000000000000000000" pitchFamily="2" charset="2"/>
              <a:buChar char="§"/>
            </a:pPr>
            <a:r>
              <a:rPr lang="es-ES" altLang="es-MX" sz="1900">
                <a:solidFill>
                  <a:schemeClr val="accent1"/>
                </a:solidFill>
              </a:rPr>
              <a:t>Prioridades respecto a la toma de conciencia ante los riesgos.</a:t>
            </a:r>
          </a:p>
          <a:p>
            <a:pPr marL="862400" lvl="1" indent="-342900">
              <a:lnSpc>
                <a:spcPct val="150000"/>
              </a:lnSpc>
              <a:buFont typeface="Wingdings" panose="05000000000000000000" pitchFamily="2" charset="2"/>
              <a:buChar char="§"/>
            </a:pPr>
            <a:r>
              <a:rPr lang="es-ES" altLang="es-MX" sz="1900">
                <a:solidFill>
                  <a:schemeClr val="accent1"/>
                </a:solidFill>
              </a:rPr>
              <a:t>Mitigación del riesgo.</a:t>
            </a:r>
          </a:p>
          <a:p>
            <a:pPr marL="862400" lvl="1" indent="-342900">
              <a:lnSpc>
                <a:spcPct val="150000"/>
              </a:lnSpc>
              <a:buFont typeface="Wingdings" panose="05000000000000000000" pitchFamily="2" charset="2"/>
              <a:buChar char="§"/>
            </a:pPr>
            <a:r>
              <a:rPr lang="es-ES" altLang="es-MX" sz="1900">
                <a:solidFill>
                  <a:schemeClr val="accent1"/>
                </a:solidFill>
              </a:rPr>
              <a:t>Aceptación, mitigación o traslado de los riesgos.</a:t>
            </a:r>
          </a:p>
          <a:p>
            <a:pPr marL="0" indent="0">
              <a:lnSpc>
                <a:spcPct val="150000"/>
              </a:lnSpc>
              <a:buNone/>
            </a:pPr>
            <a:r>
              <a:rPr lang="es-ES" altLang="es-MX" sz="1900" b="1">
                <a:solidFill>
                  <a:schemeClr val="accent1"/>
                </a:solidFill>
              </a:rPr>
              <a:t>Medición de Desempeño</a:t>
            </a:r>
          </a:p>
          <a:p>
            <a:pPr marL="862400" lvl="1" indent="-342900">
              <a:lnSpc>
                <a:spcPct val="150000"/>
              </a:lnSpc>
              <a:buFont typeface="Wingdings" panose="05000000000000000000" pitchFamily="2" charset="2"/>
              <a:buChar char="§"/>
            </a:pPr>
            <a:r>
              <a:rPr lang="es-ES" altLang="es-MX" sz="1900">
                <a:solidFill>
                  <a:schemeClr val="accent1"/>
                </a:solidFill>
              </a:rPr>
              <a:t>Un conjunto definido, convenido y significativo de métricas.</a:t>
            </a:r>
          </a:p>
          <a:p>
            <a:pPr marL="862400" lvl="1" indent="-342900">
              <a:lnSpc>
                <a:spcPct val="150000"/>
              </a:lnSpc>
              <a:buFont typeface="Wingdings" panose="05000000000000000000" pitchFamily="2" charset="2"/>
              <a:buChar char="§"/>
            </a:pPr>
            <a:r>
              <a:rPr lang="es-ES" altLang="es-MX" sz="1900">
                <a:solidFill>
                  <a:schemeClr val="accent1"/>
                </a:solidFill>
              </a:rPr>
              <a:t>Un proceso de medición que ayudará a identificar defectos y proveerá retroalimentación respecto a los avances en la resolución de problemas (oportunidades de mejoramiento.)</a:t>
            </a:r>
          </a:p>
          <a:p>
            <a:pPr marL="862400" lvl="1" indent="-342900">
              <a:lnSpc>
                <a:spcPct val="150000"/>
              </a:lnSpc>
              <a:buFont typeface="Wingdings" panose="05000000000000000000" pitchFamily="2" charset="2"/>
              <a:buChar char="§"/>
            </a:pPr>
            <a:r>
              <a:rPr lang="es-ES" altLang="es-MX" sz="1900">
                <a:solidFill>
                  <a:schemeClr val="accent1"/>
                </a:solidFill>
              </a:rPr>
              <a:t>Una evaluación independiente.</a:t>
            </a:r>
            <a:r>
              <a:rPr lang="en-US" altLang="es-MX" sz="1900">
                <a:solidFill>
                  <a:schemeClr val="accent1"/>
                </a:solidFill>
              </a:rPr>
              <a:t> </a:t>
            </a:r>
          </a:p>
        </p:txBody>
      </p:sp>
      <p:sp>
        <p:nvSpPr>
          <p:cNvPr id="3" name="Marcador de número de diapositiva 2">
            <a:extLst>
              <a:ext uri="{FF2B5EF4-FFF2-40B4-BE49-F238E27FC236}">
                <a16:creationId xmlns:a16="http://schemas.microsoft.com/office/drawing/2014/main" id="{39B6230E-E6C3-4B17-9B86-48264328D730}"/>
              </a:ext>
            </a:extLst>
          </p:cNvPr>
          <p:cNvSpPr>
            <a:spLocks noGrp="1"/>
          </p:cNvSpPr>
          <p:nvPr>
            <p:ph type="sldNum" sz="quarter" idx="12"/>
          </p:nvPr>
        </p:nvSpPr>
        <p:spPr/>
        <p:txBody>
          <a:bodyPr/>
          <a:lstStyle/>
          <a:p>
            <a:fld id="{30A8E979-4E28-491D-8002-836F9D9327AB}" type="slidenum">
              <a:rPr lang="es-MX" smtClean="0"/>
              <a:t>24</a:t>
            </a:fld>
            <a:endParaRPr lang="es-MX"/>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4" name="Rectangle 4">
            <a:extLst>
              <a:ext uri="{FF2B5EF4-FFF2-40B4-BE49-F238E27FC236}">
                <a16:creationId xmlns:a16="http://schemas.microsoft.com/office/drawing/2014/main" id="{7403CD0A-C755-4DFA-8008-C470BC284C12}"/>
              </a:ext>
            </a:extLst>
          </p:cNvPr>
          <p:cNvSpPr>
            <a:spLocks noGrp="1" noChangeArrowheads="1"/>
          </p:cNvSpPr>
          <p:nvPr>
            <p:ph type="title"/>
          </p:nvPr>
        </p:nvSpPr>
        <p:spPr/>
        <p:txBody>
          <a:bodyPr>
            <a:normAutofit/>
          </a:bodyPr>
          <a:lstStyle/>
          <a:p>
            <a:r>
              <a:rPr lang="es-CO" altLang="es-MX" sz="4000"/>
              <a:t> Plan Estratégico de TI - PETI </a:t>
            </a:r>
            <a:endParaRPr lang="es-ES" altLang="es-MX" sz="4000"/>
          </a:p>
        </p:txBody>
      </p:sp>
      <p:sp>
        <p:nvSpPr>
          <p:cNvPr id="471042" name="Rectangle 2">
            <a:extLst>
              <a:ext uri="{FF2B5EF4-FFF2-40B4-BE49-F238E27FC236}">
                <a16:creationId xmlns:a16="http://schemas.microsoft.com/office/drawing/2014/main" id="{F3B2697B-8069-4CB1-B2EB-115BFE60E0B9}"/>
              </a:ext>
            </a:extLst>
          </p:cNvPr>
          <p:cNvSpPr>
            <a:spLocks noGrp="1" noChangeArrowheads="1"/>
          </p:cNvSpPr>
          <p:nvPr>
            <p:ph idx="1"/>
          </p:nvPr>
        </p:nvSpPr>
        <p:spPr>
          <a:xfrm>
            <a:off x="488888" y="1801640"/>
            <a:ext cx="11262510" cy="4554710"/>
          </a:xfrm>
        </p:spPr>
        <p:txBody>
          <a:bodyPr vert="horz" lIns="91440" tIns="45720" rIns="91440" bIns="45720" rtlCol="0">
            <a:normAutofit/>
          </a:bodyPr>
          <a:lstStyle/>
          <a:p>
            <a:pPr marL="0" indent="0">
              <a:lnSpc>
                <a:spcPct val="150000"/>
              </a:lnSpc>
              <a:buNone/>
            </a:pPr>
            <a:r>
              <a:rPr lang="es-MX" altLang="es-MX" sz="1900" b="1">
                <a:solidFill>
                  <a:schemeClr val="accent1"/>
                </a:solidFill>
              </a:rPr>
              <a:t>El PETI contempla las actividades principales en cada dominio, con sus productos clave. Su utilidad radica principalmente en trazar unas líneas de acción que engloban todas las acciones de la función de tecnología en la Organización. </a:t>
            </a:r>
            <a:endParaRPr lang="en-US" altLang="es-MX" sz="1900">
              <a:solidFill>
                <a:schemeClr val="accent1"/>
              </a:solidFill>
            </a:endParaRPr>
          </a:p>
        </p:txBody>
      </p:sp>
      <p:sp>
        <p:nvSpPr>
          <p:cNvPr id="3" name="Marcador de número de diapositiva 2">
            <a:extLst>
              <a:ext uri="{FF2B5EF4-FFF2-40B4-BE49-F238E27FC236}">
                <a16:creationId xmlns:a16="http://schemas.microsoft.com/office/drawing/2014/main" id="{223D2F37-9E19-4E18-836F-4DEA61D54558}"/>
              </a:ext>
            </a:extLst>
          </p:cNvPr>
          <p:cNvSpPr>
            <a:spLocks noGrp="1"/>
          </p:cNvSpPr>
          <p:nvPr>
            <p:ph type="sldNum" sz="quarter" idx="12"/>
          </p:nvPr>
        </p:nvSpPr>
        <p:spPr/>
        <p:txBody>
          <a:bodyPr/>
          <a:lstStyle/>
          <a:p>
            <a:fld id="{30A8E979-4E28-491D-8002-836F9D9327AB}" type="slidenum">
              <a:rPr lang="es-MX" smtClean="0"/>
              <a:t>25</a:t>
            </a:fld>
            <a:endParaRPr lang="es-MX"/>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09F095-B841-A966-C65C-13012EC339C4}"/>
              </a:ext>
            </a:extLst>
          </p:cNvPr>
          <p:cNvSpPr>
            <a:spLocks noGrp="1"/>
          </p:cNvSpPr>
          <p:nvPr>
            <p:ph type="title"/>
          </p:nvPr>
        </p:nvSpPr>
        <p:spPr/>
        <p:txBody>
          <a:bodyPr/>
          <a:lstStyle/>
          <a:p>
            <a:r>
              <a:rPr lang="es-CO" altLang="es-MX" sz="2800"/>
              <a:t>Plan Estratégico de TI - PETI</a:t>
            </a:r>
            <a:endParaRPr lang="es-AR"/>
          </a:p>
        </p:txBody>
      </p:sp>
      <p:pic>
        <p:nvPicPr>
          <p:cNvPr id="5" name="Marcador de contenido 4">
            <a:extLst>
              <a:ext uri="{FF2B5EF4-FFF2-40B4-BE49-F238E27FC236}">
                <a16:creationId xmlns:a16="http://schemas.microsoft.com/office/drawing/2014/main" id="{77C9582D-4BB2-C151-4B1D-0B364EEB39B2}"/>
              </a:ext>
            </a:extLst>
          </p:cNvPr>
          <p:cNvPicPr>
            <a:picLocks noGrp="1" noChangeAspect="1"/>
          </p:cNvPicPr>
          <p:nvPr>
            <p:ph idx="1"/>
          </p:nvPr>
        </p:nvPicPr>
        <p:blipFill>
          <a:blip r:embed="rId2"/>
          <a:stretch>
            <a:fillRect/>
          </a:stretch>
        </p:blipFill>
        <p:spPr>
          <a:xfrm>
            <a:off x="1539550" y="2407963"/>
            <a:ext cx="8556171" cy="3218396"/>
          </a:xfrm>
        </p:spPr>
      </p:pic>
    </p:spTree>
    <p:extLst>
      <p:ext uri="{BB962C8B-B14F-4D97-AF65-F5344CB8AC3E}">
        <p14:creationId xmlns:p14="http://schemas.microsoft.com/office/powerpoint/2010/main" val="1439083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019988616"/>
              </p:ext>
            </p:extLst>
          </p:nvPr>
        </p:nvGraphicFramePr>
        <p:xfrm>
          <a:off x="523875" y="614102"/>
          <a:ext cx="11049000" cy="5658745"/>
        </p:xfrm>
        <a:graphic>
          <a:graphicData uri="http://schemas.openxmlformats.org/drawingml/2006/table">
            <a:tbl>
              <a:tblPr firstRow="1" bandRow="1">
                <a:tableStyleId>{2D5ABB26-0587-4C30-8999-92F81FD0307C}</a:tableStyleId>
              </a:tblPr>
              <a:tblGrid>
                <a:gridCol w="3887986">
                  <a:extLst>
                    <a:ext uri="{9D8B030D-6E8A-4147-A177-3AD203B41FA5}">
                      <a16:colId xmlns:a16="http://schemas.microsoft.com/office/drawing/2014/main" val="20000"/>
                    </a:ext>
                  </a:extLst>
                </a:gridCol>
                <a:gridCol w="3772828">
                  <a:extLst>
                    <a:ext uri="{9D8B030D-6E8A-4147-A177-3AD203B41FA5}">
                      <a16:colId xmlns:a16="http://schemas.microsoft.com/office/drawing/2014/main" val="20001"/>
                    </a:ext>
                  </a:extLst>
                </a:gridCol>
                <a:gridCol w="3388186">
                  <a:extLst>
                    <a:ext uri="{9D8B030D-6E8A-4147-A177-3AD203B41FA5}">
                      <a16:colId xmlns:a16="http://schemas.microsoft.com/office/drawing/2014/main" val="20002"/>
                    </a:ext>
                  </a:extLst>
                </a:gridCol>
              </a:tblGrid>
              <a:tr h="330344">
                <a:tc rowSpan="3">
                  <a:txBody>
                    <a:bodyPr/>
                    <a:lstStyle/>
                    <a:p>
                      <a:pPr algn="l">
                        <a:lnSpc>
                          <a:spcPct val="100000"/>
                        </a:lnSpc>
                      </a:pPr>
                      <a:endParaRPr sz="900">
                        <a:latin typeface="Times New Roman"/>
                        <a:cs typeface="Times New Roman"/>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3">
                  <a:txBody>
                    <a:bodyPr/>
                    <a:lstStyle/>
                    <a:p>
                      <a:pPr marL="67945" marR="57785" algn="l">
                        <a:lnSpc>
                          <a:spcPts val="1280"/>
                        </a:lnSpc>
                        <a:spcBef>
                          <a:spcPts val="30"/>
                        </a:spcBef>
                        <a:tabLst>
                          <a:tab pos="1414780" algn="l"/>
                          <a:tab pos="1701800" algn="l"/>
                        </a:tabLst>
                      </a:pPr>
                      <a:r>
                        <a:rPr sz="900" spc="-10">
                          <a:latin typeface="Trebuchet MS"/>
                          <a:cs typeface="Trebuchet MS"/>
                        </a:rPr>
                        <a:t>especialización</a:t>
                      </a:r>
                      <a:r>
                        <a:rPr sz="900">
                          <a:latin typeface="Trebuchet MS"/>
                          <a:cs typeface="Trebuchet MS"/>
                        </a:rPr>
                        <a:t>	</a:t>
                      </a:r>
                      <a:r>
                        <a:rPr sz="900" spc="-10">
                          <a:latin typeface="Trebuchet MS"/>
                          <a:cs typeface="Trebuchet MS"/>
                        </a:rPr>
                        <a:t>técnica, </a:t>
                      </a:r>
                      <a:r>
                        <a:rPr sz="900" spc="50">
                          <a:latin typeface="Trebuchet MS"/>
                          <a:cs typeface="Trebuchet MS"/>
                        </a:rPr>
                        <a:t>empoderada</a:t>
                      </a:r>
                      <a:r>
                        <a:rPr sz="900">
                          <a:latin typeface="Trebuchet MS"/>
                          <a:cs typeface="Trebuchet MS"/>
                        </a:rPr>
                        <a:t>		</a:t>
                      </a:r>
                      <a:r>
                        <a:rPr sz="900" spc="45">
                          <a:latin typeface="Trebuchet MS"/>
                          <a:cs typeface="Trebuchet MS"/>
                        </a:rPr>
                        <a:t>con</a:t>
                      </a:r>
                      <a:endParaRPr sz="900">
                        <a:latin typeface="Trebuchet MS"/>
                        <a:cs typeface="Trebuchet MS"/>
                      </a:endParaRPr>
                    </a:p>
                    <a:p>
                      <a:pPr marL="67945" marR="61594" algn="l">
                        <a:lnSpc>
                          <a:spcPts val="1280"/>
                        </a:lnSpc>
                        <a:spcBef>
                          <a:spcPts val="20"/>
                        </a:spcBef>
                        <a:tabLst>
                          <a:tab pos="1199515" algn="l"/>
                          <a:tab pos="1875789" algn="l"/>
                        </a:tabLst>
                      </a:pPr>
                      <a:r>
                        <a:rPr sz="900" spc="35">
                          <a:latin typeface="Trebuchet MS"/>
                          <a:cs typeface="Trebuchet MS"/>
                        </a:rPr>
                        <a:t>sostenibilidad</a:t>
                      </a:r>
                      <a:r>
                        <a:rPr sz="900">
                          <a:latin typeface="Trebuchet MS"/>
                          <a:cs typeface="Trebuchet MS"/>
                        </a:rPr>
                        <a:t>	</a:t>
                      </a:r>
                      <a:r>
                        <a:rPr sz="900" spc="-10">
                          <a:latin typeface="Trebuchet MS"/>
                          <a:cs typeface="Trebuchet MS"/>
                        </a:rPr>
                        <a:t>técnica</a:t>
                      </a:r>
                      <a:r>
                        <a:rPr sz="900">
                          <a:latin typeface="Trebuchet MS"/>
                          <a:cs typeface="Trebuchet MS"/>
                        </a:rPr>
                        <a:t>	</a:t>
                      </a:r>
                      <a:r>
                        <a:rPr sz="900" spc="-50">
                          <a:latin typeface="Trebuchet MS"/>
                          <a:cs typeface="Trebuchet MS"/>
                        </a:rPr>
                        <a:t>y </a:t>
                      </a:r>
                      <a:r>
                        <a:rPr sz="900" spc="-10">
                          <a:latin typeface="Trebuchet MS"/>
                          <a:cs typeface="Trebuchet MS"/>
                        </a:rPr>
                        <a:t>financiera.</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0325" algn="l">
                        <a:lnSpc>
                          <a:spcPts val="1280"/>
                        </a:lnSpc>
                        <a:spcBef>
                          <a:spcPts val="30"/>
                        </a:spcBef>
                      </a:pPr>
                      <a:r>
                        <a:rPr sz="900" spc="55">
                          <a:latin typeface="Trebuchet MS"/>
                          <a:cs typeface="Trebuchet MS"/>
                        </a:rPr>
                        <a:t>manera</a:t>
                      </a:r>
                      <a:r>
                        <a:rPr sz="900" spc="130">
                          <a:latin typeface="Trebuchet MS"/>
                          <a:cs typeface="Trebuchet MS"/>
                        </a:rPr>
                        <a:t>  </a:t>
                      </a:r>
                      <a:r>
                        <a:rPr sz="900">
                          <a:latin typeface="Trebuchet MS"/>
                          <a:cs typeface="Trebuchet MS"/>
                        </a:rPr>
                        <a:t>integral</a:t>
                      </a:r>
                      <a:r>
                        <a:rPr sz="900" spc="130">
                          <a:latin typeface="Trebuchet MS"/>
                          <a:cs typeface="Trebuchet MS"/>
                        </a:rPr>
                        <a:t>  </a:t>
                      </a:r>
                      <a:r>
                        <a:rPr sz="900">
                          <a:latin typeface="Trebuchet MS"/>
                          <a:cs typeface="Trebuchet MS"/>
                        </a:rPr>
                        <a:t>y</a:t>
                      </a:r>
                      <a:r>
                        <a:rPr sz="900" spc="135">
                          <a:latin typeface="Trebuchet MS"/>
                          <a:cs typeface="Trebuchet MS"/>
                        </a:rPr>
                        <a:t>  </a:t>
                      </a:r>
                      <a:r>
                        <a:rPr sz="900" spc="25">
                          <a:latin typeface="Trebuchet MS"/>
                          <a:cs typeface="Trebuchet MS"/>
                        </a:rPr>
                        <a:t>con </a:t>
                      </a:r>
                      <a:r>
                        <a:rPr sz="900">
                          <a:latin typeface="Trebuchet MS"/>
                          <a:cs typeface="Trebuchet MS"/>
                        </a:rPr>
                        <a:t>valor</a:t>
                      </a:r>
                      <a:r>
                        <a:rPr sz="900" spc="240">
                          <a:latin typeface="Trebuchet MS"/>
                          <a:cs typeface="Trebuchet MS"/>
                        </a:rPr>
                        <a:t> </a:t>
                      </a:r>
                      <a:r>
                        <a:rPr sz="900" spc="-10">
                          <a:latin typeface="Trebuchet MS"/>
                          <a:cs typeface="Trebuchet MS"/>
                        </a:rPr>
                        <a:t>estratégico</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0"/>
                  </a:ext>
                </a:extLst>
              </a:tr>
              <a:tr h="330344">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0325" algn="l">
                        <a:lnSpc>
                          <a:spcPts val="1300"/>
                        </a:lnSpc>
                        <a:spcBef>
                          <a:spcPts val="5"/>
                        </a:spcBef>
                        <a:tabLst>
                          <a:tab pos="829944" algn="l"/>
                          <a:tab pos="1207770" algn="l"/>
                        </a:tabLst>
                      </a:pPr>
                      <a:r>
                        <a:rPr sz="900" spc="-10">
                          <a:latin typeface="Trebuchet MS"/>
                          <a:cs typeface="Trebuchet MS"/>
                        </a:rPr>
                        <a:t>Definir</a:t>
                      </a:r>
                      <a:r>
                        <a:rPr sz="900">
                          <a:latin typeface="Trebuchet MS"/>
                          <a:cs typeface="Trebuchet MS"/>
                        </a:rPr>
                        <a:t>	</a:t>
                      </a:r>
                      <a:r>
                        <a:rPr sz="900" spc="-50">
                          <a:latin typeface="Trebuchet MS"/>
                          <a:cs typeface="Trebuchet MS"/>
                        </a:rPr>
                        <a:t>y</a:t>
                      </a:r>
                      <a:r>
                        <a:rPr sz="900">
                          <a:latin typeface="Trebuchet MS"/>
                          <a:cs typeface="Trebuchet MS"/>
                        </a:rPr>
                        <a:t>	</a:t>
                      </a:r>
                      <a:r>
                        <a:rPr sz="900" spc="-10">
                          <a:latin typeface="Trebuchet MS"/>
                          <a:cs typeface="Trebuchet MS"/>
                        </a:rPr>
                        <a:t>divulgar </a:t>
                      </a:r>
                      <a:r>
                        <a:rPr sz="900">
                          <a:latin typeface="Trebuchet MS"/>
                          <a:cs typeface="Trebuchet MS"/>
                        </a:rPr>
                        <a:t>políticas</a:t>
                      </a:r>
                      <a:r>
                        <a:rPr sz="900" spc="220">
                          <a:latin typeface="Trebuchet MS"/>
                          <a:cs typeface="Trebuchet MS"/>
                        </a:rPr>
                        <a:t> </a:t>
                      </a:r>
                      <a:r>
                        <a:rPr sz="900" spc="55">
                          <a:latin typeface="Trebuchet MS"/>
                          <a:cs typeface="Trebuchet MS"/>
                        </a:rPr>
                        <a:t>de</a:t>
                      </a:r>
                      <a:r>
                        <a:rPr sz="900" spc="204">
                          <a:latin typeface="Trebuchet MS"/>
                          <a:cs typeface="Trebuchet MS"/>
                        </a:rPr>
                        <a:t> </a:t>
                      </a:r>
                      <a:r>
                        <a:rPr sz="900" spc="-25">
                          <a:latin typeface="Trebuchet MS"/>
                          <a:cs typeface="Trebuchet MS"/>
                        </a:rPr>
                        <a:t>TI</a:t>
                      </a:r>
                      <a:endParaRPr sz="900">
                        <a:latin typeface="Trebuchet MS"/>
                        <a:cs typeface="Trebuchet MS"/>
                      </a:endParaRPr>
                    </a:p>
                  </a:txBody>
                  <a:tcPr marL="0" marR="0" marT="433"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1"/>
                  </a:ext>
                </a:extLst>
              </a:tr>
              <a:tr h="561975">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pPr>
                      <a:r>
                        <a:rPr sz="900" spc="50">
                          <a:latin typeface="Trebuchet MS"/>
                          <a:cs typeface="Trebuchet MS"/>
                        </a:rPr>
                        <a:t>Establecer</a:t>
                      </a:r>
                      <a:r>
                        <a:rPr sz="900" spc="280">
                          <a:latin typeface="Trebuchet MS"/>
                          <a:cs typeface="Trebuchet MS"/>
                        </a:rPr>
                        <a:t> </a:t>
                      </a:r>
                      <a:r>
                        <a:rPr sz="900" spc="60">
                          <a:latin typeface="Trebuchet MS"/>
                          <a:cs typeface="Trebuchet MS"/>
                        </a:rPr>
                        <a:t>acuerdos</a:t>
                      </a:r>
                      <a:r>
                        <a:rPr sz="900" spc="275">
                          <a:latin typeface="Trebuchet MS"/>
                          <a:cs typeface="Trebuchet MS"/>
                        </a:rPr>
                        <a:t> </a:t>
                      </a:r>
                      <a:r>
                        <a:rPr sz="900" spc="30">
                          <a:latin typeface="Trebuchet MS"/>
                          <a:cs typeface="Trebuchet MS"/>
                        </a:rPr>
                        <a:t>de</a:t>
                      </a:r>
                      <a:endParaRPr sz="900">
                        <a:latin typeface="Trebuchet MS"/>
                        <a:cs typeface="Trebuchet MS"/>
                      </a:endParaRPr>
                    </a:p>
                    <a:p>
                      <a:pPr marL="69850" marR="60960" algn="l">
                        <a:lnSpc>
                          <a:spcPct val="97600"/>
                        </a:lnSpc>
                      </a:pPr>
                      <a:r>
                        <a:rPr sz="900">
                          <a:latin typeface="Trebuchet MS"/>
                          <a:cs typeface="Trebuchet MS"/>
                        </a:rPr>
                        <a:t>servicio</a:t>
                      </a:r>
                      <a:r>
                        <a:rPr sz="900" spc="365">
                          <a:latin typeface="Trebuchet MS"/>
                          <a:cs typeface="Trebuchet MS"/>
                        </a:rPr>
                        <a:t> </a:t>
                      </a:r>
                      <a:r>
                        <a:rPr sz="900">
                          <a:latin typeface="Trebuchet MS"/>
                          <a:cs typeface="Trebuchet MS"/>
                        </a:rPr>
                        <a:t>y</a:t>
                      </a:r>
                      <a:r>
                        <a:rPr sz="900" spc="380">
                          <a:latin typeface="Trebuchet MS"/>
                          <a:cs typeface="Trebuchet MS"/>
                        </a:rPr>
                        <a:t> </a:t>
                      </a:r>
                      <a:r>
                        <a:rPr sz="900" spc="55">
                          <a:latin typeface="Trebuchet MS"/>
                          <a:cs typeface="Trebuchet MS"/>
                        </a:rPr>
                        <a:t>de</a:t>
                      </a:r>
                      <a:r>
                        <a:rPr sz="900" spc="360">
                          <a:latin typeface="Trebuchet MS"/>
                          <a:cs typeface="Trebuchet MS"/>
                        </a:rPr>
                        <a:t> </a:t>
                      </a:r>
                      <a:r>
                        <a:rPr sz="900" spc="35">
                          <a:latin typeface="Trebuchet MS"/>
                          <a:cs typeface="Trebuchet MS"/>
                        </a:rPr>
                        <a:t>desarrollo </a:t>
                      </a:r>
                      <a:r>
                        <a:rPr sz="900" spc="70">
                          <a:latin typeface="Trebuchet MS"/>
                          <a:cs typeface="Trebuchet MS"/>
                        </a:rPr>
                        <a:t>con</a:t>
                      </a:r>
                      <a:r>
                        <a:rPr sz="900" spc="405">
                          <a:latin typeface="Trebuchet MS"/>
                          <a:cs typeface="Trebuchet MS"/>
                        </a:rPr>
                        <a:t>  </a:t>
                      </a:r>
                      <a:r>
                        <a:rPr sz="900" spc="55">
                          <a:latin typeface="Trebuchet MS"/>
                          <a:cs typeface="Trebuchet MS"/>
                        </a:rPr>
                        <a:t>las</a:t>
                      </a:r>
                      <a:r>
                        <a:rPr sz="900" spc="415">
                          <a:latin typeface="Trebuchet MS"/>
                          <a:cs typeface="Trebuchet MS"/>
                        </a:rPr>
                        <a:t>  </a:t>
                      </a:r>
                      <a:r>
                        <a:rPr sz="900" spc="50">
                          <a:latin typeface="Trebuchet MS"/>
                          <a:cs typeface="Trebuchet MS"/>
                        </a:rPr>
                        <a:t>áreas</a:t>
                      </a:r>
                      <a:r>
                        <a:rPr sz="900" spc="400">
                          <a:latin typeface="Trebuchet MS"/>
                          <a:cs typeface="Trebuchet MS"/>
                        </a:rPr>
                        <a:t>  </a:t>
                      </a:r>
                      <a:r>
                        <a:rPr sz="900" spc="-20">
                          <a:latin typeface="Trebuchet MS"/>
                          <a:cs typeface="Trebuchet MS"/>
                        </a:rPr>
                        <a:t>para </a:t>
                      </a:r>
                      <a:r>
                        <a:rPr sz="900">
                          <a:latin typeface="Trebuchet MS"/>
                          <a:cs typeface="Trebuchet MS"/>
                        </a:rPr>
                        <a:t>mejorar</a:t>
                      </a:r>
                      <a:r>
                        <a:rPr sz="900" spc="305">
                          <a:latin typeface="Trebuchet MS"/>
                          <a:cs typeface="Trebuchet MS"/>
                        </a:rPr>
                        <a:t> </a:t>
                      </a:r>
                      <a:r>
                        <a:rPr sz="900">
                          <a:latin typeface="Trebuchet MS"/>
                          <a:cs typeface="Trebuchet MS"/>
                        </a:rPr>
                        <a:t>y</a:t>
                      </a:r>
                      <a:r>
                        <a:rPr sz="900" spc="305">
                          <a:latin typeface="Trebuchet MS"/>
                          <a:cs typeface="Trebuchet MS"/>
                        </a:rPr>
                        <a:t> </a:t>
                      </a:r>
                      <a:r>
                        <a:rPr sz="900" spc="50">
                          <a:latin typeface="Trebuchet MS"/>
                          <a:cs typeface="Trebuchet MS"/>
                        </a:rPr>
                        <a:t>mantener</a:t>
                      </a:r>
                      <a:r>
                        <a:rPr sz="900" spc="310">
                          <a:latin typeface="Trebuchet MS"/>
                          <a:cs typeface="Trebuchet MS"/>
                        </a:rPr>
                        <a:t> </a:t>
                      </a:r>
                      <a:r>
                        <a:rPr sz="900" spc="35">
                          <a:latin typeface="Trebuchet MS"/>
                          <a:cs typeface="Trebuchet MS"/>
                        </a:rPr>
                        <a:t>los </a:t>
                      </a:r>
                      <a:r>
                        <a:rPr sz="900" spc="60">
                          <a:latin typeface="Trebuchet MS"/>
                          <a:cs typeface="Trebuchet MS"/>
                        </a:rPr>
                        <a:t>procesos</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2"/>
                  </a:ext>
                </a:extLst>
              </a:tr>
              <a:tr h="563274">
                <a:tc rowSpan="4">
                  <a:txBody>
                    <a:bodyPr/>
                    <a:lstStyle/>
                    <a:p>
                      <a:pPr marL="69850" algn="l">
                        <a:lnSpc>
                          <a:spcPts val="1275"/>
                        </a:lnSpc>
                      </a:pPr>
                      <a:r>
                        <a:rPr sz="900" b="1">
                          <a:solidFill>
                            <a:srgbClr val="E89F43"/>
                          </a:solidFill>
                          <a:latin typeface="Trebuchet MS"/>
                          <a:cs typeface="Trebuchet MS"/>
                        </a:rPr>
                        <a:t>Gestión</a:t>
                      </a:r>
                      <a:r>
                        <a:rPr sz="900" b="1" spc="120">
                          <a:solidFill>
                            <a:srgbClr val="E89F43"/>
                          </a:solidFill>
                          <a:latin typeface="Trebuchet MS"/>
                          <a:cs typeface="Trebuchet MS"/>
                        </a:rPr>
                        <a:t> </a:t>
                      </a:r>
                      <a:r>
                        <a:rPr sz="900" b="1">
                          <a:solidFill>
                            <a:srgbClr val="E89F43"/>
                          </a:solidFill>
                          <a:latin typeface="Trebuchet MS"/>
                          <a:cs typeface="Trebuchet MS"/>
                        </a:rPr>
                        <a:t>de</a:t>
                      </a:r>
                      <a:r>
                        <a:rPr sz="900" b="1" spc="135">
                          <a:solidFill>
                            <a:srgbClr val="E89F43"/>
                          </a:solidFill>
                          <a:latin typeface="Trebuchet MS"/>
                          <a:cs typeface="Trebuchet MS"/>
                        </a:rPr>
                        <a:t> </a:t>
                      </a:r>
                      <a:r>
                        <a:rPr sz="900" b="1" spc="-10">
                          <a:solidFill>
                            <a:srgbClr val="E89F43"/>
                          </a:solidFill>
                          <a:latin typeface="Trebuchet MS"/>
                          <a:cs typeface="Trebuchet MS"/>
                        </a:rPr>
                        <a:t>Información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4">
                  <a:txBody>
                    <a:bodyPr/>
                    <a:lstStyle/>
                    <a:p>
                      <a:pPr marL="67945" algn="l">
                        <a:lnSpc>
                          <a:spcPts val="1265"/>
                        </a:lnSpc>
                      </a:pPr>
                      <a:r>
                        <a:rPr sz="900" spc="55">
                          <a:latin typeface="Trebuchet MS"/>
                          <a:cs typeface="Trebuchet MS"/>
                        </a:rPr>
                        <a:t>Toda</a:t>
                      </a:r>
                      <a:r>
                        <a:rPr sz="900" spc="480">
                          <a:latin typeface="Trebuchet MS"/>
                          <a:cs typeface="Trebuchet MS"/>
                        </a:rPr>
                        <a:t>   </a:t>
                      </a:r>
                      <a:r>
                        <a:rPr sz="900">
                          <a:latin typeface="Trebuchet MS"/>
                          <a:cs typeface="Trebuchet MS"/>
                        </a:rPr>
                        <a:t>la</a:t>
                      </a:r>
                      <a:r>
                        <a:rPr sz="900" spc="475">
                          <a:latin typeface="Trebuchet MS"/>
                          <a:cs typeface="Trebuchet MS"/>
                        </a:rPr>
                        <a:t>   </a:t>
                      </a:r>
                      <a:r>
                        <a:rPr sz="900" spc="-10">
                          <a:latin typeface="Trebuchet MS"/>
                          <a:cs typeface="Trebuchet MS"/>
                        </a:rPr>
                        <a:t>información</a:t>
                      </a:r>
                      <a:endParaRPr sz="900">
                        <a:latin typeface="Trebuchet MS"/>
                        <a:cs typeface="Trebuchet MS"/>
                      </a:endParaRPr>
                    </a:p>
                    <a:p>
                      <a:pPr marL="67945" marR="59055" algn="l">
                        <a:lnSpc>
                          <a:spcPct val="97700"/>
                        </a:lnSpc>
                        <a:spcBef>
                          <a:spcPts val="15"/>
                        </a:spcBef>
                        <a:tabLst>
                          <a:tab pos="1877060" algn="l"/>
                        </a:tabLst>
                      </a:pPr>
                      <a:r>
                        <a:rPr sz="900">
                          <a:latin typeface="Trebuchet MS"/>
                          <a:cs typeface="Trebuchet MS"/>
                        </a:rPr>
                        <a:t>requerida</a:t>
                      </a:r>
                      <a:r>
                        <a:rPr sz="900" spc="200">
                          <a:latin typeface="Trebuchet MS"/>
                          <a:cs typeface="Trebuchet MS"/>
                        </a:rPr>
                        <a:t> </a:t>
                      </a:r>
                      <a:r>
                        <a:rPr sz="900" spc="50">
                          <a:latin typeface="Trebuchet MS"/>
                          <a:cs typeface="Trebuchet MS"/>
                        </a:rPr>
                        <a:t>por</a:t>
                      </a:r>
                      <a:r>
                        <a:rPr sz="900" spc="210">
                          <a:latin typeface="Trebuchet MS"/>
                          <a:cs typeface="Trebuchet MS"/>
                        </a:rPr>
                        <a:t> </a:t>
                      </a:r>
                      <a:r>
                        <a:rPr sz="900">
                          <a:latin typeface="Trebuchet MS"/>
                          <a:cs typeface="Trebuchet MS"/>
                        </a:rPr>
                        <a:t>la</a:t>
                      </a:r>
                      <a:r>
                        <a:rPr sz="900" spc="204">
                          <a:latin typeface="Trebuchet MS"/>
                          <a:cs typeface="Trebuchet MS"/>
                        </a:rPr>
                        <a:t> </a:t>
                      </a:r>
                      <a:r>
                        <a:rPr sz="900">
                          <a:latin typeface="Trebuchet MS"/>
                          <a:cs typeface="Trebuchet MS"/>
                        </a:rPr>
                        <a:t>entidad,</a:t>
                      </a:r>
                      <a:r>
                        <a:rPr sz="900" spc="220">
                          <a:latin typeface="Trebuchet MS"/>
                          <a:cs typeface="Trebuchet MS"/>
                        </a:rPr>
                        <a:t> </a:t>
                      </a:r>
                      <a:r>
                        <a:rPr sz="900" spc="-25">
                          <a:latin typeface="Trebuchet MS"/>
                          <a:cs typeface="Trebuchet MS"/>
                        </a:rPr>
                        <a:t>el </a:t>
                      </a:r>
                      <a:r>
                        <a:rPr sz="900" spc="50">
                          <a:latin typeface="Trebuchet MS"/>
                          <a:cs typeface="Trebuchet MS"/>
                        </a:rPr>
                        <a:t>sector</a:t>
                      </a:r>
                      <a:r>
                        <a:rPr sz="900" spc="220">
                          <a:latin typeface="Trebuchet MS"/>
                          <a:cs typeface="Trebuchet MS"/>
                        </a:rPr>
                        <a:t> </a:t>
                      </a:r>
                      <a:r>
                        <a:rPr sz="900">
                          <a:latin typeface="Trebuchet MS"/>
                          <a:cs typeface="Trebuchet MS"/>
                        </a:rPr>
                        <a:t>y</a:t>
                      </a:r>
                      <a:r>
                        <a:rPr sz="900" spc="220">
                          <a:latin typeface="Trebuchet MS"/>
                          <a:cs typeface="Trebuchet MS"/>
                        </a:rPr>
                        <a:t> </a:t>
                      </a:r>
                      <a:r>
                        <a:rPr sz="900" spc="50">
                          <a:latin typeface="Trebuchet MS"/>
                          <a:cs typeface="Trebuchet MS"/>
                        </a:rPr>
                        <a:t>otras</a:t>
                      </a:r>
                      <a:r>
                        <a:rPr sz="900" spc="220">
                          <a:latin typeface="Trebuchet MS"/>
                          <a:cs typeface="Trebuchet MS"/>
                        </a:rPr>
                        <a:t> </a:t>
                      </a:r>
                      <a:r>
                        <a:rPr sz="900" spc="50">
                          <a:latin typeface="Trebuchet MS"/>
                          <a:cs typeface="Trebuchet MS"/>
                        </a:rPr>
                        <a:t>entidades</a:t>
                      </a:r>
                      <a:r>
                        <a:rPr sz="900" spc="220">
                          <a:latin typeface="Trebuchet MS"/>
                          <a:cs typeface="Trebuchet MS"/>
                        </a:rPr>
                        <a:t> </a:t>
                      </a:r>
                      <a:r>
                        <a:rPr sz="900" spc="20">
                          <a:latin typeface="Trebuchet MS"/>
                          <a:cs typeface="Trebuchet MS"/>
                        </a:rPr>
                        <a:t>o </a:t>
                      </a:r>
                      <a:r>
                        <a:rPr sz="900" spc="45">
                          <a:latin typeface="Trebuchet MS"/>
                          <a:cs typeface="Trebuchet MS"/>
                        </a:rPr>
                        <a:t>instituciones</a:t>
                      </a:r>
                      <a:r>
                        <a:rPr sz="900" spc="275">
                          <a:latin typeface="Trebuchet MS"/>
                          <a:cs typeface="Trebuchet MS"/>
                        </a:rPr>
                        <a:t>   </a:t>
                      </a:r>
                      <a:r>
                        <a:rPr sz="900" spc="50">
                          <a:latin typeface="Trebuchet MS"/>
                          <a:cs typeface="Trebuchet MS"/>
                        </a:rPr>
                        <a:t>debe</a:t>
                      </a:r>
                      <a:r>
                        <a:rPr sz="900" spc="265">
                          <a:latin typeface="Trebuchet MS"/>
                          <a:cs typeface="Trebuchet MS"/>
                        </a:rPr>
                        <a:t>   </a:t>
                      </a:r>
                      <a:r>
                        <a:rPr sz="900" spc="-25">
                          <a:latin typeface="Trebuchet MS"/>
                          <a:cs typeface="Trebuchet MS"/>
                        </a:rPr>
                        <a:t>ser </a:t>
                      </a:r>
                      <a:r>
                        <a:rPr sz="900" spc="45">
                          <a:latin typeface="Trebuchet MS"/>
                          <a:cs typeface="Trebuchet MS"/>
                        </a:rPr>
                        <a:t>obtenida</a:t>
                      </a:r>
                      <a:r>
                        <a:rPr sz="900" spc="335">
                          <a:latin typeface="Trebuchet MS"/>
                          <a:cs typeface="Trebuchet MS"/>
                        </a:rPr>
                        <a:t>    </a:t>
                      </a:r>
                      <a:r>
                        <a:rPr sz="900" spc="65">
                          <a:latin typeface="Trebuchet MS"/>
                          <a:cs typeface="Trebuchet MS"/>
                        </a:rPr>
                        <a:t>desde</a:t>
                      </a:r>
                      <a:r>
                        <a:rPr sz="900" spc="330">
                          <a:latin typeface="Trebuchet MS"/>
                          <a:cs typeface="Trebuchet MS"/>
                        </a:rPr>
                        <a:t>    </a:t>
                      </a:r>
                      <a:r>
                        <a:rPr sz="900" spc="-25">
                          <a:latin typeface="Trebuchet MS"/>
                          <a:cs typeface="Trebuchet MS"/>
                        </a:rPr>
                        <a:t>los </a:t>
                      </a:r>
                      <a:r>
                        <a:rPr sz="900" spc="70">
                          <a:latin typeface="Trebuchet MS"/>
                          <a:cs typeface="Trebuchet MS"/>
                        </a:rPr>
                        <a:t>sistemas</a:t>
                      </a:r>
                      <a:r>
                        <a:rPr sz="900" spc="160">
                          <a:latin typeface="Trebuchet MS"/>
                          <a:cs typeface="Trebuchet MS"/>
                        </a:rPr>
                        <a:t>  </a:t>
                      </a:r>
                      <a:r>
                        <a:rPr sz="900" spc="55">
                          <a:latin typeface="Trebuchet MS"/>
                          <a:cs typeface="Trebuchet MS"/>
                        </a:rPr>
                        <a:t>de</a:t>
                      </a:r>
                      <a:r>
                        <a:rPr sz="900" spc="165">
                          <a:latin typeface="Trebuchet MS"/>
                          <a:cs typeface="Trebuchet MS"/>
                        </a:rPr>
                        <a:t>  </a:t>
                      </a:r>
                      <a:r>
                        <a:rPr sz="900" spc="-10">
                          <a:latin typeface="Trebuchet MS"/>
                          <a:cs typeface="Trebuchet MS"/>
                        </a:rPr>
                        <a:t>información, </a:t>
                      </a:r>
                      <a:r>
                        <a:rPr sz="900">
                          <a:latin typeface="Trebuchet MS"/>
                          <a:cs typeface="Trebuchet MS"/>
                        </a:rPr>
                        <a:t>para</a:t>
                      </a:r>
                      <a:r>
                        <a:rPr sz="900" spc="390">
                          <a:latin typeface="Trebuchet MS"/>
                          <a:cs typeface="Trebuchet MS"/>
                        </a:rPr>
                        <a:t>     </a:t>
                      </a:r>
                      <a:r>
                        <a:rPr sz="900">
                          <a:latin typeface="Trebuchet MS"/>
                          <a:cs typeface="Trebuchet MS"/>
                        </a:rPr>
                        <a:t>atender</a:t>
                      </a:r>
                      <a:r>
                        <a:rPr sz="900" spc="390">
                          <a:latin typeface="Trebuchet MS"/>
                          <a:cs typeface="Trebuchet MS"/>
                        </a:rPr>
                        <a:t>     </a:t>
                      </a:r>
                      <a:r>
                        <a:rPr sz="900" spc="-25">
                          <a:latin typeface="Trebuchet MS"/>
                          <a:cs typeface="Trebuchet MS"/>
                        </a:rPr>
                        <a:t>las </a:t>
                      </a:r>
                      <a:r>
                        <a:rPr sz="900" spc="55">
                          <a:latin typeface="Trebuchet MS"/>
                          <a:cs typeface="Trebuchet MS"/>
                        </a:rPr>
                        <a:t>necesidades</a:t>
                      </a:r>
                      <a:r>
                        <a:rPr sz="900" spc="85">
                          <a:latin typeface="Trebuchet MS"/>
                          <a:cs typeface="Trebuchet MS"/>
                        </a:rPr>
                        <a:t> </a:t>
                      </a:r>
                      <a:r>
                        <a:rPr sz="900" spc="55">
                          <a:latin typeface="Trebuchet MS"/>
                          <a:cs typeface="Trebuchet MS"/>
                        </a:rPr>
                        <a:t>de</a:t>
                      </a:r>
                      <a:r>
                        <a:rPr sz="900" spc="95">
                          <a:latin typeface="Trebuchet MS"/>
                          <a:cs typeface="Trebuchet MS"/>
                        </a:rPr>
                        <a:t> </a:t>
                      </a:r>
                      <a:r>
                        <a:rPr sz="900" spc="65">
                          <a:latin typeface="Trebuchet MS"/>
                          <a:cs typeface="Trebuchet MS"/>
                        </a:rPr>
                        <a:t>los</a:t>
                      </a:r>
                      <a:r>
                        <a:rPr sz="900" spc="105">
                          <a:latin typeface="Trebuchet MS"/>
                          <a:cs typeface="Trebuchet MS"/>
                        </a:rPr>
                        <a:t> </a:t>
                      </a:r>
                      <a:r>
                        <a:rPr sz="900" spc="40">
                          <a:latin typeface="Trebuchet MS"/>
                          <a:cs typeface="Trebuchet MS"/>
                        </a:rPr>
                        <a:t>actores interesados</a:t>
                      </a:r>
                      <a:r>
                        <a:rPr sz="900">
                          <a:latin typeface="Trebuchet MS"/>
                          <a:cs typeface="Trebuchet MS"/>
                        </a:rPr>
                        <a:t>	</a:t>
                      </a:r>
                      <a:r>
                        <a:rPr sz="900" spc="-50">
                          <a:latin typeface="Trebuchet MS"/>
                          <a:cs typeface="Trebuchet MS"/>
                        </a:rPr>
                        <a:t>y</a:t>
                      </a:r>
                      <a:endParaRPr sz="900">
                        <a:latin typeface="Trebuchet MS"/>
                        <a:cs typeface="Trebuchet MS"/>
                      </a:endParaRPr>
                    </a:p>
                    <a:p>
                      <a:pPr marL="67945" marR="59055" algn="l">
                        <a:lnSpc>
                          <a:spcPct val="97700"/>
                        </a:lnSpc>
                        <a:spcBef>
                          <a:spcPts val="10"/>
                        </a:spcBef>
                      </a:pPr>
                      <a:r>
                        <a:rPr sz="900" spc="55">
                          <a:latin typeface="Trebuchet MS"/>
                          <a:cs typeface="Trebuchet MS"/>
                        </a:rPr>
                        <a:t>empoderarlos</a:t>
                      </a:r>
                      <a:r>
                        <a:rPr sz="900" spc="350">
                          <a:latin typeface="Trebuchet MS"/>
                          <a:cs typeface="Trebuchet MS"/>
                        </a:rPr>
                        <a:t> </a:t>
                      </a:r>
                      <a:r>
                        <a:rPr sz="900">
                          <a:latin typeface="Trebuchet MS"/>
                          <a:cs typeface="Trebuchet MS"/>
                        </a:rPr>
                        <a:t>para</a:t>
                      </a:r>
                      <a:r>
                        <a:rPr sz="900" spc="335">
                          <a:latin typeface="Trebuchet MS"/>
                          <a:cs typeface="Trebuchet MS"/>
                        </a:rPr>
                        <a:t> </a:t>
                      </a:r>
                      <a:r>
                        <a:rPr sz="900" spc="95">
                          <a:latin typeface="Trebuchet MS"/>
                          <a:cs typeface="Trebuchet MS"/>
                        </a:rPr>
                        <a:t>su</a:t>
                      </a:r>
                      <a:r>
                        <a:rPr sz="900" spc="350">
                          <a:latin typeface="Trebuchet MS"/>
                          <a:cs typeface="Trebuchet MS"/>
                        </a:rPr>
                        <a:t> </a:t>
                      </a:r>
                      <a:r>
                        <a:rPr sz="900" spc="65">
                          <a:latin typeface="Trebuchet MS"/>
                          <a:cs typeface="Trebuchet MS"/>
                        </a:rPr>
                        <a:t>uso </a:t>
                      </a:r>
                      <a:r>
                        <a:rPr sz="900">
                          <a:latin typeface="Trebuchet MS"/>
                          <a:cs typeface="Trebuchet MS"/>
                        </a:rPr>
                        <a:t>efectivo</a:t>
                      </a:r>
                      <a:r>
                        <a:rPr sz="900" spc="215">
                          <a:latin typeface="Trebuchet MS"/>
                          <a:cs typeface="Trebuchet MS"/>
                        </a:rPr>
                        <a:t>  </a:t>
                      </a:r>
                      <a:r>
                        <a:rPr sz="900" spc="60">
                          <a:latin typeface="Trebuchet MS"/>
                          <a:cs typeface="Trebuchet MS"/>
                        </a:rPr>
                        <a:t>en</a:t>
                      </a:r>
                      <a:r>
                        <a:rPr sz="900" spc="220">
                          <a:latin typeface="Trebuchet MS"/>
                          <a:cs typeface="Trebuchet MS"/>
                        </a:rPr>
                        <a:t>  </a:t>
                      </a:r>
                      <a:r>
                        <a:rPr sz="900">
                          <a:latin typeface="Trebuchet MS"/>
                          <a:cs typeface="Trebuchet MS"/>
                        </a:rPr>
                        <a:t>la</a:t>
                      </a:r>
                      <a:r>
                        <a:rPr sz="900" spc="215">
                          <a:latin typeface="Trebuchet MS"/>
                          <a:cs typeface="Trebuchet MS"/>
                        </a:rPr>
                        <a:t>  </a:t>
                      </a:r>
                      <a:r>
                        <a:rPr sz="900" spc="65">
                          <a:latin typeface="Trebuchet MS"/>
                          <a:cs typeface="Trebuchet MS"/>
                        </a:rPr>
                        <a:t>toma</a:t>
                      </a:r>
                      <a:r>
                        <a:rPr sz="900" spc="225">
                          <a:latin typeface="Trebuchet MS"/>
                          <a:cs typeface="Trebuchet MS"/>
                        </a:rPr>
                        <a:t>  </a:t>
                      </a:r>
                      <a:r>
                        <a:rPr sz="900" spc="-25">
                          <a:latin typeface="Trebuchet MS"/>
                          <a:cs typeface="Trebuchet MS"/>
                        </a:rPr>
                        <a:t>de </a:t>
                      </a:r>
                      <a:r>
                        <a:rPr sz="900" spc="-10">
                          <a:latin typeface="Trebuchet MS"/>
                          <a:cs typeface="Trebuchet MS"/>
                        </a:rPr>
                        <a:t>decisiones.</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65"/>
                        </a:lnSpc>
                      </a:pPr>
                      <a:r>
                        <a:rPr sz="900">
                          <a:latin typeface="Trebuchet MS"/>
                          <a:cs typeface="Trebuchet MS"/>
                        </a:rPr>
                        <a:t>Alinear</a:t>
                      </a:r>
                      <a:r>
                        <a:rPr sz="900" spc="420">
                          <a:latin typeface="Trebuchet MS"/>
                          <a:cs typeface="Trebuchet MS"/>
                        </a:rPr>
                        <a:t> </a:t>
                      </a:r>
                      <a:r>
                        <a:rPr sz="900" spc="55">
                          <a:latin typeface="Trebuchet MS"/>
                          <a:cs typeface="Trebuchet MS"/>
                        </a:rPr>
                        <a:t>las</a:t>
                      </a:r>
                      <a:r>
                        <a:rPr sz="900" spc="425">
                          <a:latin typeface="Trebuchet MS"/>
                          <a:cs typeface="Trebuchet MS"/>
                        </a:rPr>
                        <a:t> </a:t>
                      </a:r>
                      <a:r>
                        <a:rPr sz="900" spc="45">
                          <a:latin typeface="Trebuchet MS"/>
                          <a:cs typeface="Trebuchet MS"/>
                        </a:rPr>
                        <a:t>necesidades</a:t>
                      </a:r>
                      <a:endParaRPr sz="900">
                        <a:latin typeface="Trebuchet MS"/>
                        <a:cs typeface="Trebuchet MS"/>
                      </a:endParaRPr>
                    </a:p>
                    <a:p>
                      <a:pPr marL="69850" marR="61594" algn="l">
                        <a:lnSpc>
                          <a:spcPct val="97700"/>
                        </a:lnSpc>
                      </a:pPr>
                      <a:r>
                        <a:rPr sz="900" spc="55">
                          <a:latin typeface="Trebuchet MS"/>
                          <a:cs typeface="Trebuchet MS"/>
                        </a:rPr>
                        <a:t>de</a:t>
                      </a:r>
                      <a:r>
                        <a:rPr sz="900" spc="315">
                          <a:latin typeface="Trebuchet MS"/>
                          <a:cs typeface="Trebuchet MS"/>
                        </a:rPr>
                        <a:t> </a:t>
                      </a:r>
                      <a:r>
                        <a:rPr sz="900" spc="45">
                          <a:latin typeface="Trebuchet MS"/>
                          <a:cs typeface="Trebuchet MS"/>
                        </a:rPr>
                        <a:t>información</a:t>
                      </a:r>
                      <a:r>
                        <a:rPr sz="900" spc="315">
                          <a:latin typeface="Trebuchet MS"/>
                          <a:cs typeface="Trebuchet MS"/>
                        </a:rPr>
                        <a:t> </a:t>
                      </a:r>
                      <a:r>
                        <a:rPr sz="900" spc="70">
                          <a:latin typeface="Trebuchet MS"/>
                          <a:cs typeface="Trebuchet MS"/>
                        </a:rPr>
                        <a:t>con</a:t>
                      </a:r>
                      <a:r>
                        <a:rPr sz="900" spc="315">
                          <a:latin typeface="Trebuchet MS"/>
                          <a:cs typeface="Trebuchet MS"/>
                        </a:rPr>
                        <a:t> </a:t>
                      </a:r>
                      <a:r>
                        <a:rPr sz="900" spc="30">
                          <a:latin typeface="Trebuchet MS"/>
                          <a:cs typeface="Trebuchet MS"/>
                        </a:rPr>
                        <a:t>las </a:t>
                      </a:r>
                      <a:r>
                        <a:rPr sz="900" spc="55">
                          <a:latin typeface="Trebuchet MS"/>
                          <a:cs typeface="Trebuchet MS"/>
                        </a:rPr>
                        <a:t>necesidades</a:t>
                      </a:r>
                      <a:r>
                        <a:rPr sz="900" spc="385">
                          <a:latin typeface="Trebuchet MS"/>
                          <a:cs typeface="Trebuchet MS"/>
                        </a:rPr>
                        <a:t>   </a:t>
                      </a:r>
                      <a:r>
                        <a:rPr sz="900" spc="55">
                          <a:latin typeface="Trebuchet MS"/>
                          <a:cs typeface="Trebuchet MS"/>
                        </a:rPr>
                        <a:t>de</a:t>
                      </a:r>
                      <a:r>
                        <a:rPr sz="900" spc="380">
                          <a:latin typeface="Trebuchet MS"/>
                          <a:cs typeface="Trebuchet MS"/>
                        </a:rPr>
                        <a:t>   </a:t>
                      </a:r>
                      <a:r>
                        <a:rPr sz="900" spc="-25">
                          <a:latin typeface="Trebuchet MS"/>
                          <a:cs typeface="Trebuchet MS"/>
                        </a:rPr>
                        <a:t>la </a:t>
                      </a:r>
                      <a:r>
                        <a:rPr sz="900" spc="20">
                          <a:latin typeface="Trebuchet MS"/>
                          <a:cs typeface="Trebuchet MS"/>
                        </a:rPr>
                        <a:t>estrategia</a:t>
                      </a:r>
                      <a:r>
                        <a:rPr sz="900" spc="145">
                          <a:latin typeface="Trebuchet MS"/>
                          <a:cs typeface="Trebuchet MS"/>
                        </a:rPr>
                        <a:t> </a:t>
                      </a:r>
                      <a:r>
                        <a:rPr sz="900" spc="20">
                          <a:latin typeface="Trebuchet MS"/>
                          <a:cs typeface="Trebuchet MS"/>
                        </a:rPr>
                        <a:t>institucional</a:t>
                      </a:r>
                      <a:r>
                        <a:rPr sz="900" spc="145">
                          <a:latin typeface="Trebuchet MS"/>
                          <a:cs typeface="Trebuchet MS"/>
                        </a:rPr>
                        <a:t> </a:t>
                      </a:r>
                      <a:r>
                        <a:rPr sz="900" spc="-50">
                          <a:latin typeface="Trebuchet MS"/>
                          <a:cs typeface="Trebuchet MS"/>
                        </a:rPr>
                        <a:t>y </a:t>
                      </a:r>
                      <a:r>
                        <a:rPr sz="900" spc="65">
                          <a:latin typeface="Trebuchet MS"/>
                          <a:cs typeface="Trebuchet MS"/>
                        </a:rPr>
                        <a:t>los</a:t>
                      </a:r>
                      <a:r>
                        <a:rPr sz="900" spc="55">
                          <a:latin typeface="Trebuchet MS"/>
                          <a:cs typeface="Trebuchet MS"/>
                        </a:rPr>
                        <a:t> </a:t>
                      </a:r>
                      <a:r>
                        <a:rPr sz="900" spc="60">
                          <a:latin typeface="Trebuchet MS"/>
                          <a:cs typeface="Trebuchet MS"/>
                        </a:rPr>
                        <a:t>procesos</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3"/>
                  </a:ext>
                </a:extLst>
              </a:tr>
              <a:tr h="452870">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59690" algn="l">
                        <a:lnSpc>
                          <a:spcPts val="1280"/>
                        </a:lnSpc>
                        <a:spcBef>
                          <a:spcPts val="30"/>
                        </a:spcBef>
                        <a:tabLst>
                          <a:tab pos="986790" algn="l"/>
                          <a:tab pos="1439545" algn="l"/>
                          <a:tab pos="1574800" algn="l"/>
                        </a:tabLst>
                      </a:pPr>
                      <a:r>
                        <a:rPr sz="900" spc="40">
                          <a:latin typeface="Trebuchet MS"/>
                          <a:cs typeface="Trebuchet MS"/>
                        </a:rPr>
                        <a:t>Construir</a:t>
                      </a:r>
                      <a:r>
                        <a:rPr sz="900">
                          <a:latin typeface="Trebuchet MS"/>
                          <a:cs typeface="Trebuchet MS"/>
                        </a:rPr>
                        <a:t>	</a:t>
                      </a:r>
                      <a:r>
                        <a:rPr sz="900" spc="45">
                          <a:latin typeface="Trebuchet MS"/>
                          <a:cs typeface="Trebuchet MS"/>
                        </a:rPr>
                        <a:t>un</a:t>
                      </a:r>
                      <a:r>
                        <a:rPr sz="900">
                          <a:latin typeface="Trebuchet MS"/>
                          <a:cs typeface="Trebuchet MS"/>
                        </a:rPr>
                        <a:t>	</a:t>
                      </a:r>
                      <a:r>
                        <a:rPr sz="900" spc="-20">
                          <a:latin typeface="Trebuchet MS"/>
                          <a:cs typeface="Trebuchet MS"/>
                        </a:rPr>
                        <a:t>flujo </a:t>
                      </a:r>
                      <a:r>
                        <a:rPr sz="900" spc="45">
                          <a:latin typeface="Trebuchet MS"/>
                          <a:cs typeface="Trebuchet MS"/>
                        </a:rPr>
                        <a:t>permanente</a:t>
                      </a:r>
                      <a:r>
                        <a:rPr sz="900">
                          <a:latin typeface="Trebuchet MS"/>
                          <a:cs typeface="Trebuchet MS"/>
                        </a:rPr>
                        <a:t>			</a:t>
                      </a:r>
                      <a:r>
                        <a:rPr sz="900" spc="30">
                          <a:latin typeface="Trebuchet MS"/>
                          <a:cs typeface="Trebuchet MS"/>
                        </a:rPr>
                        <a:t>de</a:t>
                      </a:r>
                      <a:endParaRPr sz="900">
                        <a:latin typeface="Trebuchet MS"/>
                        <a:cs typeface="Trebuchet MS"/>
                      </a:endParaRPr>
                    </a:p>
                    <a:p>
                      <a:pPr marL="69850" marR="62230" algn="l">
                        <a:lnSpc>
                          <a:spcPts val="1300"/>
                        </a:lnSpc>
                      </a:pPr>
                      <a:r>
                        <a:rPr sz="900" spc="45">
                          <a:latin typeface="Trebuchet MS"/>
                          <a:cs typeface="Trebuchet MS"/>
                        </a:rPr>
                        <a:t>información</a:t>
                      </a:r>
                      <a:r>
                        <a:rPr sz="900" spc="65">
                          <a:latin typeface="Trebuchet MS"/>
                          <a:cs typeface="Trebuchet MS"/>
                        </a:rPr>
                        <a:t> </a:t>
                      </a:r>
                      <a:r>
                        <a:rPr sz="900">
                          <a:latin typeface="Trebuchet MS"/>
                          <a:cs typeface="Trebuchet MS"/>
                        </a:rPr>
                        <a:t>a</a:t>
                      </a:r>
                      <a:r>
                        <a:rPr sz="900" spc="65">
                          <a:latin typeface="Trebuchet MS"/>
                          <a:cs typeface="Trebuchet MS"/>
                        </a:rPr>
                        <a:t> </a:t>
                      </a:r>
                      <a:r>
                        <a:rPr sz="900" spc="55">
                          <a:latin typeface="Trebuchet MS"/>
                          <a:cs typeface="Trebuchet MS"/>
                        </a:rPr>
                        <a:t>todo</a:t>
                      </a:r>
                      <a:r>
                        <a:rPr sz="900" spc="60">
                          <a:latin typeface="Trebuchet MS"/>
                          <a:cs typeface="Trebuchet MS"/>
                        </a:rPr>
                        <a:t> </a:t>
                      </a:r>
                      <a:r>
                        <a:rPr sz="900" spc="-10">
                          <a:latin typeface="Trebuchet MS"/>
                          <a:cs typeface="Trebuchet MS"/>
                        </a:rPr>
                        <a:t>nivel </a:t>
                      </a:r>
                      <a:r>
                        <a:rPr sz="900" spc="60">
                          <a:latin typeface="Trebuchet MS"/>
                          <a:cs typeface="Trebuchet MS"/>
                        </a:rPr>
                        <a:t>que</a:t>
                      </a:r>
                      <a:r>
                        <a:rPr sz="900" spc="130">
                          <a:latin typeface="Trebuchet MS"/>
                          <a:cs typeface="Trebuchet MS"/>
                        </a:rPr>
                        <a:t> </a:t>
                      </a:r>
                      <a:r>
                        <a:rPr sz="900">
                          <a:latin typeface="Trebuchet MS"/>
                          <a:cs typeface="Trebuchet MS"/>
                        </a:rPr>
                        <a:t>apoye</a:t>
                      </a:r>
                      <a:r>
                        <a:rPr sz="900" spc="125">
                          <a:latin typeface="Trebuchet MS"/>
                          <a:cs typeface="Trebuchet MS"/>
                        </a:rPr>
                        <a:t> </a:t>
                      </a:r>
                      <a:r>
                        <a:rPr sz="900" spc="60">
                          <a:latin typeface="Trebuchet MS"/>
                          <a:cs typeface="Trebuchet MS"/>
                        </a:rPr>
                        <a:t>los</a:t>
                      </a:r>
                      <a:r>
                        <a:rPr sz="900" spc="130">
                          <a:latin typeface="Trebuchet MS"/>
                          <a:cs typeface="Trebuchet MS"/>
                        </a:rPr>
                        <a:t> </a:t>
                      </a:r>
                      <a:r>
                        <a:rPr sz="900" spc="60">
                          <a:latin typeface="Trebuchet MS"/>
                          <a:cs typeface="Trebuchet MS"/>
                        </a:rPr>
                        <a:t>procesos</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4"/>
                  </a:ext>
                </a:extLst>
              </a:tr>
              <a:tr h="785380">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tabLst>
                          <a:tab pos="1166495" algn="l"/>
                        </a:tabLst>
                      </a:pPr>
                      <a:r>
                        <a:rPr sz="900" spc="40">
                          <a:latin typeface="Trebuchet MS"/>
                          <a:cs typeface="Trebuchet MS"/>
                        </a:rPr>
                        <a:t>Implementar</a:t>
                      </a:r>
                      <a:r>
                        <a:rPr sz="900">
                          <a:latin typeface="Trebuchet MS"/>
                          <a:cs typeface="Trebuchet MS"/>
                        </a:rPr>
                        <a:t>	</a:t>
                      </a:r>
                      <a:r>
                        <a:rPr sz="900" spc="-10">
                          <a:latin typeface="Trebuchet MS"/>
                          <a:cs typeface="Trebuchet MS"/>
                        </a:rPr>
                        <a:t>políticas</a:t>
                      </a:r>
                      <a:endParaRPr sz="900">
                        <a:latin typeface="Trebuchet MS"/>
                        <a:cs typeface="Trebuchet MS"/>
                      </a:endParaRPr>
                    </a:p>
                    <a:p>
                      <a:pPr marL="69850" marR="60325" algn="l">
                        <a:lnSpc>
                          <a:spcPts val="1280"/>
                        </a:lnSpc>
                        <a:spcBef>
                          <a:spcPts val="60"/>
                        </a:spcBef>
                        <a:tabLst>
                          <a:tab pos="479425" algn="l"/>
                          <a:tab pos="1211580" algn="l"/>
                          <a:tab pos="1489710" algn="l"/>
                          <a:tab pos="1619885" algn="l"/>
                        </a:tabLst>
                      </a:pPr>
                      <a:r>
                        <a:rPr sz="900" spc="30">
                          <a:latin typeface="Trebuchet MS"/>
                          <a:cs typeface="Trebuchet MS"/>
                        </a:rPr>
                        <a:t>de</a:t>
                      </a:r>
                      <a:r>
                        <a:rPr sz="900">
                          <a:latin typeface="Trebuchet MS"/>
                          <a:cs typeface="Trebuchet MS"/>
                        </a:rPr>
                        <a:t>	</a:t>
                      </a:r>
                      <a:r>
                        <a:rPr sz="900" spc="-10">
                          <a:latin typeface="Trebuchet MS"/>
                          <a:cs typeface="Trebuchet MS"/>
                        </a:rPr>
                        <a:t>calidad</a:t>
                      </a:r>
                      <a:r>
                        <a:rPr sz="900">
                          <a:latin typeface="Trebuchet MS"/>
                          <a:cs typeface="Trebuchet MS"/>
                        </a:rPr>
                        <a:t>	</a:t>
                      </a:r>
                      <a:r>
                        <a:rPr sz="900" spc="30">
                          <a:latin typeface="Trebuchet MS"/>
                          <a:cs typeface="Trebuchet MS"/>
                        </a:rPr>
                        <a:t>de</a:t>
                      </a:r>
                      <a:r>
                        <a:rPr sz="900">
                          <a:latin typeface="Trebuchet MS"/>
                          <a:cs typeface="Trebuchet MS"/>
                        </a:rPr>
                        <a:t>		</a:t>
                      </a:r>
                      <a:r>
                        <a:rPr sz="900" spc="-25">
                          <a:latin typeface="Trebuchet MS"/>
                          <a:cs typeface="Trebuchet MS"/>
                        </a:rPr>
                        <a:t>la </a:t>
                      </a:r>
                      <a:r>
                        <a:rPr sz="900" spc="35">
                          <a:latin typeface="Trebuchet MS"/>
                          <a:cs typeface="Trebuchet MS"/>
                        </a:rPr>
                        <a:t>información</a:t>
                      </a:r>
                      <a:r>
                        <a:rPr sz="900">
                          <a:latin typeface="Trebuchet MS"/>
                          <a:cs typeface="Trebuchet MS"/>
                        </a:rPr>
                        <a:t>		</a:t>
                      </a:r>
                      <a:r>
                        <a:rPr sz="900" spc="30">
                          <a:latin typeface="Trebuchet MS"/>
                          <a:cs typeface="Trebuchet MS"/>
                        </a:rPr>
                        <a:t>que</a:t>
                      </a:r>
                      <a:endParaRPr sz="900">
                        <a:latin typeface="Trebuchet MS"/>
                        <a:cs typeface="Trebuchet MS"/>
                      </a:endParaRPr>
                    </a:p>
                    <a:p>
                      <a:pPr marL="69850" algn="l">
                        <a:lnSpc>
                          <a:spcPts val="1245"/>
                        </a:lnSpc>
                        <a:tabLst>
                          <a:tab pos="1584325" algn="l"/>
                        </a:tabLst>
                      </a:pPr>
                      <a:r>
                        <a:rPr sz="900" spc="40">
                          <a:latin typeface="Trebuchet MS"/>
                          <a:cs typeface="Trebuchet MS"/>
                        </a:rPr>
                        <a:t>aseguren</a:t>
                      </a:r>
                      <a:r>
                        <a:rPr sz="900">
                          <a:latin typeface="Trebuchet MS"/>
                          <a:cs typeface="Trebuchet MS"/>
                        </a:rPr>
                        <a:t>	</a:t>
                      </a:r>
                      <a:r>
                        <a:rPr sz="900" spc="70">
                          <a:latin typeface="Trebuchet MS"/>
                          <a:cs typeface="Trebuchet MS"/>
                        </a:rPr>
                        <a:t>su</a:t>
                      </a:r>
                      <a:endParaRPr sz="900">
                        <a:latin typeface="Trebuchet MS"/>
                        <a:cs typeface="Trebuchet MS"/>
                      </a:endParaRPr>
                    </a:p>
                    <a:p>
                      <a:pPr marL="69850" marR="60325" algn="l">
                        <a:lnSpc>
                          <a:spcPct val="97800"/>
                        </a:lnSpc>
                      </a:pPr>
                      <a:r>
                        <a:rPr sz="900" spc="-10">
                          <a:latin typeface="Trebuchet MS"/>
                          <a:cs typeface="Trebuchet MS"/>
                        </a:rPr>
                        <a:t>confiabilidad,</a:t>
                      </a:r>
                      <a:r>
                        <a:rPr sz="900" spc="500">
                          <a:latin typeface="Trebuchet MS"/>
                          <a:cs typeface="Trebuchet MS"/>
                        </a:rPr>
                        <a:t> </a:t>
                      </a:r>
                      <a:r>
                        <a:rPr sz="900">
                          <a:latin typeface="Trebuchet MS"/>
                          <a:cs typeface="Trebuchet MS"/>
                        </a:rPr>
                        <a:t>oportunidad,</a:t>
                      </a:r>
                      <a:r>
                        <a:rPr sz="900" spc="320">
                          <a:latin typeface="Trebuchet MS"/>
                          <a:cs typeface="Trebuchet MS"/>
                        </a:rPr>
                        <a:t>  </a:t>
                      </a:r>
                      <a:r>
                        <a:rPr sz="900" spc="-10">
                          <a:latin typeface="Trebuchet MS"/>
                          <a:cs typeface="Trebuchet MS"/>
                        </a:rPr>
                        <a:t>relevancia </a:t>
                      </a:r>
                      <a:r>
                        <a:rPr sz="900">
                          <a:latin typeface="Trebuchet MS"/>
                          <a:cs typeface="Trebuchet MS"/>
                        </a:rPr>
                        <a:t>y</a:t>
                      </a:r>
                      <a:r>
                        <a:rPr sz="900" spc="70">
                          <a:latin typeface="Trebuchet MS"/>
                          <a:cs typeface="Trebuchet MS"/>
                        </a:rPr>
                        <a:t> </a:t>
                      </a:r>
                      <a:r>
                        <a:rPr sz="900" spc="40">
                          <a:latin typeface="Trebuchet MS"/>
                          <a:cs typeface="Trebuchet MS"/>
                        </a:rPr>
                        <a:t>consistencia</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5"/>
                  </a:ext>
                </a:extLst>
              </a:tr>
              <a:tr h="451572">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65"/>
                        </a:lnSpc>
                      </a:pPr>
                      <a:r>
                        <a:rPr sz="900">
                          <a:latin typeface="Trebuchet MS"/>
                          <a:cs typeface="Trebuchet MS"/>
                        </a:rPr>
                        <a:t>Habilitar</a:t>
                      </a:r>
                      <a:r>
                        <a:rPr sz="900" spc="225">
                          <a:latin typeface="Trebuchet MS"/>
                          <a:cs typeface="Trebuchet MS"/>
                        </a:rPr>
                        <a:t>   </a:t>
                      </a:r>
                      <a:r>
                        <a:rPr sz="900" spc="35">
                          <a:latin typeface="Trebuchet MS"/>
                          <a:cs typeface="Trebuchet MS"/>
                        </a:rPr>
                        <a:t>herramientas</a:t>
                      </a:r>
                      <a:endParaRPr sz="900">
                        <a:latin typeface="Trebuchet MS"/>
                        <a:cs typeface="Trebuchet MS"/>
                      </a:endParaRPr>
                    </a:p>
                    <a:p>
                      <a:pPr marL="69850" marR="60325" algn="l">
                        <a:lnSpc>
                          <a:spcPct val="97700"/>
                        </a:lnSpc>
                      </a:pPr>
                      <a:r>
                        <a:rPr sz="900" spc="60">
                          <a:latin typeface="Trebuchet MS"/>
                          <a:cs typeface="Trebuchet MS"/>
                        </a:rPr>
                        <a:t>que</a:t>
                      </a:r>
                      <a:r>
                        <a:rPr sz="900" spc="240">
                          <a:latin typeface="Trebuchet MS"/>
                          <a:cs typeface="Trebuchet MS"/>
                        </a:rPr>
                        <a:t> </a:t>
                      </a:r>
                      <a:r>
                        <a:rPr sz="900">
                          <a:latin typeface="Trebuchet MS"/>
                          <a:cs typeface="Trebuchet MS"/>
                        </a:rPr>
                        <a:t>permitan</a:t>
                      </a:r>
                      <a:r>
                        <a:rPr sz="900" spc="240">
                          <a:latin typeface="Trebuchet MS"/>
                          <a:cs typeface="Trebuchet MS"/>
                        </a:rPr>
                        <a:t> </a:t>
                      </a:r>
                      <a:r>
                        <a:rPr sz="900">
                          <a:latin typeface="Trebuchet MS"/>
                          <a:cs typeface="Trebuchet MS"/>
                        </a:rPr>
                        <a:t>el</a:t>
                      </a:r>
                      <a:r>
                        <a:rPr sz="900" spc="235">
                          <a:latin typeface="Trebuchet MS"/>
                          <a:cs typeface="Trebuchet MS"/>
                        </a:rPr>
                        <a:t> </a:t>
                      </a:r>
                      <a:r>
                        <a:rPr sz="900" spc="35">
                          <a:latin typeface="Trebuchet MS"/>
                          <a:cs typeface="Trebuchet MS"/>
                        </a:rPr>
                        <a:t>análisis </a:t>
                      </a:r>
                      <a:r>
                        <a:rPr sz="900">
                          <a:latin typeface="Trebuchet MS"/>
                          <a:cs typeface="Trebuchet MS"/>
                        </a:rPr>
                        <a:t>y</a:t>
                      </a:r>
                      <a:r>
                        <a:rPr sz="900" spc="185">
                          <a:latin typeface="Trebuchet MS"/>
                          <a:cs typeface="Trebuchet MS"/>
                        </a:rPr>
                        <a:t> </a:t>
                      </a:r>
                      <a:r>
                        <a:rPr sz="900" spc="90">
                          <a:latin typeface="Trebuchet MS"/>
                          <a:cs typeface="Trebuchet MS"/>
                        </a:rPr>
                        <a:t>uso</a:t>
                      </a:r>
                      <a:r>
                        <a:rPr sz="900" spc="180">
                          <a:latin typeface="Trebuchet MS"/>
                          <a:cs typeface="Trebuchet MS"/>
                        </a:rPr>
                        <a:t> </a:t>
                      </a:r>
                      <a:r>
                        <a:rPr sz="900" spc="55">
                          <a:latin typeface="Trebuchet MS"/>
                          <a:cs typeface="Trebuchet MS"/>
                        </a:rPr>
                        <a:t>de</a:t>
                      </a:r>
                      <a:r>
                        <a:rPr sz="900" spc="175">
                          <a:latin typeface="Trebuchet MS"/>
                          <a:cs typeface="Trebuchet MS"/>
                        </a:rPr>
                        <a:t> </a:t>
                      </a:r>
                      <a:r>
                        <a:rPr sz="900">
                          <a:latin typeface="Trebuchet MS"/>
                          <a:cs typeface="Trebuchet MS"/>
                        </a:rPr>
                        <a:t>la</a:t>
                      </a:r>
                      <a:r>
                        <a:rPr sz="900" spc="180">
                          <a:latin typeface="Trebuchet MS"/>
                          <a:cs typeface="Trebuchet MS"/>
                        </a:rPr>
                        <a:t> </a:t>
                      </a:r>
                      <a:r>
                        <a:rPr sz="900" spc="35">
                          <a:latin typeface="Trebuchet MS"/>
                          <a:cs typeface="Trebuchet MS"/>
                        </a:rPr>
                        <a:t>información </a:t>
                      </a:r>
                      <a:r>
                        <a:rPr sz="900">
                          <a:latin typeface="Trebuchet MS"/>
                          <a:cs typeface="Trebuchet MS"/>
                        </a:rPr>
                        <a:t>existente</a:t>
                      </a:r>
                      <a:r>
                        <a:rPr sz="900" spc="210">
                          <a:latin typeface="Trebuchet MS"/>
                          <a:cs typeface="Trebuchet MS"/>
                        </a:rPr>
                        <a:t> </a:t>
                      </a:r>
                      <a:r>
                        <a:rPr sz="900">
                          <a:latin typeface="Trebuchet MS"/>
                          <a:cs typeface="Trebuchet MS"/>
                        </a:rPr>
                        <a:t>y</a:t>
                      </a:r>
                      <a:r>
                        <a:rPr sz="900" spc="240">
                          <a:latin typeface="Trebuchet MS"/>
                          <a:cs typeface="Trebuchet MS"/>
                        </a:rPr>
                        <a:t> </a:t>
                      </a:r>
                      <a:r>
                        <a:rPr sz="900" spc="40">
                          <a:latin typeface="Trebuchet MS"/>
                          <a:cs typeface="Trebuchet MS"/>
                        </a:rPr>
                        <a:t>disponible</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6"/>
                  </a:ext>
                </a:extLst>
              </a:tr>
              <a:tr h="450706">
                <a:tc rowSpan="3">
                  <a:txBody>
                    <a:bodyPr/>
                    <a:lstStyle/>
                    <a:p>
                      <a:pPr marL="69850" algn="l">
                        <a:lnSpc>
                          <a:spcPts val="1265"/>
                        </a:lnSpc>
                      </a:pPr>
                      <a:r>
                        <a:rPr sz="900" b="1" spc="65">
                          <a:solidFill>
                            <a:srgbClr val="E89F43"/>
                          </a:solidFill>
                          <a:latin typeface="Trebuchet MS"/>
                          <a:cs typeface="Trebuchet MS"/>
                        </a:rPr>
                        <a:t>Sistemas</a:t>
                      </a:r>
                      <a:r>
                        <a:rPr sz="900" b="1" spc="5">
                          <a:solidFill>
                            <a:srgbClr val="E89F43"/>
                          </a:solidFill>
                          <a:latin typeface="Trebuchet MS"/>
                          <a:cs typeface="Trebuchet MS"/>
                        </a:rPr>
                        <a:t> </a:t>
                      </a:r>
                      <a:r>
                        <a:rPr sz="900" b="1">
                          <a:solidFill>
                            <a:srgbClr val="E89F43"/>
                          </a:solidFill>
                          <a:latin typeface="Trebuchet MS"/>
                          <a:cs typeface="Trebuchet MS"/>
                        </a:rPr>
                        <a:t>de</a:t>
                      </a:r>
                      <a:r>
                        <a:rPr sz="900" b="1" spc="5">
                          <a:solidFill>
                            <a:srgbClr val="E89F43"/>
                          </a:solidFill>
                          <a:latin typeface="Trebuchet MS"/>
                          <a:cs typeface="Trebuchet MS"/>
                        </a:rPr>
                        <a:t> </a:t>
                      </a:r>
                      <a:r>
                        <a:rPr sz="900" b="1" spc="-10">
                          <a:solidFill>
                            <a:srgbClr val="E89F43"/>
                          </a:solidFill>
                          <a:latin typeface="Trebuchet MS"/>
                          <a:cs typeface="Trebuchet MS"/>
                        </a:rPr>
                        <a:t>Información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3">
                  <a:txBody>
                    <a:bodyPr/>
                    <a:lstStyle/>
                    <a:p>
                      <a:pPr marL="67945" algn="l">
                        <a:lnSpc>
                          <a:spcPts val="1250"/>
                        </a:lnSpc>
                      </a:pPr>
                      <a:r>
                        <a:rPr sz="900" spc="75">
                          <a:latin typeface="Trebuchet MS"/>
                          <a:cs typeface="Trebuchet MS"/>
                        </a:rPr>
                        <a:t>Sistemas</a:t>
                      </a:r>
                      <a:r>
                        <a:rPr sz="900" spc="200">
                          <a:latin typeface="Trebuchet MS"/>
                          <a:cs typeface="Trebuchet MS"/>
                        </a:rPr>
                        <a:t>  </a:t>
                      </a:r>
                      <a:r>
                        <a:rPr sz="900" spc="55">
                          <a:latin typeface="Trebuchet MS"/>
                          <a:cs typeface="Trebuchet MS"/>
                        </a:rPr>
                        <a:t>de</a:t>
                      </a:r>
                      <a:r>
                        <a:rPr sz="900" spc="200">
                          <a:latin typeface="Trebuchet MS"/>
                          <a:cs typeface="Trebuchet MS"/>
                        </a:rPr>
                        <a:t>  </a:t>
                      </a:r>
                      <a:r>
                        <a:rPr sz="900" spc="40">
                          <a:latin typeface="Trebuchet MS"/>
                          <a:cs typeface="Trebuchet MS"/>
                        </a:rPr>
                        <a:t>Información</a:t>
                      </a:r>
                      <a:endParaRPr sz="900">
                        <a:latin typeface="Trebuchet MS"/>
                        <a:cs typeface="Trebuchet MS"/>
                      </a:endParaRPr>
                    </a:p>
                    <a:p>
                      <a:pPr marL="67945" marR="60325" algn="l">
                        <a:lnSpc>
                          <a:spcPct val="97600"/>
                        </a:lnSpc>
                        <a:spcBef>
                          <a:spcPts val="20"/>
                        </a:spcBef>
                      </a:pPr>
                      <a:r>
                        <a:rPr sz="900" spc="60">
                          <a:latin typeface="Trebuchet MS"/>
                          <a:cs typeface="Trebuchet MS"/>
                        </a:rPr>
                        <a:t>que</a:t>
                      </a:r>
                      <a:r>
                        <a:rPr sz="900" spc="395">
                          <a:latin typeface="Trebuchet MS"/>
                          <a:cs typeface="Trebuchet MS"/>
                        </a:rPr>
                        <a:t>    </a:t>
                      </a:r>
                      <a:r>
                        <a:rPr sz="900" spc="50">
                          <a:latin typeface="Trebuchet MS"/>
                          <a:cs typeface="Trebuchet MS"/>
                        </a:rPr>
                        <a:t>satisfagan</a:t>
                      </a:r>
                      <a:r>
                        <a:rPr sz="900" spc="400">
                          <a:latin typeface="Trebuchet MS"/>
                          <a:cs typeface="Trebuchet MS"/>
                        </a:rPr>
                        <a:t>    </a:t>
                      </a:r>
                      <a:r>
                        <a:rPr sz="900" spc="-25">
                          <a:latin typeface="Trebuchet MS"/>
                          <a:cs typeface="Trebuchet MS"/>
                        </a:rPr>
                        <a:t>las </a:t>
                      </a:r>
                      <a:r>
                        <a:rPr sz="900" spc="55">
                          <a:latin typeface="Trebuchet MS"/>
                          <a:cs typeface="Trebuchet MS"/>
                        </a:rPr>
                        <a:t>necesidades</a:t>
                      </a:r>
                      <a:r>
                        <a:rPr sz="900" spc="335">
                          <a:latin typeface="Trebuchet MS"/>
                          <a:cs typeface="Trebuchet MS"/>
                        </a:rPr>
                        <a:t>    </a:t>
                      </a:r>
                      <a:r>
                        <a:rPr sz="900" spc="55">
                          <a:latin typeface="Trebuchet MS"/>
                          <a:cs typeface="Trebuchet MS"/>
                        </a:rPr>
                        <a:t>de</a:t>
                      </a:r>
                      <a:r>
                        <a:rPr sz="900" spc="330">
                          <a:latin typeface="Trebuchet MS"/>
                          <a:cs typeface="Trebuchet MS"/>
                        </a:rPr>
                        <a:t>    </a:t>
                      </a:r>
                      <a:r>
                        <a:rPr sz="900" spc="-25">
                          <a:latin typeface="Trebuchet MS"/>
                          <a:cs typeface="Trebuchet MS"/>
                        </a:rPr>
                        <a:t>los </a:t>
                      </a:r>
                      <a:r>
                        <a:rPr sz="900" spc="70">
                          <a:latin typeface="Trebuchet MS"/>
                          <a:cs typeface="Trebuchet MS"/>
                        </a:rPr>
                        <a:t>procesos</a:t>
                      </a:r>
                      <a:r>
                        <a:rPr sz="900" spc="125">
                          <a:latin typeface="Trebuchet MS"/>
                          <a:cs typeface="Trebuchet MS"/>
                        </a:rPr>
                        <a:t> </a:t>
                      </a:r>
                      <a:r>
                        <a:rPr sz="900">
                          <a:latin typeface="Trebuchet MS"/>
                          <a:cs typeface="Trebuchet MS"/>
                        </a:rPr>
                        <a:t>y</a:t>
                      </a:r>
                      <a:r>
                        <a:rPr sz="900" spc="135">
                          <a:latin typeface="Trebuchet MS"/>
                          <a:cs typeface="Trebuchet MS"/>
                        </a:rPr>
                        <a:t> </a:t>
                      </a:r>
                      <a:r>
                        <a:rPr sz="900" spc="65">
                          <a:latin typeface="Trebuchet MS"/>
                          <a:cs typeface="Trebuchet MS"/>
                        </a:rPr>
                        <a:t>los</a:t>
                      </a:r>
                      <a:r>
                        <a:rPr sz="900" spc="114">
                          <a:latin typeface="Trebuchet MS"/>
                          <a:cs typeface="Trebuchet MS"/>
                        </a:rPr>
                        <a:t> </a:t>
                      </a:r>
                      <a:r>
                        <a:rPr sz="900" spc="45">
                          <a:latin typeface="Trebuchet MS"/>
                          <a:cs typeface="Trebuchet MS"/>
                        </a:rPr>
                        <a:t>servicios</a:t>
                      </a:r>
                      <a:r>
                        <a:rPr sz="900" spc="130">
                          <a:latin typeface="Trebuchet MS"/>
                          <a:cs typeface="Trebuchet MS"/>
                        </a:rPr>
                        <a:t> </a:t>
                      </a:r>
                      <a:r>
                        <a:rPr sz="900" spc="30">
                          <a:latin typeface="Trebuchet MS"/>
                          <a:cs typeface="Trebuchet MS"/>
                        </a:rPr>
                        <a:t>de </a:t>
                      </a:r>
                      <a:r>
                        <a:rPr sz="900">
                          <a:latin typeface="Trebuchet MS"/>
                          <a:cs typeface="Trebuchet MS"/>
                        </a:rPr>
                        <a:t>la</a:t>
                      </a:r>
                      <a:r>
                        <a:rPr sz="900" spc="155">
                          <a:latin typeface="Trebuchet MS"/>
                          <a:cs typeface="Trebuchet MS"/>
                        </a:rPr>
                        <a:t> </a:t>
                      </a:r>
                      <a:r>
                        <a:rPr sz="900">
                          <a:latin typeface="Trebuchet MS"/>
                          <a:cs typeface="Trebuchet MS"/>
                        </a:rPr>
                        <a:t>entidad</a:t>
                      </a:r>
                      <a:r>
                        <a:rPr sz="900" spc="165">
                          <a:latin typeface="Trebuchet MS"/>
                          <a:cs typeface="Trebuchet MS"/>
                        </a:rPr>
                        <a:t> </a:t>
                      </a:r>
                      <a:r>
                        <a:rPr sz="900">
                          <a:latin typeface="Trebuchet MS"/>
                          <a:cs typeface="Trebuchet MS"/>
                        </a:rPr>
                        <a:t>y</a:t>
                      </a:r>
                      <a:r>
                        <a:rPr sz="900" spc="175">
                          <a:latin typeface="Trebuchet MS"/>
                          <a:cs typeface="Trebuchet MS"/>
                        </a:rPr>
                        <a:t> </a:t>
                      </a:r>
                      <a:r>
                        <a:rPr sz="900">
                          <a:latin typeface="Trebuchet MS"/>
                          <a:cs typeface="Trebuchet MS"/>
                        </a:rPr>
                        <a:t>del</a:t>
                      </a:r>
                      <a:r>
                        <a:rPr sz="900" spc="145">
                          <a:latin typeface="Trebuchet MS"/>
                          <a:cs typeface="Trebuchet MS"/>
                        </a:rPr>
                        <a:t> </a:t>
                      </a:r>
                      <a:r>
                        <a:rPr sz="900" spc="-10">
                          <a:latin typeface="Trebuchet MS"/>
                          <a:cs typeface="Trebuchet MS"/>
                        </a:rPr>
                        <a:t>sector.</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pPr>
                      <a:r>
                        <a:rPr sz="900" spc="50">
                          <a:latin typeface="Trebuchet MS"/>
                          <a:cs typeface="Trebuchet MS"/>
                        </a:rPr>
                        <a:t>Establecer</a:t>
                      </a:r>
                      <a:r>
                        <a:rPr sz="900" spc="190">
                          <a:latin typeface="Trebuchet MS"/>
                          <a:cs typeface="Trebuchet MS"/>
                        </a:rPr>
                        <a:t>  </a:t>
                      </a:r>
                      <a:r>
                        <a:rPr sz="900" spc="75">
                          <a:latin typeface="Trebuchet MS"/>
                          <a:cs typeface="Trebuchet MS"/>
                        </a:rPr>
                        <a:t>un</a:t>
                      </a:r>
                      <a:r>
                        <a:rPr sz="900" spc="190">
                          <a:latin typeface="Trebuchet MS"/>
                          <a:cs typeface="Trebuchet MS"/>
                        </a:rPr>
                        <a:t>  </a:t>
                      </a:r>
                      <a:r>
                        <a:rPr sz="900" spc="50">
                          <a:latin typeface="Trebuchet MS"/>
                          <a:cs typeface="Trebuchet MS"/>
                        </a:rPr>
                        <a:t>modelo</a:t>
                      </a:r>
                      <a:endParaRPr sz="900">
                        <a:latin typeface="Trebuchet MS"/>
                        <a:cs typeface="Trebuchet MS"/>
                      </a:endParaRPr>
                    </a:p>
                    <a:p>
                      <a:pPr marL="69850" marR="60325" algn="l">
                        <a:lnSpc>
                          <a:spcPct val="97700"/>
                        </a:lnSpc>
                      </a:pPr>
                      <a:r>
                        <a:rPr sz="900">
                          <a:latin typeface="Trebuchet MS"/>
                          <a:cs typeface="Trebuchet MS"/>
                        </a:rPr>
                        <a:t>integral</a:t>
                      </a:r>
                      <a:r>
                        <a:rPr sz="900" spc="200">
                          <a:latin typeface="Trebuchet MS"/>
                          <a:cs typeface="Trebuchet MS"/>
                        </a:rPr>
                        <a:t>  </a:t>
                      </a:r>
                      <a:r>
                        <a:rPr sz="900">
                          <a:latin typeface="Trebuchet MS"/>
                          <a:cs typeface="Trebuchet MS"/>
                        </a:rPr>
                        <a:t>y</a:t>
                      </a:r>
                      <a:r>
                        <a:rPr sz="900" spc="204">
                          <a:latin typeface="Trebuchet MS"/>
                          <a:cs typeface="Trebuchet MS"/>
                        </a:rPr>
                        <a:t>  </a:t>
                      </a:r>
                      <a:r>
                        <a:rPr sz="900" spc="-10">
                          <a:latin typeface="Trebuchet MS"/>
                          <a:cs typeface="Trebuchet MS"/>
                        </a:rPr>
                        <a:t>arquitectura </a:t>
                      </a:r>
                      <a:r>
                        <a:rPr sz="900" spc="55">
                          <a:latin typeface="Trebuchet MS"/>
                          <a:cs typeface="Trebuchet MS"/>
                        </a:rPr>
                        <a:t>de</a:t>
                      </a:r>
                      <a:r>
                        <a:rPr sz="900" spc="390">
                          <a:latin typeface="Trebuchet MS"/>
                          <a:cs typeface="Trebuchet MS"/>
                        </a:rPr>
                        <a:t>    </a:t>
                      </a:r>
                      <a:r>
                        <a:rPr sz="900" spc="70">
                          <a:latin typeface="Trebuchet MS"/>
                          <a:cs typeface="Trebuchet MS"/>
                        </a:rPr>
                        <a:t>sistemas</a:t>
                      </a:r>
                      <a:r>
                        <a:rPr sz="900" spc="395">
                          <a:latin typeface="Trebuchet MS"/>
                          <a:cs typeface="Trebuchet MS"/>
                        </a:rPr>
                        <a:t>    </a:t>
                      </a:r>
                      <a:r>
                        <a:rPr sz="900" spc="-25">
                          <a:latin typeface="Trebuchet MS"/>
                          <a:cs typeface="Trebuchet MS"/>
                        </a:rPr>
                        <a:t>de </a:t>
                      </a:r>
                      <a:r>
                        <a:rPr sz="900" spc="35">
                          <a:latin typeface="Trebuchet MS"/>
                          <a:cs typeface="Trebuchet MS"/>
                        </a:rPr>
                        <a:t>información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7"/>
                  </a:ext>
                </a:extLst>
              </a:tr>
              <a:tr h="674543">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60"/>
                        </a:lnSpc>
                        <a:tabLst>
                          <a:tab pos="758190" algn="l"/>
                          <a:tab pos="1003300" algn="l"/>
                        </a:tabLst>
                      </a:pPr>
                      <a:r>
                        <a:rPr sz="900" spc="45">
                          <a:latin typeface="Trebuchet MS"/>
                          <a:cs typeface="Trebuchet MS"/>
                        </a:rPr>
                        <a:t>Diseñar</a:t>
                      </a:r>
                      <a:r>
                        <a:rPr sz="900">
                          <a:latin typeface="Trebuchet MS"/>
                          <a:cs typeface="Trebuchet MS"/>
                        </a:rPr>
                        <a:t>	</a:t>
                      </a:r>
                      <a:r>
                        <a:rPr sz="900" spc="-50">
                          <a:latin typeface="Trebuchet MS"/>
                          <a:cs typeface="Trebuchet MS"/>
                        </a:rPr>
                        <a:t>y</a:t>
                      </a:r>
                      <a:r>
                        <a:rPr sz="900">
                          <a:latin typeface="Trebuchet MS"/>
                          <a:cs typeface="Trebuchet MS"/>
                        </a:rPr>
                        <a:t>	</a:t>
                      </a:r>
                      <a:r>
                        <a:rPr sz="900" spc="-10">
                          <a:latin typeface="Trebuchet MS"/>
                          <a:cs typeface="Trebuchet MS"/>
                        </a:rPr>
                        <a:t>desarrollar</a:t>
                      </a:r>
                      <a:endParaRPr sz="900">
                        <a:latin typeface="Trebuchet MS"/>
                        <a:cs typeface="Trebuchet MS"/>
                      </a:endParaRPr>
                    </a:p>
                    <a:p>
                      <a:pPr marL="69850" marR="59690" algn="l">
                        <a:lnSpc>
                          <a:spcPts val="1300"/>
                        </a:lnSpc>
                        <a:spcBef>
                          <a:spcPts val="40"/>
                        </a:spcBef>
                        <a:tabLst>
                          <a:tab pos="1496060" algn="l"/>
                        </a:tabLst>
                      </a:pPr>
                      <a:r>
                        <a:rPr sz="900" i="1">
                          <a:latin typeface="Trebuchet MS"/>
                          <a:cs typeface="Trebuchet MS"/>
                        </a:rPr>
                        <a:t>software</a:t>
                      </a:r>
                      <a:r>
                        <a:rPr sz="900" i="1" spc="355">
                          <a:latin typeface="Trebuchet MS"/>
                          <a:cs typeface="Trebuchet MS"/>
                        </a:rPr>
                        <a:t> </a:t>
                      </a:r>
                      <a:r>
                        <a:rPr sz="900" i="1" spc="60">
                          <a:latin typeface="Trebuchet MS"/>
                          <a:cs typeface="Trebuchet MS"/>
                        </a:rPr>
                        <a:t>o</a:t>
                      </a:r>
                      <a:r>
                        <a:rPr sz="900" i="1" spc="375">
                          <a:latin typeface="Trebuchet MS"/>
                          <a:cs typeface="Trebuchet MS"/>
                        </a:rPr>
                        <a:t> </a:t>
                      </a:r>
                      <a:r>
                        <a:rPr sz="900" i="1" spc="60">
                          <a:latin typeface="Trebuchet MS"/>
                          <a:cs typeface="Trebuchet MS"/>
                        </a:rPr>
                        <a:t>sistemas</a:t>
                      </a:r>
                      <a:r>
                        <a:rPr sz="900" i="1" spc="375">
                          <a:latin typeface="Trebuchet MS"/>
                          <a:cs typeface="Trebuchet MS"/>
                        </a:rPr>
                        <a:t> </a:t>
                      </a:r>
                      <a:r>
                        <a:rPr sz="900" i="1" spc="-25">
                          <a:latin typeface="Trebuchet MS"/>
                          <a:cs typeface="Trebuchet MS"/>
                        </a:rPr>
                        <a:t>de </a:t>
                      </a:r>
                      <a:r>
                        <a:rPr sz="900" i="1" spc="-10">
                          <a:latin typeface="Trebuchet MS"/>
                          <a:cs typeface="Trebuchet MS"/>
                        </a:rPr>
                        <a:t>información</a:t>
                      </a:r>
                      <a:r>
                        <a:rPr sz="900" spc="-10">
                          <a:latin typeface="Trebuchet MS"/>
                          <a:cs typeface="Trebuchet MS"/>
                        </a:rPr>
                        <a:t>,</a:t>
                      </a:r>
                      <a:r>
                        <a:rPr sz="900">
                          <a:latin typeface="Trebuchet MS"/>
                          <a:cs typeface="Trebuchet MS"/>
                        </a:rPr>
                        <a:t>	</a:t>
                      </a:r>
                      <a:r>
                        <a:rPr sz="900" spc="45">
                          <a:latin typeface="Trebuchet MS"/>
                          <a:cs typeface="Trebuchet MS"/>
                        </a:rPr>
                        <a:t>con</a:t>
                      </a:r>
                      <a:endParaRPr sz="900">
                        <a:latin typeface="Trebuchet MS"/>
                        <a:cs typeface="Trebuchet MS"/>
                      </a:endParaRPr>
                    </a:p>
                    <a:p>
                      <a:pPr marL="69850" algn="l">
                        <a:lnSpc>
                          <a:spcPts val="1230"/>
                        </a:lnSpc>
                        <a:tabLst>
                          <a:tab pos="1574800" algn="l"/>
                        </a:tabLst>
                      </a:pPr>
                      <a:r>
                        <a:rPr sz="900" spc="-10">
                          <a:latin typeface="Trebuchet MS"/>
                          <a:cs typeface="Trebuchet MS"/>
                        </a:rPr>
                        <a:t>criterios</a:t>
                      </a:r>
                      <a:r>
                        <a:rPr sz="900">
                          <a:latin typeface="Trebuchet MS"/>
                          <a:cs typeface="Trebuchet MS"/>
                        </a:rPr>
                        <a:t>	</a:t>
                      </a:r>
                      <a:r>
                        <a:rPr sz="900" spc="30">
                          <a:latin typeface="Trebuchet MS"/>
                          <a:cs typeface="Trebuchet MS"/>
                        </a:rPr>
                        <a:t>de</a:t>
                      </a:r>
                      <a:endParaRPr sz="900">
                        <a:latin typeface="Trebuchet MS"/>
                        <a:cs typeface="Trebuchet MS"/>
                      </a:endParaRPr>
                    </a:p>
                    <a:p>
                      <a:pPr marL="69850" marR="60325" algn="l">
                        <a:lnSpc>
                          <a:spcPts val="1280"/>
                        </a:lnSpc>
                      </a:pPr>
                      <a:r>
                        <a:rPr sz="900" spc="10">
                          <a:latin typeface="Trebuchet MS"/>
                          <a:cs typeface="Trebuchet MS"/>
                        </a:rPr>
                        <a:t>funcionalidad,</a:t>
                      </a:r>
                      <a:r>
                        <a:rPr sz="900" spc="360">
                          <a:latin typeface="Trebuchet MS"/>
                          <a:cs typeface="Trebuchet MS"/>
                        </a:rPr>
                        <a:t> </a:t>
                      </a:r>
                      <a:r>
                        <a:rPr sz="900" spc="35">
                          <a:latin typeface="Trebuchet MS"/>
                          <a:cs typeface="Trebuchet MS"/>
                        </a:rPr>
                        <a:t>seguridad </a:t>
                      </a:r>
                      <a:r>
                        <a:rPr sz="900">
                          <a:latin typeface="Trebuchet MS"/>
                          <a:cs typeface="Trebuchet MS"/>
                        </a:rPr>
                        <a:t>y</a:t>
                      </a:r>
                      <a:r>
                        <a:rPr sz="900" spc="70">
                          <a:latin typeface="Trebuchet MS"/>
                          <a:cs typeface="Trebuchet MS"/>
                        </a:rPr>
                        <a:t> </a:t>
                      </a:r>
                      <a:r>
                        <a:rPr sz="900" spc="-10">
                          <a:latin typeface="Trebuchet MS"/>
                          <a:cs typeface="Trebuchet MS"/>
                        </a:rPr>
                        <a:t>confiabilidad</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8"/>
                  </a:ext>
                </a:extLst>
              </a:tr>
              <a:tr h="339436">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0325" algn="l">
                        <a:lnSpc>
                          <a:spcPts val="1280"/>
                        </a:lnSpc>
                        <a:spcBef>
                          <a:spcPts val="30"/>
                        </a:spcBef>
                        <a:tabLst>
                          <a:tab pos="617855" algn="l"/>
                          <a:tab pos="1574800" algn="l"/>
                        </a:tabLst>
                      </a:pPr>
                      <a:r>
                        <a:rPr sz="900" spc="50">
                          <a:latin typeface="Trebuchet MS"/>
                          <a:cs typeface="Trebuchet MS"/>
                        </a:rPr>
                        <a:t>Evolucionar</a:t>
                      </a:r>
                      <a:r>
                        <a:rPr sz="900" spc="240">
                          <a:latin typeface="Trebuchet MS"/>
                          <a:cs typeface="Trebuchet MS"/>
                        </a:rPr>
                        <a:t> </a:t>
                      </a:r>
                      <a:r>
                        <a:rPr sz="900">
                          <a:latin typeface="Trebuchet MS"/>
                          <a:cs typeface="Trebuchet MS"/>
                        </a:rPr>
                        <a:t>y</a:t>
                      </a:r>
                      <a:r>
                        <a:rPr sz="900" spc="245">
                          <a:latin typeface="Trebuchet MS"/>
                          <a:cs typeface="Trebuchet MS"/>
                        </a:rPr>
                        <a:t> </a:t>
                      </a:r>
                      <a:r>
                        <a:rPr sz="900" spc="40">
                          <a:latin typeface="Trebuchet MS"/>
                          <a:cs typeface="Trebuchet MS"/>
                        </a:rPr>
                        <a:t>mantener los</a:t>
                      </a:r>
                      <a:r>
                        <a:rPr sz="900">
                          <a:latin typeface="Trebuchet MS"/>
                          <a:cs typeface="Trebuchet MS"/>
                        </a:rPr>
                        <a:t>	</a:t>
                      </a:r>
                      <a:r>
                        <a:rPr sz="900" spc="60">
                          <a:latin typeface="Trebuchet MS"/>
                          <a:cs typeface="Trebuchet MS"/>
                        </a:rPr>
                        <a:t>sistemas</a:t>
                      </a:r>
                      <a:r>
                        <a:rPr sz="900">
                          <a:latin typeface="Trebuchet MS"/>
                          <a:cs typeface="Trebuchet MS"/>
                        </a:rPr>
                        <a:t>	</a:t>
                      </a:r>
                      <a:r>
                        <a:rPr sz="900" spc="30">
                          <a:latin typeface="Trebuchet MS"/>
                          <a:cs typeface="Trebuchet MS"/>
                        </a:rPr>
                        <a:t>de</a:t>
                      </a:r>
                      <a:endParaRPr sz="900">
                        <a:latin typeface="Trebuchet MS"/>
                        <a:cs typeface="Trebuchet MS"/>
                      </a:endParaRPr>
                    </a:p>
                    <a:p>
                      <a:pPr marL="69850" algn="l">
                        <a:lnSpc>
                          <a:spcPts val="1230"/>
                        </a:lnSpc>
                      </a:pPr>
                      <a:r>
                        <a:rPr sz="900" spc="45">
                          <a:latin typeface="Trebuchet MS"/>
                          <a:cs typeface="Trebuchet MS"/>
                        </a:rPr>
                        <a:t>información</a:t>
                      </a:r>
                      <a:r>
                        <a:rPr sz="900" spc="60">
                          <a:latin typeface="Trebuchet MS"/>
                          <a:cs typeface="Trebuchet MS"/>
                        </a:rPr>
                        <a:t> </a:t>
                      </a:r>
                      <a:r>
                        <a:rPr sz="900" spc="35">
                          <a:latin typeface="Trebuchet MS"/>
                          <a:cs typeface="Trebuchet MS"/>
                        </a:rPr>
                        <a:t>requeridos</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09"/>
                  </a:ext>
                </a:extLst>
              </a:tr>
              <a:tr h="339436">
                <a:tc rowSpan="2">
                  <a:txBody>
                    <a:bodyPr/>
                    <a:lstStyle/>
                    <a:p>
                      <a:pPr marL="69850" marR="58419" algn="l">
                        <a:lnSpc>
                          <a:spcPts val="1280"/>
                        </a:lnSpc>
                        <a:spcBef>
                          <a:spcPts val="30"/>
                        </a:spcBef>
                        <a:tabLst>
                          <a:tab pos="906144" algn="l"/>
                          <a:tab pos="1383030" algn="l"/>
                        </a:tabLst>
                      </a:pPr>
                      <a:r>
                        <a:rPr sz="900" b="1" spc="-10">
                          <a:solidFill>
                            <a:srgbClr val="E89F43"/>
                          </a:solidFill>
                          <a:latin typeface="Trebuchet MS"/>
                          <a:cs typeface="Trebuchet MS"/>
                        </a:rPr>
                        <a:t>Gestión</a:t>
                      </a:r>
                      <a:r>
                        <a:rPr sz="900" b="1">
                          <a:solidFill>
                            <a:srgbClr val="E89F43"/>
                          </a:solidFill>
                          <a:latin typeface="Trebuchet MS"/>
                          <a:cs typeface="Trebuchet MS"/>
                        </a:rPr>
                        <a:t>	</a:t>
                      </a:r>
                      <a:r>
                        <a:rPr sz="900" b="1" spc="-25">
                          <a:solidFill>
                            <a:srgbClr val="E89F43"/>
                          </a:solidFill>
                          <a:latin typeface="Trebuchet MS"/>
                          <a:cs typeface="Trebuchet MS"/>
                        </a:rPr>
                        <a:t>de</a:t>
                      </a:r>
                      <a:r>
                        <a:rPr sz="900" b="1">
                          <a:solidFill>
                            <a:srgbClr val="E89F43"/>
                          </a:solidFill>
                          <a:latin typeface="Trebuchet MS"/>
                          <a:cs typeface="Trebuchet MS"/>
                        </a:rPr>
                        <a:t>	</a:t>
                      </a:r>
                      <a:r>
                        <a:rPr sz="900" b="1" spc="-10">
                          <a:solidFill>
                            <a:srgbClr val="E89F43"/>
                          </a:solidFill>
                          <a:latin typeface="Trebuchet MS"/>
                          <a:cs typeface="Trebuchet MS"/>
                        </a:rPr>
                        <a:t>Servicios Tecnológicos</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rowSpan="2">
                  <a:txBody>
                    <a:bodyPr/>
                    <a:lstStyle/>
                    <a:p>
                      <a:pPr marL="67945" marR="59055" algn="l">
                        <a:lnSpc>
                          <a:spcPts val="1280"/>
                        </a:lnSpc>
                        <a:spcBef>
                          <a:spcPts val="30"/>
                        </a:spcBef>
                      </a:pPr>
                      <a:r>
                        <a:rPr sz="900" spc="70">
                          <a:latin typeface="Trebuchet MS"/>
                          <a:cs typeface="Trebuchet MS"/>
                        </a:rPr>
                        <a:t>Un</a:t>
                      </a:r>
                      <a:r>
                        <a:rPr sz="900" spc="490">
                          <a:latin typeface="Trebuchet MS"/>
                          <a:cs typeface="Trebuchet MS"/>
                        </a:rPr>
                        <a:t> </a:t>
                      </a:r>
                      <a:r>
                        <a:rPr sz="900">
                          <a:latin typeface="Trebuchet MS"/>
                          <a:cs typeface="Trebuchet MS"/>
                        </a:rPr>
                        <a:t>portafolio</a:t>
                      </a:r>
                      <a:r>
                        <a:rPr sz="900" spc="484">
                          <a:latin typeface="Trebuchet MS"/>
                          <a:cs typeface="Trebuchet MS"/>
                        </a:rPr>
                        <a:t> </a:t>
                      </a:r>
                      <a:r>
                        <a:rPr sz="900" spc="55">
                          <a:latin typeface="Trebuchet MS"/>
                          <a:cs typeface="Trebuchet MS"/>
                        </a:rPr>
                        <a:t>de</a:t>
                      </a:r>
                      <a:r>
                        <a:rPr sz="900" spc="470">
                          <a:latin typeface="Trebuchet MS"/>
                          <a:cs typeface="Trebuchet MS"/>
                        </a:rPr>
                        <a:t> </a:t>
                      </a:r>
                      <a:r>
                        <a:rPr sz="900" spc="35">
                          <a:latin typeface="Trebuchet MS"/>
                          <a:cs typeface="Trebuchet MS"/>
                        </a:rPr>
                        <a:t>servicios </a:t>
                      </a:r>
                      <a:r>
                        <a:rPr sz="900" spc="55">
                          <a:latin typeface="Trebuchet MS"/>
                          <a:cs typeface="Trebuchet MS"/>
                        </a:rPr>
                        <a:t>de</a:t>
                      </a:r>
                      <a:r>
                        <a:rPr sz="900" spc="175">
                          <a:latin typeface="Trebuchet MS"/>
                          <a:cs typeface="Trebuchet MS"/>
                        </a:rPr>
                        <a:t>  </a:t>
                      </a:r>
                      <a:r>
                        <a:rPr sz="900">
                          <a:latin typeface="Trebuchet MS"/>
                          <a:cs typeface="Trebuchet MS"/>
                        </a:rPr>
                        <a:t>gestión</a:t>
                      </a:r>
                      <a:r>
                        <a:rPr sz="900" spc="180">
                          <a:latin typeface="Trebuchet MS"/>
                          <a:cs typeface="Trebuchet MS"/>
                        </a:rPr>
                        <a:t>  </a:t>
                      </a:r>
                      <a:r>
                        <a:rPr sz="900" spc="55">
                          <a:latin typeface="Trebuchet MS"/>
                          <a:cs typeface="Trebuchet MS"/>
                        </a:rPr>
                        <a:t>de</a:t>
                      </a:r>
                      <a:r>
                        <a:rPr sz="900" spc="175">
                          <a:latin typeface="Trebuchet MS"/>
                          <a:cs typeface="Trebuchet MS"/>
                        </a:rPr>
                        <a:t>  </a:t>
                      </a:r>
                      <a:r>
                        <a:rPr sz="900" spc="-10">
                          <a:latin typeface="Trebuchet MS"/>
                          <a:cs typeface="Trebuchet MS"/>
                        </a:rPr>
                        <a:t>tecnología</a:t>
                      </a:r>
                      <a:endParaRPr sz="900">
                        <a:latin typeface="Trebuchet MS"/>
                        <a:cs typeface="Trebuchet MS"/>
                      </a:endParaRPr>
                    </a:p>
                    <a:p>
                      <a:pPr marL="67945" marR="59690" algn="l">
                        <a:lnSpc>
                          <a:spcPts val="1280"/>
                        </a:lnSpc>
                        <a:spcBef>
                          <a:spcPts val="20"/>
                        </a:spcBef>
                      </a:pPr>
                      <a:r>
                        <a:rPr sz="900" spc="60">
                          <a:latin typeface="Trebuchet MS"/>
                          <a:cs typeface="Trebuchet MS"/>
                        </a:rPr>
                        <a:t>que</a:t>
                      </a:r>
                      <a:r>
                        <a:rPr sz="900" spc="160">
                          <a:latin typeface="Trebuchet MS"/>
                          <a:cs typeface="Trebuchet MS"/>
                        </a:rPr>
                        <a:t> </a:t>
                      </a:r>
                      <a:r>
                        <a:rPr sz="900">
                          <a:latin typeface="Trebuchet MS"/>
                          <a:cs typeface="Trebuchet MS"/>
                        </a:rPr>
                        <a:t>beneficie</a:t>
                      </a:r>
                      <a:r>
                        <a:rPr sz="900" spc="175">
                          <a:latin typeface="Trebuchet MS"/>
                          <a:cs typeface="Trebuchet MS"/>
                        </a:rPr>
                        <a:t> </a:t>
                      </a:r>
                      <a:r>
                        <a:rPr sz="900">
                          <a:latin typeface="Trebuchet MS"/>
                          <a:cs typeface="Trebuchet MS"/>
                        </a:rPr>
                        <a:t>a</a:t>
                      </a:r>
                      <a:r>
                        <a:rPr sz="900" spc="175">
                          <a:latin typeface="Trebuchet MS"/>
                          <a:cs typeface="Trebuchet MS"/>
                        </a:rPr>
                        <a:t> </a:t>
                      </a:r>
                      <a:r>
                        <a:rPr sz="900" spc="60">
                          <a:latin typeface="Trebuchet MS"/>
                          <a:cs typeface="Trebuchet MS"/>
                        </a:rPr>
                        <a:t>los</a:t>
                      </a:r>
                      <a:r>
                        <a:rPr sz="900" spc="185">
                          <a:latin typeface="Trebuchet MS"/>
                          <a:cs typeface="Trebuchet MS"/>
                        </a:rPr>
                        <a:t> </a:t>
                      </a:r>
                      <a:r>
                        <a:rPr sz="900" spc="40">
                          <a:latin typeface="Trebuchet MS"/>
                          <a:cs typeface="Trebuchet MS"/>
                        </a:rPr>
                        <a:t>actores </a:t>
                      </a:r>
                      <a:r>
                        <a:rPr sz="900" spc="50">
                          <a:latin typeface="Trebuchet MS"/>
                          <a:cs typeface="Trebuchet MS"/>
                        </a:rPr>
                        <a:t>internos</a:t>
                      </a:r>
                      <a:r>
                        <a:rPr sz="900" spc="315">
                          <a:latin typeface="Trebuchet MS"/>
                          <a:cs typeface="Trebuchet MS"/>
                        </a:rPr>
                        <a:t> </a:t>
                      </a:r>
                      <a:r>
                        <a:rPr sz="900">
                          <a:latin typeface="Trebuchet MS"/>
                          <a:cs typeface="Trebuchet MS"/>
                        </a:rPr>
                        <a:t>y</a:t>
                      </a:r>
                      <a:r>
                        <a:rPr sz="900" spc="325">
                          <a:latin typeface="Trebuchet MS"/>
                          <a:cs typeface="Trebuchet MS"/>
                        </a:rPr>
                        <a:t> </a:t>
                      </a:r>
                      <a:r>
                        <a:rPr sz="900" spc="50">
                          <a:latin typeface="Trebuchet MS"/>
                          <a:cs typeface="Trebuchet MS"/>
                        </a:rPr>
                        <a:t>externos</a:t>
                      </a:r>
                      <a:r>
                        <a:rPr sz="900" spc="330">
                          <a:latin typeface="Trebuchet MS"/>
                          <a:cs typeface="Trebuchet MS"/>
                        </a:rPr>
                        <a:t> </a:t>
                      </a:r>
                      <a:r>
                        <a:rPr sz="900">
                          <a:latin typeface="Trebuchet MS"/>
                          <a:cs typeface="Trebuchet MS"/>
                        </a:rPr>
                        <a:t>y</a:t>
                      </a:r>
                      <a:r>
                        <a:rPr sz="900" spc="315">
                          <a:latin typeface="Trebuchet MS"/>
                          <a:cs typeface="Trebuchet MS"/>
                        </a:rPr>
                        <a:t> </a:t>
                      </a:r>
                      <a:r>
                        <a:rPr sz="900" spc="-25">
                          <a:latin typeface="Trebuchet MS"/>
                          <a:cs typeface="Trebuchet MS"/>
                        </a:rPr>
                        <a:t>que</a:t>
                      </a:r>
                      <a:endParaRPr sz="900">
                        <a:latin typeface="Trebuchet MS"/>
                        <a:cs typeface="Trebuchet MS"/>
                      </a:endParaRPr>
                    </a:p>
                    <a:p>
                      <a:pPr marL="67945" marR="59055" algn="l">
                        <a:lnSpc>
                          <a:spcPts val="1280"/>
                        </a:lnSpc>
                        <a:spcBef>
                          <a:spcPts val="15"/>
                        </a:spcBef>
                      </a:pPr>
                      <a:r>
                        <a:rPr sz="900">
                          <a:latin typeface="Trebuchet MS"/>
                          <a:cs typeface="Trebuchet MS"/>
                        </a:rPr>
                        <a:t>garantice</a:t>
                      </a:r>
                      <a:r>
                        <a:rPr sz="900" spc="405">
                          <a:latin typeface="Trebuchet MS"/>
                          <a:cs typeface="Trebuchet MS"/>
                        </a:rPr>
                        <a:t> </a:t>
                      </a:r>
                      <a:r>
                        <a:rPr sz="900">
                          <a:latin typeface="Trebuchet MS"/>
                          <a:cs typeface="Trebuchet MS"/>
                        </a:rPr>
                        <a:t>la</a:t>
                      </a:r>
                      <a:r>
                        <a:rPr sz="900" spc="390">
                          <a:latin typeface="Trebuchet MS"/>
                          <a:cs typeface="Trebuchet MS"/>
                        </a:rPr>
                        <a:t> </a:t>
                      </a:r>
                      <a:r>
                        <a:rPr sz="900" spc="-10">
                          <a:latin typeface="Trebuchet MS"/>
                          <a:cs typeface="Trebuchet MS"/>
                        </a:rPr>
                        <a:t>disponibilidad, </a:t>
                      </a:r>
                      <a:r>
                        <a:rPr sz="900" spc="50">
                          <a:latin typeface="Trebuchet MS"/>
                          <a:cs typeface="Trebuchet MS"/>
                        </a:rPr>
                        <a:t>seguridad</a:t>
                      </a:r>
                      <a:r>
                        <a:rPr sz="900" spc="45">
                          <a:latin typeface="Trebuchet MS"/>
                          <a:cs typeface="Trebuchet MS"/>
                        </a:rPr>
                        <a:t> </a:t>
                      </a:r>
                      <a:r>
                        <a:rPr sz="900">
                          <a:latin typeface="Trebuchet MS"/>
                          <a:cs typeface="Trebuchet MS"/>
                        </a:rPr>
                        <a:t>y</a:t>
                      </a:r>
                      <a:r>
                        <a:rPr sz="900" spc="55">
                          <a:latin typeface="Trebuchet MS"/>
                          <a:cs typeface="Trebuchet MS"/>
                        </a:rPr>
                        <a:t> </a:t>
                      </a:r>
                      <a:r>
                        <a:rPr sz="900" spc="50">
                          <a:latin typeface="Trebuchet MS"/>
                          <a:cs typeface="Trebuchet MS"/>
                        </a:rPr>
                        <a:t>oportunidad</a:t>
                      </a:r>
                      <a:r>
                        <a:rPr sz="900" spc="55">
                          <a:latin typeface="Trebuchet MS"/>
                          <a:cs typeface="Trebuchet MS"/>
                        </a:rPr>
                        <a:t> </a:t>
                      </a:r>
                      <a:r>
                        <a:rPr sz="900" spc="25">
                          <a:latin typeface="Trebuchet MS"/>
                          <a:cs typeface="Trebuchet MS"/>
                        </a:rPr>
                        <a:t>de</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marR="61594" algn="l">
                        <a:lnSpc>
                          <a:spcPts val="1280"/>
                        </a:lnSpc>
                        <a:spcBef>
                          <a:spcPts val="30"/>
                        </a:spcBef>
                        <a:tabLst>
                          <a:tab pos="1257935" algn="l"/>
                          <a:tab pos="1619885" algn="l"/>
                        </a:tabLst>
                      </a:pPr>
                      <a:r>
                        <a:rPr sz="900" spc="40">
                          <a:latin typeface="Trebuchet MS"/>
                          <a:cs typeface="Trebuchet MS"/>
                        </a:rPr>
                        <a:t>Modernización</a:t>
                      </a:r>
                      <a:r>
                        <a:rPr sz="900">
                          <a:latin typeface="Trebuchet MS"/>
                          <a:cs typeface="Trebuchet MS"/>
                        </a:rPr>
                        <a:t>	</a:t>
                      </a:r>
                      <a:r>
                        <a:rPr sz="900" spc="30">
                          <a:latin typeface="Trebuchet MS"/>
                          <a:cs typeface="Trebuchet MS"/>
                        </a:rPr>
                        <a:t>de</a:t>
                      </a:r>
                      <a:r>
                        <a:rPr sz="900">
                          <a:latin typeface="Trebuchet MS"/>
                          <a:cs typeface="Trebuchet MS"/>
                        </a:rPr>
                        <a:t>	</a:t>
                      </a:r>
                      <a:r>
                        <a:rPr sz="900" spc="-25">
                          <a:latin typeface="Trebuchet MS"/>
                          <a:cs typeface="Trebuchet MS"/>
                        </a:rPr>
                        <a:t>la </a:t>
                      </a:r>
                      <a:r>
                        <a:rPr sz="900" spc="-10">
                          <a:latin typeface="Trebuchet MS"/>
                          <a:cs typeface="Trebuchet MS"/>
                        </a:rPr>
                        <a:t>infraestructura</a:t>
                      </a:r>
                      <a:endParaRPr sz="900">
                        <a:latin typeface="Trebuchet MS"/>
                        <a:cs typeface="Trebuchet MS"/>
                      </a:endParaRPr>
                    </a:p>
                    <a:p>
                      <a:pPr marL="69850" algn="l">
                        <a:lnSpc>
                          <a:spcPts val="1230"/>
                        </a:lnSpc>
                      </a:pPr>
                      <a:r>
                        <a:rPr sz="900" spc="-10">
                          <a:latin typeface="Trebuchet MS"/>
                          <a:cs typeface="Trebuchet MS"/>
                        </a:rPr>
                        <a:t>tecnológica</a:t>
                      </a:r>
                      <a:endParaRPr sz="900">
                        <a:latin typeface="Trebuchet MS"/>
                        <a:cs typeface="Trebuchet MS"/>
                      </a:endParaRPr>
                    </a:p>
                  </a:txBody>
                  <a:tcPr marL="0" marR="0" marT="2598"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10"/>
                  </a:ext>
                </a:extLst>
              </a:tr>
              <a:tr h="339436">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vMerge="1">
                  <a:txBody>
                    <a:bodyPr/>
                    <a:lstStyle/>
                    <a:p>
                      <a:endParaRPr/>
                    </a:p>
                  </a:txBody>
                  <a:tcPr marL="0" marR="0" marT="381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tc>
                  <a:txBody>
                    <a:bodyPr/>
                    <a:lstStyle/>
                    <a:p>
                      <a:pPr marL="69850" algn="l">
                        <a:lnSpc>
                          <a:spcPts val="1250"/>
                        </a:lnSpc>
                        <a:tabLst>
                          <a:tab pos="1544320" algn="l"/>
                        </a:tabLst>
                      </a:pPr>
                      <a:r>
                        <a:rPr sz="900" spc="-10" err="1">
                          <a:latin typeface="Trebuchet MS"/>
                          <a:cs typeface="Trebuchet MS"/>
                        </a:rPr>
                        <a:t>Fortalecer</a:t>
                      </a:r>
                      <a:r>
                        <a:rPr lang="es-AR" sz="900" spc="-10">
                          <a:latin typeface="Trebuchet MS"/>
                          <a:cs typeface="Trebuchet MS"/>
                        </a:rPr>
                        <a:t>  </a:t>
                      </a:r>
                      <a:r>
                        <a:rPr sz="900" spc="35" err="1">
                          <a:latin typeface="Trebuchet MS"/>
                          <a:cs typeface="Trebuchet MS"/>
                        </a:rPr>
                        <a:t>los</a:t>
                      </a:r>
                      <a:r>
                        <a:rPr lang="es-AR" sz="900" spc="35">
                          <a:latin typeface="Trebuchet MS"/>
                          <a:cs typeface="Trebuchet MS"/>
                        </a:rPr>
                        <a:t> </a:t>
                      </a:r>
                      <a:r>
                        <a:rPr lang="es-AR" sz="900" spc="0">
                          <a:latin typeface="Trebuchet MS"/>
                          <a:cs typeface="Trebuchet MS"/>
                        </a:rPr>
                        <a:t> </a:t>
                      </a:r>
                      <a:r>
                        <a:rPr sz="900" spc="65" err="1">
                          <a:latin typeface="Trebuchet MS"/>
                          <a:cs typeface="Trebuchet MS"/>
                        </a:rPr>
                        <a:t>mecanismos</a:t>
                      </a:r>
                      <a:r>
                        <a:rPr sz="900">
                          <a:latin typeface="Trebuchet MS"/>
                          <a:cs typeface="Trebuchet MS"/>
                        </a:rPr>
                        <a:t>	</a:t>
                      </a:r>
                      <a:r>
                        <a:rPr lang="es-AR" sz="900">
                          <a:latin typeface="Trebuchet MS"/>
                          <a:cs typeface="Trebuchet MS"/>
                        </a:rPr>
                        <a:t> </a:t>
                      </a:r>
                      <a:r>
                        <a:rPr sz="900" spc="30">
                          <a:latin typeface="Trebuchet MS"/>
                          <a:cs typeface="Trebuchet MS"/>
                        </a:rPr>
                        <a:t>de </a:t>
                      </a:r>
                      <a:r>
                        <a:rPr sz="900" spc="35" err="1">
                          <a:latin typeface="Trebuchet MS"/>
                          <a:cs typeface="Trebuchet MS"/>
                        </a:rPr>
                        <a:t>administración</a:t>
                      </a:r>
                      <a:endParaRPr sz="900">
                        <a:latin typeface="Trebuchet MS"/>
                        <a:cs typeface="Trebuchet MS"/>
                      </a:endParaRPr>
                    </a:p>
                  </a:txBody>
                  <a:tcPr marL="0" marR="0" marT="0" marB="0">
                    <a:lnL w="6350">
                      <a:solidFill>
                        <a:srgbClr val="FFDD99"/>
                      </a:solidFill>
                      <a:prstDash val="solid"/>
                    </a:lnL>
                    <a:lnR w="6350">
                      <a:solidFill>
                        <a:srgbClr val="FFDD99"/>
                      </a:solidFill>
                      <a:prstDash val="solid"/>
                    </a:lnR>
                    <a:lnT w="6350">
                      <a:solidFill>
                        <a:srgbClr val="FFDD99"/>
                      </a:solidFill>
                      <a:prstDash val="solid"/>
                    </a:lnT>
                    <a:lnB w="6350">
                      <a:solidFill>
                        <a:srgbClr val="FFDD99"/>
                      </a:solidFill>
                      <a:prstDash val="soli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40" name="Rectangle 4">
            <a:extLst>
              <a:ext uri="{FF2B5EF4-FFF2-40B4-BE49-F238E27FC236}">
                <a16:creationId xmlns:a16="http://schemas.microsoft.com/office/drawing/2014/main" id="{F9D0BA1C-4C22-4BD1-90E3-399BC24C4292}"/>
              </a:ext>
            </a:extLst>
          </p:cNvPr>
          <p:cNvSpPr>
            <a:spLocks noGrp="1" noChangeArrowheads="1"/>
          </p:cNvSpPr>
          <p:nvPr>
            <p:ph type="title"/>
          </p:nvPr>
        </p:nvSpPr>
        <p:spPr/>
        <p:txBody>
          <a:bodyPr>
            <a:normAutofit/>
          </a:bodyPr>
          <a:lstStyle/>
          <a:p>
            <a:r>
              <a:rPr lang="es-CO" altLang="es-MX" sz="4000"/>
              <a:t>Estrategia de TI</a:t>
            </a:r>
            <a:endParaRPr lang="es-ES" altLang="es-MX" sz="4000"/>
          </a:p>
        </p:txBody>
      </p:sp>
      <p:sp>
        <p:nvSpPr>
          <p:cNvPr id="475138" name="Rectangle 2">
            <a:extLst>
              <a:ext uri="{FF2B5EF4-FFF2-40B4-BE49-F238E27FC236}">
                <a16:creationId xmlns:a16="http://schemas.microsoft.com/office/drawing/2014/main" id="{4C49EAA4-DF42-4372-A16D-21B24C55D8B5}"/>
              </a:ext>
            </a:extLst>
          </p:cNvPr>
          <p:cNvSpPr>
            <a:spLocks noGrp="1" noChangeArrowheads="1"/>
          </p:cNvSpPr>
          <p:nvPr>
            <p:ph idx="1"/>
          </p:nvPr>
        </p:nvSpPr>
        <p:spPr>
          <a:xfrm>
            <a:off x="438150" y="1690688"/>
            <a:ext cx="11363325" cy="4718050"/>
          </a:xfrm>
        </p:spPr>
        <p:txBody>
          <a:bodyPr vert="horz" lIns="91440" tIns="45720" rIns="91440" bIns="45720" rtlCol="0">
            <a:normAutofit/>
          </a:bodyPr>
          <a:lstStyle/>
          <a:p>
            <a:pPr marL="0" indent="0">
              <a:lnSpc>
                <a:spcPct val="150000"/>
              </a:lnSpc>
              <a:buNone/>
            </a:pPr>
            <a:r>
              <a:rPr lang="es-ES" altLang="es-MX" sz="1900" b="1">
                <a:solidFill>
                  <a:schemeClr val="accent1"/>
                </a:solidFill>
              </a:rPr>
              <a:t>Para desarrollar una estrategia adecuada de TI, el gerente debería tener conocimiento de: </a:t>
            </a:r>
          </a:p>
          <a:p>
            <a:pPr marL="0" indent="0">
              <a:lnSpc>
                <a:spcPct val="150000"/>
              </a:lnSpc>
              <a:buNone/>
            </a:pPr>
            <a:endParaRPr lang="es-ES" altLang="es-MX" sz="1900" b="1">
              <a:solidFill>
                <a:schemeClr val="accent1"/>
              </a:solidFill>
            </a:endParaRPr>
          </a:p>
          <a:p>
            <a:pPr marL="862400" lvl="1" indent="-342900">
              <a:lnSpc>
                <a:spcPct val="150000"/>
              </a:lnSpc>
              <a:buFont typeface="Wingdings" panose="05000000000000000000" pitchFamily="2" charset="2"/>
              <a:buChar char="§"/>
            </a:pPr>
            <a:r>
              <a:rPr lang="es-ES" altLang="es-MX" sz="1900">
                <a:solidFill>
                  <a:schemeClr val="accent1"/>
                </a:solidFill>
              </a:rPr>
              <a:t>Los conceptos fundamentales de TI.</a:t>
            </a:r>
          </a:p>
          <a:p>
            <a:pPr marL="862400" lvl="1" indent="-342900">
              <a:lnSpc>
                <a:spcPct val="150000"/>
              </a:lnSpc>
              <a:buFont typeface="Wingdings" panose="05000000000000000000" pitchFamily="2" charset="2"/>
              <a:buChar char="§"/>
            </a:pPr>
            <a:r>
              <a:rPr lang="es-ES" altLang="es-MX" sz="1900">
                <a:solidFill>
                  <a:schemeClr val="accent1"/>
                </a:solidFill>
              </a:rPr>
              <a:t>La relación entre la TI y las operaciones del negocio.</a:t>
            </a:r>
          </a:p>
          <a:p>
            <a:pPr marL="862400" lvl="1" indent="-342900">
              <a:lnSpc>
                <a:spcPct val="150000"/>
              </a:lnSpc>
              <a:buFont typeface="Wingdings" panose="05000000000000000000" pitchFamily="2" charset="2"/>
              <a:buChar char="§"/>
            </a:pPr>
            <a:r>
              <a:rPr lang="es-ES" altLang="es-MX" sz="1900">
                <a:solidFill>
                  <a:schemeClr val="accent1"/>
                </a:solidFill>
              </a:rPr>
              <a:t>Los métodos para integrar el Gobierno TI con el marco general de Gobierno Corporativo del negocio.</a:t>
            </a:r>
            <a:endParaRPr lang="en-US" altLang="es-MX" sz="1900">
              <a:solidFill>
                <a:schemeClr val="accent1"/>
              </a:solidFill>
            </a:endParaRPr>
          </a:p>
        </p:txBody>
      </p:sp>
      <p:sp>
        <p:nvSpPr>
          <p:cNvPr id="3" name="Marcador de número de diapositiva 2">
            <a:extLst>
              <a:ext uri="{FF2B5EF4-FFF2-40B4-BE49-F238E27FC236}">
                <a16:creationId xmlns:a16="http://schemas.microsoft.com/office/drawing/2014/main" id="{A57F1C00-0719-4C92-9D51-A102A4A1DC96}"/>
              </a:ext>
            </a:extLst>
          </p:cNvPr>
          <p:cNvSpPr>
            <a:spLocks noGrp="1"/>
          </p:cNvSpPr>
          <p:nvPr>
            <p:ph type="sldNum" sz="quarter" idx="12"/>
          </p:nvPr>
        </p:nvSpPr>
        <p:spPr/>
        <p:txBody>
          <a:bodyPr/>
          <a:lstStyle/>
          <a:p>
            <a:fld id="{30A8E979-4E28-491D-8002-836F9D9327AB}" type="slidenum">
              <a:rPr lang="es-MX" smtClean="0"/>
              <a:t>28</a:t>
            </a:fld>
            <a:endParaRPr lang="es-MX"/>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3" name="Rectangle 5">
            <a:extLst>
              <a:ext uri="{FF2B5EF4-FFF2-40B4-BE49-F238E27FC236}">
                <a16:creationId xmlns:a16="http://schemas.microsoft.com/office/drawing/2014/main" id="{B1CE52C8-A219-4505-8C08-A4E4C88AB9DE}"/>
              </a:ext>
            </a:extLst>
          </p:cNvPr>
          <p:cNvSpPr>
            <a:spLocks noGrp="1" noChangeArrowheads="1"/>
          </p:cNvSpPr>
          <p:nvPr>
            <p:ph type="title"/>
          </p:nvPr>
        </p:nvSpPr>
        <p:spPr>
          <a:noFill/>
          <a:ln/>
        </p:spPr>
        <p:txBody>
          <a:bodyPr>
            <a:normAutofit/>
          </a:bodyPr>
          <a:lstStyle/>
          <a:p>
            <a:r>
              <a:rPr lang="es-CO" altLang="es-MX" sz="4000"/>
              <a:t>Conceptos fundamentales de TI</a:t>
            </a:r>
            <a:endParaRPr lang="es-ES" altLang="es-MX" sz="4000"/>
          </a:p>
        </p:txBody>
      </p:sp>
      <p:sp>
        <p:nvSpPr>
          <p:cNvPr id="483331" name="Rectangle 3">
            <a:extLst>
              <a:ext uri="{FF2B5EF4-FFF2-40B4-BE49-F238E27FC236}">
                <a16:creationId xmlns:a16="http://schemas.microsoft.com/office/drawing/2014/main" id="{F2270346-9CC3-441C-8008-5E2571E56223}"/>
              </a:ext>
            </a:extLst>
          </p:cNvPr>
          <p:cNvSpPr>
            <a:spLocks noGrp="1" noChangeArrowheads="1"/>
          </p:cNvSpPr>
          <p:nvPr>
            <p:ph idx="1"/>
          </p:nvPr>
        </p:nvSpPr>
        <p:spPr>
          <a:xfrm>
            <a:off x="581192" y="1809750"/>
            <a:ext cx="10858333" cy="4876800"/>
          </a:xfrm>
        </p:spPr>
        <p:txBody>
          <a:bodyPr>
            <a:normAutofit/>
          </a:bodyPr>
          <a:lstStyle/>
          <a:p>
            <a:pPr marL="0" indent="0">
              <a:buNone/>
            </a:pPr>
            <a:r>
              <a:rPr lang="es-ES" altLang="es-MX" sz="2400">
                <a:solidFill>
                  <a:schemeClr val="accent1"/>
                </a:solidFill>
              </a:rPr>
              <a:t>La relación entre el Gobierno de TI y las Operaciones del negocio se puede desarrollar a través de actividades como:</a:t>
            </a:r>
          </a:p>
          <a:p>
            <a:pPr marL="0" indent="0">
              <a:buNone/>
            </a:pPr>
            <a:endParaRPr lang="es-ES" altLang="es-MX" sz="2400">
              <a:solidFill>
                <a:schemeClr val="accent1"/>
              </a:solidFill>
            </a:endParaRPr>
          </a:p>
          <a:p>
            <a:pPr lvl="1">
              <a:buFontTx/>
              <a:buChar char="•"/>
            </a:pPr>
            <a:r>
              <a:rPr lang="es-ES" altLang="es-MX" sz="2000">
                <a:solidFill>
                  <a:schemeClr val="accent1"/>
                </a:solidFill>
              </a:rPr>
              <a:t>El entendimiento de la misión del negocio.</a:t>
            </a:r>
          </a:p>
          <a:p>
            <a:pPr lvl="1">
              <a:buFontTx/>
              <a:buChar char="•"/>
            </a:pPr>
            <a:r>
              <a:rPr lang="es-ES" altLang="es-MX" sz="2000">
                <a:solidFill>
                  <a:schemeClr val="accent1"/>
                </a:solidFill>
              </a:rPr>
              <a:t>El entendimiento de los objetivos del negocio y sus procesos críticos.</a:t>
            </a:r>
          </a:p>
          <a:p>
            <a:pPr lvl="1">
              <a:buFontTx/>
              <a:buChar char="•"/>
            </a:pPr>
            <a:r>
              <a:rPr lang="es-ES" altLang="es-MX" sz="2000">
                <a:solidFill>
                  <a:schemeClr val="accent1"/>
                </a:solidFill>
              </a:rPr>
              <a:t>La obtención del apoyo de la organización en su conjunto.</a:t>
            </a:r>
          </a:p>
          <a:p>
            <a:pPr lvl="1">
              <a:buFontTx/>
              <a:buChar char="•"/>
            </a:pPr>
            <a:r>
              <a:rPr lang="es-ES" altLang="es-MX" sz="2000">
                <a:solidFill>
                  <a:schemeClr val="accent1"/>
                </a:solidFill>
              </a:rPr>
              <a:t>El desarrollo de los procedimientos de TI y guías que estén alineados con los objetivos del negocio.</a:t>
            </a:r>
          </a:p>
          <a:p>
            <a:pPr lvl="1">
              <a:buFontTx/>
              <a:buChar char="•"/>
            </a:pPr>
            <a:r>
              <a:rPr lang="es-ES" altLang="es-MX" sz="2000">
                <a:solidFill>
                  <a:schemeClr val="accent1"/>
                </a:solidFill>
              </a:rPr>
              <a:t>El establecimiento de un proceso de gobierno de seguridad de la información.</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74D44A25-75F1-4497-9C7E-2EE9D1EA43D1}"/>
              </a:ext>
            </a:extLst>
          </p:cNvPr>
          <p:cNvSpPr>
            <a:spLocks noGrp="1"/>
          </p:cNvSpPr>
          <p:nvPr>
            <p:ph type="sldNum" sz="quarter" idx="12"/>
          </p:nvPr>
        </p:nvSpPr>
        <p:spPr/>
        <p:txBody>
          <a:bodyPr/>
          <a:lstStyle/>
          <a:p>
            <a:fld id="{30A8E979-4E28-491D-8002-836F9D9327AB}" type="slidenum">
              <a:rPr lang="es-MX" smtClean="0"/>
              <a:t>29</a:t>
            </a:fld>
            <a:endParaRPr lang="es-MX"/>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3B5D50ED-485F-4153-93C4-2D5F4B015910}"/>
              </a:ext>
            </a:extLst>
          </p:cNvPr>
          <p:cNvSpPr>
            <a:spLocks noChangeArrowheads="1"/>
          </p:cNvSpPr>
          <p:nvPr/>
        </p:nvSpPr>
        <p:spPr bwMode="auto">
          <a:xfrm>
            <a:off x="419100" y="733425"/>
            <a:ext cx="9633916"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491523" name="Rectangle 3">
            <a:extLst>
              <a:ext uri="{FF2B5EF4-FFF2-40B4-BE49-F238E27FC236}">
                <a16:creationId xmlns:a16="http://schemas.microsoft.com/office/drawing/2014/main" id="{295AB10C-F8A5-48E2-A318-F909C15BBB9F}"/>
              </a:ext>
            </a:extLst>
          </p:cNvPr>
          <p:cNvSpPr>
            <a:spLocks noGrp="1" noChangeArrowheads="1"/>
          </p:cNvSpPr>
          <p:nvPr>
            <p:ph idx="1"/>
          </p:nvPr>
        </p:nvSpPr>
        <p:spPr>
          <a:xfrm>
            <a:off x="581192" y="1719099"/>
            <a:ext cx="10867858" cy="4419600"/>
          </a:xfrm>
        </p:spPr>
        <p:txBody>
          <a:bodyPr>
            <a:normAutofit/>
          </a:bodyPr>
          <a:lstStyle/>
          <a:p>
            <a:pPr marL="0" indent="0">
              <a:buNone/>
            </a:pPr>
            <a:r>
              <a:rPr lang="es-ES" altLang="es-MX" sz="2600">
                <a:solidFill>
                  <a:schemeClr val="accent1"/>
                </a:solidFill>
              </a:rPr>
              <a:t>Obtener el patrocinio y apoyo de la alta gerencia en las iniciativas relacionadas con la TI.</a:t>
            </a:r>
          </a:p>
          <a:p>
            <a:pPr marL="0" indent="0">
              <a:buNone/>
            </a:pPr>
            <a:endParaRPr lang="es-ES" altLang="es-MX" sz="2400">
              <a:solidFill>
                <a:schemeClr val="accent1"/>
              </a:solidFill>
            </a:endParaRPr>
          </a:p>
          <a:p>
            <a:pPr marL="0" indent="0">
              <a:buNone/>
            </a:pPr>
            <a:r>
              <a:rPr lang="es-ES" altLang="es-MX" sz="2400">
                <a:solidFill>
                  <a:schemeClr val="accent1"/>
                </a:solidFill>
              </a:rPr>
              <a:t>La alta gerencia (Junta Directiva o su equivalente) debería tener a un alto nivel de compromiso con:</a:t>
            </a:r>
          </a:p>
          <a:p>
            <a:pPr lvl="1">
              <a:buFont typeface="Wingdings" panose="05000000000000000000" pitchFamily="2" charset="2"/>
              <a:buChar char="§"/>
            </a:pPr>
            <a:r>
              <a:rPr lang="es-ES" altLang="es-MX" sz="2000">
                <a:solidFill>
                  <a:schemeClr val="accent1"/>
                </a:solidFill>
              </a:rPr>
              <a:t>Alcanzar altos estándares de Gobierno Corporativo.</a:t>
            </a:r>
          </a:p>
          <a:p>
            <a:pPr lvl="1">
              <a:buFont typeface="Wingdings" panose="05000000000000000000" pitchFamily="2" charset="2"/>
              <a:buChar char="§"/>
            </a:pPr>
            <a:r>
              <a:rPr lang="es-ES" altLang="es-MX" sz="2000">
                <a:solidFill>
                  <a:schemeClr val="accent1"/>
                </a:solidFill>
              </a:rPr>
              <a:t>Tratar la TI y la seguridad de la información como un asunto crítico para el negocio y crear un ambiente positivo para la seguridad de la informática.</a:t>
            </a:r>
            <a:endParaRPr lang="en-US" altLang="es-MX">
              <a:solidFill>
                <a:schemeClr val="accent1"/>
              </a:solidFill>
            </a:endParaRPr>
          </a:p>
          <a:p>
            <a:pPr lvl="1">
              <a:buFontTx/>
              <a:buChar char="•"/>
            </a:pPr>
            <a:endParaRPr lang="es-ES" altLang="es-MX">
              <a:solidFill>
                <a:schemeClr val="accent1"/>
              </a:solidFill>
            </a:endParaRPr>
          </a:p>
        </p:txBody>
      </p:sp>
      <p:sp>
        <p:nvSpPr>
          <p:cNvPr id="3" name="Marcador de número de diapositiva 2">
            <a:extLst>
              <a:ext uri="{FF2B5EF4-FFF2-40B4-BE49-F238E27FC236}">
                <a16:creationId xmlns:a16="http://schemas.microsoft.com/office/drawing/2014/main" id="{C981B12F-EE44-43CD-9CC9-B707D124D77F}"/>
              </a:ext>
            </a:extLst>
          </p:cNvPr>
          <p:cNvSpPr>
            <a:spLocks noGrp="1"/>
          </p:cNvSpPr>
          <p:nvPr>
            <p:ph type="sldNum" sz="quarter" idx="12"/>
          </p:nvPr>
        </p:nvSpPr>
        <p:spPr/>
        <p:txBody>
          <a:bodyPr/>
          <a:lstStyle/>
          <a:p>
            <a:fld id="{30A8E979-4E28-491D-8002-836F9D9327AB}" type="slidenum">
              <a:rPr lang="es-MX" smtClean="0"/>
              <a:t>30</a:t>
            </a:fld>
            <a:endParaRPr lang="es-MX"/>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2">
            <a:extLst>
              <a:ext uri="{FF2B5EF4-FFF2-40B4-BE49-F238E27FC236}">
                <a16:creationId xmlns:a16="http://schemas.microsoft.com/office/drawing/2014/main" id="{B2A0CD85-E8AD-41B5-BDDA-4E6D7F65EAAB}"/>
              </a:ext>
            </a:extLst>
          </p:cNvPr>
          <p:cNvSpPr>
            <a:spLocks noChangeArrowheads="1"/>
          </p:cNvSpPr>
          <p:nvPr/>
        </p:nvSpPr>
        <p:spPr bwMode="auto">
          <a:xfrm>
            <a:off x="581192" y="826810"/>
            <a:ext cx="8466138"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493571" name="Rectangle 3">
            <a:extLst>
              <a:ext uri="{FF2B5EF4-FFF2-40B4-BE49-F238E27FC236}">
                <a16:creationId xmlns:a16="http://schemas.microsoft.com/office/drawing/2014/main" id="{976E7C3D-80D1-4DE6-A324-F87F4EE7AA4D}"/>
              </a:ext>
            </a:extLst>
          </p:cNvPr>
          <p:cNvSpPr>
            <a:spLocks noGrp="1" noChangeArrowheads="1"/>
          </p:cNvSpPr>
          <p:nvPr>
            <p:ph idx="1"/>
          </p:nvPr>
        </p:nvSpPr>
        <p:spPr>
          <a:xfrm>
            <a:off x="447674" y="1679852"/>
            <a:ext cx="11163133" cy="4351338"/>
          </a:xfrm>
        </p:spPr>
        <p:txBody>
          <a:bodyPr vert="horz" lIns="91440" tIns="45720" rIns="91440" bIns="45720" rtlCol="0">
            <a:normAutofit/>
          </a:bodyPr>
          <a:lstStyle/>
          <a:p>
            <a:pPr marL="0" indent="0">
              <a:buNone/>
            </a:pPr>
            <a:r>
              <a:rPr lang="es-ES" altLang="es-MX" sz="2600">
                <a:solidFill>
                  <a:schemeClr val="accent1"/>
                </a:solidFill>
              </a:rPr>
              <a:t>La alta gerencia (Junta Directiva o su equivalente) debería tener a un alto nivel de compromiso con:</a:t>
            </a:r>
          </a:p>
          <a:p>
            <a:pPr lvl="1">
              <a:buFontTx/>
            </a:pPr>
            <a:endParaRPr lang="es-ES" altLang="es-MX" sz="2000">
              <a:solidFill>
                <a:schemeClr val="accent1"/>
              </a:solidFill>
            </a:endParaRPr>
          </a:p>
          <a:p>
            <a:pPr lvl="1">
              <a:buFont typeface="Wingdings" panose="05000000000000000000" pitchFamily="2" charset="2"/>
              <a:buChar char="§"/>
            </a:pPr>
            <a:r>
              <a:rPr lang="es-ES" altLang="es-MX" sz="2000">
                <a:solidFill>
                  <a:schemeClr val="accent1"/>
                </a:solidFill>
              </a:rPr>
              <a:t>Demostrar a terceras partes que la organización trata la TI y la seguridad de la información de una manera profesional.</a:t>
            </a:r>
          </a:p>
          <a:p>
            <a:pPr lvl="1">
              <a:buFont typeface="Wingdings" panose="05000000000000000000" pitchFamily="2" charset="2"/>
              <a:buChar char="§"/>
            </a:pPr>
            <a:r>
              <a:rPr lang="es-ES" altLang="es-MX" sz="2000">
                <a:solidFill>
                  <a:schemeClr val="accent1"/>
                </a:solidFill>
              </a:rPr>
              <a:t>La aplicación de principios fundamentales tales como: asumir la responsabilidad última por la seguridad de la información, implementar controles que sean acordes al riesgo y lograr la identificación de responsabilidades individuales.</a:t>
            </a:r>
            <a:endParaRPr lang="en-US" altLang="es-MX" sz="2000">
              <a:solidFill>
                <a:schemeClr val="accent1"/>
              </a:solidFill>
            </a:endParaRPr>
          </a:p>
        </p:txBody>
      </p:sp>
      <p:sp>
        <p:nvSpPr>
          <p:cNvPr id="3" name="Marcador de número de diapositiva 2">
            <a:extLst>
              <a:ext uri="{FF2B5EF4-FFF2-40B4-BE49-F238E27FC236}">
                <a16:creationId xmlns:a16="http://schemas.microsoft.com/office/drawing/2014/main" id="{69987133-458A-4960-A042-9D7104171DE4}"/>
              </a:ext>
            </a:extLst>
          </p:cNvPr>
          <p:cNvSpPr>
            <a:spLocks noGrp="1"/>
          </p:cNvSpPr>
          <p:nvPr>
            <p:ph type="sldNum" sz="quarter" idx="12"/>
          </p:nvPr>
        </p:nvSpPr>
        <p:spPr/>
        <p:txBody>
          <a:bodyPr/>
          <a:lstStyle/>
          <a:p>
            <a:fld id="{30A8E979-4E28-491D-8002-836F9D9327AB}" type="slidenum">
              <a:rPr lang="es-MX" smtClean="0"/>
              <a:t>31</a:t>
            </a:fld>
            <a:endParaRPr lang="es-MX"/>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a:extLst>
              <a:ext uri="{FF2B5EF4-FFF2-40B4-BE49-F238E27FC236}">
                <a16:creationId xmlns:a16="http://schemas.microsoft.com/office/drawing/2014/main" id="{97ED3526-F4FB-406F-A199-4395FB0F7DF2}"/>
              </a:ext>
            </a:extLst>
          </p:cNvPr>
          <p:cNvSpPr>
            <a:spLocks noGrp="1" noChangeArrowheads="1"/>
          </p:cNvSpPr>
          <p:nvPr>
            <p:ph idx="1"/>
          </p:nvPr>
        </p:nvSpPr>
        <p:spPr>
          <a:xfrm>
            <a:off x="428625" y="1649686"/>
            <a:ext cx="11182183" cy="4724400"/>
          </a:xfrm>
        </p:spPr>
        <p:txBody>
          <a:bodyPr vert="horz" lIns="91440" tIns="45720" rIns="91440" bIns="45720" rtlCol="0">
            <a:normAutofit/>
          </a:bodyPr>
          <a:lstStyle/>
          <a:p>
            <a:pPr marL="0" indent="0">
              <a:buNone/>
            </a:pPr>
            <a:r>
              <a:rPr lang="es-ES" altLang="es-MX" sz="2600">
                <a:solidFill>
                  <a:schemeClr val="accent1"/>
                </a:solidFill>
              </a:rPr>
              <a:t>La alta gerencia debería demostrar su compromiso con la TI y la seguridad de la información al: </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Involucrarse directamente en asuntos de alto nivel relacionados con la seguridad de la información tales como las políticas de seguridad de la información.</a:t>
            </a:r>
          </a:p>
          <a:p>
            <a:pPr lvl="1">
              <a:buFont typeface="Wingdings" panose="05000000000000000000" pitchFamily="2" charset="2"/>
              <a:buChar char="§"/>
            </a:pPr>
            <a:r>
              <a:rPr lang="es-ES" altLang="es-MX" sz="2000">
                <a:solidFill>
                  <a:schemeClr val="accent1"/>
                </a:solidFill>
              </a:rPr>
              <a:t>Proporcionar control de alto nivel en la TI.</a:t>
            </a:r>
          </a:p>
          <a:p>
            <a:pPr lvl="1">
              <a:buFont typeface="Wingdings" panose="05000000000000000000" pitchFamily="2" charset="2"/>
              <a:buChar char="§"/>
            </a:pPr>
            <a:r>
              <a:rPr lang="es-ES" altLang="es-MX" sz="2000">
                <a:solidFill>
                  <a:schemeClr val="accent1"/>
                </a:solidFill>
              </a:rPr>
              <a:t>Asignar suficientes recursos para la TI y  la seguridad de la información.</a:t>
            </a:r>
          </a:p>
          <a:p>
            <a:pPr lvl="1">
              <a:buFont typeface="Wingdings" panose="05000000000000000000" pitchFamily="2" charset="2"/>
              <a:buChar char="§"/>
            </a:pPr>
            <a:r>
              <a:rPr lang="es-ES" altLang="es-MX" sz="2000">
                <a:solidFill>
                  <a:schemeClr val="accent1"/>
                </a:solidFill>
              </a:rPr>
              <a:t>Revisar su efectividad.</a:t>
            </a:r>
            <a:r>
              <a:rPr lang="en-US" altLang="es-MX" sz="2000">
                <a:solidFill>
                  <a:schemeClr val="accent1"/>
                </a:solidFill>
              </a:rPr>
              <a:t> </a:t>
            </a:r>
            <a:endParaRPr lang="sl-SI" altLang="es-MX" sz="2000">
              <a:solidFill>
                <a:schemeClr val="accent1"/>
              </a:solidFill>
            </a:endParaRPr>
          </a:p>
        </p:txBody>
      </p:sp>
      <p:sp>
        <p:nvSpPr>
          <p:cNvPr id="495619" name="Rectangle 3">
            <a:extLst>
              <a:ext uri="{FF2B5EF4-FFF2-40B4-BE49-F238E27FC236}">
                <a16:creationId xmlns:a16="http://schemas.microsoft.com/office/drawing/2014/main" id="{5D7EFB99-8282-46BD-BD68-5846337C8C54}"/>
              </a:ext>
            </a:extLst>
          </p:cNvPr>
          <p:cNvSpPr>
            <a:spLocks noChangeArrowheads="1"/>
          </p:cNvSpPr>
          <p:nvPr/>
        </p:nvSpPr>
        <p:spPr bwMode="auto">
          <a:xfrm>
            <a:off x="495301" y="914400"/>
            <a:ext cx="8393113"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3" name="Marcador de número de diapositiva 2">
            <a:extLst>
              <a:ext uri="{FF2B5EF4-FFF2-40B4-BE49-F238E27FC236}">
                <a16:creationId xmlns:a16="http://schemas.microsoft.com/office/drawing/2014/main" id="{8CD10D31-11C8-4D59-934A-FF9B17861C60}"/>
              </a:ext>
            </a:extLst>
          </p:cNvPr>
          <p:cNvSpPr>
            <a:spLocks noGrp="1"/>
          </p:cNvSpPr>
          <p:nvPr>
            <p:ph type="sldNum" sz="quarter" idx="12"/>
          </p:nvPr>
        </p:nvSpPr>
        <p:spPr/>
        <p:txBody>
          <a:bodyPr/>
          <a:lstStyle/>
          <a:p>
            <a:fld id="{30A8E979-4E28-491D-8002-836F9D9327AB}" type="slidenum">
              <a:rPr lang="es-MX" smtClean="0"/>
              <a:t>32</a:t>
            </a:fld>
            <a:endParaRPr lang="es-MX"/>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a:extLst>
              <a:ext uri="{FF2B5EF4-FFF2-40B4-BE49-F238E27FC236}">
                <a16:creationId xmlns:a16="http://schemas.microsoft.com/office/drawing/2014/main" id="{BB301999-2C29-4DAE-BB97-1DEFF48791FA}"/>
              </a:ext>
            </a:extLst>
          </p:cNvPr>
          <p:cNvSpPr>
            <a:spLocks noGrp="1" noChangeArrowheads="1"/>
          </p:cNvSpPr>
          <p:nvPr>
            <p:ph idx="1"/>
          </p:nvPr>
        </p:nvSpPr>
        <p:spPr>
          <a:xfrm>
            <a:off x="352425" y="1295400"/>
            <a:ext cx="11325225" cy="4724400"/>
          </a:xfrm>
        </p:spPr>
        <p:txBody>
          <a:bodyPr vert="horz" lIns="91440" tIns="45720" rIns="91440" bIns="45720" rtlCol="0">
            <a:normAutofit/>
          </a:bodyPr>
          <a:lstStyle/>
          <a:p>
            <a:pPr marL="0" indent="0">
              <a:buNone/>
            </a:pPr>
            <a:r>
              <a:rPr lang="es-ES" altLang="es-MX" sz="2600">
                <a:solidFill>
                  <a:schemeClr val="accent1"/>
                </a:solidFill>
              </a:rPr>
              <a:t>Para obtener el apoyo y el compromiso de la alta gerencia, se debería tener un conocimiento sólido de:</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Las técnicas utilizadas para asegurar el compromiso y apoyo a la gerencia de TI de la información, por parte de la alta gerencia de la organización.</a:t>
            </a:r>
          </a:p>
          <a:p>
            <a:pPr lvl="1">
              <a:buFont typeface="Wingdings" panose="05000000000000000000" pitchFamily="2" charset="2"/>
              <a:buChar char="§"/>
            </a:pPr>
            <a:r>
              <a:rPr lang="es-ES" altLang="es-MX" sz="2000">
                <a:solidFill>
                  <a:schemeClr val="accent1"/>
                </a:solidFill>
              </a:rPr>
              <a:t>Las prácticas asociadas con una directriz de política global que capture las expectativas de la alta gerencia a nivel de dirección en cuanto a tecnología, con el fin de sentar las bases de la administración de los recursos dentro de la organización.</a:t>
            </a:r>
            <a:r>
              <a:rPr lang="en-US" altLang="es-MX" sz="2000">
                <a:solidFill>
                  <a:schemeClr val="accent1"/>
                </a:solidFill>
              </a:rPr>
              <a:t> </a:t>
            </a:r>
          </a:p>
        </p:txBody>
      </p:sp>
      <p:sp>
        <p:nvSpPr>
          <p:cNvPr id="497667" name="Rectangle 3">
            <a:extLst>
              <a:ext uri="{FF2B5EF4-FFF2-40B4-BE49-F238E27FC236}">
                <a16:creationId xmlns:a16="http://schemas.microsoft.com/office/drawing/2014/main" id="{E2759538-959E-4B4A-B343-9056C6299DAD}"/>
              </a:ext>
            </a:extLst>
          </p:cNvPr>
          <p:cNvSpPr>
            <a:spLocks noChangeArrowheads="1"/>
          </p:cNvSpPr>
          <p:nvPr/>
        </p:nvSpPr>
        <p:spPr bwMode="auto">
          <a:xfrm>
            <a:off x="581192" y="838200"/>
            <a:ext cx="8250238"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3" name="Marcador de número de diapositiva 2">
            <a:extLst>
              <a:ext uri="{FF2B5EF4-FFF2-40B4-BE49-F238E27FC236}">
                <a16:creationId xmlns:a16="http://schemas.microsoft.com/office/drawing/2014/main" id="{45A93D8A-FC5A-4DDD-9C20-B59BA4EE2269}"/>
              </a:ext>
            </a:extLst>
          </p:cNvPr>
          <p:cNvSpPr>
            <a:spLocks noGrp="1"/>
          </p:cNvSpPr>
          <p:nvPr>
            <p:ph type="sldNum" sz="quarter" idx="12"/>
          </p:nvPr>
        </p:nvSpPr>
        <p:spPr/>
        <p:txBody>
          <a:bodyPr/>
          <a:lstStyle/>
          <a:p>
            <a:fld id="{30A8E979-4E28-491D-8002-836F9D9327AB}" type="slidenum">
              <a:rPr lang="es-MX" smtClean="0"/>
              <a:t>33</a:t>
            </a:fld>
            <a:endParaRPr lang="es-MX"/>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a:extLst>
              <a:ext uri="{FF2B5EF4-FFF2-40B4-BE49-F238E27FC236}">
                <a16:creationId xmlns:a16="http://schemas.microsoft.com/office/drawing/2014/main" id="{0800DDEE-3D2A-4E03-93B1-59A1E6BCB76E}"/>
              </a:ext>
            </a:extLst>
          </p:cNvPr>
          <p:cNvSpPr>
            <a:spLocks noChangeArrowheads="1"/>
          </p:cNvSpPr>
          <p:nvPr/>
        </p:nvSpPr>
        <p:spPr bwMode="auto">
          <a:xfrm>
            <a:off x="581192" y="788504"/>
            <a:ext cx="8321675" cy="914400"/>
          </a:xfrm>
          <a:prstGeom prst="rect">
            <a:avLst/>
          </a:prstGeom>
          <a:noFill/>
          <a:ln/>
        </p:spPr>
        <p:txBody>
          <a:bodyPr vert="horz" lIns="91440" tIns="45720" rIns="91440" bIns="45720" rtlCol="0" anchor="ctr">
            <a:normAutofit/>
          </a:body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499715" name="Rectangle 3">
            <a:extLst>
              <a:ext uri="{FF2B5EF4-FFF2-40B4-BE49-F238E27FC236}">
                <a16:creationId xmlns:a16="http://schemas.microsoft.com/office/drawing/2014/main" id="{7F8F7383-2032-40A5-92BA-2803A60AD63A}"/>
              </a:ext>
            </a:extLst>
          </p:cNvPr>
          <p:cNvSpPr>
            <a:spLocks noGrp="1" noChangeArrowheads="1"/>
          </p:cNvSpPr>
          <p:nvPr>
            <p:ph idx="1"/>
          </p:nvPr>
        </p:nvSpPr>
        <p:spPr>
          <a:xfrm>
            <a:off x="581191" y="1588604"/>
            <a:ext cx="11163133" cy="4931259"/>
          </a:xfrm>
        </p:spPr>
        <p:txBody>
          <a:bodyPr vert="horz" lIns="91440" tIns="45720" rIns="91440" bIns="45720" rtlCol="0">
            <a:normAutofit/>
          </a:bodyPr>
          <a:lstStyle/>
          <a:p>
            <a:pPr marL="0" indent="0">
              <a:buNone/>
            </a:pPr>
            <a:r>
              <a:rPr lang="es-ES" altLang="es-MX" sz="2600">
                <a:solidFill>
                  <a:schemeClr val="accent1"/>
                </a:solidFill>
              </a:rPr>
              <a:t>Las presentaciones formales son la técnica que se utiliza de manera más frecuente para educar y comunicar aspectos clave del programa de los  sistemas de la información y  de TI. Estas presentaciones deben incluir prácticas usuales en los negocios como:</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Alinear los objetivos de la TI, con los objetivos del negocio.</a:t>
            </a:r>
          </a:p>
          <a:p>
            <a:pPr lvl="1">
              <a:buFont typeface="Wingdings" panose="05000000000000000000" pitchFamily="2" charset="2"/>
              <a:buChar char="§"/>
            </a:pPr>
            <a:r>
              <a:rPr lang="es-ES" altLang="es-MX" sz="2000">
                <a:solidFill>
                  <a:schemeClr val="accent1"/>
                </a:solidFill>
              </a:rPr>
              <a:t>Identificar aspectos de presupuesto, de tal manera que la alta gerencia pueda cuantificar los costos de programa que te tiene incorporado en el Plan.</a:t>
            </a:r>
          </a:p>
          <a:p>
            <a:pPr lvl="1">
              <a:buFont typeface="Wingdings" panose="05000000000000000000" pitchFamily="2" charset="2"/>
              <a:buChar char="§"/>
            </a:pPr>
            <a:r>
              <a:rPr lang="es-ES" altLang="es-MX" sz="2000">
                <a:solidFill>
                  <a:schemeClr val="accent1"/>
                </a:solidFill>
              </a:rPr>
              <a:t>Utilizar modelos de negocio generalmente aceptados como TCO (</a:t>
            </a:r>
            <a:r>
              <a:rPr lang="es-MX" sz="2000">
                <a:solidFill>
                  <a:schemeClr val="accent1"/>
                </a:solidFill>
              </a:rPr>
              <a:t>costo real de la compra de un producto</a:t>
            </a:r>
            <a:r>
              <a:rPr lang="es-MX" sz="2400" b="0" i="0">
                <a:solidFill>
                  <a:schemeClr val="accent1"/>
                </a:solidFill>
                <a:effectLst/>
                <a:latin typeface="Google Sans"/>
              </a:rPr>
              <a:t>) </a:t>
            </a:r>
            <a:r>
              <a:rPr lang="es-ES" altLang="es-MX" sz="2000">
                <a:solidFill>
                  <a:schemeClr val="accent1"/>
                </a:solidFill>
              </a:rPr>
              <a:t>o ROI (retorno de la inversión).</a:t>
            </a:r>
          </a:p>
          <a:p>
            <a:pPr lvl="1">
              <a:buFont typeface="Wingdings" panose="05000000000000000000" pitchFamily="2" charset="2"/>
              <a:buChar char="§"/>
            </a:pPr>
            <a:r>
              <a:rPr lang="es-ES" altLang="es-MX" sz="2000">
                <a:solidFill>
                  <a:schemeClr val="accent1"/>
                </a:solidFill>
              </a:rPr>
              <a:t>Definir medidas de seguimiento que serán incluidas en el programa.</a:t>
            </a:r>
            <a:endParaRPr lang="en-US" altLang="es-MX" sz="2000">
              <a:solidFill>
                <a:schemeClr val="accent1"/>
              </a:solidFill>
            </a:endParaRPr>
          </a:p>
        </p:txBody>
      </p:sp>
      <p:sp>
        <p:nvSpPr>
          <p:cNvPr id="3" name="Marcador de número de diapositiva 2">
            <a:extLst>
              <a:ext uri="{FF2B5EF4-FFF2-40B4-BE49-F238E27FC236}">
                <a16:creationId xmlns:a16="http://schemas.microsoft.com/office/drawing/2014/main" id="{ADF2F8AC-1F59-4FA3-B2CF-D58287C0621A}"/>
              </a:ext>
            </a:extLst>
          </p:cNvPr>
          <p:cNvSpPr>
            <a:spLocks noGrp="1"/>
          </p:cNvSpPr>
          <p:nvPr>
            <p:ph type="sldNum" sz="quarter" idx="12"/>
          </p:nvPr>
        </p:nvSpPr>
        <p:spPr/>
        <p:txBody>
          <a:bodyPr/>
          <a:lstStyle/>
          <a:p>
            <a:fld id="{30A8E979-4E28-491D-8002-836F9D9327AB}" type="slidenum">
              <a:rPr lang="es-MX" smtClean="0"/>
              <a:t>34</a:t>
            </a:fld>
            <a:endParaRPr lang="es-MX"/>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812EB577-9E85-4E68-9F5C-0B99C3AB064B}"/>
              </a:ext>
            </a:extLst>
          </p:cNvPr>
          <p:cNvSpPr>
            <a:spLocks noChangeArrowheads="1"/>
          </p:cNvSpPr>
          <p:nvPr/>
        </p:nvSpPr>
        <p:spPr bwMode="auto">
          <a:xfrm>
            <a:off x="-504825" y="761999"/>
            <a:ext cx="84661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rgbClr val="FFFF00"/>
                </a:solidFill>
                <a:latin typeface="Times New Roman" panose="02020603050405020304" pitchFamily="18" charset="0"/>
              </a:defRPr>
            </a:lvl1pPr>
            <a:lvl2pPr algn="ctr">
              <a:defRPr sz="4400">
                <a:solidFill>
                  <a:srgbClr val="FFFF00"/>
                </a:solidFill>
                <a:latin typeface="Times New Roman" panose="02020603050405020304" pitchFamily="18" charset="0"/>
              </a:defRPr>
            </a:lvl2pPr>
            <a:lvl3pPr algn="ctr">
              <a:defRPr sz="4400">
                <a:solidFill>
                  <a:srgbClr val="FFFF00"/>
                </a:solidFill>
                <a:latin typeface="Times New Roman" panose="02020603050405020304" pitchFamily="18" charset="0"/>
              </a:defRPr>
            </a:lvl3pPr>
            <a:lvl4pPr algn="ctr">
              <a:defRPr sz="4400">
                <a:solidFill>
                  <a:srgbClr val="FFFF00"/>
                </a:solidFill>
                <a:latin typeface="Times New Roman" panose="02020603050405020304" pitchFamily="18" charset="0"/>
              </a:defRPr>
            </a:lvl4pPr>
            <a:lvl5pPr algn="ctr">
              <a:defRPr sz="4400">
                <a:solidFill>
                  <a:srgbClr val="FFFF00"/>
                </a:solidFill>
                <a:latin typeface="Times New Roman" panose="02020603050405020304" pitchFamily="18" charset="0"/>
              </a:defRPr>
            </a:lvl5pPr>
            <a:lvl6pPr marL="457200" algn="ctr" fontAlgn="base">
              <a:spcBef>
                <a:spcPct val="0"/>
              </a:spcBef>
              <a:spcAft>
                <a:spcPct val="0"/>
              </a:spcAft>
              <a:defRPr sz="4400">
                <a:solidFill>
                  <a:srgbClr val="FFFF00"/>
                </a:solidFill>
                <a:latin typeface="Times New Roman" panose="02020603050405020304" pitchFamily="18" charset="0"/>
              </a:defRPr>
            </a:lvl6pPr>
            <a:lvl7pPr marL="914400" algn="ctr" fontAlgn="base">
              <a:spcBef>
                <a:spcPct val="0"/>
              </a:spcBef>
              <a:spcAft>
                <a:spcPct val="0"/>
              </a:spcAft>
              <a:defRPr sz="4400">
                <a:solidFill>
                  <a:srgbClr val="FFFF00"/>
                </a:solidFill>
                <a:latin typeface="Times New Roman" panose="02020603050405020304" pitchFamily="18" charset="0"/>
              </a:defRPr>
            </a:lvl7pPr>
            <a:lvl8pPr marL="1371600" algn="ctr" fontAlgn="base">
              <a:spcBef>
                <a:spcPct val="0"/>
              </a:spcBef>
              <a:spcAft>
                <a:spcPct val="0"/>
              </a:spcAft>
              <a:defRPr sz="4400">
                <a:solidFill>
                  <a:srgbClr val="FFFF00"/>
                </a:solidFill>
                <a:latin typeface="Times New Roman" panose="02020603050405020304" pitchFamily="18" charset="0"/>
              </a:defRPr>
            </a:lvl8pPr>
            <a:lvl9pPr marL="1828800" algn="ctr" fontAlgn="base">
              <a:spcBef>
                <a:spcPct val="0"/>
              </a:spcBef>
              <a:spcAft>
                <a:spcPct val="0"/>
              </a:spcAft>
              <a:defRPr sz="4400">
                <a:solidFill>
                  <a:srgbClr val="FFFF00"/>
                </a:solidFill>
                <a:latin typeface="Times New Roman" panose="02020603050405020304" pitchFamily="18" charset="0"/>
              </a:defRPr>
            </a:lvl9pPr>
          </a:lstStyle>
          <a:p>
            <a:pPr>
              <a:lnSpc>
                <a:spcPct val="90000"/>
              </a:lnSpc>
              <a:spcBef>
                <a:spcPct val="0"/>
              </a:spcBef>
            </a:pPr>
            <a:r>
              <a:rPr lang="es-CO" altLang="es-MX" sz="4000" cap="all">
                <a:solidFill>
                  <a:schemeClr val="bg1"/>
                </a:solidFill>
                <a:latin typeface="+mj-lt"/>
                <a:ea typeface="+mj-ea"/>
                <a:cs typeface="+mj-cs"/>
              </a:rPr>
              <a:t>El compromiso de TI</a:t>
            </a:r>
          </a:p>
        </p:txBody>
      </p:sp>
      <p:sp>
        <p:nvSpPr>
          <p:cNvPr id="501763" name="Rectangle 3">
            <a:extLst>
              <a:ext uri="{FF2B5EF4-FFF2-40B4-BE49-F238E27FC236}">
                <a16:creationId xmlns:a16="http://schemas.microsoft.com/office/drawing/2014/main" id="{26F3C25D-F77B-4236-9582-E0D760C554A5}"/>
              </a:ext>
            </a:extLst>
          </p:cNvPr>
          <p:cNvSpPr>
            <a:spLocks noGrp="1" noChangeArrowheads="1"/>
          </p:cNvSpPr>
          <p:nvPr>
            <p:ph idx="1"/>
          </p:nvPr>
        </p:nvSpPr>
        <p:spPr>
          <a:xfrm>
            <a:off x="381000" y="1831976"/>
            <a:ext cx="11296650" cy="4683125"/>
          </a:xfrm>
        </p:spPr>
        <p:txBody>
          <a:bodyPr vert="horz" lIns="91440" tIns="45720" rIns="91440" bIns="45720" rtlCol="0">
            <a:normAutofit/>
          </a:bodyPr>
          <a:lstStyle/>
          <a:p>
            <a:pPr marL="0" indent="0">
              <a:buNone/>
            </a:pPr>
            <a:r>
              <a:rPr lang="es-ES" altLang="es-MX" sz="2600">
                <a:solidFill>
                  <a:schemeClr val="accent1"/>
                </a:solidFill>
              </a:rPr>
              <a:t>Los gerentes de TI deberían así mismo utilizar prácticas comunes del negocio entre las que se cuentan:</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La utilización de métodos de </a:t>
            </a:r>
            <a:r>
              <a:rPr lang="es-ES" altLang="es-MX" sz="2000" err="1">
                <a:solidFill>
                  <a:schemeClr val="accent1"/>
                </a:solidFill>
              </a:rPr>
              <a:t>Balanced</a:t>
            </a:r>
            <a:r>
              <a:rPr lang="es-ES" altLang="es-MX" sz="2000">
                <a:solidFill>
                  <a:schemeClr val="accent1"/>
                </a:solidFill>
              </a:rPr>
              <a:t> Business </a:t>
            </a:r>
            <a:r>
              <a:rPr lang="es-ES" altLang="es-MX" sz="2000" err="1">
                <a:solidFill>
                  <a:schemeClr val="accent1"/>
                </a:solidFill>
              </a:rPr>
              <a:t>Scorecard</a:t>
            </a:r>
            <a:r>
              <a:rPr lang="es-ES" altLang="es-MX" sz="2000">
                <a:solidFill>
                  <a:schemeClr val="accent1"/>
                </a:solidFill>
              </a:rPr>
              <a:t> (</a:t>
            </a:r>
            <a:r>
              <a:rPr lang="es-AR" sz="2000">
                <a:solidFill>
                  <a:schemeClr val="accent1"/>
                </a:solidFill>
              </a:rPr>
              <a:t>Cuadro de Mando Integral)</a:t>
            </a:r>
            <a:r>
              <a:rPr lang="es-ES" altLang="es-MX" sz="2000">
                <a:solidFill>
                  <a:schemeClr val="accent1"/>
                </a:solidFill>
              </a:rPr>
              <a:t>.</a:t>
            </a:r>
          </a:p>
          <a:p>
            <a:pPr lvl="1">
              <a:buFont typeface="Wingdings" panose="05000000000000000000" pitchFamily="2" charset="2"/>
              <a:buChar char="§"/>
            </a:pPr>
            <a:r>
              <a:rPr lang="es-ES" altLang="es-MX" sz="2000">
                <a:solidFill>
                  <a:schemeClr val="accent1"/>
                </a:solidFill>
              </a:rPr>
              <a:t>Requerir que la administración de riesgos sea integrada a la operación del programa .</a:t>
            </a:r>
          </a:p>
          <a:p>
            <a:pPr lvl="1">
              <a:buFont typeface="Wingdings" panose="05000000000000000000" pitchFamily="2" charset="2"/>
              <a:buChar char="§"/>
            </a:pPr>
            <a:r>
              <a:rPr lang="es-ES" altLang="es-MX" sz="2000">
                <a:solidFill>
                  <a:schemeClr val="accent1"/>
                </a:solidFill>
              </a:rPr>
              <a:t>Asegurar que sean definidas de manera clara las responsabilidades.</a:t>
            </a:r>
          </a:p>
          <a:p>
            <a:pPr marL="0" indent="0">
              <a:buNone/>
            </a:pPr>
            <a:endParaRPr lang="es-ES" altLang="es-MX" sz="2600">
              <a:solidFill>
                <a:schemeClr val="accent1"/>
              </a:solidFill>
            </a:endParaRPr>
          </a:p>
        </p:txBody>
      </p:sp>
      <p:sp>
        <p:nvSpPr>
          <p:cNvPr id="3" name="Marcador de número de diapositiva 2">
            <a:extLst>
              <a:ext uri="{FF2B5EF4-FFF2-40B4-BE49-F238E27FC236}">
                <a16:creationId xmlns:a16="http://schemas.microsoft.com/office/drawing/2014/main" id="{0C7B2D9B-5F2B-4F9A-B388-067463EAB923}"/>
              </a:ext>
            </a:extLst>
          </p:cNvPr>
          <p:cNvSpPr>
            <a:spLocks noGrp="1"/>
          </p:cNvSpPr>
          <p:nvPr>
            <p:ph type="sldNum" sz="quarter" idx="12"/>
          </p:nvPr>
        </p:nvSpPr>
        <p:spPr/>
        <p:txBody>
          <a:bodyPr/>
          <a:lstStyle/>
          <a:p>
            <a:fld id="{30A8E979-4E28-491D-8002-836F9D9327AB}" type="slidenum">
              <a:rPr lang="es-MX" smtClean="0"/>
              <a:t>35</a:t>
            </a:fld>
            <a:endParaRPr lang="es-MX"/>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id="{536A7ACB-DC91-4E20-AABA-FBB31BA54483}"/>
              </a:ext>
            </a:extLst>
          </p:cNvPr>
          <p:cNvSpPr>
            <a:spLocks noChangeArrowheads="1"/>
          </p:cNvSpPr>
          <p:nvPr/>
        </p:nvSpPr>
        <p:spPr bwMode="auto">
          <a:xfrm>
            <a:off x="676274" y="642938"/>
            <a:ext cx="1093453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rgbClr val="FFFF00"/>
                </a:solidFill>
                <a:latin typeface="Times New Roman" panose="02020603050405020304" pitchFamily="18" charset="0"/>
              </a:defRPr>
            </a:lvl1pPr>
            <a:lvl2pPr algn="ctr">
              <a:defRPr sz="4400">
                <a:solidFill>
                  <a:srgbClr val="FFFF00"/>
                </a:solidFill>
                <a:latin typeface="Times New Roman" panose="02020603050405020304" pitchFamily="18" charset="0"/>
              </a:defRPr>
            </a:lvl2pPr>
            <a:lvl3pPr algn="ctr">
              <a:defRPr sz="4400">
                <a:solidFill>
                  <a:srgbClr val="FFFF00"/>
                </a:solidFill>
                <a:latin typeface="Times New Roman" panose="02020603050405020304" pitchFamily="18" charset="0"/>
              </a:defRPr>
            </a:lvl3pPr>
            <a:lvl4pPr algn="ctr">
              <a:defRPr sz="4400">
                <a:solidFill>
                  <a:srgbClr val="FFFF00"/>
                </a:solidFill>
                <a:latin typeface="Times New Roman" panose="02020603050405020304" pitchFamily="18" charset="0"/>
              </a:defRPr>
            </a:lvl4pPr>
            <a:lvl5pPr algn="ctr">
              <a:defRPr sz="4400">
                <a:solidFill>
                  <a:srgbClr val="FFFF00"/>
                </a:solidFill>
                <a:latin typeface="Times New Roman" panose="02020603050405020304" pitchFamily="18" charset="0"/>
              </a:defRPr>
            </a:lvl5pPr>
            <a:lvl6pPr marL="457200" algn="ctr" fontAlgn="base">
              <a:spcBef>
                <a:spcPct val="0"/>
              </a:spcBef>
              <a:spcAft>
                <a:spcPct val="0"/>
              </a:spcAft>
              <a:defRPr sz="4400">
                <a:solidFill>
                  <a:srgbClr val="FFFF00"/>
                </a:solidFill>
                <a:latin typeface="Times New Roman" panose="02020603050405020304" pitchFamily="18" charset="0"/>
              </a:defRPr>
            </a:lvl6pPr>
            <a:lvl7pPr marL="914400" algn="ctr" fontAlgn="base">
              <a:spcBef>
                <a:spcPct val="0"/>
              </a:spcBef>
              <a:spcAft>
                <a:spcPct val="0"/>
              </a:spcAft>
              <a:defRPr sz="4400">
                <a:solidFill>
                  <a:srgbClr val="FFFF00"/>
                </a:solidFill>
                <a:latin typeface="Times New Roman" panose="02020603050405020304" pitchFamily="18" charset="0"/>
              </a:defRPr>
            </a:lvl7pPr>
            <a:lvl8pPr marL="1371600" algn="ctr" fontAlgn="base">
              <a:spcBef>
                <a:spcPct val="0"/>
              </a:spcBef>
              <a:spcAft>
                <a:spcPct val="0"/>
              </a:spcAft>
              <a:defRPr sz="4400">
                <a:solidFill>
                  <a:srgbClr val="FFFF00"/>
                </a:solidFill>
                <a:latin typeface="Times New Roman" panose="02020603050405020304" pitchFamily="18" charset="0"/>
              </a:defRPr>
            </a:lvl8pPr>
            <a:lvl9pPr marL="1828800" algn="ctr" fontAlgn="base">
              <a:spcBef>
                <a:spcPct val="0"/>
              </a:spcBef>
              <a:spcAft>
                <a:spcPct val="0"/>
              </a:spcAft>
              <a:defRPr sz="4400">
                <a:solidFill>
                  <a:srgbClr val="FFFF00"/>
                </a:solidFill>
                <a:latin typeface="Times New Roman" panose="02020603050405020304" pitchFamily="18" charset="0"/>
              </a:defRPr>
            </a:lvl9pPr>
          </a:lstStyle>
          <a:p>
            <a:r>
              <a:rPr lang="es-CO" altLang="es-MX" sz="4000" cap="all">
                <a:solidFill>
                  <a:schemeClr val="bg1"/>
                </a:solidFill>
                <a:latin typeface="+mj-lt"/>
                <a:ea typeface="+mj-ea"/>
                <a:cs typeface="+mj-cs"/>
              </a:rPr>
              <a:t>Prácticas asociadas a una Directriz de Política Global</a:t>
            </a:r>
          </a:p>
        </p:txBody>
      </p:sp>
      <p:sp>
        <p:nvSpPr>
          <p:cNvPr id="503811" name="Rectangle 3">
            <a:extLst>
              <a:ext uri="{FF2B5EF4-FFF2-40B4-BE49-F238E27FC236}">
                <a16:creationId xmlns:a16="http://schemas.microsoft.com/office/drawing/2014/main" id="{E2429543-8A4F-4FFC-BCE3-C4C40C1A59DA}"/>
              </a:ext>
            </a:extLst>
          </p:cNvPr>
          <p:cNvSpPr>
            <a:spLocks noGrp="1" noChangeArrowheads="1"/>
          </p:cNvSpPr>
          <p:nvPr>
            <p:ph idx="1"/>
          </p:nvPr>
        </p:nvSpPr>
        <p:spPr>
          <a:xfrm>
            <a:off x="581192" y="1881188"/>
            <a:ext cx="10836965" cy="4538662"/>
          </a:xfrm>
        </p:spPr>
        <p:txBody>
          <a:bodyPr vert="horz" lIns="91440" tIns="45720" rIns="91440" bIns="45720" rtlCol="0">
            <a:normAutofit/>
          </a:bodyPr>
          <a:lstStyle/>
          <a:p>
            <a:pPr marL="0" indent="0">
              <a:buNone/>
            </a:pPr>
            <a:r>
              <a:rPr lang="es-ES" altLang="es-MX" sz="2600">
                <a:solidFill>
                  <a:schemeClr val="accent1"/>
                </a:solidFill>
              </a:rPr>
              <a:t>Prácticas asociadas con una directriz de política global que capture las expectativas de la alta gerencia.</a:t>
            </a:r>
          </a:p>
          <a:p>
            <a:pPr marL="0" indent="0">
              <a:buNone/>
            </a:pPr>
            <a:r>
              <a:rPr lang="es-ES" altLang="es-MX" sz="2600">
                <a:solidFill>
                  <a:schemeClr val="accent1"/>
                </a:solidFill>
              </a:rPr>
              <a:t>La alta gerencia debería tener claros  los lineamientos, entre los que se cuentan:</a:t>
            </a:r>
          </a:p>
          <a:p>
            <a:pPr lvl="1">
              <a:buFont typeface="Wingdings" panose="05000000000000000000" pitchFamily="2" charset="2"/>
              <a:buChar char="§"/>
            </a:pPr>
            <a:r>
              <a:rPr lang="es-ES" altLang="es-MX" sz="2000">
                <a:solidFill>
                  <a:schemeClr val="accent1"/>
                </a:solidFill>
              </a:rPr>
              <a:t>Directrices y expectativas antes de implementar el Plan.</a:t>
            </a:r>
          </a:p>
          <a:p>
            <a:pPr lvl="1">
              <a:buFont typeface="Wingdings" panose="05000000000000000000" pitchFamily="2" charset="2"/>
              <a:buChar char="§"/>
            </a:pPr>
            <a:r>
              <a:rPr lang="es-ES" altLang="es-MX" sz="2000">
                <a:solidFill>
                  <a:schemeClr val="accent1"/>
                </a:solidFill>
              </a:rPr>
              <a:t>La necesidad de hacer seguimiento y de contar con programas de administración de riesgos y administración de crisis.</a:t>
            </a:r>
            <a:r>
              <a:rPr lang="en-US" altLang="es-MX" sz="2000">
                <a:solidFill>
                  <a:schemeClr val="accent1"/>
                </a:solidFill>
              </a:rPr>
              <a:t> </a:t>
            </a:r>
          </a:p>
        </p:txBody>
      </p:sp>
      <p:sp>
        <p:nvSpPr>
          <p:cNvPr id="3" name="Marcador de número de diapositiva 2">
            <a:extLst>
              <a:ext uri="{FF2B5EF4-FFF2-40B4-BE49-F238E27FC236}">
                <a16:creationId xmlns:a16="http://schemas.microsoft.com/office/drawing/2014/main" id="{3AD71EC6-79BF-470F-8342-3599304BC7A1}"/>
              </a:ext>
            </a:extLst>
          </p:cNvPr>
          <p:cNvSpPr>
            <a:spLocks noGrp="1"/>
          </p:cNvSpPr>
          <p:nvPr>
            <p:ph type="sldNum" sz="quarter" idx="12"/>
          </p:nvPr>
        </p:nvSpPr>
        <p:spPr/>
        <p:txBody>
          <a:bodyPr/>
          <a:lstStyle/>
          <a:p>
            <a:fld id="{30A8E979-4E28-491D-8002-836F9D9327AB}" type="slidenum">
              <a:rPr lang="es-MX" smtClean="0"/>
              <a:t>36</a:t>
            </a:fld>
            <a:endParaRPr lang="es-MX"/>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a:extLst>
              <a:ext uri="{FF2B5EF4-FFF2-40B4-BE49-F238E27FC236}">
                <a16:creationId xmlns:a16="http://schemas.microsoft.com/office/drawing/2014/main" id="{D5EC032E-E31D-44E8-8BF9-8A9EF76257DD}"/>
              </a:ext>
            </a:extLst>
          </p:cNvPr>
          <p:cNvSpPr>
            <a:spLocks noGrp="1" noChangeArrowheads="1"/>
          </p:cNvSpPr>
          <p:nvPr>
            <p:ph idx="1"/>
          </p:nvPr>
        </p:nvSpPr>
        <p:spPr>
          <a:xfrm>
            <a:off x="476250" y="1524000"/>
            <a:ext cx="10982326" cy="5257800"/>
          </a:xfrm>
        </p:spPr>
        <p:txBody>
          <a:bodyPr vert="horz" lIns="91440" tIns="45720" rIns="91440" bIns="45720" rtlCol="0">
            <a:normAutofit/>
          </a:bodyPr>
          <a:lstStyle/>
          <a:p>
            <a:pPr marL="0" indent="0">
              <a:buNone/>
            </a:pPr>
            <a:r>
              <a:rPr lang="es-ES" altLang="es-MX" sz="2600">
                <a:solidFill>
                  <a:schemeClr val="accent1"/>
                </a:solidFill>
              </a:rPr>
              <a:t>Asegurarse de que en la definición de los roles y responsabilidades en la compañía se incluyan actividades de Gobierno de TI.</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Las actividades de gobierno de TI deben estar definidas en las descripciones del puesto de trabajo de los empleados.</a:t>
            </a:r>
          </a:p>
          <a:p>
            <a:pPr lvl="1">
              <a:buFont typeface="Wingdings" panose="05000000000000000000" pitchFamily="2" charset="2"/>
              <a:buChar char="§"/>
            </a:pPr>
            <a:r>
              <a:rPr lang="es-ES" altLang="es-MX" sz="2000">
                <a:solidFill>
                  <a:schemeClr val="accent1"/>
                </a:solidFill>
              </a:rPr>
              <a:t>Los roles y responsabilidades deben estar claramente definidos.</a:t>
            </a:r>
          </a:p>
          <a:p>
            <a:pPr lvl="1">
              <a:buFont typeface="Wingdings" panose="05000000000000000000" pitchFamily="2" charset="2"/>
              <a:buChar char="§"/>
            </a:pPr>
            <a:r>
              <a:rPr lang="es-ES" altLang="es-MX" sz="2000">
                <a:solidFill>
                  <a:schemeClr val="accent1"/>
                </a:solidFill>
              </a:rPr>
              <a:t>Las revisiones de desempeño laboral deben incluir mediciones.</a:t>
            </a:r>
          </a:p>
          <a:p>
            <a:pPr lvl="1">
              <a:buFont typeface="Wingdings" panose="05000000000000000000" pitchFamily="2" charset="2"/>
              <a:buChar char="§"/>
            </a:pPr>
            <a:r>
              <a:rPr lang="es-ES" altLang="es-MX" sz="2000">
                <a:solidFill>
                  <a:schemeClr val="accent1"/>
                </a:solidFill>
              </a:rPr>
              <a:t>Las políticas deben ser comunicadas al personal apropiado y deben actualizarse de manera regular.</a:t>
            </a:r>
            <a:endParaRPr lang="sl-SI" altLang="es-MX" sz="2000">
              <a:solidFill>
                <a:schemeClr val="accent1"/>
              </a:solidFill>
            </a:endParaRPr>
          </a:p>
        </p:txBody>
      </p:sp>
      <p:sp>
        <p:nvSpPr>
          <p:cNvPr id="505859" name="Rectangle 3">
            <a:extLst>
              <a:ext uri="{FF2B5EF4-FFF2-40B4-BE49-F238E27FC236}">
                <a16:creationId xmlns:a16="http://schemas.microsoft.com/office/drawing/2014/main" id="{702A88C0-9CAE-497D-A4E4-027F5591D725}"/>
              </a:ext>
            </a:extLst>
          </p:cNvPr>
          <p:cNvSpPr>
            <a:spLocks noChangeArrowheads="1"/>
          </p:cNvSpPr>
          <p:nvPr/>
        </p:nvSpPr>
        <p:spPr bwMode="auto">
          <a:xfrm>
            <a:off x="-66675" y="723900"/>
            <a:ext cx="84661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CO" altLang="es-MX" sz="4000" cap="all">
                <a:solidFill>
                  <a:schemeClr val="bg1"/>
                </a:solidFill>
                <a:latin typeface="+mj-lt"/>
                <a:ea typeface="+mj-ea"/>
                <a:cs typeface="+mj-cs"/>
              </a:rPr>
              <a:t>Roles y Responsabilidades</a:t>
            </a:r>
          </a:p>
        </p:txBody>
      </p:sp>
      <p:sp>
        <p:nvSpPr>
          <p:cNvPr id="3" name="Marcador de número de diapositiva 2">
            <a:extLst>
              <a:ext uri="{FF2B5EF4-FFF2-40B4-BE49-F238E27FC236}">
                <a16:creationId xmlns:a16="http://schemas.microsoft.com/office/drawing/2014/main" id="{72A7F71E-E53B-491C-8703-73C1DEF3B372}"/>
              </a:ext>
            </a:extLst>
          </p:cNvPr>
          <p:cNvSpPr>
            <a:spLocks noGrp="1"/>
          </p:cNvSpPr>
          <p:nvPr>
            <p:ph type="sldNum" sz="quarter" idx="12"/>
          </p:nvPr>
        </p:nvSpPr>
        <p:spPr/>
        <p:txBody>
          <a:bodyPr/>
          <a:lstStyle/>
          <a:p>
            <a:fld id="{30A8E979-4E28-491D-8002-836F9D9327AB}" type="slidenum">
              <a:rPr lang="es-MX" smtClean="0"/>
              <a:t>37</a:t>
            </a:fld>
            <a:endParaRPr lang="es-MX"/>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a:extLst>
              <a:ext uri="{FF2B5EF4-FFF2-40B4-BE49-F238E27FC236}">
                <a16:creationId xmlns:a16="http://schemas.microsoft.com/office/drawing/2014/main" id="{8F8B8760-A687-43B4-8EDC-5AFC2C432C72}"/>
              </a:ext>
            </a:extLst>
          </p:cNvPr>
          <p:cNvSpPr>
            <a:spLocks noGrp="1" noChangeArrowheads="1"/>
          </p:cNvSpPr>
          <p:nvPr>
            <p:ph idx="1"/>
          </p:nvPr>
        </p:nvSpPr>
        <p:spPr>
          <a:xfrm>
            <a:off x="466725" y="1371600"/>
            <a:ext cx="11058525" cy="4419600"/>
          </a:xfrm>
        </p:spPr>
        <p:txBody>
          <a:bodyPr vert="horz" lIns="91440" tIns="45720" rIns="91440" bIns="45720" rtlCol="0">
            <a:normAutofit/>
          </a:bodyPr>
          <a:lstStyle/>
          <a:p>
            <a:pPr marL="0" indent="0">
              <a:buNone/>
            </a:pPr>
            <a:r>
              <a:rPr lang="es-ES" altLang="es-MX" sz="2600">
                <a:solidFill>
                  <a:schemeClr val="accent1"/>
                </a:solidFill>
              </a:rPr>
              <a:t>Para asegurarse de que en la definición de los roles y responsabilidades a todo lo largo de la empresa se incluyen actividades se debe tener conocimiento de:</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Roles, responsabilidades y estructura organizacional de la gerencia de TI.</a:t>
            </a:r>
          </a:p>
          <a:p>
            <a:pPr lvl="1">
              <a:buFont typeface="Wingdings" panose="05000000000000000000" pitchFamily="2" charset="2"/>
              <a:buChar char="§"/>
            </a:pPr>
            <a:r>
              <a:rPr lang="es-ES" altLang="es-MX" sz="2000">
                <a:solidFill>
                  <a:schemeClr val="accent1"/>
                </a:solidFill>
              </a:rPr>
              <a:t>Áreas de gobierno (Ej., administración de riesgos, administración en clasificación de datos, seguridad de redes, acceso a sistemas.)</a:t>
            </a:r>
            <a:endParaRPr lang="en-US" altLang="es-MX" sz="2000">
              <a:solidFill>
                <a:schemeClr val="accent1"/>
              </a:solidFill>
            </a:endParaRPr>
          </a:p>
        </p:txBody>
      </p:sp>
      <p:sp>
        <p:nvSpPr>
          <p:cNvPr id="507907" name="Rectangle 3">
            <a:extLst>
              <a:ext uri="{FF2B5EF4-FFF2-40B4-BE49-F238E27FC236}">
                <a16:creationId xmlns:a16="http://schemas.microsoft.com/office/drawing/2014/main" id="{FDE94175-5025-40E3-B09B-F790979B7EA7}"/>
              </a:ext>
            </a:extLst>
          </p:cNvPr>
          <p:cNvSpPr>
            <a:spLocks noChangeArrowheads="1"/>
          </p:cNvSpPr>
          <p:nvPr/>
        </p:nvSpPr>
        <p:spPr bwMode="auto">
          <a:xfrm>
            <a:off x="180976" y="749463"/>
            <a:ext cx="8393113"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CO" altLang="es-MX" sz="4000" cap="all">
                <a:solidFill>
                  <a:schemeClr val="bg1"/>
                </a:solidFill>
                <a:latin typeface="+mj-lt"/>
                <a:ea typeface="+mj-ea"/>
                <a:cs typeface="+mj-cs"/>
              </a:rPr>
              <a:t>Roles y Responsabilidades</a:t>
            </a:r>
          </a:p>
        </p:txBody>
      </p:sp>
      <p:sp>
        <p:nvSpPr>
          <p:cNvPr id="3" name="Marcador de número de diapositiva 2">
            <a:extLst>
              <a:ext uri="{FF2B5EF4-FFF2-40B4-BE49-F238E27FC236}">
                <a16:creationId xmlns:a16="http://schemas.microsoft.com/office/drawing/2014/main" id="{41C2BC4D-B578-41D7-98E1-E51CB12D38DD}"/>
              </a:ext>
            </a:extLst>
          </p:cNvPr>
          <p:cNvSpPr>
            <a:spLocks noGrp="1"/>
          </p:cNvSpPr>
          <p:nvPr>
            <p:ph type="sldNum" sz="quarter" idx="12"/>
          </p:nvPr>
        </p:nvSpPr>
        <p:spPr/>
        <p:txBody>
          <a:bodyPr/>
          <a:lstStyle/>
          <a:p>
            <a:fld id="{30A8E979-4E28-491D-8002-836F9D9327AB}" type="slidenum">
              <a:rPr lang="es-MX" smtClean="0"/>
              <a:t>38</a:t>
            </a:fld>
            <a:endParaRPr lang="es-MX"/>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a:extLst>
              <a:ext uri="{FF2B5EF4-FFF2-40B4-BE49-F238E27FC236}">
                <a16:creationId xmlns:a16="http://schemas.microsoft.com/office/drawing/2014/main" id="{7B993984-4C9A-40C4-BE8B-BDD7F6BB6DA8}"/>
              </a:ext>
            </a:extLst>
          </p:cNvPr>
          <p:cNvSpPr>
            <a:spLocks noGrp="1" noChangeArrowheads="1"/>
          </p:cNvSpPr>
          <p:nvPr>
            <p:ph idx="1"/>
          </p:nvPr>
        </p:nvSpPr>
        <p:spPr>
          <a:xfrm>
            <a:off x="485776" y="1485900"/>
            <a:ext cx="11220447" cy="4953000"/>
          </a:xfrm>
        </p:spPr>
        <p:txBody>
          <a:bodyPr vert="horz" lIns="91440" tIns="45720" rIns="91440" bIns="45720" rtlCol="0">
            <a:normAutofit/>
          </a:bodyPr>
          <a:lstStyle/>
          <a:p>
            <a:pPr marL="0" indent="0">
              <a:buNone/>
            </a:pPr>
            <a:r>
              <a:rPr lang="es-ES" altLang="es-MX" sz="2600">
                <a:solidFill>
                  <a:schemeClr val="accent1"/>
                </a:solidFill>
              </a:rPr>
              <a:t>Los roles claves de la gerencia de TI incluyen:</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Reportar directamente a un ejecutivo de alto rango (COO, CFO, CIO o CEO.)</a:t>
            </a:r>
          </a:p>
          <a:p>
            <a:pPr lvl="1">
              <a:buFont typeface="Wingdings" panose="05000000000000000000" pitchFamily="2" charset="2"/>
              <a:buChar char="§"/>
            </a:pPr>
            <a:r>
              <a:rPr lang="es-ES" altLang="es-MX" sz="2000">
                <a:solidFill>
                  <a:schemeClr val="accent1"/>
                </a:solidFill>
              </a:rPr>
              <a:t>Supervisar y coordinar esfuerzos a lo largo de la organización.</a:t>
            </a:r>
          </a:p>
          <a:p>
            <a:pPr lvl="1">
              <a:buFont typeface="Wingdings" panose="05000000000000000000" pitchFamily="2" charset="2"/>
              <a:buChar char="§"/>
            </a:pPr>
            <a:r>
              <a:rPr lang="es-ES" altLang="es-MX" sz="2000">
                <a:solidFill>
                  <a:schemeClr val="accent1"/>
                </a:solidFill>
              </a:rPr>
              <a:t>Identificar iniciativas y estándares  claves corporativas </a:t>
            </a:r>
          </a:p>
          <a:p>
            <a:pPr lvl="1">
              <a:buFont typeface="Wingdings" panose="05000000000000000000" pitchFamily="2" charset="2"/>
              <a:buChar char="§"/>
            </a:pPr>
            <a:r>
              <a:rPr lang="es-ES" altLang="es-MX" sz="2000">
                <a:solidFill>
                  <a:schemeClr val="accent1"/>
                </a:solidFill>
              </a:rPr>
              <a:t>Trabajar con asesores externos, según sea el caso, para la ejecución de auditorías independientes.</a:t>
            </a:r>
          </a:p>
          <a:p>
            <a:pPr lvl="1">
              <a:buFont typeface="Wingdings" panose="05000000000000000000" pitchFamily="2" charset="2"/>
              <a:buChar char="§"/>
            </a:pPr>
            <a:r>
              <a:rPr lang="es-ES" altLang="es-MX" sz="2000">
                <a:solidFill>
                  <a:schemeClr val="accent1"/>
                </a:solidFill>
              </a:rPr>
              <a:t>Identificar metas y objetivos de protección que sean consistentes con el plan estratégico corporativo.</a:t>
            </a:r>
            <a:r>
              <a:rPr lang="en-US" altLang="es-MX" sz="2000">
                <a:solidFill>
                  <a:schemeClr val="accent1"/>
                </a:solidFill>
              </a:rPr>
              <a:t> </a:t>
            </a:r>
          </a:p>
        </p:txBody>
      </p:sp>
      <p:sp>
        <p:nvSpPr>
          <p:cNvPr id="509955" name="Rectangle 3">
            <a:extLst>
              <a:ext uri="{FF2B5EF4-FFF2-40B4-BE49-F238E27FC236}">
                <a16:creationId xmlns:a16="http://schemas.microsoft.com/office/drawing/2014/main" id="{F99B6F2A-0105-4959-9864-AF23AD4FFF50}"/>
              </a:ext>
            </a:extLst>
          </p:cNvPr>
          <p:cNvSpPr>
            <a:spLocks noChangeArrowheads="1"/>
          </p:cNvSpPr>
          <p:nvPr/>
        </p:nvSpPr>
        <p:spPr bwMode="auto">
          <a:xfrm>
            <a:off x="485776" y="685800"/>
            <a:ext cx="11049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s-CO" altLang="es-MX" sz="4000" cap="all">
                <a:solidFill>
                  <a:schemeClr val="bg1"/>
                </a:solidFill>
                <a:latin typeface="+mj-lt"/>
                <a:ea typeface="+mj-ea"/>
                <a:cs typeface="+mj-cs"/>
              </a:rPr>
              <a:t>Roles, Responsabilidades y Estructura Organizacional</a:t>
            </a:r>
          </a:p>
        </p:txBody>
      </p:sp>
      <p:sp>
        <p:nvSpPr>
          <p:cNvPr id="3" name="Marcador de número de diapositiva 2">
            <a:extLst>
              <a:ext uri="{FF2B5EF4-FFF2-40B4-BE49-F238E27FC236}">
                <a16:creationId xmlns:a16="http://schemas.microsoft.com/office/drawing/2014/main" id="{823EFB6C-092C-4906-920C-7798E2BE017C}"/>
              </a:ext>
            </a:extLst>
          </p:cNvPr>
          <p:cNvSpPr>
            <a:spLocks noGrp="1"/>
          </p:cNvSpPr>
          <p:nvPr>
            <p:ph type="sldNum" sz="quarter" idx="12"/>
          </p:nvPr>
        </p:nvSpPr>
        <p:spPr/>
        <p:txBody>
          <a:bodyPr/>
          <a:lstStyle/>
          <a:p>
            <a:fld id="{30A8E979-4E28-491D-8002-836F9D9327AB}" type="slidenum">
              <a:rPr lang="es-MX" smtClean="0"/>
              <a:t>39</a:t>
            </a:fld>
            <a:endParaRPr lang="es-MX"/>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2">
            <a:extLst>
              <a:ext uri="{FF2B5EF4-FFF2-40B4-BE49-F238E27FC236}">
                <a16:creationId xmlns:a16="http://schemas.microsoft.com/office/drawing/2014/main" id="{F7CCF7E3-3972-45A0-954F-929065661B01}"/>
              </a:ext>
            </a:extLst>
          </p:cNvPr>
          <p:cNvSpPr>
            <a:spLocks noChangeArrowheads="1"/>
          </p:cNvSpPr>
          <p:nvPr/>
        </p:nvSpPr>
        <p:spPr bwMode="auto">
          <a:xfrm>
            <a:off x="566821" y="624508"/>
            <a:ext cx="1075355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spcBef>
                <a:spcPct val="0"/>
              </a:spcBef>
            </a:pPr>
            <a:r>
              <a:rPr lang="es-CO" altLang="es-MX" sz="2800" cap="all">
                <a:solidFill>
                  <a:schemeClr val="bg1"/>
                </a:solidFill>
                <a:latin typeface="+mj-lt"/>
                <a:ea typeface="+mj-ea"/>
                <a:cs typeface="+mj-cs"/>
              </a:rPr>
              <a:t>Roles, Responsabilidades y Estructura Organizacional</a:t>
            </a:r>
          </a:p>
        </p:txBody>
      </p:sp>
      <p:sp>
        <p:nvSpPr>
          <p:cNvPr id="512003" name="Rectangle 3">
            <a:extLst>
              <a:ext uri="{FF2B5EF4-FFF2-40B4-BE49-F238E27FC236}">
                <a16:creationId xmlns:a16="http://schemas.microsoft.com/office/drawing/2014/main" id="{4D53F4DA-0C09-4EEA-89C0-F3E91FC91B32}"/>
              </a:ext>
            </a:extLst>
          </p:cNvPr>
          <p:cNvSpPr>
            <a:spLocks noGrp="1" noChangeArrowheads="1"/>
          </p:cNvSpPr>
          <p:nvPr>
            <p:ph idx="1"/>
          </p:nvPr>
        </p:nvSpPr>
        <p:spPr>
          <a:xfrm>
            <a:off x="821635" y="1955801"/>
            <a:ext cx="10243930" cy="4683125"/>
          </a:xfrm>
        </p:spPr>
        <p:txBody>
          <a:bodyPr vert="horz" lIns="91440" tIns="45720" rIns="91440" bIns="45720" rtlCol="0">
            <a:normAutofit/>
          </a:bodyPr>
          <a:lstStyle/>
          <a:p>
            <a:pPr marL="0" indent="0">
              <a:buNone/>
            </a:pPr>
            <a:r>
              <a:rPr lang="es-ES" altLang="es-MX" sz="2600">
                <a:solidFill>
                  <a:schemeClr val="accent1"/>
                </a:solidFill>
              </a:rPr>
              <a:t>Los roles claves incluyen (continuación):</a:t>
            </a:r>
          </a:p>
          <a:p>
            <a:pPr marL="0" indent="0">
              <a:buNone/>
            </a:pPr>
            <a:endParaRPr lang="es-ES" altLang="es-MX" sz="2600">
              <a:solidFill>
                <a:schemeClr val="accent1"/>
              </a:solidFill>
            </a:endParaRPr>
          </a:p>
          <a:p>
            <a:pPr lvl="1">
              <a:buFont typeface="Wingdings" panose="05000000000000000000" pitchFamily="2" charset="2"/>
              <a:buChar char="§"/>
            </a:pPr>
            <a:r>
              <a:rPr lang="es-ES" altLang="es-MX" sz="2000">
                <a:solidFill>
                  <a:schemeClr val="accent1"/>
                </a:solidFill>
              </a:rPr>
              <a:t>Identificar elementos claves del Plan de TI.</a:t>
            </a:r>
          </a:p>
          <a:p>
            <a:pPr lvl="1">
              <a:buFont typeface="Wingdings" panose="05000000000000000000" pitchFamily="2" charset="2"/>
              <a:buChar char="§"/>
            </a:pPr>
            <a:r>
              <a:rPr lang="es-ES" altLang="es-MX" sz="2000">
                <a:solidFill>
                  <a:schemeClr val="accent1"/>
                </a:solidFill>
              </a:rPr>
              <a:t>Coordinar los planes de implementación de productos de TI.</a:t>
            </a:r>
          </a:p>
        </p:txBody>
      </p:sp>
      <p:sp>
        <p:nvSpPr>
          <p:cNvPr id="3" name="Marcador de número de diapositiva 2">
            <a:extLst>
              <a:ext uri="{FF2B5EF4-FFF2-40B4-BE49-F238E27FC236}">
                <a16:creationId xmlns:a16="http://schemas.microsoft.com/office/drawing/2014/main" id="{D585A5D4-28DE-49BE-9EFF-5265DA9E87CD}"/>
              </a:ext>
            </a:extLst>
          </p:cNvPr>
          <p:cNvSpPr>
            <a:spLocks noGrp="1"/>
          </p:cNvSpPr>
          <p:nvPr>
            <p:ph type="sldNum" sz="quarter" idx="12"/>
          </p:nvPr>
        </p:nvSpPr>
        <p:spPr/>
        <p:txBody>
          <a:bodyPr/>
          <a:lstStyle/>
          <a:p>
            <a:fld id="{30A8E979-4E28-491D-8002-836F9D9327AB}" type="slidenum">
              <a:rPr lang="es-MX" smtClean="0"/>
              <a:t>40</a:t>
            </a:fld>
            <a:endParaRPr lang="es-MX"/>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891BE5-C8ED-435B-F550-70B354CAADF9}"/>
              </a:ext>
            </a:extLst>
          </p:cNvPr>
          <p:cNvSpPr>
            <a:spLocks noGrp="1"/>
          </p:cNvSpPr>
          <p:nvPr>
            <p:ph type="title"/>
          </p:nvPr>
        </p:nvSpPr>
        <p:spPr/>
        <p:txBody>
          <a:bodyPr/>
          <a:lstStyle/>
          <a:p>
            <a:r>
              <a:rPr lang="es-CO" altLang="es-MX" sz="2800" cap="all">
                <a:solidFill>
                  <a:schemeClr val="bg1"/>
                </a:solidFill>
                <a:latin typeface="+mj-lt"/>
                <a:ea typeface="+mj-ea"/>
                <a:cs typeface="+mj-cs"/>
              </a:rPr>
              <a:t>Roles, Responsabilidades y Estructura Organizacional</a:t>
            </a:r>
            <a:endParaRPr lang="es-AR"/>
          </a:p>
        </p:txBody>
      </p:sp>
      <p:sp>
        <p:nvSpPr>
          <p:cNvPr id="3" name="Marcador de contenido 2">
            <a:extLst>
              <a:ext uri="{FF2B5EF4-FFF2-40B4-BE49-F238E27FC236}">
                <a16:creationId xmlns:a16="http://schemas.microsoft.com/office/drawing/2014/main" id="{35333C84-C33D-C4FD-42F3-049DC270E1F7}"/>
              </a:ext>
            </a:extLst>
          </p:cNvPr>
          <p:cNvSpPr>
            <a:spLocks noGrp="1"/>
          </p:cNvSpPr>
          <p:nvPr>
            <p:ph idx="1"/>
          </p:nvPr>
        </p:nvSpPr>
        <p:spPr>
          <a:xfrm>
            <a:off x="438150" y="2276476"/>
            <a:ext cx="11601450" cy="4115724"/>
          </a:xfrm>
        </p:spPr>
        <p:txBody>
          <a:bodyPr>
            <a:noAutofit/>
          </a:bodyPr>
          <a:lstStyle/>
          <a:p>
            <a:pPr fontAlgn="base"/>
            <a:r>
              <a:rPr lang="es-MX" sz="1200" b="1" i="0" cap="all" err="1">
                <a:solidFill>
                  <a:schemeClr val="accent1"/>
                </a:solidFill>
                <a:effectLst/>
                <a:latin typeface="+mj-lt"/>
              </a:rPr>
              <a:t>Chief</a:t>
            </a:r>
            <a:r>
              <a:rPr lang="es-MX" sz="1200" b="1" i="0" cap="all">
                <a:solidFill>
                  <a:schemeClr val="accent1"/>
                </a:solidFill>
                <a:effectLst/>
                <a:latin typeface="+mj-lt"/>
              </a:rPr>
              <a:t> Executive </a:t>
            </a:r>
            <a:r>
              <a:rPr lang="es-MX" sz="1200" b="1" i="0" cap="all" err="1">
                <a:solidFill>
                  <a:schemeClr val="accent1"/>
                </a:solidFill>
                <a:effectLst/>
                <a:latin typeface="+mj-lt"/>
              </a:rPr>
              <a:t>Officer</a:t>
            </a:r>
            <a:r>
              <a:rPr lang="es-MX" sz="1200" b="1" i="0" cap="all">
                <a:solidFill>
                  <a:schemeClr val="accent1"/>
                </a:solidFill>
                <a:effectLst/>
                <a:latin typeface="+mj-lt"/>
              </a:rPr>
              <a:t> –CEO- </a:t>
            </a:r>
            <a:r>
              <a:rPr lang="es-MX" sz="1200" b="1" i="0">
                <a:solidFill>
                  <a:schemeClr val="accent1"/>
                </a:solidFill>
                <a:effectLst/>
                <a:latin typeface="+mj-lt"/>
              </a:rPr>
              <a:t>Director Ejecutivo</a:t>
            </a:r>
            <a:r>
              <a:rPr lang="es-MX" sz="1200" b="0" i="0">
                <a:solidFill>
                  <a:schemeClr val="accent1"/>
                </a:solidFill>
                <a:effectLst/>
                <a:latin typeface="+mj-lt"/>
              </a:rPr>
              <a:t>.</a:t>
            </a:r>
          </a:p>
          <a:p>
            <a:pPr algn="l" fontAlgn="base"/>
            <a:r>
              <a:rPr lang="es-MX" sz="1200" b="0" i="0">
                <a:solidFill>
                  <a:schemeClr val="accent1"/>
                </a:solidFill>
                <a:effectLst/>
                <a:latin typeface="+mj-lt"/>
              </a:rPr>
              <a:t>Es el </a:t>
            </a:r>
            <a:r>
              <a:rPr lang="es-MX" sz="1200" b="1" i="0">
                <a:solidFill>
                  <a:schemeClr val="accent1"/>
                </a:solidFill>
                <a:effectLst/>
                <a:latin typeface="+mj-lt"/>
              </a:rPr>
              <a:t>máximo responsable de la gestión y la administración de una empresa</a:t>
            </a:r>
            <a:r>
              <a:rPr lang="es-MX" sz="1200" b="0" i="0">
                <a:solidFill>
                  <a:schemeClr val="accent1"/>
                </a:solidFill>
                <a:effectLst/>
                <a:latin typeface="+mj-lt"/>
              </a:rPr>
              <a:t>. </a:t>
            </a:r>
          </a:p>
          <a:p>
            <a:pPr lvl="1" fontAlgn="base"/>
            <a:r>
              <a:rPr lang="es-MX" sz="1200">
                <a:solidFill>
                  <a:schemeClr val="accent1"/>
                </a:solidFill>
                <a:latin typeface="+mj-lt"/>
              </a:rPr>
              <a:t>S</a:t>
            </a:r>
            <a:r>
              <a:rPr lang="es-MX" sz="1200" b="0" i="0">
                <a:solidFill>
                  <a:schemeClr val="accent1"/>
                </a:solidFill>
                <a:effectLst/>
                <a:latin typeface="+mj-lt"/>
              </a:rPr>
              <a:t>erá por norma el que tenga la última palabra en la toma de decisiones, estrategias y objetivos fijados.</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Operating</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–COO- </a:t>
            </a:r>
            <a:r>
              <a:rPr lang="es-MX" sz="1200" b="1">
                <a:solidFill>
                  <a:schemeClr val="accent1"/>
                </a:solidFill>
                <a:latin typeface="+mj-lt"/>
              </a:rPr>
              <a:t>Director de Operaciones.</a:t>
            </a:r>
          </a:p>
          <a:p>
            <a:pPr lvl="1" fontAlgn="base"/>
            <a:r>
              <a:rPr lang="es-MX" sz="1200">
                <a:solidFill>
                  <a:schemeClr val="accent1"/>
                </a:solidFill>
                <a:latin typeface="+mj-lt"/>
              </a:rPr>
              <a:t>Su papel es coordinar y supervisar la creación y distribución de los productos y servicios de una empresa. máximo responsable del día a día de la empresa y en muchos casos se le considera la mano derecha del CEO (y posteriormente, su sucesor).</a:t>
            </a:r>
          </a:p>
          <a:p>
            <a:pPr fontAlgn="base"/>
            <a:r>
              <a:rPr lang="es-MX" sz="1200" b="1" cap="all" err="1">
                <a:solidFill>
                  <a:schemeClr val="accent1"/>
                </a:solidFill>
                <a:latin typeface="+mj-lt"/>
              </a:rPr>
              <a:t>Chief</a:t>
            </a:r>
            <a:r>
              <a:rPr lang="es-MX" sz="1200" b="1" cap="all">
                <a:solidFill>
                  <a:schemeClr val="accent1"/>
                </a:solidFill>
                <a:latin typeface="+mj-lt"/>
              </a:rPr>
              <a:t> Marketing </a:t>
            </a:r>
            <a:r>
              <a:rPr lang="es-MX" sz="1200" b="1" cap="all" err="1">
                <a:solidFill>
                  <a:schemeClr val="accent1"/>
                </a:solidFill>
                <a:latin typeface="+mj-lt"/>
              </a:rPr>
              <a:t>Officer</a:t>
            </a:r>
            <a:r>
              <a:rPr lang="es-MX" sz="1200" b="1" cap="all">
                <a:solidFill>
                  <a:schemeClr val="accent1"/>
                </a:solidFill>
                <a:latin typeface="+mj-lt"/>
              </a:rPr>
              <a:t> –CMO- </a:t>
            </a:r>
            <a:r>
              <a:rPr lang="es-MX" sz="1200" b="1">
                <a:solidFill>
                  <a:schemeClr val="accent1"/>
                </a:solidFill>
                <a:latin typeface="+mj-lt"/>
              </a:rPr>
              <a:t>Director de Marketing.</a:t>
            </a:r>
          </a:p>
          <a:p>
            <a:pPr lvl="1" fontAlgn="base"/>
            <a:r>
              <a:rPr lang="es-MX" sz="1200">
                <a:solidFill>
                  <a:schemeClr val="accent1"/>
                </a:solidFill>
                <a:latin typeface="+mj-lt"/>
              </a:rPr>
              <a:t>Se encarga de la gestión de ventas, al desarrollo de producto, publicidad, estudios de mercado y comunicación de la empresa. fija mecanismos de comunicación con los clientes y coordinar labores de marketing y comunicación con el resto del equipo. Lo habitual es que reporte la información directamente al CEO.</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Financial</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–CFO-  </a:t>
            </a:r>
            <a:r>
              <a:rPr lang="es-MX" sz="1200" b="1">
                <a:solidFill>
                  <a:schemeClr val="accent1"/>
                </a:solidFill>
                <a:latin typeface="+mj-lt"/>
              </a:rPr>
              <a:t>Director Financiero</a:t>
            </a:r>
          </a:p>
          <a:p>
            <a:pPr lvl="1" fontAlgn="base"/>
            <a:r>
              <a:rPr lang="es-MX" sz="1200">
                <a:solidFill>
                  <a:schemeClr val="accent1"/>
                </a:solidFill>
                <a:latin typeface="+mj-lt"/>
              </a:rPr>
              <a:t>Realiza la Planificación económica y financiera de la empresa (en qué se invierte, qué riesgos se toman…). Debe asegurar la buena salud financiera de la empresa y su crecimiento.</a:t>
            </a:r>
            <a:br>
              <a:rPr lang="es-MX" sz="1200">
                <a:solidFill>
                  <a:schemeClr val="accent1"/>
                </a:solidFill>
                <a:latin typeface="+mj-lt"/>
              </a:rPr>
            </a:br>
            <a:br>
              <a:rPr lang="es-MX" sz="1200">
                <a:effectLst/>
              </a:rPr>
            </a:br>
            <a:endParaRPr lang="es-AR" sz="1200"/>
          </a:p>
        </p:txBody>
      </p:sp>
    </p:spTree>
    <p:extLst>
      <p:ext uri="{BB962C8B-B14F-4D97-AF65-F5344CB8AC3E}">
        <p14:creationId xmlns:p14="http://schemas.microsoft.com/office/powerpoint/2010/main" val="3702616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6D0150-A2D2-B9F4-1BED-8BAE6F70AA98}"/>
              </a:ext>
            </a:extLst>
          </p:cNvPr>
          <p:cNvSpPr>
            <a:spLocks noGrp="1"/>
          </p:cNvSpPr>
          <p:nvPr>
            <p:ph type="title"/>
          </p:nvPr>
        </p:nvSpPr>
        <p:spPr/>
        <p:txBody>
          <a:bodyPr/>
          <a:lstStyle/>
          <a:p>
            <a:r>
              <a:rPr lang="es-CO" altLang="es-MX" sz="2800" cap="all">
                <a:solidFill>
                  <a:schemeClr val="bg1"/>
                </a:solidFill>
                <a:latin typeface="+mj-lt"/>
                <a:ea typeface="+mj-ea"/>
                <a:cs typeface="+mj-cs"/>
              </a:rPr>
              <a:t>Roles, Responsabilidades y Estructura Organizacional</a:t>
            </a:r>
            <a:endParaRPr lang="es-AR"/>
          </a:p>
        </p:txBody>
      </p:sp>
      <p:sp>
        <p:nvSpPr>
          <p:cNvPr id="3" name="Marcador de contenido 2">
            <a:extLst>
              <a:ext uri="{FF2B5EF4-FFF2-40B4-BE49-F238E27FC236}">
                <a16:creationId xmlns:a16="http://schemas.microsoft.com/office/drawing/2014/main" id="{1CAD55F9-2364-EC08-1D90-C11D726659B4}"/>
              </a:ext>
            </a:extLst>
          </p:cNvPr>
          <p:cNvSpPr>
            <a:spLocks noGrp="1"/>
          </p:cNvSpPr>
          <p:nvPr>
            <p:ph idx="1"/>
          </p:nvPr>
        </p:nvSpPr>
        <p:spPr/>
        <p:txBody>
          <a:bodyPr>
            <a:normAutofit/>
          </a:bodyPr>
          <a:lstStyle/>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Information</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-CIO-  </a:t>
            </a:r>
            <a:r>
              <a:rPr lang="es-MX" sz="1200" b="1">
                <a:solidFill>
                  <a:schemeClr val="accent1"/>
                </a:solidFill>
                <a:latin typeface="+mj-lt"/>
              </a:rPr>
              <a:t>Director de Información o Informática.</a:t>
            </a:r>
          </a:p>
          <a:p>
            <a:pPr lvl="1" fontAlgn="base"/>
            <a:r>
              <a:rPr lang="es-MX" sz="1200">
                <a:solidFill>
                  <a:schemeClr val="accent1"/>
                </a:solidFill>
                <a:latin typeface="+mj-lt"/>
              </a:rPr>
              <a:t>Es el responsable de las tecnologías de la información y sistemas utilizados por la empresa. Un papel fundamental que debe planificar los procesos y definir los canales de comunicación especialmente a nivel de comunicación interna.</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Technology</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–CTO-  </a:t>
            </a:r>
            <a:r>
              <a:rPr lang="es-MX" sz="1200" b="1">
                <a:solidFill>
                  <a:schemeClr val="accent1"/>
                </a:solidFill>
                <a:latin typeface="+mj-lt"/>
              </a:rPr>
              <a:t>Director de Tecnología.</a:t>
            </a:r>
          </a:p>
          <a:p>
            <a:pPr fontAlgn="base"/>
            <a:r>
              <a:rPr lang="es-MX" sz="1200">
                <a:solidFill>
                  <a:schemeClr val="accent1"/>
                </a:solidFill>
                <a:latin typeface="+mj-lt"/>
              </a:rPr>
              <a:t>Es el responsable de que los sistemas tecnológicos y de la información funcionen correctamente, pero a diferencia del CIO su papel no es de cara a los procesos internos, sino de cara a mejorar la estrategia técnica de los productos y servicios ofrecidos al cliente.</a:t>
            </a:r>
          </a:p>
          <a:p>
            <a:pPr fontAlgn="base"/>
            <a:r>
              <a:rPr lang="es-MX" sz="1200" b="1" cap="all" err="1">
                <a:solidFill>
                  <a:schemeClr val="accent1"/>
                </a:solidFill>
                <a:latin typeface="+mj-lt"/>
              </a:rPr>
              <a:t>Chief</a:t>
            </a:r>
            <a:r>
              <a:rPr lang="es-MX" sz="1200" b="1" cap="all">
                <a:solidFill>
                  <a:schemeClr val="accent1"/>
                </a:solidFill>
                <a:latin typeface="+mj-lt"/>
              </a:rPr>
              <a:t> </a:t>
            </a:r>
            <a:r>
              <a:rPr lang="es-MX" sz="1200" b="1" cap="all" err="1">
                <a:solidFill>
                  <a:schemeClr val="accent1"/>
                </a:solidFill>
                <a:latin typeface="+mj-lt"/>
              </a:rPr>
              <a:t>Communications</a:t>
            </a:r>
            <a:r>
              <a:rPr lang="es-MX" sz="1200" b="1" cap="all">
                <a:solidFill>
                  <a:schemeClr val="accent1"/>
                </a:solidFill>
                <a:latin typeface="+mj-lt"/>
              </a:rPr>
              <a:t> </a:t>
            </a:r>
            <a:r>
              <a:rPr lang="es-MX" sz="1200" b="1" cap="all" err="1">
                <a:solidFill>
                  <a:schemeClr val="accent1"/>
                </a:solidFill>
                <a:latin typeface="+mj-lt"/>
              </a:rPr>
              <a:t>Officer</a:t>
            </a:r>
            <a:r>
              <a:rPr lang="es-MX" sz="1200" b="1" cap="all">
                <a:solidFill>
                  <a:schemeClr val="accent1"/>
                </a:solidFill>
                <a:latin typeface="+mj-lt"/>
              </a:rPr>
              <a:t> –CCO- </a:t>
            </a:r>
            <a:r>
              <a:rPr lang="es-MX" sz="1200" b="1">
                <a:solidFill>
                  <a:schemeClr val="accent1"/>
                </a:solidFill>
                <a:latin typeface="+mj-lt"/>
              </a:rPr>
              <a:t>Director de Comunicaciones</a:t>
            </a:r>
          </a:p>
          <a:p>
            <a:pPr algn="l" fontAlgn="base"/>
            <a:r>
              <a:rPr lang="es-MX" sz="1200">
                <a:solidFill>
                  <a:schemeClr val="accent1"/>
                </a:solidFill>
                <a:latin typeface="+mj-lt"/>
              </a:rPr>
              <a:t>Se encarga de manejar la imagen de marca, la reputación de la empresa. Fija estrategias de marketing, Es que la imagen externa que transmita la empresa sea la deseada.</a:t>
            </a:r>
          </a:p>
          <a:p>
            <a:pPr fontAlgn="base"/>
            <a:r>
              <a:rPr lang="es-MX" sz="1200" b="1" cap="all" err="1">
                <a:solidFill>
                  <a:schemeClr val="accent1"/>
                </a:solidFill>
                <a:latin typeface="+mj-lt"/>
              </a:rPr>
              <a:t>Chief</a:t>
            </a:r>
            <a:r>
              <a:rPr lang="es-MX" sz="1200" b="1" cap="all">
                <a:solidFill>
                  <a:schemeClr val="accent1"/>
                </a:solidFill>
                <a:latin typeface="+mj-lt"/>
              </a:rPr>
              <a:t> Digital </a:t>
            </a:r>
            <a:r>
              <a:rPr lang="es-MX" sz="1200" b="1" cap="all" err="1">
                <a:solidFill>
                  <a:schemeClr val="accent1"/>
                </a:solidFill>
                <a:latin typeface="+mj-lt"/>
              </a:rPr>
              <a:t>Officer</a:t>
            </a:r>
            <a:r>
              <a:rPr lang="es-MX" sz="1200" b="1" cap="all">
                <a:solidFill>
                  <a:schemeClr val="accent1"/>
                </a:solidFill>
                <a:latin typeface="+mj-lt"/>
              </a:rPr>
              <a:t> –CDO- </a:t>
            </a:r>
            <a:r>
              <a:rPr lang="es-MX" sz="1200" b="1">
                <a:solidFill>
                  <a:schemeClr val="accent1"/>
                </a:solidFill>
                <a:latin typeface="+mj-lt"/>
              </a:rPr>
              <a:t>Director Digital.</a:t>
            </a:r>
          </a:p>
          <a:p>
            <a:pPr lvl="1" fontAlgn="base"/>
            <a:r>
              <a:rPr lang="es-MX" sz="1200">
                <a:solidFill>
                  <a:schemeClr val="accent1"/>
                </a:solidFill>
                <a:latin typeface="+mj-lt"/>
              </a:rPr>
              <a:t>Es un cargo especialmente realizado en las empresas online o digitales. Se encarga de fijar la estrategia a nivel digital para que la empresa no quede obsoleta respecto a su competencia.</a:t>
            </a:r>
            <a:endParaRPr lang="es-AR" sz="1200"/>
          </a:p>
        </p:txBody>
      </p:sp>
    </p:spTree>
    <p:extLst>
      <p:ext uri="{BB962C8B-B14F-4D97-AF65-F5344CB8AC3E}">
        <p14:creationId xmlns:p14="http://schemas.microsoft.com/office/powerpoint/2010/main" val="1370609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36163BB-B690-4926-9095-0C7DD8610A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d8070d-56ff-4b43-b705-64ae6a3948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2204F2-F18D-4FE2-99EF-6A75005A5769}">
  <ds:schemaRefs>
    <ds:schemaRef ds:uri="http://schemas.microsoft.com/sharepoint/v3/contenttype/forms"/>
  </ds:schemaRefs>
</ds:datastoreItem>
</file>

<file path=customXml/itemProps3.xml><?xml version="1.0" encoding="utf-8"?>
<ds:datastoreItem xmlns:ds="http://schemas.openxmlformats.org/officeDocument/2006/customXml" ds:itemID="{083A46B0-2638-414D-BA63-7BD503C1F4D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TM03457464[[fn=Dividend]]</Template>
  <Application>Microsoft Office PowerPoint</Application>
  <PresentationFormat>Panorámica</PresentationFormat>
  <Slides>43</Slides>
  <Notes>26</Notes>
  <HiddenSlides>0</HiddenSlides>
  <ScaleCrop>false</ScaleCrop>
  <HeadingPairs>
    <vt:vector size="4" baseType="variant">
      <vt:variant>
        <vt:lpstr>Tema</vt:lpstr>
      </vt:variant>
      <vt:variant>
        <vt:i4>1</vt:i4>
      </vt:variant>
      <vt:variant>
        <vt:lpstr>Títulos de diapositiva</vt:lpstr>
      </vt:variant>
      <vt:variant>
        <vt:i4>43</vt:i4>
      </vt:variant>
    </vt:vector>
  </HeadingPairs>
  <TitlesOfParts>
    <vt:vector size="44" baseType="lpstr">
      <vt:lpstr>Dividend</vt:lpstr>
      <vt:lpstr>Presentación de PowerPoint</vt:lpstr>
      <vt:lpstr>Presentación de PowerPoint</vt:lpstr>
      <vt:lpstr>Presentación de PowerPoint</vt:lpstr>
      <vt:lpstr>Gobierno de TI</vt:lpstr>
      <vt:lpstr>Gobierno de TI</vt:lpstr>
      <vt:lpstr>Gobierno de TI… Balancear…</vt:lpstr>
      <vt:lpstr>Gobierno TI ¿Qué es?</vt:lpstr>
      <vt:lpstr>Gobierno TI</vt:lpstr>
      <vt:lpstr>Gobierno TI</vt:lpstr>
      <vt:lpstr>Gobierno TI en Seguridad de la Información Marco Conceptual</vt:lpstr>
      <vt:lpstr>Relación entre los productos de GSI y las responsabilidades de la Gerencia </vt:lpstr>
      <vt:lpstr>Preguntas de Ejemplo</vt:lpstr>
      <vt:lpstr>Gobierno de la Seguridad de Información</vt:lpstr>
      <vt:lpstr>Gobierno TI</vt:lpstr>
      <vt:lpstr>Gobierno TI</vt:lpstr>
      <vt:lpstr>Entregables anteriormente 17799  hoy ISO27002</vt:lpstr>
      <vt:lpstr>Metodología de  Administración de riesgo</vt:lpstr>
      <vt:lpstr>Ciclo de vida</vt:lpstr>
      <vt:lpstr>Estándares/MARCOS REGULATORIOS</vt:lpstr>
      <vt:lpstr>Presentación de PowerPoint</vt:lpstr>
      <vt:lpstr>Presentación de PowerPoint</vt:lpstr>
      <vt:lpstr>Gobierno TI</vt:lpstr>
      <vt:lpstr>Gobierno TI</vt:lpstr>
      <vt:lpstr>Gobierno TI</vt:lpstr>
      <vt:lpstr> Plan Estratégico de TI - PETI </vt:lpstr>
      <vt:lpstr>Plan Estratégico de TI - PETI</vt:lpstr>
      <vt:lpstr>Presentación de PowerPoint</vt:lpstr>
      <vt:lpstr>Estrategia de TI</vt:lpstr>
      <vt:lpstr>Conceptos fundamentales de 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Roles, Responsabilidades y Estructura Organizacional</vt:lpstr>
      <vt:lpstr>Roles, Responsabilidades y Estructura Organizacional</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FERNANDEZ MARY AUXILIADORA</dc:creator>
  <cp:revision>30</cp:revision>
  <dcterms:created xsi:type="dcterms:W3CDTF">2024-02-12T22:14:11Z</dcterms:created>
  <dcterms:modified xsi:type="dcterms:W3CDTF">2026-09-09T13:47:21Z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