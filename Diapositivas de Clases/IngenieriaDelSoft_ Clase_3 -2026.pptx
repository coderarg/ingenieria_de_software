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4" r:id="rId4"/>
  </p:sldMasterIdLst>
  <p:notesMasterIdLst>
    <p:notesMasterId r:id="rId71"/>
  </p:notesMasterIdLst>
  <p:sldIdLst>
    <p:sldId id="264" r:id="rId5"/>
    <p:sldId id="256" r:id="rId6"/>
    <p:sldId id="382" r:id="rId7"/>
    <p:sldId id="416" r:id="rId8"/>
    <p:sldId id="257" r:id="rId9"/>
    <p:sldId id="421" r:id="rId10"/>
    <p:sldId id="419" r:id="rId11"/>
    <p:sldId id="258" r:id="rId12"/>
    <p:sldId id="383" r:id="rId13"/>
    <p:sldId id="384" r:id="rId14"/>
    <p:sldId id="385" r:id="rId15"/>
    <p:sldId id="386" r:id="rId16"/>
    <p:sldId id="387" r:id="rId17"/>
    <p:sldId id="388" r:id="rId18"/>
    <p:sldId id="389" r:id="rId19"/>
    <p:sldId id="417" r:id="rId20"/>
    <p:sldId id="259" r:id="rId21"/>
    <p:sldId id="260" r:id="rId22"/>
    <p:sldId id="261" r:id="rId23"/>
    <p:sldId id="390" r:id="rId24"/>
    <p:sldId id="391" r:id="rId25"/>
    <p:sldId id="392" r:id="rId26"/>
    <p:sldId id="393" r:id="rId27"/>
    <p:sldId id="394" r:id="rId28"/>
    <p:sldId id="395" r:id="rId29"/>
    <p:sldId id="396" r:id="rId30"/>
    <p:sldId id="397" r:id="rId31"/>
    <p:sldId id="398" r:id="rId32"/>
    <p:sldId id="399" r:id="rId33"/>
    <p:sldId id="277" r:id="rId34"/>
    <p:sldId id="278" r:id="rId35"/>
    <p:sldId id="400" r:id="rId36"/>
    <p:sldId id="401" r:id="rId37"/>
    <p:sldId id="281" r:id="rId38"/>
    <p:sldId id="282" r:id="rId39"/>
    <p:sldId id="283" r:id="rId40"/>
    <p:sldId id="284" r:id="rId41"/>
    <p:sldId id="286" r:id="rId42"/>
    <p:sldId id="287" r:id="rId43"/>
    <p:sldId id="285" r:id="rId44"/>
    <p:sldId id="402" r:id="rId45"/>
    <p:sldId id="403" r:id="rId46"/>
    <p:sldId id="290" r:id="rId47"/>
    <p:sldId id="404" r:id="rId48"/>
    <p:sldId id="405" r:id="rId49"/>
    <p:sldId id="422" r:id="rId50"/>
    <p:sldId id="408" r:id="rId51"/>
    <p:sldId id="409" r:id="rId52"/>
    <p:sldId id="406" r:id="rId53"/>
    <p:sldId id="420" r:id="rId54"/>
    <p:sldId id="293" r:id="rId55"/>
    <p:sldId id="423" r:id="rId56"/>
    <p:sldId id="300" r:id="rId57"/>
    <p:sldId id="418" r:id="rId58"/>
    <p:sldId id="295" r:id="rId59"/>
    <p:sldId id="296" r:id="rId60"/>
    <p:sldId id="297" r:id="rId61"/>
    <p:sldId id="407" r:id="rId62"/>
    <p:sldId id="301" r:id="rId63"/>
    <p:sldId id="302" r:id="rId64"/>
    <p:sldId id="303" r:id="rId65"/>
    <p:sldId id="304" r:id="rId66"/>
    <p:sldId id="305" r:id="rId67"/>
    <p:sldId id="306" r:id="rId68"/>
    <p:sldId id="307" r:id="rId69"/>
    <p:sldId id="268" r:id="rId70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A733D7-0BE2-7970-06A9-BA62C7183D8F}" v="182" dt="2026-07-28T10:53:55.347"/>
    <p1510:client id="{53EB0DA9-EDC6-03AF-B832-1BBD7FDD8BE5}" v="49" dt="2026-07-28T11:06:21.649"/>
    <p1510:client id="{64CA5356-5B66-41B1-4722-5F8D6009DC47}" v="2" dt="2026-07-27T18:41:47.1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slides/slide22.xml" Id="rId26" /><Relationship Type="http://schemas.openxmlformats.org/officeDocument/2006/relationships/slide" Target="slides/slide17.xml" Id="rId21" /><Relationship Type="http://schemas.openxmlformats.org/officeDocument/2006/relationships/slide" Target="slides/slide38.xml" Id="rId42" /><Relationship Type="http://schemas.openxmlformats.org/officeDocument/2006/relationships/slide" Target="slides/slide43.xml" Id="rId47" /><Relationship Type="http://schemas.openxmlformats.org/officeDocument/2006/relationships/slide" Target="slides/slide59.xml" Id="rId63" /><Relationship Type="http://schemas.openxmlformats.org/officeDocument/2006/relationships/slide" Target="slides/slide64.xml" Id="rId68" /><Relationship Type="http://schemas.openxmlformats.org/officeDocument/2006/relationships/slide" Target="slides/slide12.xml" Id="rId16" /><Relationship Type="http://schemas.openxmlformats.org/officeDocument/2006/relationships/slide" Target="slides/slide7.xml" Id="rId11" /><Relationship Type="http://schemas.openxmlformats.org/officeDocument/2006/relationships/slide" Target="slides/slide20.xml" Id="rId24" /><Relationship Type="http://schemas.openxmlformats.org/officeDocument/2006/relationships/slide" Target="slides/slide28.xml" Id="rId32" /><Relationship Type="http://schemas.openxmlformats.org/officeDocument/2006/relationships/slide" Target="slides/slide33.xml" Id="rId37" /><Relationship Type="http://schemas.openxmlformats.org/officeDocument/2006/relationships/slide" Target="slides/slide36.xml" Id="rId40" /><Relationship Type="http://schemas.openxmlformats.org/officeDocument/2006/relationships/slide" Target="slides/slide41.xml" Id="rId45" /><Relationship Type="http://schemas.openxmlformats.org/officeDocument/2006/relationships/slide" Target="slides/slide49.xml" Id="rId53" /><Relationship Type="http://schemas.openxmlformats.org/officeDocument/2006/relationships/slide" Target="slides/slide54.xml" Id="rId58" /><Relationship Type="http://schemas.openxmlformats.org/officeDocument/2006/relationships/slide" Target="slides/slide62.xml" Id="rId66" /><Relationship Type="http://schemas.openxmlformats.org/officeDocument/2006/relationships/theme" Target="theme/theme1.xml" Id="rId74" /><Relationship Type="http://schemas.openxmlformats.org/officeDocument/2006/relationships/slide" Target="slides/slide1.xml" Id="rId5" /><Relationship Type="http://schemas.openxmlformats.org/officeDocument/2006/relationships/slide" Target="slides/slide57.xml" Id="rId61" /><Relationship Type="http://schemas.openxmlformats.org/officeDocument/2006/relationships/slide" Target="slides/slide15.xml" Id="rId19" /><Relationship Type="http://schemas.openxmlformats.org/officeDocument/2006/relationships/slide" Target="slides/slide10.xml" Id="rId14" /><Relationship Type="http://schemas.openxmlformats.org/officeDocument/2006/relationships/slide" Target="slides/slide18.xml" Id="rId22" /><Relationship Type="http://schemas.openxmlformats.org/officeDocument/2006/relationships/slide" Target="slides/slide23.xml" Id="rId27" /><Relationship Type="http://schemas.openxmlformats.org/officeDocument/2006/relationships/slide" Target="slides/slide26.xml" Id="rId30" /><Relationship Type="http://schemas.openxmlformats.org/officeDocument/2006/relationships/slide" Target="slides/slide31.xml" Id="rId35" /><Relationship Type="http://schemas.openxmlformats.org/officeDocument/2006/relationships/slide" Target="slides/slide39.xml" Id="rId43" /><Relationship Type="http://schemas.openxmlformats.org/officeDocument/2006/relationships/slide" Target="slides/slide44.xml" Id="rId48" /><Relationship Type="http://schemas.openxmlformats.org/officeDocument/2006/relationships/slide" Target="slides/slide52.xml" Id="rId56" /><Relationship Type="http://schemas.openxmlformats.org/officeDocument/2006/relationships/slide" Target="slides/slide60.xml" Id="rId64" /><Relationship Type="http://schemas.openxmlformats.org/officeDocument/2006/relationships/slide" Target="slides/slide65.xml" Id="rId69" /><Relationship Type="http://schemas.microsoft.com/office/2015/10/relationships/revisionInfo" Target="revisionInfo.xml" Id="rId77" /><Relationship Type="http://schemas.openxmlformats.org/officeDocument/2006/relationships/slide" Target="slides/slide4.xml" Id="rId8" /><Relationship Type="http://schemas.openxmlformats.org/officeDocument/2006/relationships/slide" Target="slides/slide47.xml" Id="rId51" /><Relationship Type="http://schemas.openxmlformats.org/officeDocument/2006/relationships/presProps" Target="presProps.xml" Id="rId72" /><Relationship Type="http://schemas.openxmlformats.org/officeDocument/2006/relationships/customXml" Target="../customXml/item3.xml" Id="rId3" /><Relationship Type="http://schemas.openxmlformats.org/officeDocument/2006/relationships/slide" Target="slides/slide8.xml" Id="rId12" /><Relationship Type="http://schemas.openxmlformats.org/officeDocument/2006/relationships/slide" Target="slides/slide13.xml" Id="rId17" /><Relationship Type="http://schemas.openxmlformats.org/officeDocument/2006/relationships/slide" Target="slides/slide21.xml" Id="rId25" /><Relationship Type="http://schemas.openxmlformats.org/officeDocument/2006/relationships/slide" Target="slides/slide29.xml" Id="rId33" /><Relationship Type="http://schemas.openxmlformats.org/officeDocument/2006/relationships/slide" Target="slides/slide34.xml" Id="rId38" /><Relationship Type="http://schemas.openxmlformats.org/officeDocument/2006/relationships/slide" Target="slides/slide42.xml" Id="rId46" /><Relationship Type="http://schemas.openxmlformats.org/officeDocument/2006/relationships/slide" Target="slides/slide55.xml" Id="rId59" /><Relationship Type="http://schemas.openxmlformats.org/officeDocument/2006/relationships/slide" Target="slides/slide63.xml" Id="rId67" /><Relationship Type="http://schemas.openxmlformats.org/officeDocument/2006/relationships/slide" Target="slides/slide16.xml" Id="rId20" /><Relationship Type="http://schemas.openxmlformats.org/officeDocument/2006/relationships/slide" Target="slides/slide37.xml" Id="rId41" /><Relationship Type="http://schemas.openxmlformats.org/officeDocument/2006/relationships/slide" Target="slides/slide50.xml" Id="rId54" /><Relationship Type="http://schemas.openxmlformats.org/officeDocument/2006/relationships/slide" Target="slides/slide58.xml" Id="rId62" /><Relationship Type="http://schemas.openxmlformats.org/officeDocument/2006/relationships/slide" Target="slides/slide66.xml" Id="rId70" /><Relationship Type="http://schemas.openxmlformats.org/officeDocument/2006/relationships/tableStyles" Target="tableStyles.xml" Id="rId75" /><Relationship Type="http://schemas.openxmlformats.org/officeDocument/2006/relationships/customXml" Target="../customXml/item1.xml" Id="rId1" /><Relationship Type="http://schemas.openxmlformats.org/officeDocument/2006/relationships/slide" Target="slides/slide2.xml" Id="rId6" /><Relationship Type="http://schemas.openxmlformats.org/officeDocument/2006/relationships/slide" Target="slides/slide11.xml" Id="rId15" /><Relationship Type="http://schemas.openxmlformats.org/officeDocument/2006/relationships/slide" Target="slides/slide19.xml" Id="rId23" /><Relationship Type="http://schemas.openxmlformats.org/officeDocument/2006/relationships/slide" Target="slides/slide24.xml" Id="rId28" /><Relationship Type="http://schemas.openxmlformats.org/officeDocument/2006/relationships/slide" Target="slides/slide32.xml" Id="rId36" /><Relationship Type="http://schemas.openxmlformats.org/officeDocument/2006/relationships/slide" Target="slides/slide45.xml" Id="rId49" /><Relationship Type="http://schemas.openxmlformats.org/officeDocument/2006/relationships/slide" Target="slides/slide53.xml" Id="rId57" /><Relationship Type="http://schemas.openxmlformats.org/officeDocument/2006/relationships/slide" Target="slides/slide6.xml" Id="rId10" /><Relationship Type="http://schemas.openxmlformats.org/officeDocument/2006/relationships/slide" Target="slides/slide27.xml" Id="rId31" /><Relationship Type="http://schemas.openxmlformats.org/officeDocument/2006/relationships/slide" Target="slides/slide40.xml" Id="rId44" /><Relationship Type="http://schemas.openxmlformats.org/officeDocument/2006/relationships/slide" Target="slides/slide48.xml" Id="rId52" /><Relationship Type="http://schemas.openxmlformats.org/officeDocument/2006/relationships/slide" Target="slides/slide56.xml" Id="rId60" /><Relationship Type="http://schemas.openxmlformats.org/officeDocument/2006/relationships/slide" Target="slides/slide61.xml" Id="rId65" /><Relationship Type="http://schemas.openxmlformats.org/officeDocument/2006/relationships/viewProps" Target="viewProps.xml" Id="rId73" /><Relationship Type="http://schemas.openxmlformats.org/officeDocument/2006/relationships/slideMaster" Target="slideMasters/slideMaster1.xml" Id="rId4" /><Relationship Type="http://schemas.openxmlformats.org/officeDocument/2006/relationships/slide" Target="slides/slide5.xml" Id="rId9" /><Relationship Type="http://schemas.openxmlformats.org/officeDocument/2006/relationships/slide" Target="slides/slide9.xml" Id="rId13" /><Relationship Type="http://schemas.openxmlformats.org/officeDocument/2006/relationships/slide" Target="slides/slide14.xml" Id="rId18" /><Relationship Type="http://schemas.openxmlformats.org/officeDocument/2006/relationships/slide" Target="slides/slide35.xml" Id="rId39" /><Relationship Type="http://schemas.openxmlformats.org/officeDocument/2006/relationships/slide" Target="slides/slide30.xml" Id="rId34" /><Relationship Type="http://schemas.openxmlformats.org/officeDocument/2006/relationships/slide" Target="slides/slide46.xml" Id="rId50" /><Relationship Type="http://schemas.openxmlformats.org/officeDocument/2006/relationships/slide" Target="slides/slide51.xml" Id="rId55" /><Relationship Type="http://schemas.openxmlformats.org/officeDocument/2006/relationships/slide" Target="slides/slide3.xml" Id="rId7" /><Relationship Type="http://schemas.openxmlformats.org/officeDocument/2006/relationships/notesMaster" Target="notesMasters/notesMaster1.xml" Id="rId71" /><Relationship Type="http://schemas.openxmlformats.org/officeDocument/2006/relationships/customXml" Target="../customXml/item2.xml" Id="rId2" /><Relationship Type="http://schemas.openxmlformats.org/officeDocument/2006/relationships/slide" Target="slides/slide25.xml" Id="rId29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55D1F8-2D6D-42CD-BC05-9113129B8C36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CF1DCF-C87F-465B-BF64-23520B1FCF4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318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3F28A1F-3E69-47E5-AE93-E7F2155A242D}" type="slidenum">
              <a:rPr lang="es-ES" noProof="0" smtClean="0"/>
              <a:t>1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074766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998EFF8D-8FE4-C793-EC8E-5508C80FD0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1600" y="750888"/>
            <a:ext cx="6594475" cy="3709987"/>
          </a:xfrm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71EC1549-AB53-0022-8B84-740EF1F49E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AR" altLang="es-A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6DA58416-DF0B-BEED-48FE-4FA23D8657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1600" y="750888"/>
            <a:ext cx="6594475" cy="3709987"/>
          </a:xfrm>
          <a:ln/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1EDA4807-1F34-80D4-7472-5BD118A95A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AR" altLang="es-A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4513ED5B-F6D9-0B39-9112-37322488FA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1600" y="750888"/>
            <a:ext cx="6594475" cy="3709987"/>
          </a:xfrm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D6ECFF09-D1E3-58B7-DFB9-B60883BA13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AR" altLang="es-A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D019216-82E7-3E40-C357-2E51A8426F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1600" y="750888"/>
            <a:ext cx="6594475" cy="3709987"/>
          </a:xfrm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11085BD2-3E95-FD7E-3ACF-D7AC0D68A6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AR" altLang="es-A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F5320B06-E2ED-0866-F5AD-BFE4F5D075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1600" y="750888"/>
            <a:ext cx="6594475" cy="3709987"/>
          </a:xfrm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6D589E7C-8AFB-1E64-530D-63903AE210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AR" altLang="es-A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3F28A1F-3E69-47E5-AE93-E7F2155A242D}" type="slidenum">
              <a:rPr lang="es-ES" noProof="0" smtClean="0"/>
              <a:t>65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511479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797642D-A9EB-465D-9B43-4975D1A9A9F5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E40E506-8910-4A1D-9597-9E72BD293B9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39090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7642D-A9EB-465D-9B43-4975D1A9A9F5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0E40E506-8910-4A1D-9597-9E72BD293B9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70093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797642D-A9EB-465D-9B43-4975D1A9A9F5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E40E506-8910-4A1D-9597-9E72BD293B9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65038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7642D-A9EB-465D-9B43-4975D1A9A9F5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15745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7642D-A9EB-465D-9B43-4975D1A9A9F5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046981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7642D-A9EB-465D-9B43-4975D1A9A9F5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3779339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7642D-A9EB-465D-9B43-4975D1A9A9F5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46760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797642D-A9EB-465D-9B43-4975D1A9A9F5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E40E506-8910-4A1D-9597-9E72BD293B9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7138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7642D-A9EB-465D-9B43-4975D1A9A9F5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98687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7642D-A9EB-465D-9B43-4975D1A9A9F5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75184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797642D-A9EB-465D-9B43-4975D1A9A9F5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E40E506-8910-4A1D-9597-9E72BD293B9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44173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8797642D-A9EB-465D-9B43-4975D1A9A9F5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0E40E506-8910-4A1D-9597-9E72BD293B97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79083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7A1EB241-0852-428A-8A50-67737CA93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23EDC2-E1E5-4C5D-9C74-714516AF52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2781548-0E4F-4401-A909-82EDF50DB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3030110-5A0B-4476-9070-A890E1987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0A08DAED-6222-40F8-97FA-1474D91F1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23900"/>
            <a:ext cx="12192000" cy="370817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UADE | Comenzá tu carrera en una Gran Universidad">
            <a:extLst>
              <a:ext uri="{FF2B5EF4-FFF2-40B4-BE49-F238E27FC236}">
                <a16:creationId xmlns:a16="http://schemas.microsoft.com/office/drawing/2014/main" id="{7133C0B5-A121-A890-1684-32757CCF02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" b="478"/>
          <a:stretch/>
        </p:blipFill>
        <p:spPr bwMode="auto">
          <a:xfrm>
            <a:off x="775361" y="1598166"/>
            <a:ext cx="3014297" cy="1794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B9EA7D0C-D986-4DAE-813C-903CF7A31A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4392" y="641102"/>
            <a:ext cx="3666744" cy="3698516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99C405-B1A7-43F2-998F-543F8B2B88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8333" y="974331"/>
            <a:ext cx="6084428" cy="3042214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C0FEAC2C-4B4A-4DAB-9021-A018374472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8704" y="642071"/>
            <a:ext cx="7475220" cy="3701443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D04E7CE-C66B-49FC-8E37-3A08EF9A5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48660" y="4432079"/>
            <a:ext cx="83731" cy="196077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CCD094-D228-ACA0-C5E7-11CE7ECEBC4A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rnd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E54D5E1-AA96-4051-2985-0F811B89A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62494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DFA385B-9F00-227A-E576-4882DE69FED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s-ES" altLang="es-AR"/>
              <a:t>Ingeniería del Software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4E3CDD8-54C8-5FB8-6773-6D05DF20B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2</a:t>
            </a:fld>
            <a:endParaRPr lang="es-E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4C76778-27B6-6901-C443-08C5855EB9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9592" y="818270"/>
            <a:ext cx="11029616" cy="1013800"/>
          </a:xfrm>
        </p:spPr>
        <p:txBody>
          <a:bodyPr/>
          <a:lstStyle/>
          <a:p>
            <a:r>
              <a:rPr lang="es-ES" altLang="es-AR"/>
              <a:t>El Espectro de la gestión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21F7C38-0460-00FC-BF7D-0EB5F96893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algn="just">
              <a:spcAft>
                <a:spcPts val="1200"/>
              </a:spcAft>
            </a:pPr>
            <a:r>
              <a:rPr lang="es-ES" altLang="es-AR" sz="36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El gestor que se olvida de que el trabajo de ingeniería del SW es un esfuerzo humano intenso, nunca tendrá éxito en la gestión de proyectos.</a:t>
            </a:r>
          </a:p>
          <a:p>
            <a:pPr algn="just">
              <a:spcAft>
                <a:spcPts val="1200"/>
              </a:spcAft>
            </a:pPr>
            <a:r>
              <a:rPr lang="es-ES" altLang="es-AR" sz="36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Un gestor que no fomenta una minuciosa comunicación con el cliente al principio de la evolución del proyecto se arriesga a construir una elegante solución para un problema equivocado.</a:t>
            </a:r>
          </a:p>
          <a:p>
            <a:pPr algn="just"/>
            <a:r>
              <a:rPr lang="es-ES" altLang="es-AR" sz="36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Finalmente, el administrador que presta poca atención al proceso corre el riesgo de arrojar métodos técnicos y herramientas eficaces al vacío.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A728A3AD-63D1-1444-9DD6-BF025CEDD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3</a:t>
            </a:fld>
            <a:endParaRPr lang="es-E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ABCC26D-9187-2B97-0A29-C7E8717431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70735" y="854556"/>
            <a:ext cx="11029616" cy="10138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br>
              <a:rPr lang="es-ES" altLang="es-AR" dirty="0"/>
            </a:br>
            <a:r>
              <a:rPr lang="es-ES" altLang="es-AR"/>
              <a:t>Trabajo en Equipo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D0ED00D8-0E77-3304-AD12-CC29433A37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71191" y="1747319"/>
            <a:ext cx="11362099" cy="4744016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 fontScale="92500" lnSpcReduction="10000"/>
          </a:bodyPr>
          <a:lstStyle/>
          <a:p>
            <a:pPr marL="0" indent="0" algn="ctr" defTabSz="739775">
              <a:buNone/>
              <a:tabLst>
                <a:tab pos="6921500" algn="l"/>
                <a:tab pos="7091363" algn="l"/>
              </a:tabLst>
            </a:pPr>
            <a:r>
              <a:rPr lang="es-ES" altLang="es-AR" sz="2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¿De quién es el trabajo?</a:t>
            </a:r>
          </a:p>
          <a:p>
            <a:pPr marL="0" indent="0" algn="ctr" defTabSz="739775">
              <a:buNone/>
              <a:tabLst>
                <a:tab pos="6921500" algn="l"/>
                <a:tab pos="7091363" algn="l"/>
              </a:tabLst>
            </a:pPr>
            <a:r>
              <a:rPr lang="es-ES" altLang="es-AR" sz="2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Esta es la historia acerca de cuatro personas llamadas TODOS, ALGUIEN, CUALQUIERA y NADIE.</a:t>
            </a:r>
          </a:p>
          <a:p>
            <a:pPr marL="0" indent="0" algn="ctr" defTabSz="739775">
              <a:buNone/>
              <a:tabLst>
                <a:tab pos="6921500" algn="l"/>
                <a:tab pos="7091363" algn="l"/>
              </a:tabLst>
            </a:pPr>
            <a:r>
              <a:rPr lang="es-ES" altLang="es-AR" sz="2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“Había que cumplir una tarea muy importante, y se le ordenó a TODOS hacerla. </a:t>
            </a:r>
          </a:p>
          <a:p>
            <a:pPr marL="0" indent="0" algn="ctr" defTabSz="739775">
              <a:buNone/>
              <a:tabLst>
                <a:tab pos="6921500" algn="l"/>
                <a:tab pos="7091363" algn="l"/>
              </a:tabLst>
            </a:pPr>
            <a:r>
              <a:rPr lang="es-ES" altLang="es-AR" sz="2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TODOS estaban seguros de que ALGUIEN lo haría, pero NADIE lo hizo. ALGUIEN se enojó, porque era un trabajo de TODOS. </a:t>
            </a:r>
          </a:p>
          <a:p>
            <a:pPr marL="0" indent="0" algn="ctr" defTabSz="739775">
              <a:buNone/>
              <a:tabLst>
                <a:tab pos="6921500" algn="l"/>
                <a:tab pos="7091363" algn="l"/>
              </a:tabLst>
            </a:pPr>
            <a:r>
              <a:rPr lang="es-ES" altLang="es-AR" sz="2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TODOS pensaron que CUALQUIERA pudo haberlo hecho, pero NADIE se dio cuenta de que TODOS no lo iban a hacer. </a:t>
            </a:r>
          </a:p>
          <a:p>
            <a:pPr marL="0" indent="0" algn="ctr" defTabSz="739775">
              <a:buNone/>
              <a:tabLst>
                <a:tab pos="6921500" algn="l"/>
                <a:tab pos="7091363" algn="l"/>
              </a:tabLst>
            </a:pPr>
            <a:r>
              <a:rPr lang="es-ES" altLang="es-AR" sz="2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Al fin, TODOS acusaron a ALGUIEN cuando NADIE hizo lo que CUALQUIERA pudo haberlo hecho”.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C4CA569-A4E1-1890-6327-3FE7C98D2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4</a:t>
            </a:fld>
            <a:endParaRPr lang="es-ES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9C41516-2E49-C42E-4CAC-635BC0457F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8595" y="980621"/>
            <a:ext cx="9793320" cy="852488"/>
          </a:xfrm>
        </p:spPr>
        <p:txBody>
          <a:bodyPr>
            <a:normAutofit/>
          </a:bodyPr>
          <a:lstStyle/>
          <a:p>
            <a:r>
              <a:rPr lang="es-ES" altLang="es-AR" sz="3200"/>
              <a:t>Conceptos sobre gestión de proyectos</a:t>
            </a:r>
          </a:p>
        </p:txBody>
      </p:sp>
      <p:sp>
        <p:nvSpPr>
          <p:cNvPr id="6147" name="Text Box 3">
            <a:extLst>
              <a:ext uri="{FF2B5EF4-FFF2-40B4-BE49-F238E27FC236}">
                <a16:creationId xmlns:a16="http://schemas.microsoft.com/office/drawing/2014/main" id="{B8E2AF6C-9BAE-1B1F-9058-919E602851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895" y="2192649"/>
            <a:ext cx="11026065" cy="4592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buSzPct val="65000"/>
              <a:buFont typeface="Wingdings" panose="05000000000000000000" pitchFamily="2" charset="2"/>
              <a:buNone/>
            </a:pPr>
            <a:r>
              <a:rPr lang="es-ES" altLang="es-AR" sz="2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La gestión eficaz de un proyecto de software se centra en las Cuatro  “PES”:</a:t>
            </a:r>
          </a:p>
          <a:p>
            <a:pPr>
              <a:buSzPct val="65000"/>
              <a:buFont typeface="Wingdings" panose="05000000000000000000" pitchFamily="2" charset="2"/>
              <a:buChar char="n"/>
            </a:pPr>
            <a:endParaRPr lang="es-ES" altLang="es-AR" sz="280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>
              <a:buSzPct val="65000"/>
              <a:buFont typeface="Wingdings" panose="05000000000000000000" pitchFamily="2" charset="2"/>
              <a:buChar char="n"/>
            </a:pPr>
            <a:endParaRPr lang="es-ES" altLang="es-AR" sz="280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lvl="1">
              <a:lnSpc>
                <a:spcPct val="145000"/>
              </a:lnSpc>
              <a:buSzPct val="65000"/>
              <a:buFont typeface="Wingdings" panose="05000000000000000000" pitchFamily="2" charset="2"/>
              <a:buChar char="n"/>
            </a:pPr>
            <a:r>
              <a:rPr lang="es-ES" altLang="es-AR" sz="2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 Personal.</a:t>
            </a:r>
          </a:p>
          <a:p>
            <a:pPr lvl="1">
              <a:lnSpc>
                <a:spcPct val="145000"/>
              </a:lnSpc>
              <a:buSzPct val="65000"/>
              <a:buFont typeface="Wingdings" panose="05000000000000000000" pitchFamily="2" charset="2"/>
              <a:buChar char="n"/>
            </a:pPr>
            <a:r>
              <a:rPr lang="es-ES" altLang="es-AR" sz="2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 Producto.</a:t>
            </a:r>
          </a:p>
          <a:p>
            <a:pPr lvl="1">
              <a:lnSpc>
                <a:spcPct val="145000"/>
              </a:lnSpc>
              <a:buSzPct val="65000"/>
              <a:buFont typeface="Wingdings" panose="05000000000000000000" pitchFamily="2" charset="2"/>
              <a:buChar char="n"/>
            </a:pPr>
            <a:r>
              <a:rPr lang="es-ES" altLang="es-AR" sz="2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 Problema.</a:t>
            </a:r>
          </a:p>
          <a:p>
            <a:pPr lvl="1">
              <a:lnSpc>
                <a:spcPct val="145000"/>
              </a:lnSpc>
              <a:buSzPct val="65000"/>
              <a:buFont typeface="Wingdings" panose="05000000000000000000" pitchFamily="2" charset="2"/>
              <a:buChar char="n"/>
            </a:pPr>
            <a:r>
              <a:rPr lang="es-ES" altLang="es-AR" sz="2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 Proceso.</a:t>
            </a:r>
          </a:p>
          <a:p>
            <a:pPr>
              <a:buSzPct val="65000"/>
              <a:buFont typeface="Wingdings" panose="05000000000000000000" pitchFamily="2" charset="2"/>
              <a:buChar char="n"/>
            </a:pPr>
            <a:endParaRPr lang="es-ES" altLang="es-AR">
              <a:solidFill>
                <a:schemeClr val="tx2"/>
              </a:solidFill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738C4090-CAD3-1889-7F75-EE5DF7CED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5</a:t>
            </a:fld>
            <a:endParaRPr lang="es-E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3497DE-8084-6639-0355-15490FE37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250" y="818270"/>
            <a:ext cx="11029616" cy="1013800"/>
          </a:xfrm>
        </p:spPr>
        <p:txBody>
          <a:bodyPr/>
          <a:lstStyle/>
          <a:p>
            <a:r>
              <a:rPr lang="es-ES" sz="3200"/>
              <a:t>Conceptos sobre gestión de proyectos</a:t>
            </a:r>
            <a:endParaRPr lang="es-ES"/>
          </a:p>
        </p:txBody>
      </p:sp>
      <p:pic>
        <p:nvPicPr>
          <p:cNvPr id="5" name="Marcador de contenido 4" descr="Cómo crear un proyecto de desarrollo de software exitoso? | Gurusis">
            <a:extLst>
              <a:ext uri="{FF2B5EF4-FFF2-40B4-BE49-F238E27FC236}">
                <a16:creationId xmlns:a16="http://schemas.microsoft.com/office/drawing/2014/main" id="{DDB94997-84EF-DD25-CE2F-5C356CA74F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4314" y="2180496"/>
            <a:ext cx="8789942" cy="4048417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AF44B93-D64A-D7D3-94F1-FC1BEDE86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825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B0FB6A6-3E8C-F3EC-0EFA-BEA21BE4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7</a:t>
            </a:fld>
            <a:endParaRPr lang="en-U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1ACB3AA-B018-874C-B87E-80BE5C70D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3400"/>
              <a:t>PERSONAL</a:t>
            </a:r>
          </a:p>
        </p:txBody>
      </p:sp>
      <p:pic>
        <p:nvPicPr>
          <p:cNvPr id="4" name="Imagen 3" descr="Equipo De Desarrolladores De Software Trabajando En Un Nuevo Proyecto En  Una Empresa De Desarrollo De Software, Dentro De Una Ofic Stock de  ilustración - Ilustración de adentro, pantalla: 284291278">
            <a:extLst>
              <a:ext uri="{FF2B5EF4-FFF2-40B4-BE49-F238E27FC236}">
                <a16:creationId xmlns:a16="http://schemas.microsoft.com/office/drawing/2014/main" id="{4F8680DC-2B25-2635-AACF-FDF60C8F1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5657" y="1950130"/>
            <a:ext cx="7300686" cy="4554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640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C6FD689-57ED-4011-F9B8-AC44861DDD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s-ES" altLang="es-AR" sz="3400"/>
              <a:t>Personal</a:t>
            </a:r>
          </a:p>
        </p:txBody>
      </p:sp>
      <p:sp>
        <p:nvSpPr>
          <p:cNvPr id="1027" name="Text Box 3">
            <a:extLst>
              <a:ext uri="{FF2B5EF4-FFF2-40B4-BE49-F238E27FC236}">
                <a16:creationId xmlns:a16="http://schemas.microsoft.com/office/drawing/2014/main" id="{E953E6B7-0AEA-5DF2-A855-ED6D158350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887" y="2134386"/>
            <a:ext cx="1129872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60363" indent="-3603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39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s-ES" altLang="es-AR" sz="2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Modelo de madurez de la capacidad de gestión de persona.</a:t>
            </a:r>
          </a:p>
          <a:p>
            <a:endParaRPr lang="es-ES" altLang="es-AR" sz="280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algn="just">
              <a:buSzPct val="65000"/>
              <a:buFont typeface="Wingdings" panose="05000000000000000000" pitchFamily="2" charset="2"/>
              <a:buChar char="n"/>
            </a:pPr>
            <a:r>
              <a:rPr lang="es-ES" altLang="es-AR" sz="2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Aumentar la preparación de organizaciones del software para llevar a cabo  las cada vez más      complicadas aplicaciones ayudando a atraer,        aumentar, motivar, desplegar y retener el talento  necesario para mejorar su capacidad de desarrollo   de software.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76F30EE-30A4-AA8A-8816-0F8B90C25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8</a:t>
            </a:fld>
            <a:endParaRPr lang="es-E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>
            <a:extLst>
              <a:ext uri="{FF2B5EF4-FFF2-40B4-BE49-F238E27FC236}">
                <a16:creationId xmlns:a16="http://schemas.microsoft.com/office/drawing/2014/main" id="{78414ECD-3F07-523E-DD83-6B88002EA0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s-ES" altLang="es-AR" sz="3400"/>
              <a:t>Personal</a:t>
            </a: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9F093F4A-C593-ACD3-CF47-97873D3B0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566" y="1844676"/>
            <a:ext cx="11633703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619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79863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9780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574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61461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7181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52901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8621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s-ES" altLang="es-AR" sz="2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El MMCGP (Modelo de Madurez de la capacidad de gestión de personal) define las siguientes áreas prácticas clave para el personal que desarrolla software:</a:t>
            </a:r>
          </a:p>
          <a:p>
            <a:endParaRPr lang="es-ES" altLang="es-AR" sz="280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es-ES" altLang="es-AR" sz="2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Reclutamiento.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s-ES" altLang="es-AR" sz="2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Selección.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s-ES" altLang="es-AR" sz="2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Gestión de rendimiento.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s-ES" altLang="es-AR" sz="2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Entrenamiento.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s-ES" altLang="es-AR" sz="2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Retribución.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s-ES" altLang="es-AR" sz="2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Desarrollo cultural.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s-ES" altLang="es-AR" sz="2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Espíritu de equipo.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4BBE198B-F05F-EF5A-9A36-348813C6F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9</a:t>
            </a:fld>
            <a:endParaRPr lang="es-E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>
            <a:extLst>
              <a:ext uri="{FF2B5EF4-FFF2-40B4-BE49-F238E27FC236}">
                <a16:creationId xmlns:a16="http://schemas.microsoft.com/office/drawing/2014/main" id="{89C09BC3-7552-C420-DE4A-45B0C7F5E6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s-ES" altLang="es-AR" sz="3400"/>
              <a:t>Personal</a:t>
            </a:r>
          </a:p>
        </p:txBody>
      </p:sp>
      <p:sp>
        <p:nvSpPr>
          <p:cNvPr id="8196" name="Text Box 4">
            <a:extLst>
              <a:ext uri="{FF2B5EF4-FFF2-40B4-BE49-F238E27FC236}">
                <a16:creationId xmlns:a16="http://schemas.microsoft.com/office/drawing/2014/main" id="{C49C158A-D3A1-3CA9-43BC-A98350CED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2036" y="2288295"/>
            <a:ext cx="7489825" cy="4049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65000"/>
              </a:lnSpc>
            </a:pPr>
            <a:r>
              <a:rPr lang="es-ES" altLang="es-AR" sz="3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Las organizaciones que alcanzan una gran madurez en el área de gestión de personal tienen una mayor probabilidad de implementar unas eficaces prácticas de ingeniería del software.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4CDF43C7-608E-A544-D509-FE475EF47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10</a:t>
            </a:fld>
            <a:endParaRPr lang="es-E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>
            <a:extLst>
              <a:ext uri="{FF2B5EF4-FFF2-40B4-BE49-F238E27FC236}">
                <a16:creationId xmlns:a16="http://schemas.microsoft.com/office/drawing/2014/main" id="{F0547B17-20E1-E143-6D30-F08D75A206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s-ES" altLang="es-AR" sz="3400"/>
              <a:t>Personal</a:t>
            </a:r>
          </a:p>
        </p:txBody>
      </p:sp>
      <p:sp>
        <p:nvSpPr>
          <p:cNvPr id="9220" name="Text Box 4">
            <a:extLst>
              <a:ext uri="{FF2B5EF4-FFF2-40B4-BE49-F238E27FC236}">
                <a16:creationId xmlns:a16="http://schemas.microsoft.com/office/drawing/2014/main" id="{582F57E1-065C-4C81-AE6E-9C02E5DDC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994" y="2007639"/>
            <a:ext cx="11262511" cy="3985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s-ES" altLang="es-AR" sz="2400" b="1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Los participantes</a:t>
            </a:r>
          </a:p>
          <a:p>
            <a:pPr>
              <a:lnSpc>
                <a:spcPct val="70000"/>
              </a:lnSpc>
            </a:pPr>
            <a:endParaRPr lang="es-ES" altLang="es-AR" sz="200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5000"/>
              </a:spcBef>
              <a:buFont typeface="Wingdings" panose="05000000000000000000" pitchFamily="2" charset="2"/>
              <a:buChar char="§"/>
            </a:pPr>
            <a:r>
              <a:rPr lang="es-ES" altLang="es-AR" sz="20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Gestores superiores, que definen los aspectos de negocio que a menudo tienen una significativa influencia en el proyecto.</a:t>
            </a:r>
          </a:p>
          <a:p>
            <a:pPr>
              <a:spcBef>
                <a:spcPct val="5000"/>
              </a:spcBef>
              <a:buFont typeface="Wingdings" panose="05000000000000000000" pitchFamily="2" charset="2"/>
              <a:buChar char="§"/>
            </a:pPr>
            <a:r>
              <a:rPr lang="es-ES" altLang="es-AR" sz="20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Gestores (técnicos) del proyecto, que deben planificar, modificar, motivar, organizar y controlar a los profesionales que realizan el trabajo de software.</a:t>
            </a:r>
          </a:p>
          <a:p>
            <a:pPr>
              <a:spcBef>
                <a:spcPct val="5000"/>
              </a:spcBef>
              <a:buFont typeface="Wingdings" panose="05000000000000000000" pitchFamily="2" charset="2"/>
              <a:buChar char="§"/>
            </a:pPr>
            <a:r>
              <a:rPr lang="es-ES" altLang="es-AR" sz="20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Profesionales, que proporcionan las capacidades técnicas necesarias para la ingeniería de un producto o aplicación.</a:t>
            </a:r>
          </a:p>
          <a:p>
            <a:pPr>
              <a:spcBef>
                <a:spcPct val="5000"/>
              </a:spcBef>
              <a:buFont typeface="Wingdings" panose="05000000000000000000" pitchFamily="2" charset="2"/>
              <a:buChar char="§"/>
            </a:pPr>
            <a:r>
              <a:rPr lang="es-ES" altLang="es-AR" sz="20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Clientes, que especifican los requisitos para la ingeniería del SW.</a:t>
            </a:r>
          </a:p>
          <a:p>
            <a:pPr>
              <a:spcBef>
                <a:spcPct val="5000"/>
              </a:spcBef>
              <a:buFont typeface="Wingdings" panose="05000000000000000000" pitchFamily="2" charset="2"/>
              <a:buChar char="§"/>
            </a:pPr>
            <a:r>
              <a:rPr lang="es-ES" altLang="es-AR" sz="20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Usuarios finales, que interaccionan con el SW una vez que se ha entregado para la producción.</a:t>
            </a:r>
          </a:p>
          <a:p>
            <a:pPr>
              <a:spcBef>
                <a:spcPct val="35000"/>
              </a:spcBef>
              <a:spcAft>
                <a:spcPct val="10000"/>
              </a:spcAft>
              <a:buFont typeface="Wingdings" panose="05000000000000000000" pitchFamily="2" charset="2"/>
              <a:buChar char="§"/>
            </a:pPr>
            <a:endParaRPr lang="es-ES" altLang="es-AR" sz="200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s-ES" altLang="es-AR" sz="2100">
              <a:solidFill>
                <a:schemeClr val="tx2"/>
              </a:solidFill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DE5FBEE8-399B-0A50-E3D9-FED671AB6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11</a:t>
            </a:fld>
            <a:endParaRPr lang="es-E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C1570FE8-2BB6-513F-C749-E7FBF58DD3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3621" y="617538"/>
            <a:ext cx="9829094" cy="1143000"/>
          </a:xfrm>
        </p:spPr>
        <p:txBody>
          <a:bodyPr/>
          <a:lstStyle/>
          <a:p>
            <a:r>
              <a:rPr lang="es-ES" altLang="es-AR" sz="3400"/>
              <a:t>Personal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DC39FFCB-D74B-F40B-CE98-FD42FA48C7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2112" y="2340294"/>
            <a:ext cx="11029615" cy="3678303"/>
          </a:xfrm>
        </p:spPr>
        <p:txBody>
          <a:bodyPr/>
          <a:lstStyle/>
          <a:p>
            <a:pPr marL="0" indent="0">
              <a:buNone/>
            </a:pPr>
            <a:r>
              <a:rPr lang="es-ES" altLang="es-AR" sz="2400"/>
              <a:t>¿</a:t>
            </a:r>
            <a:r>
              <a:rPr lang="es-ES" altLang="es-AR" sz="2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Qué es lo que buscamos cuando seleccionamos a alguien para dirigir un proyecto de SW?</a:t>
            </a:r>
          </a:p>
          <a:p>
            <a:pPr marL="0" indent="0">
              <a:buNone/>
            </a:pPr>
            <a:endParaRPr lang="es-ES" altLang="es-AR" sz="280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828675" lvl="1">
              <a:buClr>
                <a:schemeClr val="tx2"/>
              </a:buClr>
            </a:pPr>
            <a:r>
              <a:rPr lang="es-ES" altLang="es-AR" sz="2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Motivación.</a:t>
            </a:r>
          </a:p>
          <a:p>
            <a:pPr marL="828675" lvl="1">
              <a:buClr>
                <a:schemeClr val="tx2"/>
              </a:buClr>
            </a:pPr>
            <a:r>
              <a:rPr lang="es-ES" altLang="es-AR" sz="2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Organización.</a:t>
            </a:r>
          </a:p>
          <a:p>
            <a:pPr marL="828675" lvl="1">
              <a:buClr>
                <a:schemeClr val="tx2"/>
              </a:buClr>
            </a:pPr>
            <a:r>
              <a:rPr lang="es-ES" altLang="es-AR" sz="2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Ideas o Innovación.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D7297EFB-B152-A05E-FBC6-4FB0B5DF6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12</a:t>
            </a:fld>
            <a:endParaRPr lang="es-E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6EAF80E4-2686-0A0C-CE85-FA4533BBED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3621" y="617538"/>
            <a:ext cx="9829094" cy="1143000"/>
          </a:xfrm>
        </p:spPr>
        <p:txBody>
          <a:bodyPr>
            <a:normAutofit/>
          </a:bodyPr>
          <a:lstStyle/>
          <a:p>
            <a:r>
              <a:rPr lang="es-ES" altLang="es-AR" sz="3400"/>
              <a:t>Trabajo en Equipo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91120311-C2DE-2D8E-E3A8-A4EE531AB9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2517" y="2352675"/>
            <a:ext cx="11200788" cy="2156957"/>
          </a:xfrm>
        </p:spPr>
        <p:txBody>
          <a:bodyPr>
            <a:noAutofit/>
          </a:bodyPr>
          <a:lstStyle/>
          <a:p>
            <a:pPr marL="0" indent="0">
              <a:lnSpc>
                <a:spcPct val="155000"/>
              </a:lnSpc>
              <a:spcBef>
                <a:spcPts val="2300"/>
              </a:spcBef>
              <a:buNone/>
            </a:pPr>
            <a:r>
              <a:rPr lang="es-ES" altLang="es-AR" sz="2800">
                <a:solidFill>
                  <a:schemeClr val="accent1">
                    <a:lumMod val="75000"/>
                  </a:schemeClr>
                </a:solidFill>
              </a:rPr>
              <a:t>Motivación</a:t>
            </a:r>
          </a:p>
          <a:p>
            <a:pPr marL="0" indent="0" algn="ctr">
              <a:lnSpc>
                <a:spcPct val="155000"/>
              </a:lnSpc>
              <a:spcBef>
                <a:spcPts val="2300"/>
              </a:spcBef>
              <a:buNone/>
            </a:pPr>
            <a:r>
              <a:rPr lang="es-ES" altLang="es-AR" sz="2800">
                <a:solidFill>
                  <a:schemeClr val="accent1">
                    <a:lumMod val="75000"/>
                  </a:schemeClr>
                </a:solidFill>
              </a:rPr>
              <a:t>La habilidad para motivar al personal técnico para que produzca conforme a sus mejores capacidades.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9F5F2F9-F90E-9C9D-17F9-82479DECA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13</a:t>
            </a:fld>
            <a:endParaRPr lang="es-E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2723BF7C-D6AC-7C56-6E41-C19E35AB00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4567" y="620713"/>
            <a:ext cx="9838148" cy="1143000"/>
          </a:xfrm>
        </p:spPr>
        <p:txBody>
          <a:bodyPr/>
          <a:lstStyle/>
          <a:p>
            <a:r>
              <a:rPr lang="es-ES" altLang="es-AR" sz="3400"/>
              <a:t>Trabajo en Equipo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86EBBCBE-C17E-547B-0502-1FFED1E03A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88475" y="1844676"/>
            <a:ext cx="11513038" cy="2500987"/>
          </a:xfrm>
        </p:spPr>
        <p:txBody>
          <a:bodyPr/>
          <a:lstStyle/>
          <a:p>
            <a:pPr marL="0" indent="0">
              <a:lnSpc>
                <a:spcPct val="155000"/>
              </a:lnSpc>
              <a:spcBef>
                <a:spcPts val="2300"/>
              </a:spcBef>
              <a:buNone/>
            </a:pPr>
            <a:r>
              <a:rPr lang="es-ES" altLang="es-AR" sz="2800">
                <a:solidFill>
                  <a:srgbClr val="1A3260"/>
                </a:solidFill>
              </a:rPr>
              <a:t>Organización</a:t>
            </a:r>
          </a:p>
          <a:p>
            <a:pPr marL="0" indent="0" algn="ctr">
              <a:lnSpc>
                <a:spcPct val="155000"/>
              </a:lnSpc>
              <a:spcBef>
                <a:spcPts val="2300"/>
              </a:spcBef>
              <a:buNone/>
            </a:pPr>
            <a:r>
              <a:rPr lang="es-ES" altLang="es-AR" sz="2800">
                <a:solidFill>
                  <a:srgbClr val="1A3260"/>
                </a:solidFill>
              </a:rPr>
              <a:t>La habilidad para moldear procesos existentes que permita al concepto inicial transformarse en un proyecto final.</a:t>
            </a:r>
          </a:p>
        </p:txBody>
      </p:sp>
      <p:pic>
        <p:nvPicPr>
          <p:cNvPr id="13316" name="Picture 4">
            <a:extLst>
              <a:ext uri="{FF2B5EF4-FFF2-40B4-BE49-F238E27FC236}">
                <a16:creationId xmlns:a16="http://schemas.microsoft.com/office/drawing/2014/main" id="{6769A900-03F2-6BC5-EDEE-AC98AAEC594D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0657" y="5046035"/>
            <a:ext cx="1584325" cy="115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4A52B7A5-D50F-6AAE-0A21-3F0A45D26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14</a:t>
            </a:fld>
            <a:endParaRPr lang="es-E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093D5AE3-B4E5-DFDA-E94F-4BE178B37B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8887" y="617538"/>
            <a:ext cx="9783827" cy="1143000"/>
          </a:xfrm>
        </p:spPr>
        <p:txBody>
          <a:bodyPr/>
          <a:lstStyle/>
          <a:p>
            <a:r>
              <a:rPr lang="es-ES" altLang="es-AR" sz="3400"/>
              <a:t>Trabajo en Equipo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6237021A-B996-CC73-A6AF-BE7BFBF1C1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3619" y="2017713"/>
            <a:ext cx="11434527" cy="2653875"/>
          </a:xfrm>
        </p:spPr>
        <p:txBody>
          <a:bodyPr/>
          <a:lstStyle/>
          <a:p>
            <a:pPr marL="0" indent="0">
              <a:buNone/>
            </a:pPr>
            <a:r>
              <a:rPr lang="es-ES" altLang="es-AR" sz="2400">
                <a:solidFill>
                  <a:schemeClr val="accent1">
                    <a:lumMod val="75000"/>
                  </a:schemeClr>
                </a:solidFill>
              </a:rPr>
              <a:t>I</a:t>
            </a:r>
            <a:r>
              <a:rPr lang="es-ES" altLang="es-AR" sz="2800">
                <a:solidFill>
                  <a:schemeClr val="accent1">
                    <a:lumMod val="75000"/>
                  </a:schemeClr>
                </a:solidFill>
              </a:rPr>
              <a:t>deas o Innovación</a:t>
            </a:r>
          </a:p>
          <a:p>
            <a:pPr marL="0" indent="0">
              <a:buNone/>
            </a:pPr>
            <a:endParaRPr lang="es-ES" altLang="es-AR" sz="280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s-ES" altLang="es-AR" sz="2800">
                <a:solidFill>
                  <a:schemeClr val="accent1">
                    <a:lumMod val="75000"/>
                  </a:schemeClr>
                </a:solidFill>
              </a:rPr>
              <a:t>La habilidad para motivar al personal para crear y sentirse creativos incluso cuando deban de trabajar dentro de los límites establecidos para un producto o aplicación de SW particular</a:t>
            </a:r>
          </a:p>
        </p:txBody>
      </p:sp>
      <p:pic>
        <p:nvPicPr>
          <p:cNvPr id="15364" name="Picture 4">
            <a:extLst>
              <a:ext uri="{FF2B5EF4-FFF2-40B4-BE49-F238E27FC236}">
                <a16:creationId xmlns:a16="http://schemas.microsoft.com/office/drawing/2014/main" id="{DE81BD66-1DF7-44EC-2DB8-6C2DF8625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1418" y="4926921"/>
            <a:ext cx="1330325" cy="1368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8261C11-143C-BBAE-73B5-63A0D92D0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15</a:t>
            </a:fld>
            <a:endParaRPr lang="es-E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FB0BD99-3DFF-8C2F-ECB9-931F216435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 fontScale="90000"/>
          </a:bodyPr>
          <a:lstStyle/>
          <a:p>
            <a:br>
              <a:rPr lang="es-ES" altLang="es-AR" sz="3400" dirty="0"/>
            </a:br>
            <a:r>
              <a:rPr lang="es-ES" altLang="es-AR" sz="3400"/>
              <a:t>Trabajo en Equipo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085CD43-5642-87BF-3673-072414F3B3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93577" y="1625827"/>
            <a:ext cx="10492966" cy="41148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pPr marL="0" indent="0">
              <a:buNone/>
            </a:pPr>
            <a:r>
              <a:rPr lang="es-ES" altLang="es-AR" sz="2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Una aproximación:</a:t>
            </a:r>
            <a:endParaRPr lang="es-ES">
              <a:ea typeface="+mj-ea"/>
              <a:cs typeface="+mj-cs"/>
            </a:endParaRPr>
          </a:p>
          <a:p>
            <a:pPr marL="0" indent="0">
              <a:buNone/>
            </a:pPr>
            <a:endParaRPr lang="es-ES" altLang="es-AR" sz="280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 algn="ctr">
              <a:buNone/>
            </a:pPr>
            <a:r>
              <a:rPr lang="es-ES" altLang="es-AR" sz="2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Una reunión de gente trabajando </a:t>
            </a:r>
            <a:r>
              <a:rPr lang="es-ES" altLang="es-AR" sz="2800" b="1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coordinadamente</a:t>
            </a:r>
            <a:r>
              <a:rPr lang="es-ES" altLang="es-AR" sz="2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, por un objetivo común, que logra un mejor resultado que los que obtendrían los mismos individuos trabajando por su cuenta.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D6111244-26AA-25B8-C2E4-B96D0B21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16</a:t>
            </a:fld>
            <a:endParaRPr lang="es-ES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EFAA393-D6D6-4B27-0385-B0E8D507CA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s-ES" altLang="es-AR" sz="3100"/>
              <a:t>Trabajo en Equipo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474D4A47-1F19-F662-2DD1-7DB4DF560F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pPr marL="0" indent="0">
              <a:buNone/>
            </a:pPr>
            <a:r>
              <a:rPr lang="es-ES" altLang="es-AR">
                <a:solidFill>
                  <a:schemeClr val="tx2"/>
                </a:solidFill>
              </a:rPr>
              <a:t>¿</a:t>
            </a:r>
            <a:r>
              <a:rPr lang="es-ES" altLang="es-AR" sz="2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Qué es Trabajo en Equipo?  (por lo que no es)</a:t>
            </a:r>
            <a:endParaRPr lang="es-ES">
              <a:ea typeface="+mj-ea"/>
              <a:cs typeface="+mj-cs"/>
            </a:endParaRPr>
          </a:p>
          <a:p>
            <a:pPr marL="629920" lvl="1" indent="-305435"/>
            <a:r>
              <a:rPr lang="es-ES" altLang="es-AR" sz="2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No es </a:t>
            </a:r>
            <a:r>
              <a:rPr lang="es-ES" altLang="es-AR" sz="2800" err="1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reunionismo</a:t>
            </a:r>
            <a:endParaRPr lang="es-ES" altLang="es-AR" sz="280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629920" lvl="1" indent="-305435"/>
            <a:r>
              <a:rPr lang="es-ES" altLang="es-AR" sz="2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No es necesariamente toma de decisiones en equipo</a:t>
            </a:r>
          </a:p>
          <a:p>
            <a:pPr marL="629920" lvl="1" indent="-305435"/>
            <a:r>
              <a:rPr lang="es-ES" altLang="es-AR" sz="2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No es pérdida de individualidad</a:t>
            </a:r>
          </a:p>
          <a:p>
            <a:pPr marL="629920" lvl="1" indent="-305435"/>
            <a:r>
              <a:rPr lang="es-ES" altLang="es-AR" sz="2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No es pérdida de autoridad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BCE9B9A-3A78-F4B7-C09D-8F2292664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17</a:t>
            </a:fld>
            <a:endParaRPr lang="es-ES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1B4C11FC-7005-A553-A4E0-FB6446F3CE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s-ES" altLang="es-AR" sz="3600" b="1">
                <a:latin typeface="Arial" panose="020B0604020202020204" pitchFamily="34" charset="0"/>
              </a:rPr>
              <a:t>T</a:t>
            </a:r>
            <a:r>
              <a:rPr lang="es-ES" altLang="es-AR" sz="3100"/>
              <a:t>rabajo en Equipo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E6A9D217-10F6-A2BA-7621-46B6BAA1B1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9785" y="2057125"/>
            <a:ext cx="11149080" cy="3678303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 fontScale="92500"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s-ES" altLang="es-AR" sz="2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¿Qué es Trabajo en Equipo? (por lo que sí es)</a:t>
            </a:r>
            <a:endParaRPr lang="es-ES">
              <a:ea typeface="+mj-ea"/>
              <a:cs typeface="+mj-cs"/>
            </a:endParaRPr>
          </a:p>
          <a:p>
            <a:pPr marL="0" indent="0">
              <a:lnSpc>
                <a:spcPct val="90000"/>
              </a:lnSpc>
              <a:buNone/>
            </a:pPr>
            <a:endParaRPr lang="es-ES" altLang="es-AR" sz="280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629920" lvl="1" indent="-305435">
              <a:lnSpc>
                <a:spcPct val="90000"/>
              </a:lnSpc>
            </a:pPr>
            <a:r>
              <a:rPr lang="es-ES" altLang="es-AR" sz="2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Tener un objetivo </a:t>
            </a:r>
            <a:r>
              <a:rPr lang="es-ES" altLang="es-AR" sz="2800" err="1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ó</a:t>
            </a:r>
            <a:r>
              <a:rPr lang="es-ES" altLang="es-AR" sz="2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 meta común</a:t>
            </a:r>
          </a:p>
          <a:p>
            <a:pPr marL="629920" lvl="1" indent="-305435">
              <a:lnSpc>
                <a:spcPct val="90000"/>
              </a:lnSpc>
            </a:pPr>
            <a:r>
              <a:rPr lang="es-ES" altLang="es-AR" sz="2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Estar dispuesto a sacrificar intereses personales </a:t>
            </a:r>
            <a:r>
              <a:rPr lang="es-ES" altLang="es-AR" sz="2800" err="1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ó</a:t>
            </a:r>
            <a:r>
              <a:rPr lang="es-ES" altLang="es-AR" sz="2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 del grupo, momentáneamente.</a:t>
            </a:r>
          </a:p>
          <a:p>
            <a:pPr marL="629920" lvl="1" indent="-305435">
              <a:lnSpc>
                <a:spcPct val="90000"/>
              </a:lnSpc>
            </a:pPr>
            <a:r>
              <a:rPr lang="es-ES" altLang="es-AR" sz="2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Tener confianza en los demás.</a:t>
            </a:r>
          </a:p>
          <a:p>
            <a:pPr marL="629920" lvl="1" indent="-305435">
              <a:lnSpc>
                <a:spcPct val="90000"/>
              </a:lnSpc>
            </a:pPr>
            <a:r>
              <a:rPr lang="es-ES" altLang="es-AR" sz="2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Disposición a compartir información.</a:t>
            </a:r>
          </a:p>
          <a:p>
            <a:pPr marL="629920" lvl="1" indent="-305435">
              <a:lnSpc>
                <a:spcPct val="90000"/>
              </a:lnSpc>
            </a:pPr>
            <a:r>
              <a:rPr lang="es-ES" altLang="es-AR" sz="2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Sentir en carne propia los problemas ajenos.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7F095970-67FB-9DE7-312B-681876D7A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18</a:t>
            </a:fld>
            <a:endParaRPr lang="es-ES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5771EBB-807B-FFEB-85CC-850F9165EF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s-ES" altLang="es-AR" sz="3100"/>
              <a:t>Trabajo en Equipo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E2A9C9F9-0944-AF97-46D9-B9A71FBAE1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pPr marL="0" indent="0">
              <a:buNone/>
            </a:pPr>
            <a:r>
              <a:rPr lang="es-ES" altLang="es-AR" sz="2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Diagnosticando la salud del grupo</a:t>
            </a:r>
            <a:endParaRPr lang="es-ES">
              <a:ea typeface="+mj-ea"/>
              <a:cs typeface="+mj-cs"/>
            </a:endParaRPr>
          </a:p>
          <a:p>
            <a:pPr>
              <a:buFont typeface="Wingdings" panose="05000000000000000000" pitchFamily="2" charset="2"/>
              <a:buNone/>
            </a:pPr>
            <a:endParaRPr lang="es-ES" altLang="es-AR" sz="280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629920" lvl="1" indent="-305435"/>
            <a:r>
              <a:rPr lang="es-ES" altLang="es-AR" sz="2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Intercomunicación entre los miembros del grupo.</a:t>
            </a:r>
          </a:p>
          <a:p>
            <a:pPr marL="629920" lvl="1" indent="-305435"/>
            <a:r>
              <a:rPr lang="es-ES" altLang="es-AR" sz="2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Objetividad del grupo con respecto a su propio funcionamiento</a:t>
            </a:r>
          </a:p>
          <a:p>
            <a:pPr marL="629920" lvl="1" indent="-305435"/>
            <a:r>
              <a:rPr lang="es-ES" altLang="es-AR" sz="2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Responsabilidad interdependiente de todos los miembros</a:t>
            </a:r>
          </a:p>
          <a:p>
            <a:pPr marL="629920" lvl="1" indent="-305435"/>
            <a:r>
              <a:rPr lang="es-ES" altLang="es-AR" sz="2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Adecuada coherencia del grupo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C75AE30-FE52-E364-C36A-62C8659B8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19</a:t>
            </a:fld>
            <a:endParaRPr lang="es-ES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122CF5E4-2576-DC24-891A-CCA1ACF6FF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altLang="es-AR" sz="3100"/>
              <a:t>Gestor de Proyectos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E7FBC5FD-0BA0-76DB-7681-FC070CD567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88475" y="1916114"/>
            <a:ext cx="11153870" cy="4321175"/>
          </a:xfrm>
        </p:spPr>
        <p:txBody>
          <a:bodyPr/>
          <a:lstStyle/>
          <a:p>
            <a:pPr marL="305435" indent="-305435">
              <a:buFont typeface="Wingdings" panose="05000000000000000000" pitchFamily="2" charset="2"/>
              <a:buNone/>
            </a:pPr>
            <a:r>
              <a:rPr lang="es-ES" altLang="es-AR" sz="2800" dirty="0">
                <a:solidFill>
                  <a:schemeClr val="accent1">
                    <a:lumMod val="75000"/>
                  </a:schemeClr>
                </a:solidFill>
              </a:rPr>
              <a:t>Las características que definen a un gestor de proyecto eficiente resalta</a:t>
            </a:r>
          </a:p>
          <a:p>
            <a:pPr marL="305435" indent="-305435">
              <a:buFont typeface="Wingdings" panose="05000000000000000000" pitchFamily="2" charset="2"/>
              <a:buNone/>
            </a:pPr>
            <a:r>
              <a:rPr lang="es-ES" altLang="es-AR" sz="2800">
                <a:solidFill>
                  <a:schemeClr val="accent1">
                    <a:lumMod val="75000"/>
                  </a:schemeClr>
                </a:solidFill>
              </a:rPr>
              <a:t>cuatro apartados claves:</a:t>
            </a:r>
          </a:p>
          <a:p>
            <a:pPr>
              <a:buFont typeface="Wingdings" panose="05000000000000000000" pitchFamily="2" charset="2"/>
              <a:buNone/>
            </a:pPr>
            <a:endParaRPr lang="es-ES" altLang="es-AR" sz="2800">
              <a:solidFill>
                <a:schemeClr val="accent1">
                  <a:lumMod val="75000"/>
                </a:schemeClr>
              </a:solidFill>
            </a:endParaRPr>
          </a:p>
          <a:p>
            <a:pPr marL="305435" indent="-305435"/>
            <a:r>
              <a:rPr lang="es-ES" altLang="es-AR" sz="2800">
                <a:solidFill>
                  <a:schemeClr val="accent1">
                    <a:lumMod val="75000"/>
                  </a:schemeClr>
                </a:solidFill>
              </a:rPr>
              <a:t>Resolución del problema.</a:t>
            </a:r>
          </a:p>
          <a:p>
            <a:pPr marL="305435" indent="-305435"/>
            <a:r>
              <a:rPr lang="es-ES" altLang="es-AR" sz="2800">
                <a:solidFill>
                  <a:schemeClr val="accent1">
                    <a:lumMod val="75000"/>
                  </a:schemeClr>
                </a:solidFill>
              </a:rPr>
              <a:t>Dotes de gestión.</a:t>
            </a:r>
          </a:p>
          <a:p>
            <a:pPr marL="305435" indent="-305435"/>
            <a:r>
              <a:rPr lang="es-ES" altLang="es-AR" sz="2800">
                <a:solidFill>
                  <a:schemeClr val="accent1">
                    <a:lumMod val="75000"/>
                  </a:schemeClr>
                </a:solidFill>
              </a:rPr>
              <a:t>Incentivo de los logros.</a:t>
            </a:r>
          </a:p>
          <a:p>
            <a:pPr marL="305435" indent="-305435"/>
            <a:r>
              <a:rPr lang="es-ES" altLang="es-AR" sz="2800">
                <a:solidFill>
                  <a:schemeClr val="accent1">
                    <a:lumMod val="75000"/>
                  </a:schemeClr>
                </a:solidFill>
              </a:rPr>
              <a:t>Influencia y construcción de espíritu de equipo.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45B4F583-A2F5-A940-D075-3B724AA78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20</a:t>
            </a:fld>
            <a:endParaRPr lang="es-E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BB5A099-C240-2811-4746-BFC54E02C2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6995" y="617538"/>
            <a:ext cx="9765720" cy="1143000"/>
          </a:xfrm>
        </p:spPr>
        <p:txBody>
          <a:bodyPr>
            <a:normAutofit/>
          </a:bodyPr>
          <a:lstStyle/>
          <a:p>
            <a:r>
              <a:rPr lang="es-ES" altLang="es-AR" sz="3100"/>
              <a:t>Resolución del problema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CF23D1A0-C3F8-A6AE-CEF9-E8106439BC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6049" y="1844675"/>
            <a:ext cx="11280616" cy="4287838"/>
          </a:xfrm>
        </p:spPr>
        <p:txBody>
          <a:bodyPr/>
          <a:lstStyle/>
          <a:p>
            <a:pPr marL="0" indent="0">
              <a:buNone/>
            </a:pPr>
            <a:r>
              <a:rPr lang="es-ES" altLang="es-AR" sz="3000">
                <a:solidFill>
                  <a:schemeClr val="accent1">
                    <a:lumMod val="75000"/>
                  </a:schemeClr>
                </a:solidFill>
              </a:rPr>
              <a:t>Un gestor puede diagnosticar los aspectos tecnológicos y de organización.</a:t>
            </a:r>
            <a:endParaRPr lang="es-ES"/>
          </a:p>
          <a:p>
            <a:pPr marL="0" indent="0">
              <a:buNone/>
            </a:pPr>
            <a:endParaRPr lang="es-ES" altLang="es-AR" sz="3000" dirty="0">
              <a:solidFill>
                <a:schemeClr val="accent1">
                  <a:lumMod val="75000"/>
                </a:schemeClr>
              </a:solidFill>
            </a:endParaRPr>
          </a:p>
          <a:p>
            <a:pPr marL="305435" indent="-305435"/>
            <a:r>
              <a:rPr lang="es-ES" altLang="es-AR" sz="3000">
                <a:solidFill>
                  <a:schemeClr val="accent1">
                    <a:lumMod val="75000"/>
                  </a:schemeClr>
                </a:solidFill>
              </a:rPr>
              <a:t>Estructurar una posible solución</a:t>
            </a:r>
          </a:p>
          <a:p>
            <a:pPr marL="305435" indent="-305435"/>
            <a:r>
              <a:rPr lang="es-ES" altLang="es-AR" sz="3000">
                <a:solidFill>
                  <a:schemeClr val="accent1">
                    <a:lumMod val="75000"/>
                  </a:schemeClr>
                </a:solidFill>
              </a:rPr>
              <a:t>Aplicar todo lo aprendido en proyectos anteriores.</a:t>
            </a:r>
          </a:p>
          <a:p>
            <a:pPr marL="305435" indent="-305435"/>
            <a:r>
              <a:rPr lang="es-ES" altLang="es-AR" sz="3000">
                <a:solidFill>
                  <a:schemeClr val="accent1">
                    <a:lumMod val="75000"/>
                  </a:schemeClr>
                </a:solidFill>
              </a:rPr>
              <a:t>Flexibilidad para cambiar la gestión si los intentos iniciales no dan el resultado esperado.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10A38EF-020F-E567-1FBD-DFC54BABD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21</a:t>
            </a:fld>
            <a:endParaRPr lang="es-E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08D8FABF-88AA-3ABE-0CD4-0635255ECC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altLang="es-AR" sz="3100"/>
              <a:t>Dotes de Gestión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5660975D-3928-1BD8-5B62-7ED5B11053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3620" y="1916113"/>
            <a:ext cx="11280617" cy="4216400"/>
          </a:xfrm>
        </p:spPr>
        <p:txBody>
          <a:bodyPr/>
          <a:lstStyle/>
          <a:p>
            <a:r>
              <a:rPr lang="es-ES" altLang="es-AR" sz="3000">
                <a:solidFill>
                  <a:schemeClr val="accent1">
                    <a:lumMod val="75000"/>
                  </a:schemeClr>
                </a:solidFill>
              </a:rPr>
              <a:t>Un buen gestor de proyecto de SW debe tomar las riendas.</a:t>
            </a:r>
          </a:p>
          <a:p>
            <a:r>
              <a:rPr lang="es-ES" altLang="es-AR" sz="3000">
                <a:solidFill>
                  <a:schemeClr val="accent1">
                    <a:lumMod val="75000"/>
                  </a:schemeClr>
                </a:solidFill>
              </a:rPr>
              <a:t>Debe tener confianza para asumir el control cuando sea necesario.</a:t>
            </a:r>
          </a:p>
          <a:p>
            <a:r>
              <a:rPr lang="es-ES" altLang="es-AR" sz="3000">
                <a:solidFill>
                  <a:schemeClr val="accent1">
                    <a:lumMod val="75000"/>
                  </a:schemeClr>
                </a:solidFill>
              </a:rPr>
              <a:t>garantizar que los buenos técnicos sigan su instinto.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BEAF9E45-DF8B-5FC1-2A7F-EC317AAD7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22</a:t>
            </a:fld>
            <a:endParaRPr lang="es-E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3776E474-B9D3-8196-8597-0E81F2807A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altLang="es-AR" sz="3100"/>
              <a:t>Incentivos de los logros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1A35B274-C211-EE90-9372-2645F53BCC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71192" y="2017713"/>
            <a:ext cx="11353045" cy="41148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s-ES" altLang="es-AR" sz="3000">
                <a:solidFill>
                  <a:schemeClr val="accent1">
                    <a:lumMod val="75000"/>
                  </a:schemeClr>
                </a:solidFill>
              </a:rPr>
              <a:t>Recompensar la iniciativa y los logros.</a:t>
            </a:r>
          </a:p>
          <a:p>
            <a:pPr>
              <a:lnSpc>
                <a:spcPct val="140000"/>
              </a:lnSpc>
            </a:pPr>
            <a:r>
              <a:rPr lang="es-ES" altLang="es-AR" sz="3000">
                <a:solidFill>
                  <a:schemeClr val="accent1">
                    <a:lumMod val="75000"/>
                  </a:schemeClr>
                </a:solidFill>
              </a:rPr>
              <a:t>Demostrar, a través de sus acciones, que no se penalizará si se corren riesgos controlados.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2782361B-5034-5475-A2FB-54F6B2302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23</a:t>
            </a:fld>
            <a:endParaRPr lang="es-E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4234E59F-5563-6457-884E-3C1C9102A4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9293" y="617538"/>
            <a:ext cx="10884024" cy="1143000"/>
          </a:xfrm>
        </p:spPr>
        <p:txBody>
          <a:bodyPr>
            <a:normAutofit/>
          </a:bodyPr>
          <a:lstStyle/>
          <a:p>
            <a:r>
              <a:rPr lang="es-ES" altLang="es-AR" sz="3100"/>
              <a:t>Influencia y construcción de espíritu de equipo</a:t>
            </a:r>
            <a:endParaRPr lang="es-ES" altLang="es-AR" sz="3600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E9AC587A-0F13-7792-FEDC-FF15B5EF65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9834" y="2180496"/>
            <a:ext cx="11130973" cy="3678303"/>
          </a:xfrm>
        </p:spPr>
        <p:txBody>
          <a:bodyPr/>
          <a:lstStyle/>
          <a:p>
            <a:r>
              <a:rPr lang="es-ES" altLang="es-AR" sz="3000">
                <a:solidFill>
                  <a:schemeClr val="accent1">
                    <a:lumMod val="75000"/>
                  </a:schemeClr>
                </a:solidFill>
              </a:rPr>
              <a:t>Debe de ser capaz de “leer” a la gente.</a:t>
            </a:r>
          </a:p>
          <a:p>
            <a:r>
              <a:rPr lang="es-ES" altLang="es-AR" sz="3000">
                <a:solidFill>
                  <a:schemeClr val="accent1">
                    <a:lumMod val="75000"/>
                  </a:schemeClr>
                </a:solidFill>
              </a:rPr>
              <a:t>Debe ser capaz de entender mensajes verbales y no verbales.</a:t>
            </a:r>
          </a:p>
          <a:p>
            <a:r>
              <a:rPr lang="es-ES" altLang="es-AR" sz="3000">
                <a:solidFill>
                  <a:schemeClr val="accent1">
                    <a:lumMod val="75000"/>
                  </a:schemeClr>
                </a:solidFill>
              </a:rPr>
              <a:t>Reaccionar ante las necesidades de las personas que mandan señales.</a:t>
            </a:r>
          </a:p>
          <a:p>
            <a:r>
              <a:rPr lang="es-ES" altLang="es-AR" sz="3000">
                <a:solidFill>
                  <a:schemeClr val="accent1">
                    <a:lumMod val="75000"/>
                  </a:schemeClr>
                </a:solidFill>
              </a:rPr>
              <a:t>El gestor debe mantener el control en situaciones de gran estrés.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81E706E-8EAA-B61A-D8E3-FBC19BE4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24</a:t>
            </a:fld>
            <a:endParaRPr lang="es-E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CE60900D-B7C7-ED15-8B8C-335147D91F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0781" y="617538"/>
            <a:ext cx="9801934" cy="1143000"/>
          </a:xfrm>
        </p:spPr>
        <p:txBody>
          <a:bodyPr/>
          <a:lstStyle/>
          <a:p>
            <a:r>
              <a:rPr lang="es-ES" altLang="es-AR" sz="3100"/>
              <a:t>El Equipo de SW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3FDA3457-BCE3-0AFB-549A-5AA7381F2D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8887" y="2017713"/>
            <a:ext cx="11271564" cy="4114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s-ES" altLang="es-AR" sz="3000">
                <a:solidFill>
                  <a:schemeClr val="accent1">
                    <a:lumMod val="75000"/>
                  </a:schemeClr>
                </a:solidFill>
              </a:rPr>
              <a:t>Existen tantas estructuras de organizaciones</a:t>
            </a:r>
          </a:p>
          <a:p>
            <a:pPr marL="0" indent="0" algn="ctr">
              <a:buNone/>
            </a:pPr>
            <a:r>
              <a:rPr lang="es-ES" altLang="es-AR" sz="3000">
                <a:solidFill>
                  <a:schemeClr val="accent1">
                    <a:lumMod val="75000"/>
                  </a:schemeClr>
                </a:solidFill>
              </a:rPr>
              <a:t>de personal para el </a:t>
            </a:r>
          </a:p>
          <a:p>
            <a:pPr marL="0" indent="0" algn="ctr">
              <a:buNone/>
            </a:pPr>
            <a:r>
              <a:rPr lang="es-ES" altLang="es-AR" sz="3000">
                <a:solidFill>
                  <a:schemeClr val="accent1">
                    <a:lumMod val="75000"/>
                  </a:schemeClr>
                </a:solidFill>
              </a:rPr>
              <a:t>desarrollo de SW, como organizaciones </a:t>
            </a:r>
          </a:p>
          <a:p>
            <a:pPr marL="0" indent="0" algn="ctr">
              <a:buNone/>
            </a:pPr>
            <a:r>
              <a:rPr lang="es-ES" altLang="es-AR" sz="3000">
                <a:solidFill>
                  <a:schemeClr val="accent1">
                    <a:lumMod val="75000"/>
                  </a:schemeClr>
                </a:solidFill>
              </a:rPr>
              <a:t>que se dedican a ello.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6AFFF215-3ED5-43FE-10FB-56C2A17DD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25</a:t>
            </a:fld>
            <a:endParaRPr lang="es-E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>
            <a:extLst>
              <a:ext uri="{FF2B5EF4-FFF2-40B4-BE49-F238E27FC236}">
                <a16:creationId xmlns:a16="http://schemas.microsoft.com/office/drawing/2014/main" id="{627DEE9F-8589-4F67-D555-05527380CA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1727" y="2017713"/>
            <a:ext cx="11199136" cy="4114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05435" indent="-305435"/>
            <a:r>
              <a:rPr lang="es-ES" altLang="es-AR" sz="3000">
                <a:solidFill>
                  <a:schemeClr val="accent1">
                    <a:lumMod val="75000"/>
                  </a:schemeClr>
                </a:solidFill>
              </a:rPr>
              <a:t>Las políticas y prácticas de un cambio en la organización no están dentro del alcance de las responsabilidades del gestor de un proyecto de SW.</a:t>
            </a:r>
            <a:endParaRPr lang="es-ES">
              <a:solidFill>
                <a:schemeClr val="accent1">
                  <a:lumMod val="75000"/>
                </a:schemeClr>
              </a:solidFill>
            </a:endParaRPr>
          </a:p>
          <a:p>
            <a:pPr marL="305435" indent="-305435"/>
            <a:r>
              <a:rPr lang="es-ES" altLang="es-AR" sz="3000">
                <a:solidFill>
                  <a:schemeClr val="accent1">
                    <a:lumMod val="75000"/>
                  </a:schemeClr>
                </a:solidFill>
              </a:rPr>
              <a:t>La organización del personal directamente involucrado en un nuevo proyecto de SW está dentro del ámbito del gestor del proyecto.</a:t>
            </a:r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8B587BCD-1F2F-5E72-EDB5-7CA9187C8B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/>
          </a:bodyPr>
          <a:lstStyle/>
          <a:p>
            <a:r>
              <a:rPr lang="es-ES" altLang="es-AR" sz="3100"/>
              <a:t>El Equipo de SW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D3BA1BF2-9582-DE83-C0D2-0C6139BD0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26</a:t>
            </a:fld>
            <a:endParaRPr lang="es-E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85CA185E-99DE-62B6-07DB-140E853681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4567" y="2017713"/>
            <a:ext cx="10683088" cy="4114800"/>
          </a:xfrm>
        </p:spPr>
        <p:txBody>
          <a:bodyPr>
            <a:normAutofit/>
          </a:bodyPr>
          <a:lstStyle/>
          <a:p>
            <a:r>
              <a:rPr lang="es-ES" altLang="es-AR" sz="2800">
                <a:solidFill>
                  <a:schemeClr val="accent1">
                    <a:lumMod val="75000"/>
                  </a:schemeClr>
                </a:solidFill>
              </a:rPr>
              <a:t>La mejor estructura de personas que compondrá el equipo, sus niveles de preparación y la dificultas general del problema.</a:t>
            </a:r>
          </a:p>
          <a:p>
            <a:r>
              <a:rPr lang="es-ES" altLang="es-AR" sz="2800">
                <a:solidFill>
                  <a:schemeClr val="accent1">
                    <a:lumMod val="75000"/>
                  </a:schemeClr>
                </a:solidFill>
              </a:rPr>
              <a:t>Se sugieren tres organigramas de equipo genérico.</a:t>
            </a:r>
          </a:p>
          <a:p>
            <a:pPr lvl="1"/>
            <a:r>
              <a:rPr lang="es-ES" altLang="es-AR" sz="2400">
                <a:solidFill>
                  <a:schemeClr val="accent1">
                    <a:lumMod val="75000"/>
                  </a:schemeClr>
                </a:solidFill>
              </a:rPr>
              <a:t>Descentralizado democrático (DD).</a:t>
            </a:r>
          </a:p>
          <a:p>
            <a:pPr lvl="1"/>
            <a:r>
              <a:rPr lang="es-ES" altLang="es-AR" sz="2400">
                <a:solidFill>
                  <a:schemeClr val="accent1">
                    <a:lumMod val="75000"/>
                  </a:schemeClr>
                </a:solidFill>
              </a:rPr>
              <a:t> Descentralizado controlado (DC).</a:t>
            </a:r>
          </a:p>
          <a:p>
            <a:pPr lvl="1"/>
            <a:r>
              <a:rPr lang="es-ES" altLang="es-AR" sz="2400">
                <a:solidFill>
                  <a:schemeClr val="accent1">
                    <a:lumMod val="75000"/>
                  </a:schemeClr>
                </a:solidFill>
              </a:rPr>
              <a:t>Centralizado controlado (CC).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62F3E563-94F8-45D2-C690-0B10380576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/>
          </a:bodyPr>
          <a:lstStyle/>
          <a:p>
            <a:r>
              <a:rPr lang="es-ES" altLang="es-AR" sz="3100"/>
              <a:t>El Equipo de SW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613A33A-FAA1-C35A-F2A5-9A3BA1F13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27</a:t>
            </a:fld>
            <a:endParaRPr lang="es-E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E98C0BB5-749A-A4A8-050E-4A296D96AE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4155" y="2017713"/>
            <a:ext cx="1126251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s-ES" altLang="es-AR" sz="2800">
                <a:solidFill>
                  <a:schemeClr val="accent1">
                    <a:lumMod val="75000"/>
                  </a:schemeClr>
                </a:solidFill>
              </a:rPr>
              <a:t>No tiene un jefe permanente.</a:t>
            </a:r>
          </a:p>
          <a:p>
            <a:pPr>
              <a:lnSpc>
                <a:spcPct val="90000"/>
              </a:lnSpc>
            </a:pPr>
            <a:r>
              <a:rPr lang="es-ES" altLang="es-AR" sz="2800">
                <a:solidFill>
                  <a:schemeClr val="accent1">
                    <a:lumMod val="75000"/>
                  </a:schemeClr>
                </a:solidFill>
              </a:rPr>
              <a:t>Se nombran coordinadores de tareas a corto plazo.</a:t>
            </a:r>
          </a:p>
          <a:p>
            <a:pPr lvl="1">
              <a:lnSpc>
                <a:spcPct val="90000"/>
              </a:lnSpc>
            </a:pPr>
            <a:r>
              <a:rPr lang="es-ES" altLang="es-AR" sz="2400">
                <a:solidFill>
                  <a:schemeClr val="accent1">
                    <a:lumMod val="75000"/>
                  </a:schemeClr>
                </a:solidFill>
              </a:rPr>
              <a:t>se sustituyen por otros para diferentes tareas.</a:t>
            </a:r>
          </a:p>
          <a:p>
            <a:pPr>
              <a:lnSpc>
                <a:spcPct val="90000"/>
              </a:lnSpc>
            </a:pPr>
            <a:r>
              <a:rPr lang="es-ES" altLang="es-AR" sz="2800">
                <a:solidFill>
                  <a:schemeClr val="accent1">
                    <a:lumMod val="75000"/>
                  </a:schemeClr>
                </a:solidFill>
              </a:rPr>
              <a:t>Las decisiones sobre problemas y enfoques se hacen por consenso del grupo.</a:t>
            </a:r>
          </a:p>
          <a:p>
            <a:pPr>
              <a:lnSpc>
                <a:spcPct val="90000"/>
              </a:lnSpc>
            </a:pPr>
            <a:r>
              <a:rPr lang="es-ES" altLang="es-AR" sz="2800">
                <a:solidFill>
                  <a:schemeClr val="accent1">
                    <a:lumMod val="75000"/>
                  </a:schemeClr>
                </a:solidFill>
              </a:rPr>
              <a:t>La comunicación entre los miembros del equipo es horizontal.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99D2DEC4-747C-4F44-B1FF-7B9948F224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/>
          </a:bodyPr>
          <a:lstStyle/>
          <a:p>
            <a:r>
              <a:rPr lang="es-ES" altLang="es-AR" sz="3100"/>
              <a:t>Descentralizado democrático (DD)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A61A8F9A-66DF-63A3-21C0-453B0FBF8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28</a:t>
            </a:fld>
            <a:endParaRPr lang="es-E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7A8AE3DA-9F77-F9E1-91AF-63B1E3C60A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5513" y="2017713"/>
            <a:ext cx="11343992" cy="4114800"/>
          </a:xfrm>
        </p:spPr>
        <p:txBody>
          <a:bodyPr>
            <a:normAutofit/>
          </a:bodyPr>
          <a:lstStyle/>
          <a:p>
            <a:r>
              <a:rPr lang="es-ES" altLang="es-AR" sz="2400">
                <a:solidFill>
                  <a:schemeClr val="accent1">
                    <a:lumMod val="75000"/>
                  </a:schemeClr>
                </a:solidFill>
              </a:rPr>
              <a:t>Tiene un jefe definido.</a:t>
            </a:r>
          </a:p>
          <a:p>
            <a:pPr lvl="1"/>
            <a:r>
              <a:rPr lang="es-ES" altLang="es-AR" sz="2000">
                <a:solidFill>
                  <a:schemeClr val="accent1">
                    <a:lumMod val="75000"/>
                  </a:schemeClr>
                </a:solidFill>
              </a:rPr>
              <a:t>coordina tareas específicas y jefes secundarios.</a:t>
            </a:r>
          </a:p>
          <a:p>
            <a:r>
              <a:rPr lang="es-ES" altLang="es-AR" sz="2400">
                <a:solidFill>
                  <a:schemeClr val="accent1">
                    <a:lumMod val="75000"/>
                  </a:schemeClr>
                </a:solidFill>
              </a:rPr>
              <a:t>La resolución de problemas sigue siendo una actividad del grupo.</a:t>
            </a:r>
          </a:p>
          <a:p>
            <a:pPr lvl="1"/>
            <a:r>
              <a:rPr lang="es-ES" altLang="es-AR" sz="2000">
                <a:solidFill>
                  <a:schemeClr val="accent1">
                    <a:lumMod val="75000"/>
                  </a:schemeClr>
                </a:solidFill>
              </a:rPr>
              <a:t>La implementación de soluciones se reparte entre subgrupos por el jefe de equipo.</a:t>
            </a:r>
          </a:p>
          <a:p>
            <a:r>
              <a:rPr lang="es-ES" altLang="es-AR" sz="2400">
                <a:solidFill>
                  <a:schemeClr val="accent1">
                    <a:lumMod val="75000"/>
                  </a:schemeClr>
                </a:solidFill>
              </a:rPr>
              <a:t>La comunicación entre subgrupos e individuo es horizontal.</a:t>
            </a:r>
          </a:p>
          <a:p>
            <a:r>
              <a:rPr lang="es-ES" altLang="es-AR" sz="2400">
                <a:solidFill>
                  <a:schemeClr val="accent1">
                    <a:lumMod val="75000"/>
                  </a:schemeClr>
                </a:solidFill>
              </a:rPr>
              <a:t>Hay comunicación vertical a lo largo de la jerarquía de control.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C1B5BE48-D55D-81F0-06FA-97FC11D954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/>
          </a:bodyPr>
          <a:lstStyle/>
          <a:p>
            <a:r>
              <a:rPr lang="es-ES" altLang="es-AR" sz="3100"/>
              <a:t>Descentralizado controlado (DC)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5474F72-1D07-7CBA-D8BC-CCD089FAE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29</a:t>
            </a:fld>
            <a:endParaRPr lang="es-E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027526B0-CE0E-6794-A3B8-D1B59E529C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1727" y="1991882"/>
            <a:ext cx="11280618" cy="4114800"/>
          </a:xfrm>
        </p:spPr>
        <p:txBody>
          <a:bodyPr/>
          <a:lstStyle/>
          <a:p>
            <a:pPr>
              <a:lnSpc>
                <a:spcPct val="115000"/>
              </a:lnSpc>
              <a:spcBef>
                <a:spcPct val="70000"/>
              </a:spcBef>
            </a:pPr>
            <a:r>
              <a:rPr lang="es-ES" altLang="es-AR" sz="2800">
                <a:solidFill>
                  <a:schemeClr val="accent1">
                    <a:lumMod val="75000"/>
                  </a:schemeClr>
                </a:solidFill>
              </a:rPr>
              <a:t>El jefe del equipo se encarga de la resolución de problemas de alto nivel y la coordinación interna del grupo.</a:t>
            </a:r>
          </a:p>
          <a:p>
            <a:pPr>
              <a:lnSpc>
                <a:spcPct val="115000"/>
              </a:lnSpc>
              <a:spcBef>
                <a:spcPct val="70000"/>
              </a:spcBef>
            </a:pPr>
            <a:r>
              <a:rPr lang="es-ES" altLang="es-AR" sz="2800">
                <a:solidFill>
                  <a:schemeClr val="accent1">
                    <a:lumMod val="75000"/>
                  </a:schemeClr>
                </a:solidFill>
              </a:rPr>
              <a:t>La comunicación entre el jefe y los miembros del equipo es vertical.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EE96991E-C885-E8ED-B4E8-CD6DC6764E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/>
          </a:bodyPr>
          <a:lstStyle/>
          <a:p>
            <a:r>
              <a:rPr lang="es-ES" altLang="es-AR" sz="3100"/>
              <a:t>Centralizado controlado (CC)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A28AFE50-162B-6324-BC73-DFC95BF45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30</a:t>
            </a:fld>
            <a:endParaRPr lang="es-E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56F88B6A-440B-AB4D-7905-ED390168A4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0781" y="2017713"/>
            <a:ext cx="11235350" cy="4114800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  <a:spcBef>
                <a:spcPct val="70000"/>
              </a:spcBef>
              <a:buFont typeface="Wingdings" panose="05000000000000000000" pitchFamily="2" charset="2"/>
              <a:buNone/>
            </a:pPr>
            <a:r>
              <a:rPr lang="es-ES" altLang="es-AR" sz="2000" b="1">
                <a:solidFill>
                  <a:schemeClr val="accent1">
                    <a:lumMod val="75000"/>
                  </a:schemeClr>
                </a:solidFill>
              </a:rPr>
              <a:t>Siete factores a considerar</a:t>
            </a:r>
          </a:p>
          <a:p>
            <a:pPr>
              <a:lnSpc>
                <a:spcPct val="115000"/>
              </a:lnSpc>
              <a:spcBef>
                <a:spcPct val="15000"/>
              </a:spcBef>
            </a:pPr>
            <a:r>
              <a:rPr lang="es-ES" altLang="es-AR" sz="2100">
                <a:solidFill>
                  <a:schemeClr val="accent1">
                    <a:lumMod val="75000"/>
                  </a:schemeClr>
                </a:solidFill>
              </a:rPr>
              <a:t>La dificultad del problema que hay que resolver.</a:t>
            </a:r>
          </a:p>
          <a:p>
            <a:pPr>
              <a:lnSpc>
                <a:spcPct val="115000"/>
              </a:lnSpc>
              <a:spcBef>
                <a:spcPct val="15000"/>
              </a:spcBef>
            </a:pPr>
            <a:r>
              <a:rPr lang="es-ES" altLang="es-AR" sz="2100">
                <a:solidFill>
                  <a:schemeClr val="accent1">
                    <a:lumMod val="75000"/>
                  </a:schemeClr>
                </a:solidFill>
              </a:rPr>
              <a:t>El tamaño del programa resultante en líneas de código.</a:t>
            </a:r>
          </a:p>
          <a:p>
            <a:pPr>
              <a:lnSpc>
                <a:spcPct val="115000"/>
              </a:lnSpc>
              <a:spcBef>
                <a:spcPct val="15000"/>
              </a:spcBef>
            </a:pPr>
            <a:r>
              <a:rPr lang="es-ES" altLang="es-AR" sz="2100">
                <a:solidFill>
                  <a:schemeClr val="accent1">
                    <a:lumMod val="75000"/>
                  </a:schemeClr>
                </a:solidFill>
              </a:rPr>
              <a:t>El tiempo que el equipo estará junto (Tiempo de vida del equipo).</a:t>
            </a:r>
          </a:p>
          <a:p>
            <a:pPr>
              <a:lnSpc>
                <a:spcPct val="115000"/>
              </a:lnSpc>
              <a:spcBef>
                <a:spcPct val="15000"/>
              </a:spcBef>
            </a:pPr>
            <a:r>
              <a:rPr lang="es-ES" altLang="es-AR" sz="2100">
                <a:solidFill>
                  <a:schemeClr val="accent1">
                    <a:lumMod val="75000"/>
                  </a:schemeClr>
                </a:solidFill>
              </a:rPr>
              <a:t>El grado en que el problema puede ser modularizado.</a:t>
            </a:r>
          </a:p>
          <a:p>
            <a:pPr>
              <a:lnSpc>
                <a:spcPct val="115000"/>
              </a:lnSpc>
              <a:spcBef>
                <a:spcPct val="15000"/>
              </a:spcBef>
            </a:pPr>
            <a:r>
              <a:rPr lang="es-ES" altLang="es-AR" sz="2100">
                <a:solidFill>
                  <a:schemeClr val="accent1">
                    <a:lumMod val="75000"/>
                  </a:schemeClr>
                </a:solidFill>
              </a:rPr>
              <a:t>La calidad requerida y fiabilidad del sistema que se va a construir.</a:t>
            </a:r>
          </a:p>
          <a:p>
            <a:pPr>
              <a:lnSpc>
                <a:spcPct val="115000"/>
              </a:lnSpc>
              <a:spcBef>
                <a:spcPct val="15000"/>
              </a:spcBef>
            </a:pPr>
            <a:r>
              <a:rPr lang="es-ES" altLang="es-AR" sz="2100">
                <a:solidFill>
                  <a:schemeClr val="accent1">
                    <a:lumMod val="75000"/>
                  </a:schemeClr>
                </a:solidFill>
              </a:rPr>
              <a:t>La rigidez de la fecha de entrega.</a:t>
            </a:r>
          </a:p>
          <a:p>
            <a:pPr>
              <a:lnSpc>
                <a:spcPct val="115000"/>
              </a:lnSpc>
              <a:spcBef>
                <a:spcPct val="15000"/>
              </a:spcBef>
            </a:pPr>
            <a:r>
              <a:rPr lang="es-ES" altLang="es-AR" sz="2100">
                <a:solidFill>
                  <a:schemeClr val="accent1">
                    <a:lumMod val="75000"/>
                  </a:schemeClr>
                </a:solidFill>
              </a:rPr>
              <a:t>El grado de comunicación requerido para el proyecto.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2A61E202-7283-D9E3-8E80-03AEA57411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s-ES" altLang="es-AR" sz="3100"/>
              <a:t>Factores a considerar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AA3529C-C6BC-50C7-0DC2-088F9408F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31</a:t>
            </a:fld>
            <a:endParaRPr lang="es-E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713DAE17-1748-EC7E-665E-CE54F8B234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altLang="es-AR" sz="3100"/>
              <a:t>Paradigmas  de organización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2D6B665F-C8CA-A938-10E5-9242151258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0780" y="2017713"/>
            <a:ext cx="11316831" cy="41148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s-ES" altLang="es-AR" sz="2800" b="1">
                <a:solidFill>
                  <a:schemeClr val="accent1">
                    <a:lumMod val="75000"/>
                  </a:schemeClr>
                </a:solidFill>
              </a:rPr>
              <a:t>Para equipos de ingeniería del SW</a:t>
            </a:r>
          </a:p>
          <a:p>
            <a:pPr>
              <a:buFont typeface="Wingdings" panose="05000000000000000000" pitchFamily="2" charset="2"/>
              <a:buNone/>
            </a:pPr>
            <a:endParaRPr lang="es-ES" altLang="es-AR" sz="2800" b="1">
              <a:solidFill>
                <a:schemeClr val="accent1">
                  <a:lumMod val="75000"/>
                </a:schemeClr>
              </a:solidFill>
            </a:endParaRPr>
          </a:p>
          <a:p>
            <a:pPr>
              <a:spcBef>
                <a:spcPct val="75000"/>
              </a:spcBef>
            </a:pPr>
            <a:r>
              <a:rPr lang="es-ES" altLang="es-AR" sz="2800">
                <a:solidFill>
                  <a:schemeClr val="accent1">
                    <a:lumMod val="75000"/>
                  </a:schemeClr>
                </a:solidFill>
              </a:rPr>
              <a:t>Paradigma cerrado.</a:t>
            </a:r>
          </a:p>
          <a:p>
            <a:r>
              <a:rPr lang="es-ES" altLang="es-AR" sz="2800">
                <a:solidFill>
                  <a:schemeClr val="accent1">
                    <a:lumMod val="75000"/>
                  </a:schemeClr>
                </a:solidFill>
              </a:rPr>
              <a:t>Paradigma aleatorio.</a:t>
            </a:r>
          </a:p>
          <a:p>
            <a:r>
              <a:rPr lang="es-ES" altLang="es-AR" sz="2800">
                <a:solidFill>
                  <a:schemeClr val="accent1">
                    <a:lumMod val="75000"/>
                  </a:schemeClr>
                </a:solidFill>
              </a:rPr>
              <a:t>Paradigma abierto.</a:t>
            </a:r>
          </a:p>
          <a:p>
            <a:r>
              <a:rPr lang="es-ES" altLang="es-AR" sz="2800">
                <a:solidFill>
                  <a:schemeClr val="accent1">
                    <a:lumMod val="75000"/>
                  </a:schemeClr>
                </a:solidFill>
              </a:rPr>
              <a:t>Paradigma sincronizado.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5D48A220-4DAE-E9CB-C729-203462EB2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32</a:t>
            </a:fld>
            <a:endParaRPr lang="es-E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66879721-5124-64D9-D1E4-B64AED3628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altLang="es-AR" sz="3100"/>
              <a:t>Paradigma cerrado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63252BCF-8E13-EB94-599C-F6381331F2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1727" y="1844676"/>
            <a:ext cx="11353045" cy="4392613"/>
          </a:xfrm>
        </p:spPr>
        <p:txBody>
          <a:bodyPr>
            <a:noAutofit/>
          </a:bodyPr>
          <a:lstStyle/>
          <a:p>
            <a:pPr marL="305435" indent="-305435">
              <a:lnSpc>
                <a:spcPct val="120000"/>
              </a:lnSpc>
            </a:pPr>
            <a:r>
              <a:rPr lang="es-ES" altLang="es-AR" sz="2200">
                <a:solidFill>
                  <a:schemeClr val="accent1">
                    <a:lumMod val="75000"/>
                  </a:schemeClr>
                </a:solidFill>
              </a:rPr>
              <a:t>Estructura a un equipo con una jerarquía tradicional Ej.: Líder y sublíder de autoridad </a:t>
            </a:r>
            <a:endParaRPr lang="es-ES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s-ES" altLang="es-AR" sz="2200">
                <a:solidFill>
                  <a:schemeClr val="accent1">
                    <a:lumMod val="75000"/>
                  </a:schemeClr>
                </a:solidFill>
              </a:rPr>
              <a:t>   (similar al equipo Centralizado controlado CC).</a:t>
            </a:r>
            <a:endParaRPr lang="es-ES">
              <a:solidFill>
                <a:schemeClr val="accent1">
                  <a:lumMod val="75000"/>
                </a:schemeClr>
              </a:solidFill>
            </a:endParaRPr>
          </a:p>
          <a:p>
            <a:pPr marL="305435" indent="-305435">
              <a:lnSpc>
                <a:spcPct val="120000"/>
              </a:lnSpc>
            </a:pPr>
            <a:r>
              <a:rPr lang="es-ES" altLang="es-AR" sz="2200">
                <a:solidFill>
                  <a:schemeClr val="accent1">
                    <a:lumMod val="75000"/>
                  </a:schemeClr>
                </a:solidFill>
              </a:rPr>
              <a:t>Trabajan bien cuando producen SW.</a:t>
            </a:r>
          </a:p>
          <a:p>
            <a:pPr marL="305435" indent="-305435">
              <a:lnSpc>
                <a:spcPct val="120000"/>
              </a:lnSpc>
            </a:pPr>
            <a:r>
              <a:rPr lang="es-ES" altLang="es-AR" sz="2200">
                <a:solidFill>
                  <a:schemeClr val="accent1">
                    <a:lumMod val="75000"/>
                  </a:schemeClr>
                </a:solidFill>
              </a:rPr>
              <a:t>Menos innovadores.</a:t>
            </a:r>
          </a:p>
          <a:p>
            <a:pPr marL="305435" indent="-305435">
              <a:lnSpc>
                <a:spcPct val="120000"/>
              </a:lnSpc>
            </a:pPr>
            <a:r>
              <a:rPr lang="es-ES" altLang="es-AR" sz="2200">
                <a:solidFill>
                  <a:schemeClr val="accent1">
                    <a:lumMod val="75000"/>
                  </a:schemeClr>
                </a:solidFill>
              </a:rPr>
              <a:t>Se centra  solo en aplicar las ideas que se encuentren dentro del mismo paradigma.</a:t>
            </a:r>
          </a:p>
          <a:p>
            <a:pPr marL="629920" lvl="1" indent="-305435">
              <a:lnSpc>
                <a:spcPct val="120000"/>
              </a:lnSpc>
            </a:pPr>
            <a:r>
              <a:rPr lang="es-ES" altLang="es-AR" sz="2200">
                <a:solidFill>
                  <a:schemeClr val="accent1">
                    <a:lumMod val="75000"/>
                  </a:schemeClr>
                </a:solidFill>
              </a:rPr>
              <a:t>Desconoce todo lo que este fuera de él.</a:t>
            </a:r>
          </a:p>
          <a:p>
            <a:pPr marL="305435" indent="-305435">
              <a:lnSpc>
                <a:spcPct val="120000"/>
              </a:lnSpc>
            </a:pPr>
            <a:r>
              <a:rPr lang="es-ES" altLang="es-AR" sz="2200">
                <a:solidFill>
                  <a:schemeClr val="accent1">
                    <a:lumMod val="75000"/>
                  </a:schemeClr>
                </a:solidFill>
              </a:rPr>
              <a:t>Se suele optar por este tipo de modelo cuando la complejidad del proyecto no es muy grande.</a:t>
            </a:r>
          </a:p>
          <a:p>
            <a:pPr marL="305435" indent="-305435">
              <a:lnSpc>
                <a:spcPct val="120000"/>
              </a:lnSpc>
            </a:pPr>
            <a:r>
              <a:rPr lang="es-ES" altLang="es-AR" sz="2200">
                <a:solidFill>
                  <a:schemeClr val="accent1">
                    <a:lumMod val="75000"/>
                  </a:schemeClr>
                </a:solidFill>
              </a:rPr>
              <a:t>Requiere poca innovación e ideas nuevas.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9F719C37-3D08-2D7D-9D63-9388A7C2B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33</a:t>
            </a:fld>
            <a:endParaRPr lang="es-E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F296DBDD-3353-4A43-176C-85B5F760BA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altLang="es-AR" sz="3100"/>
              <a:t>Paradigma aleatorio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AE30BC22-0BC2-855F-5919-569A174613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0780" y="1844675"/>
            <a:ext cx="10710249" cy="4287838"/>
          </a:xfrm>
        </p:spPr>
        <p:txBody>
          <a:bodyPr>
            <a:normAutofit/>
          </a:bodyPr>
          <a:lstStyle/>
          <a:p>
            <a:r>
              <a:rPr lang="es-ES" altLang="es-AR" sz="2400">
                <a:solidFill>
                  <a:schemeClr val="accent1">
                    <a:lumMod val="75000"/>
                  </a:schemeClr>
                </a:solidFill>
              </a:rPr>
              <a:t>Estructura al equipo libremente y depende de la iniciativa individual de los miembros.</a:t>
            </a:r>
          </a:p>
          <a:p>
            <a:pPr lvl="1"/>
            <a:r>
              <a:rPr lang="es-ES" altLang="es-AR" sz="2400">
                <a:solidFill>
                  <a:schemeClr val="accent1">
                    <a:lumMod val="75000"/>
                  </a:schemeClr>
                </a:solidFill>
              </a:rPr>
              <a:t>Los miembros poseen capacidades de liderazgo e iniciativa.</a:t>
            </a:r>
          </a:p>
          <a:p>
            <a:pPr lvl="1"/>
            <a:r>
              <a:rPr lang="es-ES" altLang="es-AR" sz="2400">
                <a:solidFill>
                  <a:schemeClr val="accent1">
                    <a:lumMod val="75000"/>
                  </a:schemeClr>
                </a:solidFill>
              </a:rPr>
              <a:t>No requiere de un líder definido por ser un equipo flexible.</a:t>
            </a:r>
          </a:p>
          <a:p>
            <a:r>
              <a:rPr lang="es-ES" altLang="es-AR" sz="2400">
                <a:solidFill>
                  <a:schemeClr val="accent1">
                    <a:lumMod val="75000"/>
                  </a:schemeClr>
                </a:solidFill>
              </a:rPr>
              <a:t>se requiere innovación o avances tecnológicos.</a:t>
            </a:r>
          </a:p>
          <a:p>
            <a:r>
              <a:rPr lang="es-ES" altLang="es-AR" sz="2400">
                <a:solidFill>
                  <a:schemeClr val="accent1">
                    <a:lumMod val="75000"/>
                  </a:schemeClr>
                </a:solidFill>
              </a:rPr>
              <a:t>chocan cuando se requiere un “rendimiento ordenado”.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5D1A9DE5-B452-8F9F-4A6F-CCDDF7E1F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34</a:t>
            </a:fld>
            <a:endParaRPr lang="es-E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A39B55C9-0EF2-EE6B-0818-A21DF0259B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altLang="es-AR" sz="3100"/>
              <a:t>Paradigma abierto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DB4CDE3A-2692-D905-765A-C5A639FF7E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8147" y="2017713"/>
            <a:ext cx="10719252" cy="4114800"/>
          </a:xfrm>
        </p:spPr>
        <p:txBody>
          <a:bodyPr>
            <a:noAutofit/>
          </a:bodyPr>
          <a:lstStyle/>
          <a:p>
            <a:pPr>
              <a:lnSpc>
                <a:spcPts val="3300"/>
              </a:lnSpc>
              <a:spcBef>
                <a:spcPct val="5000"/>
              </a:spcBef>
            </a:pPr>
            <a:r>
              <a:rPr lang="es-ES" altLang="es-AR" sz="2400">
                <a:solidFill>
                  <a:srgbClr val="1A3260"/>
                </a:solidFill>
              </a:rPr>
              <a:t>Intenta estructurar a un equipo de manera que consiga algunos de los controles asociados con el paradigma cerrado.</a:t>
            </a:r>
          </a:p>
          <a:p>
            <a:pPr>
              <a:lnSpc>
                <a:spcPts val="3300"/>
              </a:lnSpc>
              <a:spcBef>
                <a:spcPct val="5000"/>
              </a:spcBef>
            </a:pPr>
            <a:r>
              <a:rPr lang="es-ES" altLang="es-AR" sz="2400">
                <a:solidFill>
                  <a:srgbClr val="1A3260"/>
                </a:solidFill>
              </a:rPr>
              <a:t>Utiliza mucha de la innovación que tiene lugar cuando se utiliza el paradigma aleatorio.</a:t>
            </a:r>
          </a:p>
          <a:p>
            <a:pPr>
              <a:lnSpc>
                <a:spcPts val="3300"/>
              </a:lnSpc>
              <a:spcBef>
                <a:spcPct val="5000"/>
              </a:spcBef>
            </a:pPr>
            <a:r>
              <a:rPr lang="es-ES" altLang="es-AR" sz="2400">
                <a:solidFill>
                  <a:srgbClr val="1A3260"/>
                </a:solidFill>
              </a:rPr>
              <a:t>El trabajo se desarrolla con mucha comunicación y toma decisiones consensuadas.</a:t>
            </a:r>
          </a:p>
          <a:p>
            <a:pPr>
              <a:lnSpc>
                <a:spcPts val="3300"/>
              </a:lnSpc>
              <a:spcBef>
                <a:spcPct val="5000"/>
              </a:spcBef>
            </a:pPr>
            <a:r>
              <a:rPr lang="es-ES" altLang="es-AR" sz="2400">
                <a:solidFill>
                  <a:srgbClr val="1A3260"/>
                </a:solidFill>
              </a:rPr>
              <a:t>son adecuados para la resolución de problemas complejos.</a:t>
            </a:r>
          </a:p>
          <a:p>
            <a:pPr>
              <a:lnSpc>
                <a:spcPts val="3300"/>
              </a:lnSpc>
              <a:spcBef>
                <a:spcPct val="5000"/>
              </a:spcBef>
            </a:pPr>
            <a:r>
              <a:rPr lang="es-ES" altLang="es-AR" sz="2400">
                <a:solidFill>
                  <a:srgbClr val="1A3260"/>
                </a:solidFill>
              </a:rPr>
              <a:t>Pueden no tener un rendimiento tan eficiente como otros equipos.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451DF7F-01DE-7B96-48C8-52308A6A1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35</a:t>
            </a:fld>
            <a:endParaRPr lang="es-E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F1DC03C4-A471-87A8-EB9F-5A7785CB50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altLang="es-AR" sz="3100"/>
              <a:t>Paradigma Sincronizado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EABB38C9-C6BD-D4C9-F4EB-1CFA970F90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5513" y="2017713"/>
            <a:ext cx="11392972" cy="4114800"/>
          </a:xfrm>
        </p:spPr>
        <p:txBody>
          <a:bodyPr>
            <a:normAutofit/>
          </a:bodyPr>
          <a:lstStyle/>
          <a:p>
            <a:pPr marL="305435" indent="-305435">
              <a:lnSpc>
                <a:spcPct val="120000"/>
              </a:lnSpc>
              <a:spcBef>
                <a:spcPct val="40000"/>
              </a:spcBef>
            </a:pPr>
            <a:r>
              <a:rPr lang="es-ES" altLang="es-AR" sz="2800">
                <a:solidFill>
                  <a:schemeClr val="accent1">
                    <a:lumMod val="75000"/>
                  </a:schemeClr>
                </a:solidFill>
              </a:rPr>
              <a:t>Se basa en la compartimentación natural de un problema.</a:t>
            </a:r>
            <a:endParaRPr lang="es-ES" sz="2800"/>
          </a:p>
          <a:p>
            <a:pPr marL="305435" indent="-305435">
              <a:lnSpc>
                <a:spcPct val="120000"/>
              </a:lnSpc>
              <a:spcBef>
                <a:spcPct val="40000"/>
              </a:spcBef>
            </a:pPr>
            <a:r>
              <a:rPr lang="es-ES" altLang="es-AR" sz="2800">
                <a:solidFill>
                  <a:schemeClr val="accent1">
                    <a:lumMod val="75000"/>
                  </a:schemeClr>
                </a:solidFill>
              </a:rPr>
              <a:t>Organiza los miembros del equipo para trabajar en partes del problema con poca comunicación activa entre ellos.</a:t>
            </a:r>
            <a:endParaRPr lang="es-ES" sz="2800"/>
          </a:p>
          <a:p>
            <a:pPr marL="305435" indent="-305435">
              <a:lnSpc>
                <a:spcPct val="120000"/>
              </a:lnSpc>
              <a:spcBef>
                <a:spcPct val="40000"/>
              </a:spcBef>
            </a:pPr>
            <a:r>
              <a:rPr lang="es-ES" altLang="es-AR" sz="2800">
                <a:solidFill>
                  <a:schemeClr val="accent1">
                    <a:lumMod val="75000"/>
                  </a:schemeClr>
                </a:solidFill>
              </a:rPr>
              <a:t>Es muy buen equipo cuando la complejidad del problema es bastante alta.</a:t>
            </a:r>
            <a:endParaRPr lang="es-ES" sz="2800"/>
          </a:p>
          <a:p>
            <a:pPr marL="305435" indent="-305435">
              <a:lnSpc>
                <a:spcPct val="120000"/>
              </a:lnSpc>
              <a:spcBef>
                <a:spcPct val="40000"/>
              </a:spcBef>
            </a:pPr>
            <a:r>
              <a:rPr lang="es-ES" altLang="es-AR" sz="2800">
                <a:solidFill>
                  <a:schemeClr val="accent1">
                    <a:lumMod val="75000"/>
                  </a:schemeClr>
                </a:solidFill>
              </a:rPr>
              <a:t>Trabaja el problema en módulos.</a:t>
            </a:r>
            <a:endParaRPr lang="es-ES" sz="2800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448E5CB5-ED9E-39E4-223C-3ADC60B22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36</a:t>
            </a:fld>
            <a:endParaRPr lang="es-E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2CC1EE82-E40D-5A10-484C-FF6580943D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altLang="es-AR" sz="3100"/>
              <a:t>Cohesión de equipos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4673D43D-B658-B299-A947-CE56E9BFAA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43208" y="1916113"/>
            <a:ext cx="11181029" cy="4216400"/>
          </a:xfrm>
        </p:spPr>
        <p:txBody>
          <a:bodyPr>
            <a:normAutofit fontScale="92500" lnSpcReduction="10000"/>
          </a:bodyPr>
          <a:lstStyle/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s-ES" altLang="es-AR" sz="2700">
                <a:solidFill>
                  <a:schemeClr val="accent1">
                    <a:lumMod val="75000"/>
                  </a:schemeClr>
                </a:solidFill>
              </a:rPr>
              <a:t>Tendemos a usar la palabra “equipo” 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s-ES" altLang="es-AR" sz="2700">
                <a:solidFill>
                  <a:schemeClr val="accent1">
                    <a:lumMod val="75000"/>
                  </a:schemeClr>
                </a:solidFill>
              </a:rPr>
              <a:t>demasiado libremente en el mundo de los 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s-ES" altLang="es-AR" sz="2700">
                <a:solidFill>
                  <a:schemeClr val="accent1">
                    <a:lumMod val="75000"/>
                  </a:schemeClr>
                </a:solidFill>
              </a:rPr>
              <a:t>negocios, denominado “equipo” a cualquier 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s-ES" altLang="es-AR" sz="2700">
                <a:solidFill>
                  <a:schemeClr val="accent1">
                    <a:lumMod val="75000"/>
                  </a:schemeClr>
                </a:solidFill>
              </a:rPr>
              <a:t>grupo de gente asignado para trabajar junta. 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s-ES" altLang="es-AR" sz="2700">
                <a:solidFill>
                  <a:schemeClr val="accent1">
                    <a:lumMod val="75000"/>
                  </a:schemeClr>
                </a:solidFill>
              </a:rPr>
              <a:t>Pero muchos de estos grupos no parecen 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s-ES" altLang="es-AR" sz="2700">
                <a:solidFill>
                  <a:schemeClr val="accent1">
                    <a:lumMod val="75000"/>
                  </a:schemeClr>
                </a:solidFill>
              </a:rPr>
              <a:t>equipos. No tienen una definición común de 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s-ES" altLang="es-AR" sz="2700">
                <a:solidFill>
                  <a:schemeClr val="accent1">
                    <a:lumMod val="75000"/>
                  </a:schemeClr>
                </a:solidFill>
              </a:rPr>
              <a:t>éxito o un espíritu de equipo identificable. Lo 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s-ES" altLang="es-AR" sz="2700">
                <a:solidFill>
                  <a:schemeClr val="accent1">
                    <a:lumMod val="75000"/>
                  </a:schemeClr>
                </a:solidFill>
              </a:rPr>
              <a:t>que falta es un fenómeno que denominamos 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s-ES" altLang="es-AR" sz="2700">
                <a:solidFill>
                  <a:schemeClr val="accent1">
                    <a:lumMod val="75000"/>
                  </a:schemeClr>
                </a:solidFill>
              </a:rPr>
              <a:t>“cuajar”.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BB312E9-49FB-6709-F0D5-555C710A9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37</a:t>
            </a:fld>
            <a:endParaRPr lang="es-E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FE35F20B-5984-4E66-0085-A1B5013C2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altLang="es-AR" sz="3100"/>
              <a:t>Cohesión de equipos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FA308493-93F0-E0D8-3F7A-2D4AFF96A6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1727" y="1907060"/>
            <a:ext cx="10806869" cy="4216400"/>
          </a:xfrm>
        </p:spPr>
        <p:txBody>
          <a:bodyPr/>
          <a:lstStyle/>
          <a:p>
            <a:pPr algn="ctr">
              <a:lnSpc>
                <a:spcPct val="245000"/>
              </a:lnSpc>
              <a:spcBef>
                <a:spcPts val="2400"/>
              </a:spcBef>
              <a:buNone/>
            </a:pPr>
            <a:r>
              <a:rPr lang="es-ES" altLang="es-AR" sz="2900">
                <a:solidFill>
                  <a:schemeClr val="accent1">
                    <a:lumMod val="75000"/>
                  </a:schemeClr>
                </a:solidFill>
              </a:rPr>
              <a:t>Un equipo cuajado es un grupo de gente tejido tan fuertemente que el todo es mayor que la suma de las partes.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DE384147-CC1A-04DD-12D6-2539FCF9E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38</a:t>
            </a:fld>
            <a:endParaRPr lang="es-E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ABAF3DA4-598B-8835-3532-4E35540CCF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altLang="es-AR" sz="3100"/>
              <a:t>Cohesión de equipos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C8D68B96-996C-5D6C-8114-74EFB6D393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2673" y="1916113"/>
            <a:ext cx="11226297" cy="4216400"/>
          </a:xfrm>
        </p:spPr>
        <p:txBody>
          <a:bodyPr/>
          <a:lstStyle/>
          <a:p>
            <a:pPr algn="ctr">
              <a:lnSpc>
                <a:spcPct val="125000"/>
              </a:lnSpc>
              <a:spcBef>
                <a:spcPts val="2400"/>
              </a:spcBef>
              <a:buNone/>
            </a:pPr>
            <a:r>
              <a:rPr lang="es-ES" altLang="es-AR" sz="2900">
                <a:solidFill>
                  <a:schemeClr val="accent1">
                    <a:lumMod val="75000"/>
                  </a:schemeClr>
                </a:solidFill>
              </a:rPr>
              <a:t>Cuando el equipo empieza a cuajar, la probabilidad de éxito empieza a subir. El equipo puede convertirse en imparable, un monstruo de éxito. No necesita ser dirigidos de una manera tradicional y no necesitan que se les motive. Están en su gran momento. Comparten una meta en común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6D638AD-C07D-9767-78DD-F8A60F00F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39</a:t>
            </a:fld>
            <a:endParaRPr lang="es-E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DA4D5BA9-ACA5-A533-C369-E27A1EB47E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7941" y="617538"/>
            <a:ext cx="9774773" cy="1143000"/>
          </a:xfrm>
        </p:spPr>
        <p:txBody>
          <a:bodyPr>
            <a:normAutofit/>
          </a:bodyPr>
          <a:lstStyle/>
          <a:p>
            <a:r>
              <a:rPr lang="es-ES" altLang="es-AR" sz="3100"/>
              <a:t>Técnicas de coordinación de proyectos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43414C00-58DB-54EF-A95F-0CF1BB8A18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s-ES" altLang="es-AR" sz="2800">
                <a:solidFill>
                  <a:srgbClr val="1A3260"/>
                </a:solidFill>
              </a:rPr>
              <a:t>Formal, enfoque impersonal.</a:t>
            </a:r>
          </a:p>
          <a:p>
            <a:pPr>
              <a:lnSpc>
                <a:spcPct val="110000"/>
              </a:lnSpc>
            </a:pPr>
            <a:r>
              <a:rPr lang="es-ES" altLang="es-AR" sz="2800">
                <a:solidFill>
                  <a:srgbClr val="1A3260"/>
                </a:solidFill>
              </a:rPr>
              <a:t>Formal, procedimientos interpersonales.</a:t>
            </a:r>
          </a:p>
          <a:p>
            <a:pPr>
              <a:lnSpc>
                <a:spcPct val="110000"/>
              </a:lnSpc>
            </a:pPr>
            <a:r>
              <a:rPr lang="es-ES" altLang="es-AR" sz="2800">
                <a:solidFill>
                  <a:srgbClr val="1A3260"/>
                </a:solidFill>
              </a:rPr>
              <a:t>Informal, procedimientos interpersonales.</a:t>
            </a:r>
          </a:p>
          <a:p>
            <a:pPr>
              <a:lnSpc>
                <a:spcPct val="110000"/>
              </a:lnSpc>
            </a:pPr>
            <a:r>
              <a:rPr lang="es-ES" altLang="es-AR" sz="2800">
                <a:solidFill>
                  <a:srgbClr val="1A3260"/>
                </a:solidFill>
              </a:rPr>
              <a:t>Comunicación electrónica.</a:t>
            </a:r>
          </a:p>
          <a:p>
            <a:pPr>
              <a:lnSpc>
                <a:spcPct val="110000"/>
              </a:lnSpc>
            </a:pPr>
            <a:r>
              <a:rPr lang="es-ES" altLang="es-AR" sz="2800">
                <a:solidFill>
                  <a:srgbClr val="1A3260"/>
                </a:solidFill>
              </a:rPr>
              <a:t>Red interpersonal.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FCA1715-F22A-CC29-7B74-963F28D44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40</a:t>
            </a:fld>
            <a:endParaRPr lang="es-E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83D2CE0F-1935-1BF2-41B8-DBEDB3F4CD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74939" y="617538"/>
            <a:ext cx="7597775" cy="1143000"/>
          </a:xfrm>
        </p:spPr>
        <p:txBody>
          <a:bodyPr>
            <a:normAutofit/>
          </a:bodyPr>
          <a:lstStyle/>
          <a:p>
            <a:r>
              <a:rPr lang="es-ES" altLang="es-AR" sz="3100"/>
              <a:t>Formal, enfoque impersonal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04A3015C-7068-D650-85A2-3358488F5E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s-ES" altLang="es-AR" sz="2800">
                <a:solidFill>
                  <a:srgbClr val="1A3260"/>
                </a:solidFill>
              </a:rPr>
              <a:t>Incluyen documentos de Ingeniería del SW y entregas (Cod. fuente) memorandos técnicos, planificaciones del programa y herramientas de control del proyecto, peticiones de cambios, informes de seguimiento de errores e información de estado e inspecciones de diseño y de código.</a:t>
            </a:r>
          </a:p>
          <a:p>
            <a:pPr>
              <a:lnSpc>
                <a:spcPct val="130000"/>
              </a:lnSpc>
            </a:pPr>
            <a:endParaRPr lang="es-ES" altLang="es-AR" sz="2800">
              <a:solidFill>
                <a:srgbClr val="1A3260"/>
              </a:solidFill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9362EDD2-EA15-8D24-A310-256D227F4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41</a:t>
            </a:fld>
            <a:endParaRPr lang="es-E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A2D335AA-5805-21D3-31BE-B255F641E9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74939" y="617538"/>
            <a:ext cx="7597775" cy="1143000"/>
          </a:xfrm>
        </p:spPr>
        <p:txBody>
          <a:bodyPr>
            <a:normAutofit/>
          </a:bodyPr>
          <a:lstStyle/>
          <a:p>
            <a:r>
              <a:rPr lang="es-ES" altLang="es-AR" sz="3100"/>
              <a:t>Formal, procedimientos interpersonales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5AF7310A-35B8-A6A6-4CEA-145A9E23B2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s-ES" altLang="es-AR" sz="2800">
                <a:solidFill>
                  <a:srgbClr val="1A3260"/>
                </a:solidFill>
              </a:rPr>
              <a:t>Se concentra en las actividades de garantía de calidad. Aplicada a productos de ingeniería del SW. Incluyen reuniones de revisión de estado e inspecciones de diseño y de código.</a:t>
            </a:r>
          </a:p>
          <a:p>
            <a:pPr>
              <a:lnSpc>
                <a:spcPct val="130000"/>
              </a:lnSpc>
            </a:pPr>
            <a:endParaRPr lang="es-ES" altLang="es-AR" sz="2800">
              <a:solidFill>
                <a:srgbClr val="1A3260"/>
              </a:solidFill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57BB6F58-B9DB-EBFD-6E11-CC0C19B4F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42</a:t>
            </a:fld>
            <a:endParaRPr lang="es-E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C8143D81-5BAF-4A89-54A2-89CA3F2909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74939" y="617538"/>
            <a:ext cx="7597775" cy="1143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r>
              <a:rPr lang="es-ES" altLang="es-AR" sz="3100"/>
              <a:t>Informal, procedimientos interpersonales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8226D463-0716-D834-AB26-B16B3182F8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s-ES" altLang="es-AR" sz="2800">
                <a:solidFill>
                  <a:srgbClr val="1A3260"/>
                </a:solidFill>
              </a:rPr>
              <a:t>Incluye reuniones de grupo para la divulgación de información y resolución de problemas.</a:t>
            </a:r>
            <a:endParaRPr lang="es-ES" sz="2800">
              <a:solidFill>
                <a:srgbClr val="1A3260"/>
              </a:solidFill>
            </a:endParaRPr>
          </a:p>
          <a:p>
            <a:pPr>
              <a:lnSpc>
                <a:spcPct val="130000"/>
              </a:lnSpc>
            </a:pPr>
            <a:r>
              <a:rPr lang="es-ES" altLang="es-AR" sz="2800">
                <a:solidFill>
                  <a:srgbClr val="1A3260"/>
                </a:solidFill>
              </a:rPr>
              <a:t>Definición de requisitos y del personal de desarrollo.</a:t>
            </a:r>
          </a:p>
          <a:p>
            <a:pPr>
              <a:lnSpc>
                <a:spcPct val="130000"/>
              </a:lnSpc>
            </a:pPr>
            <a:endParaRPr lang="es-ES" altLang="es-AR" sz="2800">
              <a:solidFill>
                <a:srgbClr val="1A3260"/>
              </a:solidFill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DFA6FE5-92D8-FC36-1E83-B2C51172E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43</a:t>
            </a:fld>
            <a:endParaRPr lang="es-E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A91801D5-561E-7D0D-2CEB-D4A0F4B12E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74939" y="617538"/>
            <a:ext cx="7597775" cy="1143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r>
              <a:rPr lang="es-ES" altLang="es-AR" sz="3100"/>
              <a:t>Comunicación electrónica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3AFC2000-9E1A-C89D-7040-675A93680E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s-ES" altLang="es-AR" sz="2800">
                <a:solidFill>
                  <a:srgbClr val="1A3260"/>
                </a:solidFill>
              </a:rPr>
              <a:t>Agrupa correo electrónico.</a:t>
            </a:r>
            <a:endParaRPr lang="es-ES" sz="2800">
              <a:solidFill>
                <a:srgbClr val="1A3260"/>
              </a:solidFill>
            </a:endParaRPr>
          </a:p>
          <a:p>
            <a:pPr>
              <a:lnSpc>
                <a:spcPct val="130000"/>
              </a:lnSpc>
            </a:pPr>
            <a:r>
              <a:rPr lang="es-ES" altLang="es-AR" sz="2800">
                <a:solidFill>
                  <a:srgbClr val="1A3260"/>
                </a:solidFill>
              </a:rPr>
              <a:t>Boletines de noticias electrónicos.</a:t>
            </a:r>
          </a:p>
          <a:p>
            <a:pPr>
              <a:lnSpc>
                <a:spcPct val="130000"/>
              </a:lnSpc>
            </a:pPr>
            <a:r>
              <a:rPr lang="es-ES" altLang="es-AR" sz="2800">
                <a:solidFill>
                  <a:srgbClr val="1A3260"/>
                </a:solidFill>
              </a:rPr>
              <a:t>Página WEB.</a:t>
            </a:r>
          </a:p>
          <a:p>
            <a:pPr>
              <a:lnSpc>
                <a:spcPct val="130000"/>
              </a:lnSpc>
            </a:pPr>
            <a:r>
              <a:rPr lang="es-ES" altLang="es-AR" sz="2800">
                <a:solidFill>
                  <a:srgbClr val="1A3260"/>
                </a:solidFill>
              </a:rPr>
              <a:t>Sistemas de video conferencia.</a:t>
            </a:r>
          </a:p>
          <a:p>
            <a:pPr>
              <a:lnSpc>
                <a:spcPct val="130000"/>
              </a:lnSpc>
            </a:pPr>
            <a:endParaRPr lang="es-ES" altLang="es-AR" sz="2800">
              <a:solidFill>
                <a:srgbClr val="1A3260"/>
              </a:solidFill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98ED4CB9-E551-36F9-C0A6-1BB47BB37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44</a:t>
            </a:fld>
            <a:endParaRPr lang="es-E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D8091F7E-B361-D089-3E29-65F7093AA3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74939" y="617538"/>
            <a:ext cx="7597775" cy="1143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r>
              <a:rPr lang="es-ES" altLang="es-AR" sz="3100"/>
              <a:t>Red interpersonal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FC00A181-7F83-9327-D896-980583AC40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s-ES" altLang="es-AR" sz="2800">
                <a:solidFill>
                  <a:srgbClr val="1A3260"/>
                </a:solidFill>
              </a:rPr>
              <a:t>Discusiones informales con personas que no están en el proyecto pero que pueden tener experiencia.</a:t>
            </a:r>
            <a:endParaRPr lang="es-ES" sz="2800">
              <a:solidFill>
                <a:srgbClr val="1A3260"/>
              </a:solidFill>
            </a:endParaRPr>
          </a:p>
          <a:p>
            <a:pPr marL="305435" indent="-305435">
              <a:lnSpc>
                <a:spcPct val="130000"/>
              </a:lnSpc>
            </a:pPr>
            <a:r>
              <a:rPr lang="es-ES" altLang="es-AR" sz="2800">
                <a:solidFill>
                  <a:srgbClr val="1A3260"/>
                </a:solidFill>
              </a:rPr>
              <a:t>Ddiscusión de puntos.</a:t>
            </a:r>
          </a:p>
          <a:p>
            <a:pPr>
              <a:lnSpc>
                <a:spcPct val="130000"/>
              </a:lnSpc>
            </a:pPr>
            <a:endParaRPr lang="es-ES" altLang="es-AR">
              <a:solidFill>
                <a:schemeClr val="tx2"/>
              </a:solidFill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733C8E6D-A494-44A5-BB81-EB3A7333C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45</a:t>
            </a:fld>
            <a:endParaRPr lang="es-E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64A8BD-FAD3-761C-9DB5-F4E587E97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PRODUCTO</a:t>
            </a:r>
          </a:p>
        </p:txBody>
      </p:sp>
      <p:pic>
        <p:nvPicPr>
          <p:cNvPr id="5" name="Marcador de contenido 4" descr="Qué Implica El Desarrollo De Software? Descubre Su Importancia En La Era Digital 2024">
            <a:extLst>
              <a:ext uri="{FF2B5EF4-FFF2-40B4-BE49-F238E27FC236}">
                <a16:creationId xmlns:a16="http://schemas.microsoft.com/office/drawing/2014/main" id="{1310A76F-6A8C-4DBE-3E8B-D92DE7BE1D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1274" y="2262285"/>
            <a:ext cx="7029450" cy="351472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9A61B08-7586-C27B-DA90-EF05BE3AC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5889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D8091F7E-B361-D089-3E29-65F7093AA3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768" y="704624"/>
            <a:ext cx="7597775" cy="1143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s-ES" altLang="es-AR" sz="3100"/>
              <a:t>PRODUCTO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FC00A181-7F83-9327-D896-980583AC40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AR" sz="1800" b="1" i="0" u="none" strike="noStrike" baseline="0">
                <a:solidFill>
                  <a:srgbClr val="1A3260"/>
                </a:solidFill>
                <a:latin typeface="LubalinGraphStd-Demi"/>
              </a:rPr>
              <a:t>Ámbito del software</a:t>
            </a:r>
          </a:p>
          <a:p>
            <a:pPr algn="l"/>
            <a:r>
              <a:rPr lang="es-ES" sz="1800" b="0" i="0" u="none" strike="noStrike" baseline="0">
                <a:solidFill>
                  <a:srgbClr val="1A3260"/>
                </a:solidFill>
                <a:latin typeface="LeawoodStd-Book"/>
              </a:rPr>
              <a:t>La primera actividad en la administración del proyecto de software es determinar el </a:t>
            </a:r>
            <a:r>
              <a:rPr lang="es-ES" sz="1800" b="0" i="1" u="none" strike="noStrike" baseline="0">
                <a:solidFill>
                  <a:srgbClr val="1A3260"/>
                </a:solidFill>
                <a:latin typeface="LeawoodStd-BookItalic"/>
              </a:rPr>
              <a:t>ámbito del</a:t>
            </a:r>
          </a:p>
          <a:p>
            <a:pPr algn="l"/>
            <a:r>
              <a:rPr lang="es-ES" sz="1800" b="0" i="1" u="none" strike="noStrike" baseline="0">
                <a:solidFill>
                  <a:srgbClr val="1A3260"/>
                </a:solidFill>
                <a:latin typeface="LeawoodStd-BookItalic"/>
              </a:rPr>
              <a:t>software</a:t>
            </a:r>
            <a:r>
              <a:rPr lang="es-ES" sz="1800" b="0" i="0" u="none" strike="noStrike" baseline="0">
                <a:solidFill>
                  <a:srgbClr val="1A3260"/>
                </a:solidFill>
                <a:latin typeface="LeawoodStd-Book"/>
              </a:rPr>
              <a:t>, que se define al responder las siguientes preguntas:</a:t>
            </a:r>
          </a:p>
          <a:p>
            <a:pPr algn="l"/>
            <a:r>
              <a:rPr lang="es-ES" sz="1800" b="1" i="0" u="none" strike="noStrike" baseline="0">
                <a:solidFill>
                  <a:srgbClr val="1A3260"/>
                </a:solidFill>
                <a:latin typeface="LeawoodStd-Bold"/>
              </a:rPr>
              <a:t>Contexto. </a:t>
            </a:r>
            <a:r>
              <a:rPr lang="es-ES" sz="1800" b="0" i="0" u="none" strike="noStrike" baseline="0">
                <a:solidFill>
                  <a:srgbClr val="1A3260"/>
                </a:solidFill>
                <a:latin typeface="LeawoodStd-Book"/>
              </a:rPr>
              <a:t>¿Cómo encaja en un sistema, producto o contexto empresarial más grande el</a:t>
            </a:r>
          </a:p>
          <a:p>
            <a:pPr algn="l"/>
            <a:r>
              <a:rPr lang="es-ES" sz="1800" b="0" i="0" u="none" strike="noStrike" baseline="0">
                <a:solidFill>
                  <a:srgbClr val="1A3260"/>
                </a:solidFill>
                <a:latin typeface="LeawoodStd-Book"/>
              </a:rPr>
              <a:t>software que se va a construir y qué restricciones se imponen como resultado del contexto?</a:t>
            </a:r>
          </a:p>
          <a:p>
            <a:pPr algn="l"/>
            <a:r>
              <a:rPr lang="es-ES" sz="1800" b="1" i="0" u="none" strike="noStrike" baseline="0">
                <a:solidFill>
                  <a:srgbClr val="1A3260"/>
                </a:solidFill>
                <a:latin typeface="LeawoodStd-Bold"/>
              </a:rPr>
              <a:t>Objetivos de información. </a:t>
            </a:r>
            <a:r>
              <a:rPr lang="es-ES" sz="1800" b="0" i="0" u="none" strike="noStrike" baseline="0">
                <a:solidFill>
                  <a:srgbClr val="1A3260"/>
                </a:solidFill>
                <a:latin typeface="LeawoodStd-Book"/>
              </a:rPr>
              <a:t>¿Qué objetos de datos visibles para el cliente se producen</a:t>
            </a:r>
          </a:p>
          <a:p>
            <a:pPr algn="l"/>
            <a:r>
              <a:rPr lang="es-ES" sz="1800" b="0" i="0" u="none" strike="noStrike" baseline="0">
                <a:solidFill>
                  <a:srgbClr val="1A3260"/>
                </a:solidFill>
                <a:latin typeface="LeawoodStd-Book"/>
              </a:rPr>
              <a:t>como salida del software? ¿Qué objetos de datos se requieren como entrada?</a:t>
            </a:r>
          </a:p>
          <a:p>
            <a:pPr algn="l"/>
            <a:r>
              <a:rPr lang="es-ES" sz="1800" b="1" i="0" u="none" strike="noStrike" baseline="0">
                <a:solidFill>
                  <a:srgbClr val="1A3260"/>
                </a:solidFill>
                <a:latin typeface="LeawoodStd-Bold"/>
              </a:rPr>
              <a:t>Función y desempeño. </a:t>
            </a:r>
            <a:r>
              <a:rPr lang="es-ES" sz="1800" b="0" i="0" u="none" strike="noStrike" baseline="0">
                <a:solidFill>
                  <a:srgbClr val="1A3260"/>
                </a:solidFill>
                <a:latin typeface="LeawoodStd-Book"/>
              </a:rPr>
              <a:t>¿Qué función realiza el software para transformar los datos de</a:t>
            </a:r>
          </a:p>
          <a:p>
            <a:pPr algn="l"/>
            <a:r>
              <a:rPr lang="es-ES" sz="1800" b="0" i="0" u="none" strike="noStrike" baseline="0">
                <a:solidFill>
                  <a:srgbClr val="1A3260"/>
                </a:solidFill>
                <a:latin typeface="LeawoodStd-Book"/>
              </a:rPr>
              <a:t>entrada en salida? ¿Existe alguna característica de desempeño especial que deba abordarse</a:t>
            </a:r>
            <a:endParaRPr lang="es-ES" altLang="es-AR">
              <a:solidFill>
                <a:srgbClr val="1A3260"/>
              </a:solidFill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6ECC6AB-841F-2605-576F-41D21961B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47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16065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D8091F7E-B361-D089-3E29-65F7093AA3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3584" y="640890"/>
            <a:ext cx="7597775" cy="1143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r>
              <a:rPr lang="es-ES" altLang="es-AR" sz="31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PRODUCTO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FC00A181-7F83-9327-D896-980583AC40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19254" y="2180496"/>
            <a:ext cx="11029615" cy="367830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ES" sz="2000" b="0" i="0" u="none" strike="noStrike" baseline="0">
                <a:solidFill>
                  <a:srgbClr val="1A3260"/>
                </a:solidFill>
                <a:latin typeface="LeawoodStd-Book"/>
              </a:rPr>
              <a:t>El ámbito del proyecto de software no debe tener ambigüedades ni ser incomprensible en los</a:t>
            </a:r>
          </a:p>
          <a:p>
            <a:pPr marL="0" indent="0" algn="ctr">
              <a:buNone/>
            </a:pPr>
            <a:r>
              <a:rPr lang="es-ES" sz="2000" b="0" i="0" u="none" strike="noStrike" baseline="0">
                <a:solidFill>
                  <a:srgbClr val="1A3260"/>
                </a:solidFill>
                <a:latin typeface="LeawoodStd-Book"/>
              </a:rPr>
              <a:t>niveles administrativo y técnico. Debe acotar un enunciado del ámbito del software; es decir,</a:t>
            </a:r>
          </a:p>
          <a:p>
            <a:pPr marL="0" indent="0" algn="ctr">
              <a:buNone/>
            </a:pPr>
            <a:r>
              <a:rPr lang="es-ES" sz="2000" b="0" i="0" u="none" strike="noStrike" baseline="0">
                <a:solidFill>
                  <a:srgbClr val="1A3260"/>
                </a:solidFill>
                <a:latin typeface="LeawoodStd-Book"/>
              </a:rPr>
              <a:t>los datos cuantitativos (por ejemplo, número de usuarios simultáneos, entorno objetivo, máximo</a:t>
            </a:r>
          </a:p>
          <a:p>
            <a:pPr marL="0" indent="0" algn="ctr">
              <a:buNone/>
            </a:pPr>
            <a:r>
              <a:rPr lang="es-ES" sz="2000" b="0" i="0" u="none" strike="noStrike" baseline="0">
                <a:solidFill>
                  <a:srgbClr val="1A3260"/>
                </a:solidFill>
                <a:latin typeface="LeawoodStd-Book"/>
              </a:rPr>
              <a:t>tiempo de respuesta permisible) se enuncian de manera explícita, se anotan las restricciones</a:t>
            </a:r>
          </a:p>
          <a:p>
            <a:pPr marL="0" indent="0" algn="ctr">
              <a:buNone/>
            </a:pPr>
            <a:r>
              <a:rPr lang="es-ES" sz="2000" b="0" i="0" u="none" strike="noStrike" baseline="0">
                <a:solidFill>
                  <a:srgbClr val="1A3260"/>
                </a:solidFill>
                <a:latin typeface="LeawoodStd-Book"/>
              </a:rPr>
              <a:t>y/o limitaciones (por ejemplo, el costo del producto restringe el tamaño de la memoria) y se</a:t>
            </a:r>
          </a:p>
          <a:p>
            <a:pPr marL="0" indent="0" algn="ctr">
              <a:buNone/>
            </a:pPr>
            <a:r>
              <a:rPr lang="es-ES" sz="2000" b="0" i="0" u="none" strike="noStrike" baseline="0">
                <a:solidFill>
                  <a:srgbClr val="1A3260"/>
                </a:solidFill>
                <a:latin typeface="LeawoodStd-Book"/>
              </a:rPr>
              <a:t>describen los factores mitigantes (por ejemplo, los algoritmos deseados están bien entendidos</a:t>
            </a:r>
          </a:p>
          <a:p>
            <a:pPr marL="0" indent="0" algn="ctr">
              <a:buNone/>
            </a:pPr>
            <a:r>
              <a:rPr lang="es-AR" sz="2000" b="0" i="0" u="none" strike="noStrike" baseline="0">
                <a:solidFill>
                  <a:srgbClr val="1A3260"/>
                </a:solidFill>
                <a:latin typeface="LeawoodStd-Book"/>
              </a:rPr>
              <a:t>y disponibles en Java).</a:t>
            </a:r>
            <a:endParaRPr lang="es-ES" altLang="es-AR" sz="2000">
              <a:solidFill>
                <a:srgbClr val="1A3260"/>
              </a:solidFill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23C1D5D8-F5B7-B4E9-D6C5-D8ADD6EB1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48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97494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444D6CB1-B136-A99D-69C5-CF72314352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5078" y="789242"/>
            <a:ext cx="11029616" cy="1013800"/>
          </a:xfrm>
        </p:spPr>
        <p:txBody>
          <a:bodyPr/>
          <a:lstStyle/>
          <a:p>
            <a:r>
              <a:rPr lang="es-ES" altLang="es-AR" sz="3100"/>
              <a:t>Producto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5A490425-52A2-32FE-8D67-08F6376561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82261" y="1916114"/>
            <a:ext cx="9376681" cy="4321175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s-ES" altLang="es-AR" sz="2800">
                <a:solidFill>
                  <a:srgbClr val="1A3260"/>
                </a:solidFill>
              </a:rPr>
              <a:t>La primera actividad de gestión es determinar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s-ES" altLang="es-AR" sz="2800">
                <a:solidFill>
                  <a:srgbClr val="1A3260"/>
                </a:solidFill>
              </a:rPr>
              <a:t>el ámbito del SW. Se define respondiendo a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s-ES" altLang="es-AR" sz="2800">
                <a:solidFill>
                  <a:srgbClr val="1A3260"/>
                </a:solidFill>
              </a:rPr>
              <a:t>las siguientes cuestiones:</a:t>
            </a:r>
          </a:p>
          <a:p>
            <a:pPr>
              <a:spcBef>
                <a:spcPct val="50000"/>
              </a:spcBef>
            </a:pPr>
            <a:r>
              <a:rPr lang="es-ES" altLang="es-AR" sz="2800">
                <a:solidFill>
                  <a:srgbClr val="1A3260"/>
                </a:solidFill>
              </a:rPr>
              <a:t>Contexto.</a:t>
            </a:r>
          </a:p>
          <a:p>
            <a:pPr>
              <a:spcBef>
                <a:spcPct val="50000"/>
              </a:spcBef>
            </a:pPr>
            <a:r>
              <a:rPr lang="es-ES" altLang="es-AR" sz="2800">
                <a:solidFill>
                  <a:srgbClr val="1A3260"/>
                </a:solidFill>
              </a:rPr>
              <a:t>Objetivos de información.</a:t>
            </a:r>
          </a:p>
          <a:p>
            <a:pPr>
              <a:spcBef>
                <a:spcPct val="50000"/>
              </a:spcBef>
            </a:pPr>
            <a:r>
              <a:rPr lang="es-ES" altLang="es-AR" sz="2800">
                <a:solidFill>
                  <a:srgbClr val="1A3260"/>
                </a:solidFill>
              </a:rPr>
              <a:t>Función y rendimiento.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613F8E3E-ED4C-278A-3FE5-65A3D8C9C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49</a:t>
            </a:fld>
            <a:endParaRPr lang="es-E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0C9F58-5754-0809-FFA5-BE00EEA60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3100"/>
              <a:t>PROBLEMA</a:t>
            </a:r>
          </a:p>
        </p:txBody>
      </p:sp>
      <p:pic>
        <p:nvPicPr>
          <p:cNvPr id="5" name="Marcador de contenido 4" descr="Imágenes de Solucion problemas software - Descarga gratuita en Magnific (antes Freepik)">
            <a:extLst>
              <a:ext uri="{FF2B5EF4-FFF2-40B4-BE49-F238E27FC236}">
                <a16:creationId xmlns:a16="http://schemas.microsoft.com/office/drawing/2014/main" id="{AE065230-86EA-177D-187E-696CE44940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35547" y="2180496"/>
            <a:ext cx="5520905" cy="3678303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58E430D-73E6-A12F-EDD7-842022CAC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5803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FCBD0C59-CC2C-1271-B8EF-0A5B23ABFB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9592" y="796499"/>
            <a:ext cx="11029616" cy="1013800"/>
          </a:xfrm>
        </p:spPr>
        <p:txBody>
          <a:bodyPr>
            <a:normAutofit/>
          </a:bodyPr>
          <a:lstStyle/>
          <a:p>
            <a:r>
              <a:rPr lang="es-ES" altLang="es-AR" sz="3100"/>
              <a:t>Problema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19A9DDD2-D92D-F8CE-0C48-B769B83782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83975" y="1916114"/>
            <a:ext cx="10813596" cy="4321175"/>
          </a:xfrm>
        </p:spPr>
        <p:txBody>
          <a:bodyPr>
            <a:noAutofit/>
          </a:bodyPr>
          <a:lstStyle/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s-ES" altLang="es-AR" sz="2800">
                <a:solidFill>
                  <a:srgbClr val="1A3260"/>
                </a:solidFill>
              </a:rPr>
              <a:t>El gestor del proyecto requiere 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s-ES" altLang="es-AR" sz="2800">
                <a:solidFill>
                  <a:srgbClr val="1A3260"/>
                </a:solidFill>
              </a:rPr>
              <a:t>estimaciones cuantitativas y un plan 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s-ES" altLang="es-AR" sz="2800">
                <a:solidFill>
                  <a:srgbClr val="1A3260"/>
                </a:solidFill>
              </a:rPr>
              <a:t>organizado. Pero no dispones de 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s-ES" altLang="es-AR" sz="2800">
                <a:solidFill>
                  <a:srgbClr val="1A3260"/>
                </a:solidFill>
              </a:rPr>
              <a:t>información sólida. Un análisis detallado de los 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s-ES" altLang="es-AR" sz="2800">
                <a:solidFill>
                  <a:srgbClr val="1A3260"/>
                </a:solidFill>
              </a:rPr>
              <a:t>requisitos daría la información necesaria para las 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s-ES" altLang="es-AR" sz="2800">
                <a:solidFill>
                  <a:srgbClr val="1A3260"/>
                </a:solidFill>
              </a:rPr>
              <a:t>estimaciones.  A menudo lleva semanas o meses.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s-ES" altLang="es-AR" sz="2800">
                <a:solidFill>
                  <a:srgbClr val="1A3260"/>
                </a:solidFill>
              </a:rPr>
              <a:t>Los requisitos pueden ser fluidos, cambiando a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s-ES" altLang="es-AR" sz="2800">
                <a:solidFill>
                  <a:srgbClr val="1A3260"/>
                </a:solidFill>
              </a:rPr>
              <a:t>medida que progresa el proyecto. Aún así, necesita un plan “YA”.Debe examinar el problema justo al inicio del proyecto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BDD11BC3-8889-8BE8-DA33-686A23007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51</a:t>
            </a:fld>
            <a:endParaRPr lang="es-E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75D70A-1E36-9B88-8F0A-2BE2ECE67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100"/>
              <a:t>Proceso</a:t>
            </a:r>
            <a:endParaRPr lang="es-ES"/>
          </a:p>
        </p:txBody>
      </p:sp>
      <p:pic>
        <p:nvPicPr>
          <p:cNvPr id="5" name="Marcador de contenido 4" descr="Cuál es el proceso de desarrollo de software?">
            <a:extLst>
              <a:ext uri="{FF2B5EF4-FFF2-40B4-BE49-F238E27FC236}">
                <a16:creationId xmlns:a16="http://schemas.microsoft.com/office/drawing/2014/main" id="{EFFED965-9030-351D-D77F-17CD968618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7512" y="2180496"/>
            <a:ext cx="6556975" cy="3678303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F54159A-912E-8D4A-8E8E-D6D8B4053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826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21F3AABF-0DD1-0797-2C83-84DE657E52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altLang="es-AR" sz="3100"/>
              <a:t>Proceso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EFD24FF2-FB5F-C1C7-1E24-D8699A969D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7889" y="1916113"/>
            <a:ext cx="10621282" cy="4216400"/>
          </a:xfrm>
        </p:spPr>
        <p:txBody>
          <a:bodyPr>
            <a:noAutofit/>
          </a:bodyPr>
          <a:lstStyle/>
          <a:p>
            <a:pPr algn="ctr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s-ES" altLang="es-AR" sz="2400">
                <a:solidFill>
                  <a:srgbClr val="1A3260"/>
                </a:solidFill>
              </a:rPr>
              <a:t>El gestor del proyecto debe decidir qué modelo de</a:t>
            </a:r>
          </a:p>
          <a:p>
            <a:pPr algn="ctr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s-ES" altLang="es-AR" sz="2400">
                <a:solidFill>
                  <a:srgbClr val="1A3260"/>
                </a:solidFill>
              </a:rPr>
              <a:t>proceso es el más adecuado para el proyecto, </a:t>
            </a:r>
          </a:p>
          <a:p>
            <a:pPr algn="ctr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s-ES" altLang="es-AR" sz="2400">
                <a:solidFill>
                  <a:srgbClr val="1A3260"/>
                </a:solidFill>
              </a:rPr>
              <a:t>después debe definir un plan preliminar basado en </a:t>
            </a:r>
          </a:p>
          <a:p>
            <a:pPr algn="ctr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s-ES" altLang="es-AR" sz="2400">
                <a:solidFill>
                  <a:srgbClr val="1A3260"/>
                </a:solidFill>
              </a:rPr>
              <a:t>un conjunto de actividades válidas.  Una vez</a:t>
            </a:r>
          </a:p>
          <a:p>
            <a:pPr algn="ctr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s-ES" altLang="es-AR" sz="2400">
                <a:solidFill>
                  <a:srgbClr val="1A3260"/>
                </a:solidFill>
              </a:rPr>
              <a:t>establecido el plan preliminar, empieza la</a:t>
            </a:r>
          </a:p>
          <a:p>
            <a:pPr algn="ctr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s-ES" altLang="es-AR" sz="2400">
                <a:solidFill>
                  <a:srgbClr val="1A3260"/>
                </a:solidFill>
              </a:rPr>
              <a:t>descomposición del proceso. Se debe crear un plan </a:t>
            </a:r>
          </a:p>
          <a:p>
            <a:pPr algn="ctr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s-ES" altLang="es-AR" sz="2400">
                <a:solidFill>
                  <a:srgbClr val="1A3260"/>
                </a:solidFill>
              </a:rPr>
              <a:t>completo reflejando las tareas requeridas a las</a:t>
            </a:r>
          </a:p>
          <a:p>
            <a:pPr algn="ctr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s-ES" altLang="es-AR" sz="2400">
                <a:solidFill>
                  <a:srgbClr val="1A3260"/>
                </a:solidFill>
              </a:rPr>
              <a:t>personas para cubrir las actividades.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CC21438-B38F-9790-0E65-5F8D24FDE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53</a:t>
            </a:fld>
            <a:endParaRPr lang="es-E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21F3AABF-0DD1-0797-2C83-84DE657E52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altLang="es-AR" sz="3100"/>
              <a:t>Proceso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EFD24FF2-FB5F-C1C7-1E24-D8699A969D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9" y="1916113"/>
            <a:ext cx="10338253" cy="4216400"/>
          </a:xfrm>
        </p:spPr>
        <p:txBody>
          <a:bodyPr>
            <a:normAutofit fontScale="92500" lnSpcReduction="20000"/>
          </a:bodyPr>
          <a:lstStyle/>
          <a:p>
            <a:pPr algn="ctr">
              <a:lnSpc>
                <a:spcPct val="130000"/>
              </a:lnSpc>
              <a:buNone/>
            </a:pPr>
            <a:r>
              <a:rPr lang="es-ES" altLang="es-AR" sz="2400">
                <a:solidFill>
                  <a:srgbClr val="1A3260"/>
                </a:solidFill>
              </a:rPr>
              <a:t>El gestor del proyecto debe decidir qué modelo de</a:t>
            </a:r>
          </a:p>
          <a:p>
            <a:pPr algn="ctr">
              <a:lnSpc>
                <a:spcPct val="130000"/>
              </a:lnSpc>
              <a:buNone/>
            </a:pPr>
            <a:r>
              <a:rPr lang="es-ES" altLang="es-AR" sz="2400">
                <a:solidFill>
                  <a:srgbClr val="1A3260"/>
                </a:solidFill>
              </a:rPr>
              <a:t>proceso es el más adecuado para el proyecto, </a:t>
            </a:r>
          </a:p>
          <a:p>
            <a:pPr algn="ctr">
              <a:lnSpc>
                <a:spcPct val="130000"/>
              </a:lnSpc>
              <a:buNone/>
            </a:pPr>
            <a:r>
              <a:rPr lang="es-ES" altLang="es-AR" sz="2400">
                <a:solidFill>
                  <a:srgbClr val="1A3260"/>
                </a:solidFill>
              </a:rPr>
              <a:t>después debe definir un plan preliminar basado en </a:t>
            </a:r>
          </a:p>
          <a:p>
            <a:pPr algn="ctr">
              <a:lnSpc>
                <a:spcPct val="130000"/>
              </a:lnSpc>
              <a:buNone/>
            </a:pPr>
            <a:r>
              <a:rPr lang="es-ES" altLang="es-AR" sz="2400">
                <a:solidFill>
                  <a:srgbClr val="1A3260"/>
                </a:solidFill>
              </a:rPr>
              <a:t>un conjunto de actividades válidas.  Una vez</a:t>
            </a:r>
          </a:p>
          <a:p>
            <a:pPr algn="ctr">
              <a:lnSpc>
                <a:spcPct val="130000"/>
              </a:lnSpc>
              <a:buNone/>
            </a:pPr>
            <a:r>
              <a:rPr lang="es-ES" altLang="es-AR" sz="2400">
                <a:solidFill>
                  <a:srgbClr val="1A3260"/>
                </a:solidFill>
              </a:rPr>
              <a:t>establecido el plan preliminar, empieza la</a:t>
            </a:r>
          </a:p>
          <a:p>
            <a:pPr algn="ctr">
              <a:lnSpc>
                <a:spcPct val="130000"/>
              </a:lnSpc>
              <a:buNone/>
            </a:pPr>
            <a:r>
              <a:rPr lang="es-ES" altLang="es-AR" sz="2400">
                <a:solidFill>
                  <a:srgbClr val="1A3260"/>
                </a:solidFill>
              </a:rPr>
              <a:t>descomposición del proceso. Se debe crear un plan </a:t>
            </a:r>
          </a:p>
          <a:p>
            <a:pPr algn="ctr">
              <a:lnSpc>
                <a:spcPct val="130000"/>
              </a:lnSpc>
              <a:buNone/>
            </a:pPr>
            <a:r>
              <a:rPr lang="es-ES" altLang="es-AR" sz="2400">
                <a:solidFill>
                  <a:srgbClr val="1A3260"/>
                </a:solidFill>
              </a:rPr>
              <a:t>completo reflejando las tareas requeridas a las</a:t>
            </a:r>
          </a:p>
          <a:p>
            <a:pPr algn="ctr">
              <a:lnSpc>
                <a:spcPct val="130000"/>
              </a:lnSpc>
              <a:buNone/>
            </a:pPr>
            <a:r>
              <a:rPr lang="es-ES" altLang="es-AR" sz="2400">
                <a:solidFill>
                  <a:srgbClr val="1A3260"/>
                </a:solidFill>
              </a:rPr>
              <a:t>personas para cubrir las actividades.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5D8F0FBB-5DE7-D124-685E-7BEA19466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54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39088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53D420D0-9C51-4756-E503-7FA5DC4C2E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altLang="es-AR" sz="3100"/>
              <a:t>Contexto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56837377-AB75-56ED-7D2E-9077AFA758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02432" y="1916114"/>
            <a:ext cx="8970282" cy="4321175"/>
          </a:xfrm>
        </p:spPr>
        <p:txBody>
          <a:bodyPr/>
          <a:lstStyle/>
          <a:p>
            <a:pPr marL="305435" indent="-305435" algn="ctr">
              <a:lnSpc>
                <a:spcPct val="190000"/>
              </a:lnSpc>
              <a:buFont typeface="Wingdings" panose="05000000000000000000" pitchFamily="2" charset="2"/>
              <a:buNone/>
            </a:pPr>
            <a:r>
              <a:rPr lang="es-ES" altLang="es-AR" sz="3600">
                <a:solidFill>
                  <a:srgbClr val="1A3260"/>
                </a:solidFill>
              </a:rPr>
              <a:t>Encajar el SW a construir en un sistema.  Las </a:t>
            </a:r>
            <a:r>
              <a:rPr lang="es-ES" altLang="es-AR" sz="3600" dirty="0">
                <a:solidFill>
                  <a:srgbClr val="1A3260"/>
                </a:solidFill>
              </a:rPr>
              <a:t>limitaciones se imponen como resultado del contexto.</a:t>
            </a:r>
            <a:endParaRPr lang="es-ES" dirty="0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E79A8E2-D36E-58CF-0C24-1BAFF2ACB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55</a:t>
            </a:fld>
            <a:endParaRPr lang="es-E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5039966F-B658-A652-CB53-A5B7963158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altLang="es-AR" sz="3100"/>
              <a:t>Objetivos de información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21AAD153-0FD3-52A4-A2D7-843FF15627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8775" y="1916114"/>
            <a:ext cx="10457996" cy="4321175"/>
          </a:xfrm>
        </p:spPr>
        <p:txBody>
          <a:bodyPr/>
          <a:lstStyle/>
          <a:p>
            <a:pPr marL="305435" indent="-305435" algn="ctr">
              <a:lnSpc>
                <a:spcPct val="190000"/>
              </a:lnSpc>
              <a:buNone/>
            </a:pPr>
            <a:r>
              <a:rPr lang="es-ES" altLang="es-AR" sz="3600">
                <a:solidFill>
                  <a:srgbClr val="1A3260"/>
                </a:solidFill>
              </a:rPr>
              <a:t>Qué datos visibles se obtienen del cliente. </a:t>
            </a:r>
            <a:endParaRPr lang="es-ES"/>
          </a:p>
          <a:p>
            <a:pPr marL="305435" indent="-305435" algn="ctr">
              <a:lnSpc>
                <a:spcPct val="190000"/>
              </a:lnSpc>
              <a:buFont typeface="Wingdings" panose="05000000000000000000" pitchFamily="2" charset="2"/>
              <a:buNone/>
            </a:pPr>
            <a:r>
              <a:rPr lang="es-ES" altLang="es-AR" sz="3600">
                <a:solidFill>
                  <a:srgbClr val="1A3260"/>
                </a:solidFill>
              </a:rPr>
              <a:t>Qué datos son requeridos de entrada.</a:t>
            </a:r>
            <a:endParaRPr lang="es-ES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7F026DC-58B1-4628-8506-CAA5852FA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56</a:t>
            </a:fld>
            <a:endParaRPr lang="es-E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B1730A81-0D39-4686-90A8-AF146B465D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altLang="es-AR" sz="3100"/>
              <a:t>Función y rendimiento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87E7FC9A-7E4B-9DD5-403B-B7CFE43DDD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93575" y="1916114"/>
            <a:ext cx="10058853" cy="4321175"/>
          </a:xfrm>
        </p:spPr>
        <p:txBody>
          <a:bodyPr/>
          <a:lstStyle/>
          <a:p>
            <a:pPr algn="ctr">
              <a:lnSpc>
                <a:spcPct val="190000"/>
              </a:lnSpc>
              <a:buFont typeface="Wingdings" panose="05000000000000000000" pitchFamily="2" charset="2"/>
              <a:buNone/>
            </a:pPr>
            <a:r>
              <a:rPr lang="es-ES" altLang="es-AR" sz="3600">
                <a:solidFill>
                  <a:srgbClr val="1A3260"/>
                </a:solidFill>
              </a:rPr>
              <a:t>Qué función realiza el SW para transformar la información de entrada en una salida.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AA06AC9-4607-305C-86D4-6918C29BF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57</a:t>
            </a:fld>
            <a:endParaRPr lang="es-E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36F33854-280A-8D70-B790-2488448E8A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altLang="es-AR" sz="3100"/>
              <a:t>Descomposición del problema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CCFE1525-C2FD-FEBD-3880-01E2EF3ECD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6718" y="1916114"/>
            <a:ext cx="11031310" cy="4321175"/>
          </a:xfrm>
        </p:spPr>
        <p:txBody>
          <a:bodyPr>
            <a:normAutofit/>
          </a:bodyPr>
          <a:lstStyle/>
          <a:p>
            <a:pPr marL="457200" indent="-457200">
              <a:buClr>
                <a:schemeClr val="tx2"/>
              </a:buClr>
              <a:buSzPct val="65000"/>
              <a:buNone/>
            </a:pPr>
            <a:r>
              <a:rPr lang="es-ES" altLang="es-AR" sz="3200">
                <a:solidFill>
                  <a:srgbClr val="1A3260"/>
                </a:solidFill>
              </a:rPr>
              <a:t>El particionamiento, es el corazón del análisis de requerimiento.  Se aplica en:</a:t>
            </a:r>
            <a:endParaRPr lang="es-ES" sz="3200">
              <a:solidFill>
                <a:srgbClr val="3D3D3D"/>
              </a:solidFill>
            </a:endParaRPr>
          </a:p>
          <a:p>
            <a:pPr marL="838200" lvl="1" indent="-381000">
              <a:buClr>
                <a:schemeClr val="tx2"/>
              </a:buClr>
              <a:buSzPct val="65000"/>
            </a:pPr>
            <a:r>
              <a:rPr lang="es-ES" altLang="es-AR" sz="3200">
                <a:solidFill>
                  <a:srgbClr val="1A3260"/>
                </a:solidFill>
              </a:rPr>
              <a:t>La funcionalidad que debe entregarse.</a:t>
            </a:r>
          </a:p>
          <a:p>
            <a:pPr marL="838200" lvl="1" indent="-381000">
              <a:buClr>
                <a:schemeClr val="tx2"/>
              </a:buClr>
              <a:buSzPct val="65000"/>
            </a:pPr>
            <a:r>
              <a:rPr lang="es-ES" altLang="es-AR" sz="3200">
                <a:solidFill>
                  <a:srgbClr val="1A3260"/>
                </a:solidFill>
              </a:rPr>
              <a:t>El proceso que se empleará para entregarlo</a:t>
            </a:r>
          </a:p>
          <a:p>
            <a:pPr marL="838200" lvl="1" indent="-381000">
              <a:buClr>
                <a:schemeClr val="tx2"/>
              </a:buClr>
              <a:buSzPct val="65000"/>
            </a:pPr>
            <a:endParaRPr lang="es-ES" altLang="es-AR" sz="3200">
              <a:solidFill>
                <a:srgbClr val="1A3260"/>
              </a:solidFill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43B9F62-AEDF-7AEA-675F-283CDB3A5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58</a:t>
            </a:fld>
            <a:endParaRPr lang="es-E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C956B0B3-3685-B0B2-A86D-4D2330FC21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altLang="es-AR" sz="3100"/>
              <a:t>Maduración del problema y proceso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C32D2397-1C58-A502-5F13-171D15872B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es-ES" altLang="es-AR" sz="2400">
                <a:solidFill>
                  <a:srgbClr val="1A3260"/>
                </a:solidFill>
              </a:rPr>
              <a:t>La planificación de un proyecto empieza con la maduración del problema y del proceso. Todas las funciones se deben tratar dentro de un proceso de ingeniería por el equipo de SW. </a:t>
            </a:r>
          </a:p>
          <a:p>
            <a:pPr>
              <a:lnSpc>
                <a:spcPct val="90000"/>
              </a:lnSpc>
            </a:pPr>
            <a:r>
              <a:rPr lang="es-ES" altLang="es-AR" sz="2400">
                <a:solidFill>
                  <a:srgbClr val="1A3260"/>
                </a:solidFill>
              </a:rPr>
              <a:t>Conjunto de actividades:</a:t>
            </a:r>
          </a:p>
          <a:p>
            <a:pPr lvl="2">
              <a:lnSpc>
                <a:spcPct val="115000"/>
              </a:lnSpc>
            </a:pPr>
            <a:r>
              <a:rPr lang="es-ES" altLang="es-AR" sz="1800">
                <a:solidFill>
                  <a:srgbClr val="1A3260"/>
                </a:solidFill>
              </a:rPr>
              <a:t>Comunicación con el cliente.</a:t>
            </a:r>
          </a:p>
          <a:p>
            <a:pPr lvl="2">
              <a:lnSpc>
                <a:spcPct val="115000"/>
              </a:lnSpc>
            </a:pPr>
            <a:r>
              <a:rPr lang="es-ES" altLang="es-AR" sz="1800">
                <a:solidFill>
                  <a:srgbClr val="1A3260"/>
                </a:solidFill>
              </a:rPr>
              <a:t>Planificación.</a:t>
            </a:r>
          </a:p>
          <a:p>
            <a:pPr lvl="2">
              <a:lnSpc>
                <a:spcPct val="115000"/>
              </a:lnSpc>
            </a:pPr>
            <a:r>
              <a:rPr lang="es-ES" altLang="es-AR" sz="1800">
                <a:solidFill>
                  <a:srgbClr val="1A3260"/>
                </a:solidFill>
              </a:rPr>
              <a:t>Análisis de riesgo.</a:t>
            </a:r>
          </a:p>
          <a:p>
            <a:pPr lvl="2">
              <a:lnSpc>
                <a:spcPct val="115000"/>
              </a:lnSpc>
            </a:pPr>
            <a:r>
              <a:rPr lang="es-ES" altLang="es-AR" sz="1800">
                <a:solidFill>
                  <a:srgbClr val="1A3260"/>
                </a:solidFill>
              </a:rPr>
              <a:t>Ingeniería.</a:t>
            </a:r>
          </a:p>
          <a:p>
            <a:pPr lvl="2">
              <a:lnSpc>
                <a:spcPct val="115000"/>
              </a:lnSpc>
            </a:pPr>
            <a:r>
              <a:rPr lang="es-ES" altLang="es-AR" sz="1800">
                <a:solidFill>
                  <a:srgbClr val="1A3260"/>
                </a:solidFill>
              </a:rPr>
              <a:t>Construcción y entrega.</a:t>
            </a:r>
          </a:p>
          <a:p>
            <a:pPr lvl="2">
              <a:lnSpc>
                <a:spcPct val="115000"/>
              </a:lnSpc>
            </a:pPr>
            <a:r>
              <a:rPr lang="es-ES" altLang="es-AR" sz="1800">
                <a:solidFill>
                  <a:srgbClr val="1A3260"/>
                </a:solidFill>
              </a:rPr>
              <a:t>Evaluación del cliente.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D1C6103-C76C-4964-9DB0-C75EA208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59</a:t>
            </a:fld>
            <a:endParaRPr lang="es-E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48862AA2-2248-31A2-34A3-15A08B7F38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altLang="es-AR" sz="3100"/>
              <a:t>Comunicación con el Cliente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E0FF008E-F423-A199-20F9-8FDB47D7E0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80000"/>
              </a:lnSpc>
              <a:buFont typeface="Wingdings" panose="05000000000000000000" pitchFamily="2" charset="2"/>
              <a:buNone/>
            </a:pPr>
            <a:r>
              <a:rPr lang="es-ES" altLang="es-AR" sz="2400">
                <a:solidFill>
                  <a:srgbClr val="1A3260"/>
                </a:solidFill>
              </a:rPr>
              <a:t>Tareas requeridas para establecer una comunicación eficiente entre el desarrollador y el cliente.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2406E8A1-5200-8294-7DB4-D98C7E455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60</a:t>
            </a:fld>
            <a:endParaRPr lang="es-E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6854D3D9-5B32-BFEA-68D0-9EA70C91D7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altLang="es-AR" sz="3100"/>
              <a:t>Planificación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A254C317-6775-780C-6555-8E0DD6B377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609600" indent="-609600" algn="ctr">
              <a:lnSpc>
                <a:spcPct val="140000"/>
              </a:lnSpc>
              <a:buNone/>
            </a:pPr>
            <a:r>
              <a:rPr lang="es-ES" altLang="es-AR" sz="3200">
                <a:solidFill>
                  <a:srgbClr val="1A3260"/>
                </a:solidFill>
              </a:rPr>
              <a:t>Tareas requeridas para definir los</a:t>
            </a:r>
          </a:p>
          <a:p>
            <a:pPr marL="609600" indent="-609600" algn="ctr">
              <a:lnSpc>
                <a:spcPct val="140000"/>
              </a:lnSpc>
              <a:buNone/>
            </a:pPr>
            <a:r>
              <a:rPr lang="es-ES" altLang="es-AR" sz="3200">
                <a:solidFill>
                  <a:srgbClr val="1A3260"/>
                </a:solidFill>
              </a:rPr>
              <a:t>recursos, la planificación temporal del</a:t>
            </a:r>
          </a:p>
          <a:p>
            <a:pPr marL="609600" indent="-609600" algn="ctr">
              <a:lnSpc>
                <a:spcPct val="140000"/>
              </a:lnSpc>
              <a:buNone/>
            </a:pPr>
            <a:r>
              <a:rPr lang="es-ES" altLang="es-AR" sz="3200">
                <a:solidFill>
                  <a:srgbClr val="1A3260"/>
                </a:solidFill>
              </a:rPr>
              <a:t>proyecto y cualquier información relativa a él.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7351F1DB-FBCB-3997-641D-3113A2080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61</a:t>
            </a:fld>
            <a:endParaRPr lang="es-E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BF615B0A-3FC9-7E87-E6BD-CB0C21A350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altLang="es-AR" sz="3100"/>
              <a:t>Análisis de riesgo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B3EBED2D-C3D1-19B1-2B3B-B578F4646C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algn="ctr">
              <a:lnSpc>
                <a:spcPct val="140000"/>
              </a:lnSpc>
              <a:buNone/>
            </a:pPr>
            <a:r>
              <a:rPr lang="es-ES" altLang="es-AR" sz="3200">
                <a:solidFill>
                  <a:srgbClr val="1A3260"/>
                </a:solidFill>
              </a:rPr>
              <a:t>Tareas requeridas para valorar los riesgos técnicos y de gestión.</a:t>
            </a:r>
            <a:endParaRPr lang="es-ES" sz="3200">
              <a:solidFill>
                <a:srgbClr val="1A3260"/>
              </a:solidFill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2D91D73-9BB7-D267-6769-88752CBD4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62</a:t>
            </a:fld>
            <a:endParaRPr lang="es-E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F7D247ED-3E64-50FD-8F11-527F4B871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altLang="es-AR" sz="3100"/>
              <a:t>Ingeniería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704847F6-1DE3-F740-08FD-AF9FC98786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algn="ctr">
              <a:lnSpc>
                <a:spcPct val="140000"/>
              </a:lnSpc>
              <a:buNone/>
            </a:pPr>
            <a:r>
              <a:rPr lang="es-ES" altLang="es-AR" sz="3200">
                <a:solidFill>
                  <a:srgbClr val="1A3260"/>
                </a:solidFill>
              </a:rPr>
              <a:t>Tareas requeridas para construir una o más representaciones de la aplicación.</a:t>
            </a:r>
            <a:endParaRPr lang="es-ES" sz="3200">
              <a:solidFill>
                <a:srgbClr val="1A3260"/>
              </a:solidFill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2DC86FDE-2FAC-3FFB-E5BB-20A842056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63</a:t>
            </a:fld>
            <a:endParaRPr lang="es-E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F2EABB53-A459-D65F-744A-E28BA5D11B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altLang="es-AR" sz="3100"/>
              <a:t>Construcción y entrega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F0D4C2CA-F853-08BF-BA1C-F8B962D3E6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algn="ctr">
              <a:lnSpc>
                <a:spcPct val="140000"/>
              </a:lnSpc>
              <a:buNone/>
            </a:pPr>
            <a:r>
              <a:rPr lang="es-ES" altLang="es-AR" sz="3200">
                <a:solidFill>
                  <a:srgbClr val="1A3260"/>
                </a:solidFill>
              </a:rPr>
              <a:t>Tareas requeridas para construir, probar </a:t>
            </a:r>
            <a:endParaRPr lang="es-ES" sz="3200">
              <a:solidFill>
                <a:srgbClr val="1A3260"/>
              </a:solidFill>
            </a:endParaRPr>
          </a:p>
          <a:p>
            <a:pPr marL="609600" indent="-609600" algn="ctr">
              <a:lnSpc>
                <a:spcPct val="140000"/>
              </a:lnSpc>
              <a:buNone/>
            </a:pPr>
            <a:r>
              <a:rPr lang="es-ES" altLang="es-AR" sz="3200">
                <a:solidFill>
                  <a:srgbClr val="1A3260"/>
                </a:solidFill>
              </a:rPr>
              <a:t>instalar y proporcionar asistencia al </a:t>
            </a:r>
          </a:p>
          <a:p>
            <a:pPr marL="609600" indent="-609600" algn="ctr">
              <a:lnSpc>
                <a:spcPct val="140000"/>
              </a:lnSpc>
              <a:buNone/>
            </a:pPr>
            <a:r>
              <a:rPr lang="es-ES" altLang="es-AR" sz="3200">
                <a:solidFill>
                  <a:srgbClr val="1A3260"/>
                </a:solidFill>
              </a:rPr>
              <a:t>usuario.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D8D57DE-FE98-B518-7893-69EB27218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64</a:t>
            </a:fld>
            <a:endParaRPr lang="es-E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32A786FB-039B-0452-D600-606BD6157F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altLang="es-AR" sz="3100"/>
              <a:t>Evaluación del cliente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A278CE0C-8D9C-BBC1-2D46-E72C1749C1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pPr marL="609600" indent="-609600" algn="ctr">
              <a:lnSpc>
                <a:spcPct val="140000"/>
              </a:lnSpc>
              <a:buNone/>
            </a:pPr>
            <a:r>
              <a:rPr lang="es-ES" altLang="es-AR" sz="2400">
                <a:solidFill>
                  <a:srgbClr val="1A3260"/>
                </a:solidFill>
              </a:rPr>
              <a:t>Tareas requeridas para obtener </a:t>
            </a:r>
            <a:endParaRPr lang="es-ES" sz="2400">
              <a:solidFill>
                <a:srgbClr val="1A3260"/>
              </a:solidFill>
            </a:endParaRPr>
          </a:p>
          <a:p>
            <a:pPr marL="609600" indent="-609600" algn="ctr">
              <a:lnSpc>
                <a:spcPct val="140000"/>
              </a:lnSpc>
              <a:buNone/>
            </a:pPr>
            <a:r>
              <a:rPr lang="es-ES" altLang="es-AR" sz="2400">
                <a:solidFill>
                  <a:srgbClr val="1A3260"/>
                </a:solidFill>
              </a:rPr>
              <a:t>información de la opinión del cliente </a:t>
            </a:r>
          </a:p>
          <a:p>
            <a:pPr marL="609600" indent="-609600" algn="ctr">
              <a:lnSpc>
                <a:spcPct val="140000"/>
              </a:lnSpc>
              <a:buNone/>
            </a:pPr>
            <a:r>
              <a:rPr lang="es-ES" altLang="es-AR" sz="2400">
                <a:solidFill>
                  <a:srgbClr val="1A3260"/>
                </a:solidFill>
              </a:rPr>
              <a:t>basadas en la evaluación de las </a:t>
            </a:r>
          </a:p>
          <a:p>
            <a:pPr marL="609600" indent="-609600" algn="ctr">
              <a:lnSpc>
                <a:spcPct val="140000"/>
              </a:lnSpc>
              <a:buNone/>
            </a:pPr>
            <a:r>
              <a:rPr lang="es-ES" altLang="es-AR" sz="2400">
                <a:solidFill>
                  <a:srgbClr val="1A3260"/>
                </a:solidFill>
              </a:rPr>
              <a:t>representaciones de SW creadas durante </a:t>
            </a:r>
          </a:p>
          <a:p>
            <a:pPr marL="609600" indent="-609600" algn="ctr">
              <a:lnSpc>
                <a:spcPct val="140000"/>
              </a:lnSpc>
              <a:buNone/>
            </a:pPr>
            <a:r>
              <a:rPr lang="es-ES" altLang="es-AR" sz="2400">
                <a:solidFill>
                  <a:srgbClr val="1A3260"/>
                </a:solidFill>
              </a:rPr>
              <a:t>la fase de ingeniería e implementación </a:t>
            </a:r>
          </a:p>
          <a:p>
            <a:pPr marL="609600" indent="-609600" algn="ctr">
              <a:lnSpc>
                <a:spcPct val="140000"/>
              </a:lnSpc>
              <a:buNone/>
            </a:pPr>
            <a:r>
              <a:rPr lang="es-ES" altLang="es-AR" sz="2400">
                <a:solidFill>
                  <a:srgbClr val="1A3260"/>
                </a:solidFill>
              </a:rPr>
              <a:t>durante la fase de instalación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D5CCF1C6-696D-1D21-B1DA-0CAD71DFB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65</a:t>
            </a:fld>
            <a:endParaRPr lang="es-E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CBC98A8-9C8C-8912-4569-80C23EB011D6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rnd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itle 1">
            <a:extLst>
              <a:ext uri="{FF2B5EF4-FFF2-40B4-BE49-F238E27FC236}">
                <a16:creationId xmlns:a16="http://schemas.microsoft.com/office/drawing/2014/main" id="{D0C82B2A-0D97-4C8D-9679-E52CD92D0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4322" y="1085610"/>
            <a:ext cx="4494179" cy="553998"/>
          </a:xfrm>
        </p:spPr>
        <p:txBody>
          <a:bodyPr>
            <a:normAutofit fontScale="90000"/>
          </a:bodyPr>
          <a:lstStyle/>
          <a:p>
            <a:pPr algn="ctr"/>
            <a:r>
              <a:rPr lang="es-AR" sz="3500" b="1" spc="300">
                <a:latin typeface="Amasis MT Pro Medium" panose="02040604050005020304" pitchFamily="18" charset="0"/>
              </a:rPr>
              <a:t>Dudas ?</a:t>
            </a:r>
            <a:endParaRPr lang="en-US" sz="3500" b="1" spc="300">
              <a:latin typeface="Amasis MT Pro Medium" panose="02040604050005020304" pitchFamily="18" charset="0"/>
            </a:endParaRPr>
          </a:p>
        </p:txBody>
      </p:sp>
      <p:pic>
        <p:nvPicPr>
          <p:cNvPr id="17" name="Marcador de contenido 16" descr="Sala de alumnos levantando la mano frente a un profesor">
            <a:extLst>
              <a:ext uri="{FF2B5EF4-FFF2-40B4-BE49-F238E27FC236}">
                <a16:creationId xmlns:a16="http://schemas.microsoft.com/office/drawing/2014/main" id="{B1BF6732-AAB2-4368-81BD-4FF4065C29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1494046" y="1901291"/>
            <a:ext cx="5276499" cy="3594100"/>
          </a:xfrm>
          <a:noFill/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9AE80C0-B675-8279-4262-B98445D72064}"/>
              </a:ext>
            </a:extLst>
          </p:cNvPr>
          <p:cNvSpPr txBox="1"/>
          <p:nvPr/>
        </p:nvSpPr>
        <p:spPr>
          <a:xfrm>
            <a:off x="2102809" y="5696714"/>
            <a:ext cx="609437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300" b="1" cap="all" spc="300" err="1">
                <a:solidFill>
                  <a:schemeClr val="accent1">
                    <a:lumMod val="75000"/>
                  </a:schemeClr>
                </a:solidFill>
                <a:latin typeface="Amasis MT Pro Medium" panose="02040604050005020304" pitchFamily="18" charset="0"/>
                <a:ea typeface="+mj-ea"/>
                <a:cs typeface="+mj-cs"/>
              </a:rPr>
              <a:t>Comentarios</a:t>
            </a:r>
            <a:r>
              <a:rPr lang="en-US" sz="3300" b="1" cap="all" spc="300">
                <a:solidFill>
                  <a:schemeClr val="accent1">
                    <a:lumMod val="75000"/>
                  </a:schemeClr>
                </a:solidFill>
                <a:latin typeface="Amasis MT Pro Medium" panose="02040604050005020304" pitchFamily="18" charset="0"/>
                <a:ea typeface="+mj-ea"/>
                <a:cs typeface="+mj-cs"/>
              </a:rPr>
              <a:t>?</a:t>
            </a:r>
            <a:endParaRPr lang="es-AR" sz="3300" b="1" cap="all" spc="300">
              <a:solidFill>
                <a:schemeClr val="accent1">
                  <a:lumMod val="75000"/>
                </a:schemeClr>
              </a:solidFill>
              <a:latin typeface="Amasis MT Pro Medium" panose="02040604050005020304" pitchFamily="18" charset="0"/>
              <a:ea typeface="+mj-ea"/>
              <a:cs typeface="+mj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79A6AB-6996-D6D3-6AEF-1360E76EA5DE}"/>
              </a:ext>
            </a:extLst>
          </p:cNvPr>
          <p:cNvSpPr txBox="1">
            <a:spLocks/>
          </p:cNvSpPr>
          <p:nvPr/>
        </p:nvSpPr>
        <p:spPr>
          <a:xfrm>
            <a:off x="6426740" y="3338418"/>
            <a:ext cx="4494179" cy="55399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3300" b="1" spc="300" err="1">
                <a:solidFill>
                  <a:schemeClr val="accent1">
                    <a:lumMod val="75000"/>
                  </a:schemeClr>
                </a:solidFill>
                <a:latin typeface="Amasis MT Pro Medium" panose="02040604050005020304" pitchFamily="18" charset="0"/>
              </a:rPr>
              <a:t>Preguntas</a:t>
            </a:r>
            <a:r>
              <a:rPr lang="en-US" sz="13300" b="1" spc="300">
                <a:solidFill>
                  <a:schemeClr val="accent1">
                    <a:lumMod val="75000"/>
                  </a:schemeClr>
                </a:solidFill>
                <a:latin typeface="Amasis MT Pro Medium" panose="02040604050005020304" pitchFamily="18" charset="0"/>
              </a:rPr>
              <a:t>?</a:t>
            </a:r>
            <a:br>
              <a:rPr lang="en-US" sz="3500" b="1" spc="300">
                <a:latin typeface="Amasis MT Pro Medium" panose="02040604050005020304" pitchFamily="18" charset="0"/>
              </a:rPr>
            </a:br>
            <a:br>
              <a:rPr lang="en-US" sz="3500" b="1" spc="300">
                <a:solidFill>
                  <a:schemeClr val="accent1"/>
                </a:solidFill>
                <a:latin typeface="Amasis MT Pro Medium" panose="02040604050005020304" pitchFamily="18" charset="0"/>
              </a:rPr>
            </a:br>
            <a:endParaRPr lang="en-US" sz="3500" b="1" spc="300">
              <a:solidFill>
                <a:schemeClr val="accent1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108725B-289D-746F-9497-3B9AD70C3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66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480781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9299BB7DBAB604CBF92CED6F341956D" ma:contentTypeVersion="3" ma:contentTypeDescription="Crear nuevo documento." ma:contentTypeScope="" ma:versionID="9afc5c629d1fa4daa758eae5c0ffce08">
  <xsd:schema xmlns:xsd="http://www.w3.org/2001/XMLSchema" xmlns:xs="http://www.w3.org/2001/XMLSchema" xmlns:p="http://schemas.microsoft.com/office/2006/metadata/properties" xmlns:ns2="0fd8070d-56ff-4b43-b705-64ae6a394890" targetNamespace="http://schemas.microsoft.com/office/2006/metadata/properties" ma:root="true" ma:fieldsID="e452753519e258a995a8d5047b5119ca" ns2:_="">
    <xsd:import namespace="0fd8070d-56ff-4b43-b705-64ae6a39489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d8070d-56ff-4b43-b705-64ae6a3948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8B1A247-29A7-4EFD-910E-F169E753620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909CE61-0113-4CA4-87B0-48B6C9F46408}">
  <ds:schemaRefs>
    <ds:schemaRef ds:uri="0fd8070d-56ff-4b43-b705-64ae6a3948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858EE77-29CE-44A5-A403-C571CF065A0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Application>Microsoft Office PowerPoint</Application>
  <PresentationFormat>Panorámica</PresentationFormat>
  <Slides>66</Slides>
  <Notes>7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66</vt:i4>
      </vt:variant>
    </vt:vector>
  </HeadingPairs>
  <TitlesOfParts>
    <vt:vector size="67" baseType="lpstr">
      <vt:lpstr>Dividend</vt:lpstr>
      <vt:lpstr>Presentación de PowerPoint</vt:lpstr>
      <vt:lpstr>Ingeniería del Software</vt:lpstr>
      <vt:lpstr>El Espectro de la gestión</vt:lpstr>
      <vt:lpstr> Trabajo en Equipo</vt:lpstr>
      <vt:lpstr>Conceptos sobre gestión de proyectos</vt:lpstr>
      <vt:lpstr>Conceptos sobre gestión de proyectos</vt:lpstr>
      <vt:lpstr>PERSONAL</vt:lpstr>
      <vt:lpstr>Personal</vt:lpstr>
      <vt:lpstr>Personal</vt:lpstr>
      <vt:lpstr>Personal</vt:lpstr>
      <vt:lpstr>Personal</vt:lpstr>
      <vt:lpstr>Personal</vt:lpstr>
      <vt:lpstr>Trabajo en Equipo</vt:lpstr>
      <vt:lpstr>Trabajo en Equipo</vt:lpstr>
      <vt:lpstr>Trabajo en Equipo</vt:lpstr>
      <vt:lpstr> Trabajo en Equipo</vt:lpstr>
      <vt:lpstr>Trabajo en Equipo</vt:lpstr>
      <vt:lpstr>Trabajo en Equipo</vt:lpstr>
      <vt:lpstr>Trabajo en Equipo</vt:lpstr>
      <vt:lpstr>Gestor de Proyectos</vt:lpstr>
      <vt:lpstr>Resolución del problema</vt:lpstr>
      <vt:lpstr>Dotes de Gestión</vt:lpstr>
      <vt:lpstr>Incentivos de los logros</vt:lpstr>
      <vt:lpstr>Influencia y construcción de espíritu de equipo</vt:lpstr>
      <vt:lpstr>El Equipo de SW</vt:lpstr>
      <vt:lpstr>El Equipo de SW</vt:lpstr>
      <vt:lpstr>El Equipo de SW</vt:lpstr>
      <vt:lpstr>Descentralizado democrático (DD)</vt:lpstr>
      <vt:lpstr>Descentralizado controlado (DC)</vt:lpstr>
      <vt:lpstr>Centralizado controlado (CC)</vt:lpstr>
      <vt:lpstr>Factores a considerar</vt:lpstr>
      <vt:lpstr>Paradigmas  de organización</vt:lpstr>
      <vt:lpstr>Paradigma cerrado</vt:lpstr>
      <vt:lpstr>Paradigma aleatorio</vt:lpstr>
      <vt:lpstr>Paradigma abierto</vt:lpstr>
      <vt:lpstr>Paradigma Sincronizado</vt:lpstr>
      <vt:lpstr>Cohesión de equipos</vt:lpstr>
      <vt:lpstr>Cohesión de equipos</vt:lpstr>
      <vt:lpstr>Cohesión de equipos</vt:lpstr>
      <vt:lpstr>Técnicas de coordinación de proyectos</vt:lpstr>
      <vt:lpstr>Formal, enfoque impersonal</vt:lpstr>
      <vt:lpstr>Formal, procedimientos interpersonales</vt:lpstr>
      <vt:lpstr>Informal, procedimientos interpersonales</vt:lpstr>
      <vt:lpstr>Comunicación electrónica</vt:lpstr>
      <vt:lpstr>Red interpersonal</vt:lpstr>
      <vt:lpstr>PRODUCTO</vt:lpstr>
      <vt:lpstr>PRODUCTO</vt:lpstr>
      <vt:lpstr>PRODUCTO</vt:lpstr>
      <vt:lpstr>Producto</vt:lpstr>
      <vt:lpstr>PROBLEMA</vt:lpstr>
      <vt:lpstr>Problema</vt:lpstr>
      <vt:lpstr>Proceso</vt:lpstr>
      <vt:lpstr>Proceso</vt:lpstr>
      <vt:lpstr>Proceso</vt:lpstr>
      <vt:lpstr>Contexto</vt:lpstr>
      <vt:lpstr>Objetivos de información</vt:lpstr>
      <vt:lpstr>Función y rendimiento</vt:lpstr>
      <vt:lpstr>Descomposición del problema</vt:lpstr>
      <vt:lpstr>Maduración del problema y proceso</vt:lpstr>
      <vt:lpstr>Comunicación con el Cliente</vt:lpstr>
      <vt:lpstr>Planificación</vt:lpstr>
      <vt:lpstr>Análisis de riesgo</vt:lpstr>
      <vt:lpstr>Ingeniería</vt:lpstr>
      <vt:lpstr>Construcción y entrega</vt:lpstr>
      <vt:lpstr>Evaluación del cliente</vt:lpstr>
      <vt:lpstr>Dudas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FERNANDEZ MARY AUXILIADORA</dc:creator>
  <cp:revision>129</cp:revision>
  <cp:lastPrinted>2024-08-21T17:29:34Z</cp:lastPrinted>
  <dcterms:created xsi:type="dcterms:W3CDTF">2024-02-12T22:14:11Z</dcterms:created>
  <dcterms:modified xsi:type="dcterms:W3CDTF">2026-07-28T11:06:35Z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0x01010019299BB7DBAB604CBF92CED6F341956D</vt:lpwstr>
  </property>
</Properties>
</file>