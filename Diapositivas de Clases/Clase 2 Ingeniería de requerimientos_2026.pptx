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9"/>
  </p:notesMasterIdLst>
  <p:sldIdLst>
    <p:sldId id="430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416" r:id="rId15"/>
    <p:sldId id="417" r:id="rId16"/>
    <p:sldId id="434" r:id="rId17"/>
    <p:sldId id="270" r:id="rId18"/>
    <p:sldId id="268" r:id="rId19"/>
    <p:sldId id="269" r:id="rId20"/>
    <p:sldId id="431" r:id="rId21"/>
    <p:sldId id="432" r:id="rId22"/>
    <p:sldId id="433" r:id="rId23"/>
    <p:sldId id="273" r:id="rId24"/>
    <p:sldId id="391" r:id="rId25"/>
    <p:sldId id="418" r:id="rId26"/>
    <p:sldId id="384" r:id="rId27"/>
    <p:sldId id="386" r:id="rId28"/>
    <p:sldId id="260" r:id="rId29"/>
    <p:sldId id="286" r:id="rId30"/>
    <p:sldId id="287" r:id="rId31"/>
    <p:sldId id="435" r:id="rId32"/>
    <p:sldId id="303" r:id="rId33"/>
    <p:sldId id="304" r:id="rId34"/>
    <p:sldId id="305" r:id="rId35"/>
    <p:sldId id="306" r:id="rId36"/>
    <p:sldId id="307" r:id="rId37"/>
    <p:sldId id="271" r:id="rId38"/>
    <p:sldId id="274" r:id="rId39"/>
    <p:sldId id="275" r:id="rId40"/>
    <p:sldId id="276" r:id="rId41"/>
    <p:sldId id="277" r:id="rId42"/>
    <p:sldId id="278" r:id="rId43"/>
    <p:sldId id="279" r:id="rId44"/>
    <p:sldId id="436" r:id="rId45"/>
    <p:sldId id="282" r:id="rId46"/>
    <p:sldId id="283" r:id="rId47"/>
    <p:sldId id="429" r:id="rId4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4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75DFA-1897-4161-86AF-C60E224F348B}" type="datetimeFigureOut">
              <a:rPr lang="es-AR" smtClean="0"/>
              <a:t>12/9/2026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264F9-0DBD-4110-AF97-294B35129A53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44882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3F28A1F-3E69-47E5-AE93-E7F2155A242D}" type="slidenum">
              <a:rPr lang="es-ES" noProof="0" smtClean="0"/>
              <a:t>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74766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98EFF8D-8FE4-C793-EC8E-5508C80FD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600" y="750888"/>
            <a:ext cx="6594475" cy="3709987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1EC1549-AB53-0022-8B84-740EF1F49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 altLang="es-A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019216-82E7-3E40-C357-2E51A8426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600" y="750888"/>
            <a:ext cx="6594475" cy="3709987"/>
          </a:xfrm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1085BD2-3E95-FD7E-3ACF-D7AC0D68A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 altLang="es-A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3F28A1F-3E69-47E5-AE93-E7F2155A242D}" type="slidenum">
              <a:rPr lang="es-ES" noProof="0" smtClean="0"/>
              <a:t>44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114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6FC0"/>
                </a:solidFill>
                <a:latin typeface="Abadi" panose="020F0502020204030204" pitchFamily="34" charset="0"/>
                <a:cs typeface="Abadi" panose="020F05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badi" panose="020B0604020104020204" pitchFamily="34" charset="0"/>
                <a:cs typeface="Abadi" panose="020B0604020104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AFEAE-82CC-4B5C-B1DB-AE8B5572AA3F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58951"/>
            <a:ext cx="3444240" cy="5331460"/>
          </a:xfrm>
          <a:custGeom>
            <a:avLst/>
            <a:gdLst/>
            <a:ahLst/>
            <a:cxnLst/>
            <a:rect l="l" t="t" r="r" b="b"/>
            <a:pathLst>
              <a:path w="3444240" h="5331460">
                <a:moveTo>
                  <a:pt x="3444240" y="0"/>
                </a:moveTo>
                <a:lnTo>
                  <a:pt x="0" y="0"/>
                </a:lnTo>
                <a:lnTo>
                  <a:pt x="0" y="5330952"/>
                </a:lnTo>
                <a:lnTo>
                  <a:pt x="3444240" y="5330952"/>
                </a:lnTo>
                <a:lnTo>
                  <a:pt x="3444240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6FC0"/>
                </a:solidFill>
                <a:latin typeface="Abadi" panose="020B0604020104020204" pitchFamily="34" charset="0"/>
                <a:cs typeface="Abadi" panose="020B0604020104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badi" panose="020B0604020104020204" pitchFamily="34" charset="0"/>
                <a:cs typeface="Abadi" panose="020B0604020104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43C6D-CCB5-4AE0-A251-E2C969862A8E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58951"/>
            <a:ext cx="3444240" cy="5331460"/>
          </a:xfrm>
          <a:custGeom>
            <a:avLst/>
            <a:gdLst/>
            <a:ahLst/>
            <a:cxnLst/>
            <a:rect l="l" t="t" r="r" b="b"/>
            <a:pathLst>
              <a:path w="3444240" h="5331460">
                <a:moveTo>
                  <a:pt x="3444240" y="0"/>
                </a:moveTo>
                <a:lnTo>
                  <a:pt x="0" y="0"/>
                </a:lnTo>
                <a:lnTo>
                  <a:pt x="0" y="5330952"/>
                </a:lnTo>
                <a:lnTo>
                  <a:pt x="3444240" y="5330952"/>
                </a:lnTo>
                <a:lnTo>
                  <a:pt x="3444240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6FC0"/>
                </a:solidFill>
                <a:latin typeface="Abadi" panose="020B0604020104020204" pitchFamily="34" charset="0"/>
                <a:cs typeface="Abadi" panose="020B0604020104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BC787-7A3D-4C4B-B06A-7D55DC2319CF}" type="datetime1">
              <a:rPr lang="en-US" smtClean="0"/>
              <a:t>9/12/2026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58951"/>
            <a:ext cx="3444240" cy="5331460"/>
          </a:xfrm>
          <a:custGeom>
            <a:avLst/>
            <a:gdLst/>
            <a:ahLst/>
            <a:cxnLst/>
            <a:rect l="l" t="t" r="r" b="b"/>
            <a:pathLst>
              <a:path w="3444240" h="5331460">
                <a:moveTo>
                  <a:pt x="3444240" y="0"/>
                </a:moveTo>
                <a:lnTo>
                  <a:pt x="0" y="0"/>
                </a:lnTo>
                <a:lnTo>
                  <a:pt x="0" y="5330952"/>
                </a:lnTo>
                <a:lnTo>
                  <a:pt x="3444240" y="5330952"/>
                </a:lnTo>
                <a:lnTo>
                  <a:pt x="3444240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6FC0"/>
                </a:solidFill>
                <a:latin typeface="Abadi" panose="020B0604020104020204" pitchFamily="34" charset="0"/>
                <a:cs typeface="Abadi" panose="020B0604020104020204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B2463-A0CD-4719-B547-9C09741D5DA0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A83BD-CB74-40B4-A500-96AB046756EF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C233E16-5AF9-413C-BFD8-4D5C0DE3CD29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E40E506-8910-4A1D-9597-9E72BD29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9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3634" y="772109"/>
            <a:ext cx="482473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77920" y="3021025"/>
            <a:ext cx="816864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BF872-5B6F-435A-8294-625BC006434B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>
        <a:defRPr>
          <a:latin typeface="Abadi" panose="020F0502020204030204" pitchFamily="34" charset="0"/>
          <a:ea typeface="+mj-ea"/>
          <a:cs typeface="+mj-cs"/>
        </a:defRPr>
      </a:lvl1pPr>
    </p:titleStyle>
    <p:bodyStyle>
      <a:lvl1pPr marL="0">
        <a:defRPr>
          <a:latin typeface="Abadi" panose="020F0502020204030204" pitchFamily="34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45" Type="http://schemas.openxmlformats.org/officeDocument/2006/relationships/image" Target="../media/image47.jp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4" Type="http://schemas.openxmlformats.org/officeDocument/2006/relationships/image" Target="../media/image46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43" Type="http://schemas.openxmlformats.org/officeDocument/2006/relationships/image" Target="../media/image45.png"/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20" Type="http://schemas.openxmlformats.org/officeDocument/2006/relationships/image" Target="../media/image22.png"/><Relationship Id="rId41" Type="http://schemas.openxmlformats.org/officeDocument/2006/relationships/image" Target="../media/image4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9" Type="http://schemas.openxmlformats.org/officeDocument/2006/relationships/image" Target="../media/image85.png"/><Relationship Id="rId21" Type="http://schemas.openxmlformats.org/officeDocument/2006/relationships/image" Target="../media/image67.png"/><Relationship Id="rId34" Type="http://schemas.openxmlformats.org/officeDocument/2006/relationships/image" Target="../media/image80.png"/><Relationship Id="rId42" Type="http://schemas.openxmlformats.org/officeDocument/2006/relationships/image" Target="../media/image88.png"/><Relationship Id="rId47" Type="http://schemas.openxmlformats.org/officeDocument/2006/relationships/image" Target="../media/image93.png"/><Relationship Id="rId50" Type="http://schemas.openxmlformats.org/officeDocument/2006/relationships/image" Target="../media/image96.png"/><Relationship Id="rId7" Type="http://schemas.openxmlformats.org/officeDocument/2006/relationships/image" Target="../media/image53.png"/><Relationship Id="rId2" Type="http://schemas.openxmlformats.org/officeDocument/2006/relationships/image" Target="../media/image49.png"/><Relationship Id="rId16" Type="http://schemas.openxmlformats.org/officeDocument/2006/relationships/image" Target="../media/image62.png"/><Relationship Id="rId29" Type="http://schemas.openxmlformats.org/officeDocument/2006/relationships/image" Target="../media/image75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png"/><Relationship Id="rId37" Type="http://schemas.openxmlformats.org/officeDocument/2006/relationships/image" Target="../media/image83.png"/><Relationship Id="rId40" Type="http://schemas.openxmlformats.org/officeDocument/2006/relationships/image" Target="../media/image86.png"/><Relationship Id="rId45" Type="http://schemas.openxmlformats.org/officeDocument/2006/relationships/image" Target="../media/image91.png"/><Relationship Id="rId53" Type="http://schemas.openxmlformats.org/officeDocument/2006/relationships/image" Target="../media/image98.jp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77.png"/><Relationship Id="rId44" Type="http://schemas.openxmlformats.org/officeDocument/2006/relationships/image" Target="../media/image90.png"/><Relationship Id="rId52" Type="http://schemas.openxmlformats.org/officeDocument/2006/relationships/image" Target="../media/image24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81.png"/><Relationship Id="rId43" Type="http://schemas.openxmlformats.org/officeDocument/2006/relationships/image" Target="../media/image89.png"/><Relationship Id="rId48" Type="http://schemas.openxmlformats.org/officeDocument/2006/relationships/image" Target="../media/image94.png"/><Relationship Id="rId8" Type="http://schemas.openxmlformats.org/officeDocument/2006/relationships/image" Target="../media/image54.png"/><Relationship Id="rId51" Type="http://schemas.openxmlformats.org/officeDocument/2006/relationships/image" Target="../media/image97.png"/><Relationship Id="rId3" Type="http://schemas.openxmlformats.org/officeDocument/2006/relationships/image" Target="../media/image28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33" Type="http://schemas.openxmlformats.org/officeDocument/2006/relationships/image" Target="../media/image79.png"/><Relationship Id="rId38" Type="http://schemas.openxmlformats.org/officeDocument/2006/relationships/image" Target="../media/image84.png"/><Relationship Id="rId46" Type="http://schemas.openxmlformats.org/officeDocument/2006/relationships/image" Target="../media/image92.png"/><Relationship Id="rId20" Type="http://schemas.openxmlformats.org/officeDocument/2006/relationships/image" Target="../media/image66.png"/><Relationship Id="rId41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36" Type="http://schemas.openxmlformats.org/officeDocument/2006/relationships/image" Target="../media/image82.png"/><Relationship Id="rId49" Type="http://schemas.openxmlformats.org/officeDocument/2006/relationships/image" Target="../media/image9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5.png"/><Relationship Id="rId21" Type="http://schemas.openxmlformats.org/officeDocument/2006/relationships/image" Target="../media/image130.png"/><Relationship Id="rId42" Type="http://schemas.openxmlformats.org/officeDocument/2006/relationships/image" Target="../media/image151.png"/><Relationship Id="rId47" Type="http://schemas.openxmlformats.org/officeDocument/2006/relationships/image" Target="../media/image156.png"/><Relationship Id="rId63" Type="http://schemas.openxmlformats.org/officeDocument/2006/relationships/image" Target="../media/image172.png"/><Relationship Id="rId68" Type="http://schemas.openxmlformats.org/officeDocument/2006/relationships/image" Target="../media/image177.png"/><Relationship Id="rId2" Type="http://schemas.openxmlformats.org/officeDocument/2006/relationships/image" Target="../media/image111.png"/><Relationship Id="rId16" Type="http://schemas.openxmlformats.org/officeDocument/2006/relationships/image" Target="../media/image125.png"/><Relationship Id="rId29" Type="http://schemas.openxmlformats.org/officeDocument/2006/relationships/image" Target="../media/image138.png"/><Relationship Id="rId11" Type="http://schemas.openxmlformats.org/officeDocument/2006/relationships/image" Target="../media/image120.png"/><Relationship Id="rId24" Type="http://schemas.openxmlformats.org/officeDocument/2006/relationships/image" Target="../media/image133.png"/><Relationship Id="rId32" Type="http://schemas.openxmlformats.org/officeDocument/2006/relationships/image" Target="../media/image141.png"/><Relationship Id="rId37" Type="http://schemas.openxmlformats.org/officeDocument/2006/relationships/image" Target="../media/image146.png"/><Relationship Id="rId40" Type="http://schemas.openxmlformats.org/officeDocument/2006/relationships/image" Target="../media/image149.png"/><Relationship Id="rId45" Type="http://schemas.openxmlformats.org/officeDocument/2006/relationships/image" Target="../media/image154.png"/><Relationship Id="rId53" Type="http://schemas.openxmlformats.org/officeDocument/2006/relationships/image" Target="../media/image162.png"/><Relationship Id="rId58" Type="http://schemas.openxmlformats.org/officeDocument/2006/relationships/image" Target="../media/image167.png"/><Relationship Id="rId66" Type="http://schemas.openxmlformats.org/officeDocument/2006/relationships/image" Target="../media/image175.png"/><Relationship Id="rId5" Type="http://schemas.openxmlformats.org/officeDocument/2006/relationships/image" Target="../media/image114.png"/><Relationship Id="rId61" Type="http://schemas.openxmlformats.org/officeDocument/2006/relationships/image" Target="../media/image170.png"/><Relationship Id="rId19" Type="http://schemas.openxmlformats.org/officeDocument/2006/relationships/image" Target="../media/image128.png"/><Relationship Id="rId14" Type="http://schemas.openxmlformats.org/officeDocument/2006/relationships/image" Target="../media/image123.png"/><Relationship Id="rId22" Type="http://schemas.openxmlformats.org/officeDocument/2006/relationships/image" Target="../media/image131.png"/><Relationship Id="rId27" Type="http://schemas.openxmlformats.org/officeDocument/2006/relationships/image" Target="../media/image136.png"/><Relationship Id="rId30" Type="http://schemas.openxmlformats.org/officeDocument/2006/relationships/image" Target="../media/image139.png"/><Relationship Id="rId35" Type="http://schemas.openxmlformats.org/officeDocument/2006/relationships/image" Target="../media/image144.png"/><Relationship Id="rId43" Type="http://schemas.openxmlformats.org/officeDocument/2006/relationships/image" Target="../media/image152.png"/><Relationship Id="rId48" Type="http://schemas.openxmlformats.org/officeDocument/2006/relationships/image" Target="../media/image157.png"/><Relationship Id="rId56" Type="http://schemas.openxmlformats.org/officeDocument/2006/relationships/image" Target="../media/image165.png"/><Relationship Id="rId64" Type="http://schemas.openxmlformats.org/officeDocument/2006/relationships/image" Target="../media/image173.png"/><Relationship Id="rId69" Type="http://schemas.openxmlformats.org/officeDocument/2006/relationships/image" Target="../media/image178.png"/><Relationship Id="rId8" Type="http://schemas.openxmlformats.org/officeDocument/2006/relationships/image" Target="../media/image117.png"/><Relationship Id="rId51" Type="http://schemas.openxmlformats.org/officeDocument/2006/relationships/image" Target="../media/image160.png"/><Relationship Id="rId72" Type="http://schemas.openxmlformats.org/officeDocument/2006/relationships/image" Target="../media/image181.png"/><Relationship Id="rId3" Type="http://schemas.openxmlformats.org/officeDocument/2006/relationships/image" Target="../media/image112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5" Type="http://schemas.openxmlformats.org/officeDocument/2006/relationships/image" Target="../media/image134.png"/><Relationship Id="rId33" Type="http://schemas.openxmlformats.org/officeDocument/2006/relationships/image" Target="../media/image142.png"/><Relationship Id="rId38" Type="http://schemas.openxmlformats.org/officeDocument/2006/relationships/image" Target="../media/image147.png"/><Relationship Id="rId46" Type="http://schemas.openxmlformats.org/officeDocument/2006/relationships/image" Target="../media/image155.png"/><Relationship Id="rId59" Type="http://schemas.openxmlformats.org/officeDocument/2006/relationships/image" Target="../media/image168.png"/><Relationship Id="rId67" Type="http://schemas.openxmlformats.org/officeDocument/2006/relationships/image" Target="../media/image176.png"/><Relationship Id="rId20" Type="http://schemas.openxmlformats.org/officeDocument/2006/relationships/image" Target="../media/image129.png"/><Relationship Id="rId41" Type="http://schemas.openxmlformats.org/officeDocument/2006/relationships/image" Target="../media/image150.png"/><Relationship Id="rId54" Type="http://schemas.openxmlformats.org/officeDocument/2006/relationships/image" Target="../media/image163.png"/><Relationship Id="rId62" Type="http://schemas.openxmlformats.org/officeDocument/2006/relationships/image" Target="../media/image171.png"/><Relationship Id="rId70" Type="http://schemas.openxmlformats.org/officeDocument/2006/relationships/image" Target="../media/image17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5.png"/><Relationship Id="rId15" Type="http://schemas.openxmlformats.org/officeDocument/2006/relationships/image" Target="../media/image124.png"/><Relationship Id="rId23" Type="http://schemas.openxmlformats.org/officeDocument/2006/relationships/image" Target="../media/image132.png"/><Relationship Id="rId28" Type="http://schemas.openxmlformats.org/officeDocument/2006/relationships/image" Target="../media/image137.png"/><Relationship Id="rId36" Type="http://schemas.openxmlformats.org/officeDocument/2006/relationships/image" Target="../media/image145.png"/><Relationship Id="rId49" Type="http://schemas.openxmlformats.org/officeDocument/2006/relationships/image" Target="../media/image158.png"/><Relationship Id="rId57" Type="http://schemas.openxmlformats.org/officeDocument/2006/relationships/image" Target="../media/image166.png"/><Relationship Id="rId10" Type="http://schemas.openxmlformats.org/officeDocument/2006/relationships/image" Target="../media/image119.png"/><Relationship Id="rId31" Type="http://schemas.openxmlformats.org/officeDocument/2006/relationships/image" Target="../media/image140.png"/><Relationship Id="rId44" Type="http://schemas.openxmlformats.org/officeDocument/2006/relationships/image" Target="../media/image153.png"/><Relationship Id="rId52" Type="http://schemas.openxmlformats.org/officeDocument/2006/relationships/image" Target="../media/image161.png"/><Relationship Id="rId60" Type="http://schemas.openxmlformats.org/officeDocument/2006/relationships/image" Target="../media/image169.png"/><Relationship Id="rId65" Type="http://schemas.openxmlformats.org/officeDocument/2006/relationships/image" Target="../media/image174.png"/><Relationship Id="rId73" Type="http://schemas.openxmlformats.org/officeDocument/2006/relationships/image" Target="../media/image182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9" Type="http://schemas.openxmlformats.org/officeDocument/2006/relationships/image" Target="../media/image148.png"/><Relationship Id="rId34" Type="http://schemas.openxmlformats.org/officeDocument/2006/relationships/image" Target="../media/image143.png"/><Relationship Id="rId50" Type="http://schemas.openxmlformats.org/officeDocument/2006/relationships/image" Target="../media/image159.png"/><Relationship Id="rId55" Type="http://schemas.openxmlformats.org/officeDocument/2006/relationships/image" Target="../media/image164.png"/><Relationship Id="rId7" Type="http://schemas.openxmlformats.org/officeDocument/2006/relationships/image" Target="../media/image116.png"/><Relationship Id="rId71" Type="http://schemas.openxmlformats.org/officeDocument/2006/relationships/image" Target="../media/image1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jp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6.png"/><Relationship Id="rId18" Type="http://schemas.openxmlformats.org/officeDocument/2006/relationships/image" Target="../media/image201.png"/><Relationship Id="rId26" Type="http://schemas.openxmlformats.org/officeDocument/2006/relationships/image" Target="../media/image209.png"/><Relationship Id="rId39" Type="http://schemas.openxmlformats.org/officeDocument/2006/relationships/image" Target="../media/image222.png"/><Relationship Id="rId21" Type="http://schemas.openxmlformats.org/officeDocument/2006/relationships/image" Target="../media/image204.png"/><Relationship Id="rId34" Type="http://schemas.openxmlformats.org/officeDocument/2006/relationships/image" Target="../media/image217.png"/><Relationship Id="rId42" Type="http://schemas.openxmlformats.org/officeDocument/2006/relationships/image" Target="../media/image225.png"/><Relationship Id="rId47" Type="http://schemas.openxmlformats.org/officeDocument/2006/relationships/image" Target="../media/image230.png"/><Relationship Id="rId50" Type="http://schemas.openxmlformats.org/officeDocument/2006/relationships/image" Target="../media/image233.png"/><Relationship Id="rId55" Type="http://schemas.openxmlformats.org/officeDocument/2006/relationships/image" Target="../media/image238.png"/><Relationship Id="rId7" Type="http://schemas.openxmlformats.org/officeDocument/2006/relationships/image" Target="../media/image190.png"/><Relationship Id="rId2" Type="http://schemas.openxmlformats.org/officeDocument/2006/relationships/image" Target="../media/image185.png"/><Relationship Id="rId16" Type="http://schemas.openxmlformats.org/officeDocument/2006/relationships/image" Target="../media/image199.png"/><Relationship Id="rId29" Type="http://schemas.openxmlformats.org/officeDocument/2006/relationships/image" Target="../media/image212.png"/><Relationship Id="rId11" Type="http://schemas.openxmlformats.org/officeDocument/2006/relationships/image" Target="../media/image194.png"/><Relationship Id="rId24" Type="http://schemas.openxmlformats.org/officeDocument/2006/relationships/image" Target="../media/image207.png"/><Relationship Id="rId32" Type="http://schemas.openxmlformats.org/officeDocument/2006/relationships/image" Target="../media/image215.png"/><Relationship Id="rId37" Type="http://schemas.openxmlformats.org/officeDocument/2006/relationships/image" Target="../media/image220.png"/><Relationship Id="rId40" Type="http://schemas.openxmlformats.org/officeDocument/2006/relationships/image" Target="../media/image223.png"/><Relationship Id="rId45" Type="http://schemas.openxmlformats.org/officeDocument/2006/relationships/image" Target="../media/image228.png"/><Relationship Id="rId53" Type="http://schemas.openxmlformats.org/officeDocument/2006/relationships/image" Target="../media/image236.png"/><Relationship Id="rId58" Type="http://schemas.openxmlformats.org/officeDocument/2006/relationships/image" Target="../media/image241.png"/><Relationship Id="rId5" Type="http://schemas.openxmlformats.org/officeDocument/2006/relationships/image" Target="../media/image188.png"/><Relationship Id="rId19" Type="http://schemas.openxmlformats.org/officeDocument/2006/relationships/image" Target="../media/image202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Relationship Id="rId14" Type="http://schemas.openxmlformats.org/officeDocument/2006/relationships/image" Target="../media/image197.png"/><Relationship Id="rId22" Type="http://schemas.openxmlformats.org/officeDocument/2006/relationships/image" Target="../media/image205.png"/><Relationship Id="rId27" Type="http://schemas.openxmlformats.org/officeDocument/2006/relationships/image" Target="../media/image210.png"/><Relationship Id="rId30" Type="http://schemas.openxmlformats.org/officeDocument/2006/relationships/image" Target="../media/image213.png"/><Relationship Id="rId35" Type="http://schemas.openxmlformats.org/officeDocument/2006/relationships/image" Target="../media/image218.png"/><Relationship Id="rId43" Type="http://schemas.openxmlformats.org/officeDocument/2006/relationships/image" Target="../media/image226.png"/><Relationship Id="rId48" Type="http://schemas.openxmlformats.org/officeDocument/2006/relationships/image" Target="../media/image231.png"/><Relationship Id="rId56" Type="http://schemas.openxmlformats.org/officeDocument/2006/relationships/image" Target="../media/image239.png"/><Relationship Id="rId8" Type="http://schemas.openxmlformats.org/officeDocument/2006/relationships/image" Target="../media/image191.png"/><Relationship Id="rId51" Type="http://schemas.openxmlformats.org/officeDocument/2006/relationships/image" Target="../media/image234.png"/><Relationship Id="rId3" Type="http://schemas.openxmlformats.org/officeDocument/2006/relationships/image" Target="../media/image186.jpg"/><Relationship Id="rId12" Type="http://schemas.openxmlformats.org/officeDocument/2006/relationships/image" Target="../media/image195.png"/><Relationship Id="rId17" Type="http://schemas.openxmlformats.org/officeDocument/2006/relationships/image" Target="../media/image200.png"/><Relationship Id="rId25" Type="http://schemas.openxmlformats.org/officeDocument/2006/relationships/image" Target="../media/image208.png"/><Relationship Id="rId33" Type="http://schemas.openxmlformats.org/officeDocument/2006/relationships/image" Target="../media/image216.png"/><Relationship Id="rId38" Type="http://schemas.openxmlformats.org/officeDocument/2006/relationships/image" Target="../media/image221.png"/><Relationship Id="rId46" Type="http://schemas.openxmlformats.org/officeDocument/2006/relationships/image" Target="../media/image229.png"/><Relationship Id="rId59" Type="http://schemas.openxmlformats.org/officeDocument/2006/relationships/image" Target="../media/image242.png"/><Relationship Id="rId20" Type="http://schemas.openxmlformats.org/officeDocument/2006/relationships/image" Target="../media/image203.png"/><Relationship Id="rId41" Type="http://schemas.openxmlformats.org/officeDocument/2006/relationships/image" Target="../media/image224.png"/><Relationship Id="rId54" Type="http://schemas.openxmlformats.org/officeDocument/2006/relationships/image" Target="../media/image2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9.png"/><Relationship Id="rId15" Type="http://schemas.openxmlformats.org/officeDocument/2006/relationships/image" Target="../media/image198.png"/><Relationship Id="rId23" Type="http://schemas.openxmlformats.org/officeDocument/2006/relationships/image" Target="../media/image206.png"/><Relationship Id="rId28" Type="http://schemas.openxmlformats.org/officeDocument/2006/relationships/image" Target="../media/image211.png"/><Relationship Id="rId36" Type="http://schemas.openxmlformats.org/officeDocument/2006/relationships/image" Target="../media/image219.png"/><Relationship Id="rId49" Type="http://schemas.openxmlformats.org/officeDocument/2006/relationships/image" Target="../media/image232.png"/><Relationship Id="rId57" Type="http://schemas.openxmlformats.org/officeDocument/2006/relationships/image" Target="../media/image240.png"/><Relationship Id="rId10" Type="http://schemas.openxmlformats.org/officeDocument/2006/relationships/image" Target="../media/image193.png"/><Relationship Id="rId31" Type="http://schemas.openxmlformats.org/officeDocument/2006/relationships/image" Target="../media/image214.png"/><Relationship Id="rId44" Type="http://schemas.openxmlformats.org/officeDocument/2006/relationships/image" Target="../media/image227.png"/><Relationship Id="rId52" Type="http://schemas.openxmlformats.org/officeDocument/2006/relationships/image" Target="../media/image23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4.png"/><Relationship Id="rId3" Type="http://schemas.openxmlformats.org/officeDocument/2006/relationships/image" Target="../media/image244.jpg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5" Type="http://schemas.openxmlformats.org/officeDocument/2006/relationships/image" Target="../media/image246.png"/><Relationship Id="rId15" Type="http://schemas.openxmlformats.org/officeDocument/2006/relationships/image" Target="../media/image256.png"/><Relationship Id="rId10" Type="http://schemas.openxmlformats.org/officeDocument/2006/relationships/image" Target="../media/image251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Relationship Id="rId14" Type="http://schemas.openxmlformats.org/officeDocument/2006/relationships/image" Target="../media/image255.jp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image" Target="../media/image258.png"/><Relationship Id="rId7" Type="http://schemas.openxmlformats.org/officeDocument/2006/relationships/image" Target="../media/image262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1.png"/><Relationship Id="rId5" Type="http://schemas.openxmlformats.org/officeDocument/2006/relationships/image" Target="../media/image260.png"/><Relationship Id="rId10" Type="http://schemas.openxmlformats.org/officeDocument/2006/relationships/image" Target="../media/image265.jpg"/><Relationship Id="rId4" Type="http://schemas.openxmlformats.org/officeDocument/2006/relationships/image" Target="../media/image259.png"/><Relationship Id="rId9" Type="http://schemas.openxmlformats.org/officeDocument/2006/relationships/image" Target="../media/image264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7.png"/><Relationship Id="rId18" Type="http://schemas.openxmlformats.org/officeDocument/2006/relationships/image" Target="../media/image282.png"/><Relationship Id="rId26" Type="http://schemas.openxmlformats.org/officeDocument/2006/relationships/image" Target="../media/image290.png"/><Relationship Id="rId39" Type="http://schemas.openxmlformats.org/officeDocument/2006/relationships/image" Target="../media/image303.png"/><Relationship Id="rId21" Type="http://schemas.openxmlformats.org/officeDocument/2006/relationships/image" Target="../media/image285.png"/><Relationship Id="rId34" Type="http://schemas.openxmlformats.org/officeDocument/2006/relationships/image" Target="../media/image298.png"/><Relationship Id="rId7" Type="http://schemas.openxmlformats.org/officeDocument/2006/relationships/image" Target="../media/image271.png"/><Relationship Id="rId2" Type="http://schemas.openxmlformats.org/officeDocument/2006/relationships/image" Target="../media/image266.png"/><Relationship Id="rId16" Type="http://schemas.openxmlformats.org/officeDocument/2006/relationships/image" Target="../media/image280.png"/><Relationship Id="rId20" Type="http://schemas.openxmlformats.org/officeDocument/2006/relationships/image" Target="../media/image284.png"/><Relationship Id="rId29" Type="http://schemas.openxmlformats.org/officeDocument/2006/relationships/image" Target="../media/image293.png"/><Relationship Id="rId41" Type="http://schemas.openxmlformats.org/officeDocument/2006/relationships/image" Target="../media/image30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0.png"/><Relationship Id="rId11" Type="http://schemas.openxmlformats.org/officeDocument/2006/relationships/image" Target="../media/image275.png"/><Relationship Id="rId24" Type="http://schemas.openxmlformats.org/officeDocument/2006/relationships/image" Target="../media/image288.png"/><Relationship Id="rId32" Type="http://schemas.openxmlformats.org/officeDocument/2006/relationships/image" Target="../media/image296.png"/><Relationship Id="rId37" Type="http://schemas.openxmlformats.org/officeDocument/2006/relationships/image" Target="../media/image301.png"/><Relationship Id="rId40" Type="http://schemas.openxmlformats.org/officeDocument/2006/relationships/image" Target="../media/image304.png"/><Relationship Id="rId5" Type="http://schemas.openxmlformats.org/officeDocument/2006/relationships/image" Target="../media/image269.png"/><Relationship Id="rId15" Type="http://schemas.openxmlformats.org/officeDocument/2006/relationships/image" Target="../media/image279.png"/><Relationship Id="rId23" Type="http://schemas.openxmlformats.org/officeDocument/2006/relationships/image" Target="../media/image287.png"/><Relationship Id="rId28" Type="http://schemas.openxmlformats.org/officeDocument/2006/relationships/image" Target="../media/image292.png"/><Relationship Id="rId36" Type="http://schemas.openxmlformats.org/officeDocument/2006/relationships/image" Target="../media/image300.png"/><Relationship Id="rId10" Type="http://schemas.openxmlformats.org/officeDocument/2006/relationships/image" Target="../media/image274.png"/><Relationship Id="rId19" Type="http://schemas.openxmlformats.org/officeDocument/2006/relationships/image" Target="../media/image283.png"/><Relationship Id="rId31" Type="http://schemas.openxmlformats.org/officeDocument/2006/relationships/image" Target="../media/image295.png"/><Relationship Id="rId4" Type="http://schemas.openxmlformats.org/officeDocument/2006/relationships/image" Target="../media/image268.png"/><Relationship Id="rId9" Type="http://schemas.openxmlformats.org/officeDocument/2006/relationships/image" Target="../media/image273.png"/><Relationship Id="rId14" Type="http://schemas.openxmlformats.org/officeDocument/2006/relationships/image" Target="../media/image278.png"/><Relationship Id="rId22" Type="http://schemas.openxmlformats.org/officeDocument/2006/relationships/image" Target="../media/image286.png"/><Relationship Id="rId27" Type="http://schemas.openxmlformats.org/officeDocument/2006/relationships/image" Target="../media/image291.png"/><Relationship Id="rId30" Type="http://schemas.openxmlformats.org/officeDocument/2006/relationships/image" Target="../media/image294.png"/><Relationship Id="rId35" Type="http://schemas.openxmlformats.org/officeDocument/2006/relationships/image" Target="../media/image299.png"/><Relationship Id="rId8" Type="http://schemas.openxmlformats.org/officeDocument/2006/relationships/image" Target="../media/image272.png"/><Relationship Id="rId3" Type="http://schemas.openxmlformats.org/officeDocument/2006/relationships/image" Target="../media/image267.jpg"/><Relationship Id="rId12" Type="http://schemas.openxmlformats.org/officeDocument/2006/relationships/image" Target="../media/image276.png"/><Relationship Id="rId17" Type="http://schemas.openxmlformats.org/officeDocument/2006/relationships/image" Target="../media/image281.png"/><Relationship Id="rId25" Type="http://schemas.openxmlformats.org/officeDocument/2006/relationships/image" Target="../media/image289.png"/><Relationship Id="rId33" Type="http://schemas.openxmlformats.org/officeDocument/2006/relationships/image" Target="../media/image297.png"/><Relationship Id="rId38" Type="http://schemas.openxmlformats.org/officeDocument/2006/relationships/image" Target="../media/image30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8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ADE | Comenzá tu carrera en una Gran Universidad">
            <a:extLst>
              <a:ext uri="{FF2B5EF4-FFF2-40B4-BE49-F238E27FC236}">
                <a16:creationId xmlns:a16="http://schemas.microsoft.com/office/drawing/2014/main" id="{7133C0B5-A121-A890-1684-32757CCF0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" b="478"/>
          <a:stretch/>
        </p:blipFill>
        <p:spPr bwMode="auto">
          <a:xfrm>
            <a:off x="775361" y="1598166"/>
            <a:ext cx="3014297" cy="179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99C405-B1A7-43F2-998F-543F8B2B8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333" y="974331"/>
            <a:ext cx="6084428" cy="304221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CCD094-D228-ACA0-C5E7-11CE7ECEBC4A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rnd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669E2D9-7B16-6FA4-7928-4C65ED6D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E506-8910-4A1D-9597-9E72BD293B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94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819" y="847725"/>
            <a:ext cx="4266565" cy="558165"/>
            <a:chOff x="1607819" y="847725"/>
            <a:chExt cx="4266565" cy="5581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7819" y="857376"/>
              <a:ext cx="381000" cy="4206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4694" y="847725"/>
              <a:ext cx="3869690" cy="55778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9650" y="847725"/>
            <a:ext cx="3303651" cy="5577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304" y="2236723"/>
            <a:ext cx="87909" cy="880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2083" y="2173097"/>
            <a:ext cx="390271" cy="2363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4791" y="2236089"/>
            <a:ext cx="289058" cy="1733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7266" y="2154047"/>
            <a:ext cx="227329" cy="2553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28011" y="2172080"/>
            <a:ext cx="962151" cy="2373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41801" y="2236089"/>
            <a:ext cx="321437" cy="17335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43398" y="2236089"/>
            <a:ext cx="156337" cy="17335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25164" y="2154047"/>
            <a:ext cx="975868" cy="331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43627" y="2154047"/>
            <a:ext cx="843661" cy="25539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9079" y="2538095"/>
            <a:ext cx="330992" cy="25539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59661" y="2620136"/>
            <a:ext cx="321437" cy="17335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57070" y="2556129"/>
            <a:ext cx="1035557" cy="23736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250819" y="2620136"/>
            <a:ext cx="156336" cy="17335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665346" y="2538095"/>
            <a:ext cx="949714" cy="25539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876038" y="2620136"/>
            <a:ext cx="511691" cy="24968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657341" y="2620136"/>
            <a:ext cx="321437" cy="17335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68616" y="2940176"/>
            <a:ext cx="2054847" cy="31368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69945" y="3139412"/>
            <a:ext cx="32943" cy="3380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4304" y="3679697"/>
            <a:ext cx="87909" cy="8788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72083" y="3592703"/>
            <a:ext cx="4328236" cy="34036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59079" y="3981069"/>
            <a:ext cx="4056507" cy="33604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4304" y="4750434"/>
            <a:ext cx="87909" cy="8788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490980" y="4685791"/>
            <a:ext cx="2201418" cy="31356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72083" y="4686808"/>
            <a:ext cx="474243" cy="23634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928998" y="4685791"/>
            <a:ext cx="1144788" cy="31356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315960" y="4663313"/>
            <a:ext cx="761878" cy="25984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59088" y="5133721"/>
            <a:ext cx="321542" cy="17348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98000" y="5051805"/>
            <a:ext cx="214874" cy="25539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31868" y="5093080"/>
            <a:ext cx="1137671" cy="21412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776854" y="5051805"/>
            <a:ext cx="405383" cy="25539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301110" y="5069840"/>
            <a:ext cx="1097661" cy="23736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514850" y="5133721"/>
            <a:ext cx="511693" cy="24968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139054" y="5133721"/>
            <a:ext cx="283728" cy="17348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522467" y="5133721"/>
            <a:ext cx="307340" cy="17348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946775" y="5133721"/>
            <a:ext cx="131445" cy="173482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59079" y="5435853"/>
            <a:ext cx="1600327" cy="31863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487676" y="5517769"/>
            <a:ext cx="836676" cy="17343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438271" y="5435853"/>
            <a:ext cx="953388" cy="255346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495927" y="5435853"/>
            <a:ext cx="330972" cy="255346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934960" y="5431409"/>
            <a:ext cx="214762" cy="25979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207761" y="5653059"/>
            <a:ext cx="32942" cy="3380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464808" y="2438400"/>
            <a:ext cx="5362955" cy="3015996"/>
          </a:xfrm>
          <a:prstGeom prst="rect">
            <a:avLst/>
          </a:prstGeom>
        </p:spPr>
      </p:pic>
      <p:sp>
        <p:nvSpPr>
          <p:cNvPr id="54" name="Marcador de número de diapositiva 53">
            <a:extLst>
              <a:ext uri="{FF2B5EF4-FFF2-40B4-BE49-F238E27FC236}">
                <a16:creationId xmlns:a16="http://schemas.microsoft.com/office/drawing/2014/main" id="{58A6F1B9-6FF9-1454-3BD4-F2FC70A94E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2</a:t>
            </a:fld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304" y="322326"/>
            <a:ext cx="607250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75" dirty="0">
                <a:solidFill>
                  <a:srgbClr val="FFFFFF"/>
                </a:solidFill>
              </a:rPr>
              <a:t>Niveles</a:t>
            </a:r>
            <a:r>
              <a:rPr sz="3500" spc="185" dirty="0">
                <a:solidFill>
                  <a:srgbClr val="FFFFFF"/>
                </a:solidFill>
              </a:rPr>
              <a:t> </a:t>
            </a:r>
            <a:r>
              <a:rPr sz="3500" spc="50" dirty="0">
                <a:solidFill>
                  <a:srgbClr val="FFFFFF"/>
                </a:solidFill>
              </a:rPr>
              <a:t>de</a:t>
            </a:r>
            <a:r>
              <a:rPr sz="3500" spc="185" dirty="0">
                <a:solidFill>
                  <a:srgbClr val="FFFFFF"/>
                </a:solidFill>
              </a:rPr>
              <a:t> </a:t>
            </a:r>
            <a:r>
              <a:rPr sz="3500" spc="55" dirty="0">
                <a:solidFill>
                  <a:srgbClr val="FFFFFF"/>
                </a:solidFill>
              </a:rPr>
              <a:t>los</a:t>
            </a:r>
            <a:r>
              <a:rPr sz="3500" spc="185" dirty="0">
                <a:solidFill>
                  <a:srgbClr val="FFFFFF"/>
                </a:solidFill>
              </a:rPr>
              <a:t> </a:t>
            </a:r>
            <a:r>
              <a:rPr sz="3500" spc="45" dirty="0">
                <a:solidFill>
                  <a:srgbClr val="FFFFFF"/>
                </a:solidFill>
              </a:rPr>
              <a:t>Requerimientos</a:t>
            </a:r>
            <a:endParaRPr sz="35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8710" y="1113353"/>
            <a:ext cx="7315200" cy="4114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4395" y="1639265"/>
            <a:ext cx="11359515" cy="500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712709" algn="l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Negocio:</a:t>
            </a:r>
            <a:r>
              <a:rPr sz="1800" b="1" spc="355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Suelen</a:t>
            </a:r>
            <a:r>
              <a:rPr sz="1800" spc="345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referir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directamente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140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mejoras</a:t>
            </a:r>
            <a:r>
              <a:rPr sz="1800" spc="140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u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objetivosde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negocio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específicos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409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quiere</a:t>
            </a:r>
            <a:r>
              <a:rPr sz="1800" spc="415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lograr</a:t>
            </a:r>
            <a:r>
              <a:rPr sz="1800" spc="409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organización.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800" dirty="0">
              <a:latin typeface="Verdana"/>
              <a:cs typeface="Verdana"/>
            </a:endParaRPr>
          </a:p>
          <a:p>
            <a:pPr marL="12700" marR="7901940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b="1" spc="4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Usuario:</a:t>
            </a:r>
            <a:r>
              <a:rPr sz="1800" b="1" spc="4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Declaraciones,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1800" spc="27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lenguaje</a:t>
            </a:r>
            <a:r>
              <a:rPr sz="1800" spc="29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natural</a:t>
            </a:r>
            <a:r>
              <a:rPr sz="1800" spc="28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27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diagramas,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los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servicios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espera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18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sz="180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sistema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provea</a:t>
            </a:r>
            <a:r>
              <a:rPr sz="1800" spc="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las</a:t>
            </a:r>
            <a:r>
              <a:rPr sz="1800" spc="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restricciones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bajo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las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cuales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debe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operar.</a:t>
            </a:r>
            <a:endParaRPr sz="1800" dirty="0">
              <a:latin typeface="Verdana"/>
              <a:cs typeface="Verdana"/>
            </a:endParaRPr>
          </a:p>
          <a:p>
            <a:pPr marL="3818254" marR="5080" algn="just">
              <a:lnSpc>
                <a:spcPct val="98700"/>
              </a:lnSpc>
              <a:spcBef>
                <a:spcPts val="1560"/>
              </a:spcBef>
            </a:pP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b="1" spc="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Verdana"/>
                <a:cs typeface="Verdana"/>
              </a:rPr>
              <a:t>Sistema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8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Establecen</a:t>
            </a: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con</a:t>
            </a:r>
            <a:r>
              <a:rPr sz="18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detalle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los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servicios</a:t>
            </a: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restricciones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sistema.</a:t>
            </a:r>
            <a:r>
              <a:rPr sz="1800" spc="13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sz="1800" spc="14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documento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13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requerimientos</a:t>
            </a:r>
            <a:r>
              <a:rPr sz="1800" spc="14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sistema,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algunas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veces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denominado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Especificación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funcional,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debe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ser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preciso.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FE9CB1-41D5-D38B-E765-36476570F0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3</a:t>
            </a:fld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6719" y="475361"/>
            <a:ext cx="6472935" cy="5711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0125" y="1502283"/>
            <a:ext cx="87909" cy="87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7955" y="1438655"/>
            <a:ext cx="302768" cy="2362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6166" y="1415161"/>
            <a:ext cx="1403603" cy="259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54070" y="1419478"/>
            <a:ext cx="405510" cy="2553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84803" y="1419478"/>
            <a:ext cx="1297559" cy="331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85613" y="1501521"/>
            <a:ext cx="511693" cy="2496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03721" y="1501521"/>
            <a:ext cx="283728" cy="17335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95390" y="1419478"/>
            <a:ext cx="818768" cy="25539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239127" y="1419478"/>
            <a:ext cx="1245870" cy="332105"/>
            <a:chOff x="7239127" y="1419478"/>
            <a:chExt cx="1245870" cy="332105"/>
          </a:xfrm>
        </p:grpSpPr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39127" y="1419478"/>
              <a:ext cx="1199896" cy="331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51977" y="1636748"/>
              <a:ext cx="32943" cy="33809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50125" y="2014347"/>
            <a:ext cx="87909" cy="87883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388491" y="1931542"/>
            <a:ext cx="4071620" cy="336550"/>
            <a:chOff x="1388491" y="1931542"/>
            <a:chExt cx="4071620" cy="336550"/>
          </a:xfrm>
        </p:grpSpPr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88491" y="1931542"/>
              <a:ext cx="2932176" cy="33604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37050" y="2013584"/>
              <a:ext cx="1122552" cy="25400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42228" y="1931542"/>
            <a:ext cx="358648" cy="25539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184138" y="1927225"/>
            <a:ext cx="2352675" cy="33604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721597" y="1972817"/>
            <a:ext cx="1325499" cy="21412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30993" y="2013585"/>
            <a:ext cx="511693" cy="24968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04874" y="2315591"/>
            <a:ext cx="1376171" cy="25539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901442" y="2397632"/>
            <a:ext cx="489204" cy="17335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509517" y="2315591"/>
            <a:ext cx="1217803" cy="31877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849114" y="2333625"/>
            <a:ext cx="370332" cy="23736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339841" y="2315591"/>
            <a:ext cx="2217547" cy="33604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677657" y="2397632"/>
            <a:ext cx="321564" cy="17335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106791" y="2311273"/>
            <a:ext cx="860551" cy="25971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085833" y="2333625"/>
            <a:ext cx="1655328" cy="23736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93571" y="2785998"/>
            <a:ext cx="158495" cy="24536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45666" y="2740914"/>
            <a:ext cx="1502790" cy="29044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268726" y="2699639"/>
            <a:ext cx="215011" cy="25539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599434" y="2717673"/>
            <a:ext cx="2453131" cy="31368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158865" y="2781680"/>
            <a:ext cx="511693" cy="24968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776973" y="2699639"/>
            <a:ext cx="698256" cy="25539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567803" y="2740914"/>
            <a:ext cx="779526" cy="214122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436609" y="2699639"/>
            <a:ext cx="215011" cy="25539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765793" y="2717673"/>
            <a:ext cx="1094612" cy="23736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9916541" y="2916908"/>
            <a:ext cx="32943" cy="3380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950125" y="3292983"/>
            <a:ext cx="87909" cy="878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409191" y="3224910"/>
            <a:ext cx="538226" cy="24066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087879" y="3292221"/>
            <a:ext cx="495426" cy="17335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726817" y="3210179"/>
            <a:ext cx="859282" cy="25539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729609" y="3210179"/>
            <a:ext cx="636661" cy="25539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492497" y="3292221"/>
            <a:ext cx="289178" cy="173354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911978" y="3205860"/>
            <a:ext cx="572262" cy="259714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5614542" y="3210179"/>
            <a:ext cx="1264803" cy="331724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7004684" y="3292221"/>
            <a:ext cx="511693" cy="24968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7642606" y="3292221"/>
            <a:ext cx="283728" cy="17335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8062086" y="3210179"/>
            <a:ext cx="861060" cy="33172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9064879" y="3210179"/>
            <a:ext cx="1058164" cy="25539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0239756" y="3292221"/>
            <a:ext cx="495426" cy="173354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2389377" y="3589909"/>
            <a:ext cx="1824227" cy="25971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416177" y="3594227"/>
            <a:ext cx="859281" cy="255397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4270121" y="3811496"/>
            <a:ext cx="32943" cy="3380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9334500" y="4820411"/>
            <a:ext cx="1397507" cy="1117092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1331722" y="4269994"/>
            <a:ext cx="6500495" cy="2364740"/>
            <a:chOff x="1331722" y="4269994"/>
            <a:chExt cx="6500495" cy="2364740"/>
          </a:xfrm>
        </p:grpSpPr>
        <p:sp>
          <p:nvSpPr>
            <p:cNvPr id="61" name="object 61"/>
            <p:cNvSpPr/>
            <p:nvPr/>
          </p:nvSpPr>
          <p:spPr>
            <a:xfrm>
              <a:off x="1338072" y="4276344"/>
              <a:ext cx="6487795" cy="2352040"/>
            </a:xfrm>
            <a:custGeom>
              <a:avLst/>
              <a:gdLst/>
              <a:ahLst/>
              <a:cxnLst/>
              <a:rect l="l" t="t" r="r" b="b"/>
              <a:pathLst>
                <a:path w="6487795" h="2352040">
                  <a:moveTo>
                    <a:pt x="6487667" y="0"/>
                  </a:moveTo>
                  <a:lnTo>
                    <a:pt x="0" y="0"/>
                  </a:lnTo>
                  <a:lnTo>
                    <a:pt x="0" y="2351531"/>
                  </a:lnTo>
                  <a:lnTo>
                    <a:pt x="6487667" y="2351531"/>
                  </a:lnTo>
                  <a:lnTo>
                    <a:pt x="6487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338072" y="4276344"/>
              <a:ext cx="6487795" cy="2352040"/>
            </a:xfrm>
            <a:custGeom>
              <a:avLst/>
              <a:gdLst/>
              <a:ahLst/>
              <a:cxnLst/>
              <a:rect l="l" t="t" r="r" b="b"/>
              <a:pathLst>
                <a:path w="6487795" h="2352040">
                  <a:moveTo>
                    <a:pt x="0" y="2351531"/>
                  </a:moveTo>
                  <a:lnTo>
                    <a:pt x="6487667" y="2351531"/>
                  </a:lnTo>
                  <a:lnTo>
                    <a:pt x="6487667" y="0"/>
                  </a:lnTo>
                  <a:lnTo>
                    <a:pt x="0" y="0"/>
                  </a:lnTo>
                  <a:lnTo>
                    <a:pt x="0" y="2351531"/>
                  </a:lnTo>
                  <a:close/>
                </a:path>
                <a:path w="6487795" h="2352040">
                  <a:moveTo>
                    <a:pt x="1059180" y="984503"/>
                  </a:moveTo>
                  <a:lnTo>
                    <a:pt x="1832610" y="170687"/>
                  </a:lnTo>
                  <a:lnTo>
                    <a:pt x="2606040" y="984503"/>
                  </a:lnTo>
                  <a:lnTo>
                    <a:pt x="1059180" y="984503"/>
                  </a:lnTo>
                  <a:close/>
                </a:path>
              </a:pathLst>
            </a:custGeom>
            <a:ln w="12700">
              <a:solidFill>
                <a:srgbClr val="2C7E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928873" y="4952491"/>
            <a:ext cx="4972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orbel"/>
                <a:cs typeface="Corbel"/>
              </a:rPr>
              <a:t>Negocio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905000" y="5289803"/>
            <a:ext cx="2543810" cy="568960"/>
          </a:xfrm>
          <a:custGeom>
            <a:avLst/>
            <a:gdLst/>
            <a:ahLst/>
            <a:cxnLst/>
            <a:rect l="l" t="t" r="r" b="b"/>
            <a:pathLst>
              <a:path w="2543810" h="568960">
                <a:moveTo>
                  <a:pt x="0" y="568452"/>
                </a:moveTo>
                <a:lnTo>
                  <a:pt x="491998" y="0"/>
                </a:lnTo>
                <a:lnTo>
                  <a:pt x="2051558" y="0"/>
                </a:lnTo>
                <a:lnTo>
                  <a:pt x="2543555" y="568452"/>
                </a:lnTo>
                <a:lnTo>
                  <a:pt x="0" y="568452"/>
                </a:lnTo>
                <a:close/>
              </a:path>
            </a:pathLst>
          </a:custGeom>
          <a:ln w="12700">
            <a:solidFill>
              <a:srgbClr val="2C7E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2906014" y="5498998"/>
            <a:ext cx="554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orbel"/>
                <a:cs typeface="Corbel"/>
              </a:rPr>
              <a:t>Solución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459991" y="5888735"/>
            <a:ext cx="3453765" cy="597535"/>
          </a:xfrm>
          <a:custGeom>
            <a:avLst/>
            <a:gdLst/>
            <a:ahLst/>
            <a:cxnLst/>
            <a:rect l="l" t="t" r="r" b="b"/>
            <a:pathLst>
              <a:path w="3453765" h="597535">
                <a:moveTo>
                  <a:pt x="0" y="597407"/>
                </a:moveTo>
                <a:lnTo>
                  <a:pt x="437260" y="0"/>
                </a:lnTo>
                <a:lnTo>
                  <a:pt x="3016123" y="0"/>
                </a:lnTo>
                <a:lnTo>
                  <a:pt x="3453384" y="597407"/>
                </a:lnTo>
                <a:lnTo>
                  <a:pt x="0" y="597407"/>
                </a:lnTo>
                <a:close/>
              </a:path>
            </a:pathLst>
          </a:custGeom>
          <a:ln w="12700">
            <a:solidFill>
              <a:srgbClr val="2C7E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931541" y="6100673"/>
            <a:ext cx="5238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orbel"/>
                <a:cs typeface="Corbel"/>
              </a:rPr>
              <a:t>Sistema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196841" y="4792726"/>
            <a:ext cx="1737995" cy="1564640"/>
            <a:chOff x="4196841" y="4792726"/>
            <a:chExt cx="1737995" cy="1564640"/>
          </a:xfrm>
        </p:grpSpPr>
        <p:sp>
          <p:nvSpPr>
            <p:cNvPr id="69" name="object 69"/>
            <p:cNvSpPr/>
            <p:nvPr/>
          </p:nvSpPr>
          <p:spPr>
            <a:xfrm>
              <a:off x="4634483" y="5343144"/>
              <a:ext cx="862965" cy="419100"/>
            </a:xfrm>
            <a:custGeom>
              <a:avLst/>
              <a:gdLst/>
              <a:ahLst/>
              <a:cxnLst/>
              <a:rect l="l" t="t" r="r" b="b"/>
              <a:pathLst>
                <a:path w="862964" h="419100">
                  <a:moveTo>
                    <a:pt x="209550" y="0"/>
                  </a:moveTo>
                  <a:lnTo>
                    <a:pt x="0" y="209549"/>
                  </a:lnTo>
                  <a:lnTo>
                    <a:pt x="209550" y="419099"/>
                  </a:lnTo>
                  <a:lnTo>
                    <a:pt x="209550" y="314324"/>
                  </a:lnTo>
                  <a:lnTo>
                    <a:pt x="862583" y="314324"/>
                  </a:lnTo>
                  <a:lnTo>
                    <a:pt x="862583" y="104774"/>
                  </a:lnTo>
                  <a:lnTo>
                    <a:pt x="209550" y="104774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219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634483" y="5343144"/>
              <a:ext cx="862965" cy="419100"/>
            </a:xfrm>
            <a:custGeom>
              <a:avLst/>
              <a:gdLst/>
              <a:ahLst/>
              <a:cxnLst/>
              <a:rect l="l" t="t" r="r" b="b"/>
              <a:pathLst>
                <a:path w="862964" h="419100">
                  <a:moveTo>
                    <a:pt x="862583" y="314324"/>
                  </a:moveTo>
                  <a:lnTo>
                    <a:pt x="209550" y="314324"/>
                  </a:lnTo>
                  <a:lnTo>
                    <a:pt x="209550" y="419099"/>
                  </a:lnTo>
                  <a:lnTo>
                    <a:pt x="0" y="209549"/>
                  </a:lnTo>
                  <a:lnTo>
                    <a:pt x="209550" y="0"/>
                  </a:lnTo>
                  <a:lnTo>
                    <a:pt x="209550" y="104774"/>
                  </a:lnTo>
                  <a:lnTo>
                    <a:pt x="862583" y="104774"/>
                  </a:lnTo>
                  <a:lnTo>
                    <a:pt x="862583" y="314324"/>
                  </a:lnTo>
                  <a:close/>
                </a:path>
              </a:pathLst>
            </a:custGeom>
            <a:ln w="12700">
              <a:solidFill>
                <a:srgbClr val="2C7E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203191" y="4799076"/>
              <a:ext cx="862965" cy="419100"/>
            </a:xfrm>
            <a:custGeom>
              <a:avLst/>
              <a:gdLst/>
              <a:ahLst/>
              <a:cxnLst/>
              <a:rect l="l" t="t" r="r" b="b"/>
              <a:pathLst>
                <a:path w="862964" h="419100">
                  <a:moveTo>
                    <a:pt x="209550" y="0"/>
                  </a:moveTo>
                  <a:lnTo>
                    <a:pt x="0" y="209550"/>
                  </a:lnTo>
                  <a:lnTo>
                    <a:pt x="209550" y="419100"/>
                  </a:lnTo>
                  <a:lnTo>
                    <a:pt x="209550" y="314325"/>
                  </a:lnTo>
                  <a:lnTo>
                    <a:pt x="862584" y="314325"/>
                  </a:lnTo>
                  <a:lnTo>
                    <a:pt x="862584" y="104775"/>
                  </a:lnTo>
                  <a:lnTo>
                    <a:pt x="209550" y="104775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219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203191" y="4799076"/>
              <a:ext cx="862965" cy="419100"/>
            </a:xfrm>
            <a:custGeom>
              <a:avLst/>
              <a:gdLst/>
              <a:ahLst/>
              <a:cxnLst/>
              <a:rect l="l" t="t" r="r" b="b"/>
              <a:pathLst>
                <a:path w="862964" h="419100">
                  <a:moveTo>
                    <a:pt x="862584" y="314325"/>
                  </a:moveTo>
                  <a:lnTo>
                    <a:pt x="209550" y="314325"/>
                  </a:lnTo>
                  <a:lnTo>
                    <a:pt x="209550" y="419100"/>
                  </a:lnTo>
                  <a:lnTo>
                    <a:pt x="0" y="209550"/>
                  </a:lnTo>
                  <a:lnTo>
                    <a:pt x="209550" y="0"/>
                  </a:lnTo>
                  <a:lnTo>
                    <a:pt x="209550" y="104775"/>
                  </a:lnTo>
                  <a:lnTo>
                    <a:pt x="862584" y="104775"/>
                  </a:lnTo>
                  <a:lnTo>
                    <a:pt x="862584" y="314325"/>
                  </a:lnTo>
                  <a:close/>
                </a:path>
              </a:pathLst>
            </a:custGeom>
            <a:ln w="12700">
              <a:solidFill>
                <a:srgbClr val="2C7E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065775" y="5929884"/>
              <a:ext cx="862965" cy="421005"/>
            </a:xfrm>
            <a:custGeom>
              <a:avLst/>
              <a:gdLst/>
              <a:ahLst/>
              <a:cxnLst/>
              <a:rect l="l" t="t" r="r" b="b"/>
              <a:pathLst>
                <a:path w="862964" h="421004">
                  <a:moveTo>
                    <a:pt x="210312" y="0"/>
                  </a:moveTo>
                  <a:lnTo>
                    <a:pt x="0" y="210311"/>
                  </a:lnTo>
                  <a:lnTo>
                    <a:pt x="210312" y="420623"/>
                  </a:lnTo>
                  <a:lnTo>
                    <a:pt x="210312" y="315467"/>
                  </a:lnTo>
                  <a:lnTo>
                    <a:pt x="862584" y="315467"/>
                  </a:lnTo>
                  <a:lnTo>
                    <a:pt x="862584" y="105155"/>
                  </a:lnTo>
                  <a:lnTo>
                    <a:pt x="210312" y="105155"/>
                  </a:lnTo>
                  <a:lnTo>
                    <a:pt x="210312" y="0"/>
                  </a:lnTo>
                  <a:close/>
                </a:path>
              </a:pathLst>
            </a:custGeom>
            <a:solidFill>
              <a:srgbClr val="219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065775" y="5929884"/>
              <a:ext cx="862965" cy="421005"/>
            </a:xfrm>
            <a:custGeom>
              <a:avLst/>
              <a:gdLst/>
              <a:ahLst/>
              <a:cxnLst/>
              <a:rect l="l" t="t" r="r" b="b"/>
              <a:pathLst>
                <a:path w="862964" h="421004">
                  <a:moveTo>
                    <a:pt x="862584" y="315467"/>
                  </a:moveTo>
                  <a:lnTo>
                    <a:pt x="210312" y="315467"/>
                  </a:lnTo>
                  <a:lnTo>
                    <a:pt x="210312" y="420623"/>
                  </a:lnTo>
                  <a:lnTo>
                    <a:pt x="0" y="210311"/>
                  </a:lnTo>
                  <a:lnTo>
                    <a:pt x="210312" y="0"/>
                  </a:lnTo>
                  <a:lnTo>
                    <a:pt x="210312" y="105155"/>
                  </a:lnTo>
                  <a:lnTo>
                    <a:pt x="862584" y="105155"/>
                  </a:lnTo>
                  <a:lnTo>
                    <a:pt x="862584" y="315467"/>
                  </a:lnTo>
                  <a:close/>
                </a:path>
              </a:pathLst>
            </a:custGeom>
            <a:ln w="12700">
              <a:solidFill>
                <a:srgbClr val="2C7E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5399278" y="4775149"/>
            <a:ext cx="7829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Necesidad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773801" y="5390210"/>
            <a:ext cx="1092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Características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289802" y="6024778"/>
            <a:ext cx="10553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Especificación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9" name="Marcador de número de diapositiva 78">
            <a:extLst>
              <a:ext uri="{FF2B5EF4-FFF2-40B4-BE49-F238E27FC236}">
                <a16:creationId xmlns:a16="http://schemas.microsoft.com/office/drawing/2014/main" id="{C66FB747-6EA6-3ECA-A9F3-394AA77F7B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4</a:t>
            </a:fld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58951"/>
            <a:ext cx="3444240" cy="5331460"/>
          </a:xfrm>
          <a:custGeom>
            <a:avLst/>
            <a:gdLst/>
            <a:ahLst/>
            <a:cxnLst/>
            <a:rect l="l" t="t" r="r" b="b"/>
            <a:pathLst>
              <a:path w="3444240" h="5331460">
                <a:moveTo>
                  <a:pt x="3444240" y="0"/>
                </a:moveTo>
                <a:lnTo>
                  <a:pt x="0" y="0"/>
                </a:lnTo>
                <a:lnTo>
                  <a:pt x="0" y="5330952"/>
                </a:lnTo>
                <a:lnTo>
                  <a:pt x="3444240" y="5330952"/>
                </a:lnTo>
                <a:lnTo>
                  <a:pt x="3444240" y="0"/>
                </a:lnTo>
                <a:close/>
              </a:path>
            </a:pathLst>
          </a:custGeom>
          <a:solidFill>
            <a:srgbClr val="40B9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1724" y="2598801"/>
            <a:ext cx="284480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Problemas</a:t>
            </a:r>
            <a:r>
              <a:rPr sz="3600" spc="21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 </a:t>
            </a:r>
            <a:r>
              <a:rPr sz="3600" spc="-2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requerimiento</a:t>
            </a:r>
            <a:endParaRPr sz="36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9681" y="823163"/>
            <a:ext cx="2981453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ctr">
              <a:lnSpc>
                <a:spcPts val="1825"/>
              </a:lnSpc>
              <a:spcBef>
                <a:spcPts val="95"/>
              </a:spcBef>
              <a:buClr>
                <a:srgbClr val="40B9D2"/>
              </a:buClr>
              <a:buSzPct val="93750"/>
              <a:tabLst>
                <a:tab pos="194945" algn="l"/>
                <a:tab pos="1021080" algn="l"/>
                <a:tab pos="1926589" algn="l"/>
                <a:tab pos="2281555" algn="l"/>
                <a:tab pos="3194685" algn="l"/>
              </a:tabLst>
            </a:pPr>
            <a:r>
              <a:rPr sz="1600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Surgen</a:t>
            </a:r>
            <a:r>
              <a:rPr lang="es-MX" sz="1600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durante</a:t>
            </a:r>
            <a:r>
              <a:rPr lang="es-MX" sz="1600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spc="-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lang="es-MX" sz="1600" spc="-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proceso</a:t>
            </a:r>
            <a:r>
              <a:rPr lang="es-MX" sz="1600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spc="-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endParaRPr sz="16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194945" algn="ctr">
              <a:lnSpc>
                <a:spcPts val="1825"/>
              </a:lnSpc>
            </a:pP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ingeniería</a:t>
            </a:r>
            <a:r>
              <a:rPr sz="1600" spc="204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1600" spc="18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requerimientos.</a:t>
            </a:r>
            <a:endParaRPr sz="16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1751886"/>
            <a:ext cx="5500790" cy="32676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1593" y="843711"/>
            <a:ext cx="40811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600" spc="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Son</a:t>
            </a:r>
            <a:r>
              <a:rPr lang="es-MX" sz="1600" spc="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lang="es-MX"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resultado</a:t>
            </a:r>
            <a:r>
              <a:rPr lang="es-MX"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lang="es-MX" sz="1600" spc="46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no</a:t>
            </a:r>
            <a:r>
              <a:rPr sz="1600" spc="47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hacer</a:t>
            </a:r>
            <a:r>
              <a:rPr sz="1600" spc="46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una</a:t>
            </a:r>
            <a:r>
              <a:rPr sz="1600" spc="48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clara 	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separación</a:t>
            </a:r>
            <a:r>
              <a:rPr sz="1600" spc="204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entre</a:t>
            </a:r>
            <a:r>
              <a:rPr sz="1600" spc="2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los</a:t>
            </a:r>
            <a:r>
              <a:rPr sz="1600" spc="2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diferentes</a:t>
            </a:r>
            <a:r>
              <a:rPr sz="1600" spc="204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niveles 	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1600" spc="12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descripción.</a:t>
            </a:r>
            <a:endParaRPr sz="16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7490" y="5459984"/>
            <a:ext cx="7308850" cy="9277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290"/>
              </a:spcBef>
              <a:buClr>
                <a:srgbClr val="40B9D2"/>
              </a:buClr>
              <a:buSzPct val="93750"/>
              <a:tabLst>
                <a:tab pos="195580" algn="l"/>
              </a:tabLst>
            </a:pP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Esto</a:t>
            </a:r>
            <a:r>
              <a:rPr sz="1600" spc="2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se</a:t>
            </a:r>
            <a:r>
              <a:rPr sz="1600" spc="29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hace</a:t>
            </a:r>
            <a:r>
              <a:rPr sz="1600" spc="3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utilizando</a:t>
            </a:r>
            <a:r>
              <a:rPr sz="1600" spc="30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1600" spc="2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término</a:t>
            </a:r>
            <a:r>
              <a:rPr sz="1600" spc="3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“requerimientos</a:t>
            </a:r>
            <a:r>
              <a:rPr sz="1600" spc="2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del</a:t>
            </a:r>
            <a:r>
              <a:rPr sz="1600" spc="2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usuario”,</a:t>
            </a:r>
            <a:r>
              <a:rPr sz="1600" spc="29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spc="-2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para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designar</a:t>
            </a:r>
            <a:r>
              <a:rPr sz="1600" spc="47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los</a:t>
            </a:r>
            <a:r>
              <a:rPr sz="1600" spc="47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requerimientos</a:t>
            </a:r>
            <a:r>
              <a:rPr sz="1600" spc="49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“abstractos</a:t>
            </a:r>
            <a:r>
              <a:rPr sz="1600" spc="4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1600" spc="48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alto</a:t>
            </a:r>
            <a:r>
              <a:rPr sz="1600" spc="46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nivel</a:t>
            </a:r>
            <a:r>
              <a:rPr sz="1600" spc="4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spc="6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y</a:t>
            </a:r>
            <a:r>
              <a:rPr sz="1600" spc="47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“requerimientos</a:t>
            </a:r>
            <a:r>
              <a:rPr sz="1600" spc="484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1600" spc="-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del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sistema”,</a:t>
            </a:r>
            <a:r>
              <a:rPr sz="1600" spc="7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para</a:t>
            </a:r>
            <a:r>
              <a:rPr sz="1600" spc="7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designar</a:t>
            </a:r>
            <a:r>
              <a:rPr sz="1600" spc="7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la</a:t>
            </a:r>
            <a:r>
              <a:rPr sz="1600" spc="8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descripción</a:t>
            </a:r>
            <a:r>
              <a:rPr sz="1600" spc="8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detallada</a:t>
            </a:r>
            <a:r>
              <a:rPr sz="1600" spc="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1600" spc="7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lo</a:t>
            </a:r>
            <a:r>
              <a:rPr sz="1600" spc="7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que</a:t>
            </a:r>
            <a:r>
              <a:rPr sz="1600" spc="8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1600" spc="8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sistema</a:t>
            </a:r>
            <a:r>
              <a:rPr sz="1600" spc="7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1600" spc="-2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debe </a:t>
            </a:r>
            <a:r>
              <a:rPr sz="1600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hacer”.</a:t>
            </a:r>
            <a:endParaRPr sz="16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1850AFEF-634A-2C57-D3F0-8D86DF9612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5</a:t>
            </a:fld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38" y="2908173"/>
            <a:ext cx="252730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dirty="0">
                <a:solidFill>
                  <a:srgbClr val="FFFFFF"/>
                </a:solidFill>
              </a:rPr>
              <a:t>Problemas</a:t>
            </a:r>
            <a:r>
              <a:rPr sz="3200" spc="145" dirty="0">
                <a:solidFill>
                  <a:srgbClr val="FFFFFF"/>
                </a:solidFill>
              </a:rPr>
              <a:t> </a:t>
            </a:r>
            <a:r>
              <a:rPr sz="3200" spc="-25" dirty="0">
                <a:solidFill>
                  <a:srgbClr val="FFFFFF"/>
                </a:solidFill>
              </a:rPr>
              <a:t>de requerimiento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5528" y="847344"/>
            <a:ext cx="5986272" cy="5096256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EBE6C1-9456-37A9-433F-66BB2C3BB9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6</a:t>
            </a:fld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80145" y="1494283"/>
            <a:ext cx="9399681" cy="4313611"/>
            <a:chOff x="1021016" y="1345628"/>
            <a:chExt cx="10061575" cy="5476240"/>
          </a:xfrm>
        </p:grpSpPr>
        <p:sp>
          <p:nvSpPr>
            <p:cNvPr id="3" name="object 3"/>
            <p:cNvSpPr/>
            <p:nvPr/>
          </p:nvSpPr>
          <p:spPr>
            <a:xfrm>
              <a:off x="1026413" y="1351026"/>
              <a:ext cx="10050780" cy="5465445"/>
            </a:xfrm>
            <a:custGeom>
              <a:avLst/>
              <a:gdLst/>
              <a:ahLst/>
              <a:cxnLst/>
              <a:rect l="l" t="t" r="r" b="b"/>
              <a:pathLst>
                <a:path w="10050780" h="5465445">
                  <a:moveTo>
                    <a:pt x="10050780" y="0"/>
                  </a:moveTo>
                  <a:lnTo>
                    <a:pt x="0" y="0"/>
                  </a:lnTo>
                  <a:lnTo>
                    <a:pt x="0" y="5465064"/>
                  </a:lnTo>
                  <a:lnTo>
                    <a:pt x="10050780" y="5465064"/>
                  </a:lnTo>
                  <a:lnTo>
                    <a:pt x="100507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26413" y="1351026"/>
              <a:ext cx="10050780" cy="5465445"/>
            </a:xfrm>
            <a:custGeom>
              <a:avLst/>
              <a:gdLst/>
              <a:ahLst/>
              <a:cxnLst/>
              <a:rect l="l" t="t" r="r" b="b"/>
              <a:pathLst>
                <a:path w="10050780" h="5465445">
                  <a:moveTo>
                    <a:pt x="0" y="5465064"/>
                  </a:moveTo>
                  <a:lnTo>
                    <a:pt x="10050780" y="5465064"/>
                  </a:lnTo>
                  <a:lnTo>
                    <a:pt x="10050780" y="0"/>
                  </a:lnTo>
                  <a:lnTo>
                    <a:pt x="0" y="0"/>
                  </a:lnTo>
                  <a:lnTo>
                    <a:pt x="0" y="5465064"/>
                  </a:lnTo>
                  <a:close/>
                </a:path>
              </a:pathLst>
            </a:custGeom>
            <a:ln w="10795">
              <a:solidFill>
                <a:srgbClr val="2C87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2939" y="504817"/>
            <a:ext cx="63328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60" dirty="0">
                <a:solidFill>
                  <a:schemeClr val="tx1"/>
                </a:solidFill>
              </a:rPr>
              <a:t>Necesidades</a:t>
            </a:r>
            <a:r>
              <a:rPr sz="4800" spc="160" dirty="0">
                <a:solidFill>
                  <a:schemeClr val="tx1"/>
                </a:solidFill>
              </a:rPr>
              <a:t> </a:t>
            </a:r>
            <a:r>
              <a:rPr sz="4800" spc="55" dirty="0">
                <a:solidFill>
                  <a:schemeClr val="tx1"/>
                </a:solidFill>
              </a:rPr>
              <a:t>de</a:t>
            </a:r>
            <a:r>
              <a:rPr sz="4800" spc="155" dirty="0">
                <a:solidFill>
                  <a:schemeClr val="tx1"/>
                </a:solidFill>
              </a:rPr>
              <a:t> </a:t>
            </a:r>
            <a:r>
              <a:rPr sz="4800" spc="-10" dirty="0">
                <a:solidFill>
                  <a:schemeClr val="tx1"/>
                </a:solidFill>
              </a:rPr>
              <a:t>usuario</a:t>
            </a:r>
            <a:endParaRPr sz="4800" dirty="0">
              <a:solidFill>
                <a:schemeClr val="tx1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2451" y="1614424"/>
            <a:ext cx="6106668" cy="34071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05073" y="1892554"/>
            <a:ext cx="7702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Proyecto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5073" y="2202942"/>
            <a:ext cx="7708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rebuchet MS"/>
                <a:cs typeface="Trebuchet MS"/>
              </a:rPr>
              <a:t>Propósito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26842" y="2175510"/>
            <a:ext cx="1548765" cy="1905"/>
          </a:xfrm>
          <a:custGeom>
            <a:avLst/>
            <a:gdLst/>
            <a:ahLst/>
            <a:cxnLst/>
            <a:rect l="l" t="t" r="r" b="b"/>
            <a:pathLst>
              <a:path w="1548764" h="1905">
                <a:moveTo>
                  <a:pt x="0" y="0"/>
                </a:moveTo>
                <a:lnTo>
                  <a:pt x="1548383" y="1524"/>
                </a:lnTo>
              </a:path>
            </a:pathLst>
          </a:custGeom>
          <a:ln w="38100">
            <a:solidFill>
              <a:srgbClr val="2E5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61107" y="4268167"/>
            <a:ext cx="1318260" cy="63754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25"/>
              </a:spcBef>
            </a:pPr>
            <a:r>
              <a:rPr sz="1400" spc="55" dirty="0">
                <a:latin typeface="Trebuchet MS"/>
                <a:cs typeface="Trebuchet MS"/>
              </a:rPr>
              <a:t>Necesidad</a:t>
            </a:r>
            <a:endParaRPr sz="14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755"/>
              </a:spcBef>
            </a:pPr>
            <a:r>
              <a:rPr sz="1300" b="1" dirty="0">
                <a:latin typeface="Trebuchet MS"/>
                <a:cs typeface="Trebuchet MS"/>
              </a:rPr>
              <a:t>Cual</a:t>
            </a:r>
            <a:r>
              <a:rPr sz="1300" b="1" spc="40" dirty="0">
                <a:latin typeface="Trebuchet MS"/>
                <a:cs typeface="Trebuchet MS"/>
              </a:rPr>
              <a:t> </a:t>
            </a:r>
            <a:r>
              <a:rPr sz="1300" b="1" dirty="0">
                <a:latin typeface="Trebuchet MS"/>
                <a:cs typeface="Trebuchet MS"/>
              </a:rPr>
              <a:t>se</a:t>
            </a:r>
            <a:r>
              <a:rPr sz="1300" b="1" spc="65" dirty="0">
                <a:latin typeface="Trebuchet MS"/>
                <a:cs typeface="Trebuchet MS"/>
              </a:rPr>
              <a:t> </a:t>
            </a:r>
            <a:r>
              <a:rPr sz="1300" b="1" spc="-10" dirty="0">
                <a:latin typeface="Trebuchet MS"/>
                <a:cs typeface="Trebuchet MS"/>
              </a:rPr>
              <a:t>resuelve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78500" y="1747215"/>
            <a:ext cx="8293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35" dirty="0">
                <a:latin typeface="Trebuchet MS"/>
                <a:cs typeface="Trebuchet MS"/>
              </a:rPr>
              <a:t>Problema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78500" y="2057780"/>
            <a:ext cx="10718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rebuchet MS"/>
                <a:cs typeface="Trebuchet MS"/>
              </a:rPr>
              <a:t>Restricciones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98997" y="2030729"/>
            <a:ext cx="1548765" cy="1905"/>
          </a:xfrm>
          <a:custGeom>
            <a:avLst/>
            <a:gdLst/>
            <a:ahLst/>
            <a:cxnLst/>
            <a:rect l="l" t="t" r="r" b="b"/>
            <a:pathLst>
              <a:path w="1548765" h="1905">
                <a:moveTo>
                  <a:pt x="0" y="0"/>
                </a:moveTo>
                <a:lnTo>
                  <a:pt x="1548383" y="1524"/>
                </a:lnTo>
              </a:path>
            </a:pathLst>
          </a:custGeom>
          <a:ln w="38100">
            <a:solidFill>
              <a:srgbClr val="2E5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00778" y="5005366"/>
            <a:ext cx="1021715" cy="63817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25"/>
              </a:spcBef>
            </a:pPr>
            <a:r>
              <a:rPr sz="1400" spc="40" dirty="0">
                <a:latin typeface="Trebuchet MS"/>
                <a:cs typeface="Trebuchet MS"/>
              </a:rPr>
              <a:t>Ideas</a:t>
            </a:r>
            <a:endParaRPr sz="1400">
              <a:latin typeface="Trebuchet MS"/>
              <a:cs typeface="Trebuchet MS"/>
            </a:endParaRPr>
          </a:p>
          <a:p>
            <a:pPr marR="6350" algn="r">
              <a:lnSpc>
                <a:spcPct val="100000"/>
              </a:lnSpc>
              <a:spcBef>
                <a:spcPts val="755"/>
              </a:spcBef>
            </a:pPr>
            <a:r>
              <a:rPr sz="1300" b="1" spc="-10" dirty="0">
                <a:latin typeface="Trebuchet MS"/>
                <a:cs typeface="Trebuchet MS"/>
              </a:rPr>
              <a:t>Expectativas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52721" y="5392673"/>
            <a:ext cx="1548765" cy="1905"/>
          </a:xfrm>
          <a:custGeom>
            <a:avLst/>
            <a:gdLst/>
            <a:ahLst/>
            <a:cxnLst/>
            <a:rect l="l" t="t" r="r" b="b"/>
            <a:pathLst>
              <a:path w="1548764" h="1904">
                <a:moveTo>
                  <a:pt x="0" y="0"/>
                </a:moveTo>
                <a:lnTo>
                  <a:pt x="1548383" y="1523"/>
                </a:lnTo>
              </a:path>
            </a:pathLst>
          </a:custGeom>
          <a:ln w="38100">
            <a:solidFill>
              <a:srgbClr val="2E5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92108" y="4609846"/>
            <a:ext cx="17780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rebuchet MS"/>
                <a:cs typeface="Trebuchet MS"/>
              </a:rPr>
              <a:t>Requisitos</a:t>
            </a:r>
            <a:r>
              <a:rPr sz="1300" b="1" spc="40" dirty="0">
                <a:latin typeface="Trebuchet MS"/>
                <a:cs typeface="Trebuchet MS"/>
              </a:rPr>
              <a:t> </a:t>
            </a:r>
            <a:r>
              <a:rPr sz="1300" b="1" dirty="0">
                <a:latin typeface="Trebuchet MS"/>
                <a:cs typeface="Trebuchet MS"/>
              </a:rPr>
              <a:t>del</a:t>
            </a:r>
            <a:r>
              <a:rPr sz="1300" b="1" spc="25" dirty="0">
                <a:latin typeface="Trebuchet MS"/>
                <a:cs typeface="Trebuchet MS"/>
              </a:rPr>
              <a:t> </a:t>
            </a:r>
            <a:r>
              <a:rPr sz="1300" b="1" spc="-10" dirty="0">
                <a:latin typeface="Trebuchet MS"/>
                <a:cs typeface="Trebuchet MS"/>
              </a:rPr>
              <a:t>sistema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413242" y="4581905"/>
            <a:ext cx="1548765" cy="1905"/>
          </a:xfrm>
          <a:custGeom>
            <a:avLst/>
            <a:gdLst/>
            <a:ahLst/>
            <a:cxnLst/>
            <a:rect l="l" t="t" r="r" b="b"/>
            <a:pathLst>
              <a:path w="1548765" h="1904">
                <a:moveTo>
                  <a:pt x="0" y="0"/>
                </a:moveTo>
                <a:lnTo>
                  <a:pt x="1548383" y="1524"/>
                </a:lnTo>
              </a:path>
            </a:pathLst>
          </a:custGeom>
          <a:ln w="38100">
            <a:solidFill>
              <a:srgbClr val="2E5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712454" y="1634489"/>
            <a:ext cx="8750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Desarrollo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12454" y="1944750"/>
            <a:ext cx="7448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rebuchet MS"/>
                <a:cs typeface="Trebuchet MS"/>
              </a:rPr>
              <a:t>Producto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79986" y="1540763"/>
            <a:ext cx="4320540" cy="4099560"/>
            <a:chOff x="5879986" y="1540763"/>
            <a:chExt cx="4320540" cy="4099560"/>
          </a:xfrm>
        </p:grpSpPr>
        <p:sp>
          <p:nvSpPr>
            <p:cNvPr id="22" name="object 22"/>
            <p:cNvSpPr/>
            <p:nvPr/>
          </p:nvSpPr>
          <p:spPr>
            <a:xfrm>
              <a:off x="8632698" y="1916429"/>
              <a:ext cx="1548765" cy="1905"/>
            </a:xfrm>
            <a:custGeom>
              <a:avLst/>
              <a:gdLst/>
              <a:ahLst/>
              <a:cxnLst/>
              <a:rect l="l" t="t" r="r" b="b"/>
              <a:pathLst>
                <a:path w="1548765" h="1905">
                  <a:moveTo>
                    <a:pt x="0" y="0"/>
                  </a:moveTo>
                  <a:lnTo>
                    <a:pt x="1548383" y="1524"/>
                  </a:lnTo>
                </a:path>
              </a:pathLst>
            </a:custGeom>
            <a:ln w="38100">
              <a:solidFill>
                <a:srgbClr val="2E52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61376" y="1540763"/>
              <a:ext cx="607060" cy="574675"/>
            </a:xfrm>
            <a:custGeom>
              <a:avLst/>
              <a:gdLst/>
              <a:ahLst/>
              <a:cxnLst/>
              <a:rect l="l" t="t" r="r" b="b"/>
              <a:pathLst>
                <a:path w="607059" h="574675">
                  <a:moveTo>
                    <a:pt x="417576" y="219456"/>
                  </a:moveTo>
                  <a:lnTo>
                    <a:pt x="413588" y="200863"/>
                  </a:lnTo>
                  <a:lnTo>
                    <a:pt x="410743" y="196723"/>
                  </a:lnTo>
                  <a:lnTo>
                    <a:pt x="402882" y="185318"/>
                  </a:lnTo>
                  <a:lnTo>
                    <a:pt x="391414" y="177469"/>
                  </a:lnTo>
                  <a:lnTo>
                    <a:pt x="391414" y="219456"/>
                  </a:lnTo>
                  <a:lnTo>
                    <a:pt x="389674" y="228993"/>
                  </a:lnTo>
                  <a:lnTo>
                    <a:pt x="384898" y="237337"/>
                  </a:lnTo>
                  <a:lnTo>
                    <a:pt x="377698" y="243255"/>
                  </a:lnTo>
                  <a:lnTo>
                    <a:pt x="368681" y="245491"/>
                  </a:lnTo>
                  <a:lnTo>
                    <a:pt x="359587" y="243255"/>
                  </a:lnTo>
                  <a:lnTo>
                    <a:pt x="352336" y="237337"/>
                  </a:lnTo>
                  <a:lnTo>
                    <a:pt x="347548" y="228993"/>
                  </a:lnTo>
                  <a:lnTo>
                    <a:pt x="345821" y="219456"/>
                  </a:lnTo>
                  <a:lnTo>
                    <a:pt x="347548" y="210388"/>
                  </a:lnTo>
                  <a:lnTo>
                    <a:pt x="352336" y="203187"/>
                  </a:lnTo>
                  <a:lnTo>
                    <a:pt x="359587" y="198437"/>
                  </a:lnTo>
                  <a:lnTo>
                    <a:pt x="368681" y="196723"/>
                  </a:lnTo>
                  <a:lnTo>
                    <a:pt x="377698" y="198437"/>
                  </a:lnTo>
                  <a:lnTo>
                    <a:pt x="384898" y="203187"/>
                  </a:lnTo>
                  <a:lnTo>
                    <a:pt x="389674" y="210388"/>
                  </a:lnTo>
                  <a:lnTo>
                    <a:pt x="391414" y="219456"/>
                  </a:lnTo>
                  <a:lnTo>
                    <a:pt x="391414" y="177469"/>
                  </a:lnTo>
                  <a:lnTo>
                    <a:pt x="387299" y="174650"/>
                  </a:lnTo>
                  <a:lnTo>
                    <a:pt x="368681" y="170688"/>
                  </a:lnTo>
                  <a:lnTo>
                    <a:pt x="349973" y="174650"/>
                  </a:lnTo>
                  <a:lnTo>
                    <a:pt x="334352" y="185318"/>
                  </a:lnTo>
                  <a:lnTo>
                    <a:pt x="323634" y="200863"/>
                  </a:lnTo>
                  <a:lnTo>
                    <a:pt x="319659" y="219456"/>
                  </a:lnTo>
                  <a:lnTo>
                    <a:pt x="320840" y="231038"/>
                  </a:lnTo>
                  <a:lnTo>
                    <a:pt x="324180" y="241388"/>
                  </a:lnTo>
                  <a:lnTo>
                    <a:pt x="329349" y="250520"/>
                  </a:lnTo>
                  <a:lnTo>
                    <a:pt x="336042" y="258445"/>
                  </a:lnTo>
                  <a:lnTo>
                    <a:pt x="283845" y="336346"/>
                  </a:lnTo>
                  <a:lnTo>
                    <a:pt x="283845" y="391668"/>
                  </a:lnTo>
                  <a:lnTo>
                    <a:pt x="281584" y="401256"/>
                  </a:lnTo>
                  <a:lnTo>
                    <a:pt x="275666" y="409600"/>
                  </a:lnTo>
                  <a:lnTo>
                    <a:pt x="267284" y="415480"/>
                  </a:lnTo>
                  <a:lnTo>
                    <a:pt x="257683" y="417703"/>
                  </a:lnTo>
                  <a:lnTo>
                    <a:pt x="248640" y="415480"/>
                  </a:lnTo>
                  <a:lnTo>
                    <a:pt x="241388" y="409600"/>
                  </a:lnTo>
                  <a:lnTo>
                    <a:pt x="236677" y="401447"/>
                  </a:lnTo>
                  <a:lnTo>
                    <a:pt x="236562" y="401256"/>
                  </a:lnTo>
                  <a:lnTo>
                    <a:pt x="234924" y="392290"/>
                  </a:lnTo>
                  <a:lnTo>
                    <a:pt x="234823" y="391668"/>
                  </a:lnTo>
                  <a:lnTo>
                    <a:pt x="236562" y="382143"/>
                  </a:lnTo>
                  <a:lnTo>
                    <a:pt x="241363" y="373849"/>
                  </a:lnTo>
                  <a:lnTo>
                    <a:pt x="247345" y="368935"/>
                  </a:lnTo>
                  <a:lnTo>
                    <a:pt x="248640" y="367880"/>
                  </a:lnTo>
                  <a:lnTo>
                    <a:pt x="257683" y="365633"/>
                  </a:lnTo>
                  <a:lnTo>
                    <a:pt x="267284" y="367880"/>
                  </a:lnTo>
                  <a:lnTo>
                    <a:pt x="275691" y="373849"/>
                  </a:lnTo>
                  <a:lnTo>
                    <a:pt x="281584" y="382143"/>
                  </a:lnTo>
                  <a:lnTo>
                    <a:pt x="283845" y="391668"/>
                  </a:lnTo>
                  <a:lnTo>
                    <a:pt x="283845" y="336346"/>
                  </a:lnTo>
                  <a:lnTo>
                    <a:pt x="277241" y="346202"/>
                  </a:lnTo>
                  <a:lnTo>
                    <a:pt x="270764" y="342900"/>
                  </a:lnTo>
                  <a:lnTo>
                    <a:pt x="257683" y="342900"/>
                  </a:lnTo>
                  <a:lnTo>
                    <a:pt x="243725" y="344690"/>
                  </a:lnTo>
                  <a:lnTo>
                    <a:pt x="231609" y="349821"/>
                  </a:lnTo>
                  <a:lnTo>
                    <a:pt x="221919" y="358013"/>
                  </a:lnTo>
                  <a:lnTo>
                    <a:pt x="215265" y="368935"/>
                  </a:lnTo>
                  <a:lnTo>
                    <a:pt x="197358" y="359156"/>
                  </a:lnTo>
                  <a:lnTo>
                    <a:pt x="191541" y="355981"/>
                  </a:lnTo>
                  <a:lnTo>
                    <a:pt x="179451" y="349377"/>
                  </a:lnTo>
                  <a:lnTo>
                    <a:pt x="182626" y="342900"/>
                  </a:lnTo>
                  <a:lnTo>
                    <a:pt x="185928" y="336423"/>
                  </a:lnTo>
                  <a:lnTo>
                    <a:pt x="185928" y="329946"/>
                  </a:lnTo>
                  <a:lnTo>
                    <a:pt x="181889" y="311353"/>
                  </a:lnTo>
                  <a:lnTo>
                    <a:pt x="178955" y="307213"/>
                  </a:lnTo>
                  <a:lnTo>
                    <a:pt x="170827" y="295808"/>
                  </a:lnTo>
                  <a:lnTo>
                    <a:pt x="159893" y="288772"/>
                  </a:lnTo>
                  <a:lnTo>
                    <a:pt x="159893" y="329946"/>
                  </a:lnTo>
                  <a:lnTo>
                    <a:pt x="158102" y="339483"/>
                  </a:lnTo>
                  <a:lnTo>
                    <a:pt x="152946" y="347827"/>
                  </a:lnTo>
                  <a:lnTo>
                    <a:pt x="144729" y="353745"/>
                  </a:lnTo>
                  <a:lnTo>
                    <a:pt x="133731" y="355981"/>
                  </a:lnTo>
                  <a:lnTo>
                    <a:pt x="124637" y="353745"/>
                  </a:lnTo>
                  <a:lnTo>
                    <a:pt x="117386" y="347827"/>
                  </a:lnTo>
                  <a:lnTo>
                    <a:pt x="112598" y="339483"/>
                  </a:lnTo>
                  <a:lnTo>
                    <a:pt x="110871" y="329946"/>
                  </a:lnTo>
                  <a:lnTo>
                    <a:pt x="112598" y="320929"/>
                  </a:lnTo>
                  <a:lnTo>
                    <a:pt x="117386" y="313728"/>
                  </a:lnTo>
                  <a:lnTo>
                    <a:pt x="124637" y="308952"/>
                  </a:lnTo>
                  <a:lnTo>
                    <a:pt x="133731" y="307213"/>
                  </a:lnTo>
                  <a:lnTo>
                    <a:pt x="144729" y="308952"/>
                  </a:lnTo>
                  <a:lnTo>
                    <a:pt x="152946" y="313728"/>
                  </a:lnTo>
                  <a:lnTo>
                    <a:pt x="158102" y="320929"/>
                  </a:lnTo>
                  <a:lnTo>
                    <a:pt x="159893" y="329946"/>
                  </a:lnTo>
                  <a:lnTo>
                    <a:pt x="159893" y="288772"/>
                  </a:lnTo>
                  <a:lnTo>
                    <a:pt x="154254" y="285140"/>
                  </a:lnTo>
                  <a:lnTo>
                    <a:pt x="133731" y="281178"/>
                  </a:lnTo>
                  <a:lnTo>
                    <a:pt x="115100" y="285140"/>
                  </a:lnTo>
                  <a:lnTo>
                    <a:pt x="99517" y="295808"/>
                  </a:lnTo>
                  <a:lnTo>
                    <a:pt x="88811" y="311353"/>
                  </a:lnTo>
                  <a:lnTo>
                    <a:pt x="84836" y="329946"/>
                  </a:lnTo>
                  <a:lnTo>
                    <a:pt x="86042" y="341477"/>
                  </a:lnTo>
                  <a:lnTo>
                    <a:pt x="89700" y="351459"/>
                  </a:lnTo>
                  <a:lnTo>
                    <a:pt x="95808" y="359613"/>
                  </a:lnTo>
                  <a:lnTo>
                    <a:pt x="104394" y="365633"/>
                  </a:lnTo>
                  <a:lnTo>
                    <a:pt x="78232" y="401447"/>
                  </a:lnTo>
                  <a:lnTo>
                    <a:pt x="75057" y="399618"/>
                  </a:lnTo>
                  <a:lnTo>
                    <a:pt x="75057" y="440436"/>
                  </a:lnTo>
                  <a:lnTo>
                    <a:pt x="72796" y="450024"/>
                  </a:lnTo>
                  <a:lnTo>
                    <a:pt x="66878" y="458368"/>
                  </a:lnTo>
                  <a:lnTo>
                    <a:pt x="58496" y="464248"/>
                  </a:lnTo>
                  <a:lnTo>
                    <a:pt x="48895" y="466471"/>
                  </a:lnTo>
                  <a:lnTo>
                    <a:pt x="39852" y="464248"/>
                  </a:lnTo>
                  <a:lnTo>
                    <a:pt x="32600" y="458368"/>
                  </a:lnTo>
                  <a:lnTo>
                    <a:pt x="27774" y="450024"/>
                  </a:lnTo>
                  <a:lnTo>
                    <a:pt x="26035" y="440436"/>
                  </a:lnTo>
                  <a:lnTo>
                    <a:pt x="27774" y="431419"/>
                  </a:lnTo>
                  <a:lnTo>
                    <a:pt x="32600" y="424218"/>
                  </a:lnTo>
                  <a:lnTo>
                    <a:pt x="39852" y="419442"/>
                  </a:lnTo>
                  <a:lnTo>
                    <a:pt x="48895" y="417703"/>
                  </a:lnTo>
                  <a:lnTo>
                    <a:pt x="58496" y="419442"/>
                  </a:lnTo>
                  <a:lnTo>
                    <a:pt x="66878" y="424218"/>
                  </a:lnTo>
                  <a:lnTo>
                    <a:pt x="72682" y="431266"/>
                  </a:lnTo>
                  <a:lnTo>
                    <a:pt x="72796" y="431419"/>
                  </a:lnTo>
                  <a:lnTo>
                    <a:pt x="75057" y="440436"/>
                  </a:lnTo>
                  <a:lnTo>
                    <a:pt x="75057" y="399618"/>
                  </a:lnTo>
                  <a:lnTo>
                    <a:pt x="70891" y="397192"/>
                  </a:lnTo>
                  <a:lnTo>
                    <a:pt x="63563" y="394131"/>
                  </a:lnTo>
                  <a:lnTo>
                    <a:pt x="56222" y="392290"/>
                  </a:lnTo>
                  <a:lnTo>
                    <a:pt x="48895" y="391668"/>
                  </a:lnTo>
                  <a:lnTo>
                    <a:pt x="30264" y="395630"/>
                  </a:lnTo>
                  <a:lnTo>
                    <a:pt x="14681" y="406298"/>
                  </a:lnTo>
                  <a:lnTo>
                    <a:pt x="3975" y="421843"/>
                  </a:lnTo>
                  <a:lnTo>
                    <a:pt x="0" y="440436"/>
                  </a:lnTo>
                  <a:lnTo>
                    <a:pt x="3975" y="459041"/>
                  </a:lnTo>
                  <a:lnTo>
                    <a:pt x="14681" y="474586"/>
                  </a:lnTo>
                  <a:lnTo>
                    <a:pt x="30264" y="485254"/>
                  </a:lnTo>
                  <a:lnTo>
                    <a:pt x="48895" y="489204"/>
                  </a:lnTo>
                  <a:lnTo>
                    <a:pt x="67589" y="485254"/>
                  </a:lnTo>
                  <a:lnTo>
                    <a:pt x="83210" y="474586"/>
                  </a:lnTo>
                  <a:lnTo>
                    <a:pt x="88811" y="466471"/>
                  </a:lnTo>
                  <a:lnTo>
                    <a:pt x="93929" y="459041"/>
                  </a:lnTo>
                  <a:lnTo>
                    <a:pt x="97917" y="440436"/>
                  </a:lnTo>
                  <a:lnTo>
                    <a:pt x="97307" y="431419"/>
                  </a:lnTo>
                  <a:lnTo>
                    <a:pt x="97294" y="431266"/>
                  </a:lnTo>
                  <a:lnTo>
                    <a:pt x="95453" y="422998"/>
                  </a:lnTo>
                  <a:lnTo>
                    <a:pt x="93345" y="417703"/>
                  </a:lnTo>
                  <a:lnTo>
                    <a:pt x="92456" y="415480"/>
                  </a:lnTo>
                  <a:lnTo>
                    <a:pt x="92392" y="415315"/>
                  </a:lnTo>
                  <a:lnTo>
                    <a:pt x="88138" y="407924"/>
                  </a:lnTo>
                  <a:lnTo>
                    <a:pt x="93319" y="401447"/>
                  </a:lnTo>
                  <a:lnTo>
                    <a:pt x="114173" y="375412"/>
                  </a:lnTo>
                  <a:lnTo>
                    <a:pt x="120650" y="378714"/>
                  </a:lnTo>
                  <a:lnTo>
                    <a:pt x="133731" y="378714"/>
                  </a:lnTo>
                  <a:lnTo>
                    <a:pt x="145884" y="377507"/>
                  </a:lnTo>
                  <a:lnTo>
                    <a:pt x="152463" y="375412"/>
                  </a:lnTo>
                  <a:lnTo>
                    <a:pt x="157416" y="373849"/>
                  </a:lnTo>
                  <a:lnTo>
                    <a:pt x="167690" y="367741"/>
                  </a:lnTo>
                  <a:lnTo>
                    <a:pt x="176149" y="359156"/>
                  </a:lnTo>
                  <a:lnTo>
                    <a:pt x="212090" y="378714"/>
                  </a:lnTo>
                  <a:lnTo>
                    <a:pt x="208788" y="385191"/>
                  </a:lnTo>
                  <a:lnTo>
                    <a:pt x="208788" y="391668"/>
                  </a:lnTo>
                  <a:lnTo>
                    <a:pt x="212763" y="410273"/>
                  </a:lnTo>
                  <a:lnTo>
                    <a:pt x="223469" y="425818"/>
                  </a:lnTo>
                  <a:lnTo>
                    <a:pt x="239052" y="436486"/>
                  </a:lnTo>
                  <a:lnTo>
                    <a:pt x="257683" y="440436"/>
                  </a:lnTo>
                  <a:lnTo>
                    <a:pt x="276377" y="436486"/>
                  </a:lnTo>
                  <a:lnTo>
                    <a:pt x="291998" y="425818"/>
                  </a:lnTo>
                  <a:lnTo>
                    <a:pt x="297599" y="417703"/>
                  </a:lnTo>
                  <a:lnTo>
                    <a:pt x="302717" y="410273"/>
                  </a:lnTo>
                  <a:lnTo>
                    <a:pt x="306705" y="391668"/>
                  </a:lnTo>
                  <a:lnTo>
                    <a:pt x="305460" y="380098"/>
                  </a:lnTo>
                  <a:lnTo>
                    <a:pt x="301764" y="369747"/>
                  </a:lnTo>
                  <a:lnTo>
                    <a:pt x="298996" y="365633"/>
                  </a:lnTo>
                  <a:lnTo>
                    <a:pt x="295605" y="360616"/>
                  </a:lnTo>
                  <a:lnTo>
                    <a:pt x="287020" y="352679"/>
                  </a:lnTo>
                  <a:lnTo>
                    <a:pt x="291350" y="346202"/>
                  </a:lnTo>
                  <a:lnTo>
                    <a:pt x="345821" y="264922"/>
                  </a:lnTo>
                  <a:lnTo>
                    <a:pt x="352298" y="268224"/>
                  </a:lnTo>
                  <a:lnTo>
                    <a:pt x="368681" y="268224"/>
                  </a:lnTo>
                  <a:lnTo>
                    <a:pt x="386181" y="264922"/>
                  </a:lnTo>
                  <a:lnTo>
                    <a:pt x="387299" y="264718"/>
                  </a:lnTo>
                  <a:lnTo>
                    <a:pt x="402882" y="254800"/>
                  </a:lnTo>
                  <a:lnTo>
                    <a:pt x="409359" y="245491"/>
                  </a:lnTo>
                  <a:lnTo>
                    <a:pt x="413588" y="239407"/>
                  </a:lnTo>
                  <a:lnTo>
                    <a:pt x="417576" y="219456"/>
                  </a:lnTo>
                  <a:close/>
                </a:path>
                <a:path w="607059" h="574675">
                  <a:moveTo>
                    <a:pt x="606552" y="52197"/>
                  </a:moveTo>
                  <a:lnTo>
                    <a:pt x="603351" y="35941"/>
                  </a:lnTo>
                  <a:lnTo>
                    <a:pt x="602513" y="31673"/>
                  </a:lnTo>
                  <a:lnTo>
                    <a:pt x="591451" y="15100"/>
                  </a:lnTo>
                  <a:lnTo>
                    <a:pt x="574878" y="4038"/>
                  </a:lnTo>
                  <a:lnTo>
                    <a:pt x="570611" y="3200"/>
                  </a:lnTo>
                  <a:lnTo>
                    <a:pt x="570611" y="42418"/>
                  </a:lnTo>
                  <a:lnTo>
                    <a:pt x="570611" y="440690"/>
                  </a:lnTo>
                  <a:lnTo>
                    <a:pt x="564134" y="447294"/>
                  </a:lnTo>
                  <a:lnTo>
                    <a:pt x="518414" y="447294"/>
                  </a:lnTo>
                  <a:lnTo>
                    <a:pt x="518414" y="143637"/>
                  </a:lnTo>
                  <a:lnTo>
                    <a:pt x="514184" y="124079"/>
                  </a:lnTo>
                  <a:lnTo>
                    <a:pt x="513867" y="122593"/>
                  </a:lnTo>
                  <a:lnTo>
                    <a:pt x="501662" y="104889"/>
                  </a:lnTo>
                  <a:lnTo>
                    <a:pt x="483958" y="92684"/>
                  </a:lnTo>
                  <a:lnTo>
                    <a:pt x="462915" y="88138"/>
                  </a:lnTo>
                  <a:lnTo>
                    <a:pt x="247523" y="88138"/>
                  </a:lnTo>
                  <a:lnTo>
                    <a:pt x="247523" y="52197"/>
                  </a:lnTo>
                  <a:lnTo>
                    <a:pt x="249199" y="45542"/>
                  </a:lnTo>
                  <a:lnTo>
                    <a:pt x="253631" y="40411"/>
                  </a:lnTo>
                  <a:lnTo>
                    <a:pt x="259892" y="37109"/>
                  </a:lnTo>
                  <a:lnTo>
                    <a:pt x="267081" y="35941"/>
                  </a:lnTo>
                  <a:lnTo>
                    <a:pt x="564134" y="35941"/>
                  </a:lnTo>
                  <a:lnTo>
                    <a:pt x="570611" y="42418"/>
                  </a:lnTo>
                  <a:lnTo>
                    <a:pt x="570611" y="3200"/>
                  </a:lnTo>
                  <a:lnTo>
                    <a:pt x="554355" y="0"/>
                  </a:lnTo>
                  <a:lnTo>
                    <a:pt x="267081" y="0"/>
                  </a:lnTo>
                  <a:lnTo>
                    <a:pt x="246024" y="4038"/>
                  </a:lnTo>
                  <a:lnTo>
                    <a:pt x="228320" y="15100"/>
                  </a:lnTo>
                  <a:lnTo>
                    <a:pt x="216115" y="31673"/>
                  </a:lnTo>
                  <a:lnTo>
                    <a:pt x="211582" y="52197"/>
                  </a:lnTo>
                  <a:lnTo>
                    <a:pt x="211582" y="88138"/>
                  </a:lnTo>
                  <a:lnTo>
                    <a:pt x="175641" y="88138"/>
                  </a:lnTo>
                  <a:lnTo>
                    <a:pt x="155105" y="92684"/>
                  </a:lnTo>
                  <a:lnTo>
                    <a:pt x="138531" y="104889"/>
                  </a:lnTo>
                  <a:lnTo>
                    <a:pt x="127469" y="122593"/>
                  </a:lnTo>
                  <a:lnTo>
                    <a:pt x="123444" y="143637"/>
                  </a:lnTo>
                  <a:lnTo>
                    <a:pt x="123444" y="264414"/>
                  </a:lnTo>
                  <a:lnTo>
                    <a:pt x="126746" y="261112"/>
                  </a:lnTo>
                  <a:lnTo>
                    <a:pt x="133223" y="261112"/>
                  </a:lnTo>
                  <a:lnTo>
                    <a:pt x="140055" y="261683"/>
                  </a:lnTo>
                  <a:lnTo>
                    <a:pt x="146304" y="263182"/>
                  </a:lnTo>
                  <a:lnTo>
                    <a:pt x="152539" y="265303"/>
                  </a:lnTo>
                  <a:lnTo>
                    <a:pt x="159385" y="267716"/>
                  </a:lnTo>
                  <a:lnTo>
                    <a:pt x="159385" y="261112"/>
                  </a:lnTo>
                  <a:lnTo>
                    <a:pt x="159385" y="143637"/>
                  </a:lnTo>
                  <a:lnTo>
                    <a:pt x="160540" y="136461"/>
                  </a:lnTo>
                  <a:lnTo>
                    <a:pt x="163842" y="130200"/>
                  </a:lnTo>
                  <a:lnTo>
                    <a:pt x="168973" y="125768"/>
                  </a:lnTo>
                  <a:lnTo>
                    <a:pt x="175641" y="124079"/>
                  </a:lnTo>
                  <a:lnTo>
                    <a:pt x="462915" y="124079"/>
                  </a:lnTo>
                  <a:lnTo>
                    <a:pt x="470090" y="125768"/>
                  </a:lnTo>
                  <a:lnTo>
                    <a:pt x="476351" y="130200"/>
                  </a:lnTo>
                  <a:lnTo>
                    <a:pt x="480783" y="136461"/>
                  </a:lnTo>
                  <a:lnTo>
                    <a:pt x="482473" y="143637"/>
                  </a:lnTo>
                  <a:lnTo>
                    <a:pt x="482473" y="522351"/>
                  </a:lnTo>
                  <a:lnTo>
                    <a:pt x="480783" y="527634"/>
                  </a:lnTo>
                  <a:lnTo>
                    <a:pt x="476351" y="532917"/>
                  </a:lnTo>
                  <a:lnTo>
                    <a:pt x="470090" y="536981"/>
                  </a:lnTo>
                  <a:lnTo>
                    <a:pt x="462915" y="538607"/>
                  </a:lnTo>
                  <a:lnTo>
                    <a:pt x="165862" y="538607"/>
                  </a:lnTo>
                  <a:lnTo>
                    <a:pt x="159385" y="528828"/>
                  </a:lnTo>
                  <a:lnTo>
                    <a:pt x="159385" y="394970"/>
                  </a:lnTo>
                  <a:lnTo>
                    <a:pt x="152539" y="396887"/>
                  </a:lnTo>
                  <a:lnTo>
                    <a:pt x="146304" y="397865"/>
                  </a:lnTo>
                  <a:lnTo>
                    <a:pt x="139166" y="398272"/>
                  </a:lnTo>
                  <a:lnTo>
                    <a:pt x="123444" y="398272"/>
                  </a:lnTo>
                  <a:lnTo>
                    <a:pt x="123444" y="522351"/>
                  </a:lnTo>
                  <a:lnTo>
                    <a:pt x="127469" y="542886"/>
                  </a:lnTo>
                  <a:lnTo>
                    <a:pt x="138531" y="559460"/>
                  </a:lnTo>
                  <a:lnTo>
                    <a:pt x="155105" y="570522"/>
                  </a:lnTo>
                  <a:lnTo>
                    <a:pt x="175641" y="574548"/>
                  </a:lnTo>
                  <a:lnTo>
                    <a:pt x="462915" y="574548"/>
                  </a:lnTo>
                  <a:lnTo>
                    <a:pt x="483958" y="570522"/>
                  </a:lnTo>
                  <a:lnTo>
                    <a:pt x="501662" y="559460"/>
                  </a:lnTo>
                  <a:lnTo>
                    <a:pt x="513867" y="542886"/>
                  </a:lnTo>
                  <a:lnTo>
                    <a:pt x="514807" y="538607"/>
                  </a:lnTo>
                  <a:lnTo>
                    <a:pt x="518414" y="522351"/>
                  </a:lnTo>
                  <a:lnTo>
                    <a:pt x="518414" y="483108"/>
                  </a:lnTo>
                  <a:lnTo>
                    <a:pt x="554355" y="483108"/>
                  </a:lnTo>
                  <a:lnTo>
                    <a:pt x="574878" y="479082"/>
                  </a:lnTo>
                  <a:lnTo>
                    <a:pt x="591451" y="468020"/>
                  </a:lnTo>
                  <a:lnTo>
                    <a:pt x="602513" y="451446"/>
                  </a:lnTo>
                  <a:lnTo>
                    <a:pt x="603326" y="447294"/>
                  </a:lnTo>
                  <a:lnTo>
                    <a:pt x="606552" y="430911"/>
                  </a:lnTo>
                  <a:lnTo>
                    <a:pt x="606552" y="52197"/>
                  </a:lnTo>
                  <a:close/>
                </a:path>
              </a:pathLst>
            </a:custGeom>
            <a:solidFill>
              <a:srgbClr val="2E5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71032" y="5259298"/>
              <a:ext cx="103505" cy="59690"/>
            </a:xfrm>
            <a:custGeom>
              <a:avLst/>
              <a:gdLst/>
              <a:ahLst/>
              <a:cxnLst/>
              <a:rect l="l" t="t" r="r" b="b"/>
              <a:pathLst>
                <a:path w="103504" h="59689">
                  <a:moveTo>
                    <a:pt x="22860" y="59461"/>
                  </a:moveTo>
                  <a:lnTo>
                    <a:pt x="18135" y="50419"/>
                  </a:lnTo>
                  <a:lnTo>
                    <a:pt x="13144" y="41935"/>
                  </a:lnTo>
                  <a:lnTo>
                    <a:pt x="7569" y="34607"/>
                  </a:lnTo>
                  <a:lnTo>
                    <a:pt x="1143" y="28981"/>
                  </a:lnTo>
                  <a:lnTo>
                    <a:pt x="0" y="37084"/>
                  </a:lnTo>
                  <a:lnTo>
                    <a:pt x="1155" y="43459"/>
                  </a:lnTo>
                  <a:lnTo>
                    <a:pt x="4622" y="48704"/>
                  </a:lnTo>
                  <a:lnTo>
                    <a:pt x="10414" y="53365"/>
                  </a:lnTo>
                  <a:lnTo>
                    <a:pt x="13589" y="56413"/>
                  </a:lnTo>
                  <a:lnTo>
                    <a:pt x="16637" y="56413"/>
                  </a:lnTo>
                  <a:lnTo>
                    <a:pt x="22860" y="59461"/>
                  </a:lnTo>
                  <a:close/>
                </a:path>
                <a:path w="103504" h="59689">
                  <a:moveTo>
                    <a:pt x="103466" y="13970"/>
                  </a:moveTo>
                  <a:lnTo>
                    <a:pt x="97421" y="520"/>
                  </a:lnTo>
                  <a:lnTo>
                    <a:pt x="87972" y="0"/>
                  </a:lnTo>
                  <a:lnTo>
                    <a:pt x="83058" y="14376"/>
                  </a:lnTo>
                  <a:lnTo>
                    <a:pt x="80010" y="20345"/>
                  </a:lnTo>
                  <a:lnTo>
                    <a:pt x="80010" y="26314"/>
                  </a:lnTo>
                  <a:lnTo>
                    <a:pt x="83058" y="32410"/>
                  </a:lnTo>
                  <a:lnTo>
                    <a:pt x="83058" y="47396"/>
                  </a:lnTo>
                  <a:lnTo>
                    <a:pt x="86106" y="53365"/>
                  </a:lnTo>
                  <a:lnTo>
                    <a:pt x="92202" y="50317"/>
                  </a:lnTo>
                  <a:lnTo>
                    <a:pt x="95123" y="44348"/>
                  </a:lnTo>
                  <a:lnTo>
                    <a:pt x="98171" y="38379"/>
                  </a:lnTo>
                  <a:lnTo>
                    <a:pt x="103466" y="13970"/>
                  </a:lnTo>
                  <a:close/>
                </a:path>
              </a:pathLst>
            </a:custGeom>
            <a:solidFill>
              <a:srgbClr val="134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800" y="5329809"/>
              <a:ext cx="138652" cy="1779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879986" y="5093208"/>
              <a:ext cx="367030" cy="414655"/>
            </a:xfrm>
            <a:custGeom>
              <a:avLst/>
              <a:gdLst/>
              <a:ahLst/>
              <a:cxnLst/>
              <a:rect l="l" t="t" r="r" b="b"/>
              <a:pathLst>
                <a:path w="367029" h="414654">
                  <a:moveTo>
                    <a:pt x="183247" y="0"/>
                  </a:moveTo>
                  <a:lnTo>
                    <a:pt x="138059" y="4079"/>
                  </a:lnTo>
                  <a:lnTo>
                    <a:pt x="79305" y="29146"/>
                  </a:lnTo>
                  <a:lnTo>
                    <a:pt x="21039" y="95139"/>
                  </a:lnTo>
                  <a:lnTo>
                    <a:pt x="2896" y="143674"/>
                  </a:lnTo>
                  <a:lnTo>
                    <a:pt x="0" y="188796"/>
                  </a:lnTo>
                  <a:lnTo>
                    <a:pt x="7158" y="228219"/>
                  </a:lnTo>
                  <a:lnTo>
                    <a:pt x="31584" y="284761"/>
                  </a:lnTo>
                  <a:lnTo>
                    <a:pt x="47039" y="311794"/>
                  </a:lnTo>
                  <a:lnTo>
                    <a:pt x="57326" y="334152"/>
                  </a:lnTo>
                  <a:lnTo>
                    <a:pt x="66470" y="359868"/>
                  </a:lnTo>
                  <a:lnTo>
                    <a:pt x="71614" y="384429"/>
                  </a:lnTo>
                  <a:lnTo>
                    <a:pt x="75261" y="403062"/>
                  </a:lnTo>
                  <a:lnTo>
                    <a:pt x="80313" y="411861"/>
                  </a:lnTo>
                  <a:lnTo>
                    <a:pt x="84896" y="414528"/>
                  </a:lnTo>
                  <a:lnTo>
                    <a:pt x="147052" y="414528"/>
                  </a:lnTo>
                  <a:lnTo>
                    <a:pt x="144532" y="373522"/>
                  </a:lnTo>
                  <a:lnTo>
                    <a:pt x="140607" y="332232"/>
                  </a:lnTo>
                  <a:lnTo>
                    <a:pt x="133953" y="292006"/>
                  </a:lnTo>
                  <a:lnTo>
                    <a:pt x="122922" y="252222"/>
                  </a:lnTo>
                  <a:lnTo>
                    <a:pt x="122922" y="249301"/>
                  </a:lnTo>
                  <a:lnTo>
                    <a:pt x="119874" y="249301"/>
                  </a:lnTo>
                  <a:lnTo>
                    <a:pt x="114871" y="247034"/>
                  </a:lnTo>
                  <a:lnTo>
                    <a:pt x="108999" y="244792"/>
                  </a:lnTo>
                  <a:lnTo>
                    <a:pt x="102532" y="242550"/>
                  </a:lnTo>
                  <a:lnTo>
                    <a:pt x="95744" y="240284"/>
                  </a:lnTo>
                  <a:lnTo>
                    <a:pt x="85645" y="232505"/>
                  </a:lnTo>
                  <a:lnTo>
                    <a:pt x="75408" y="222646"/>
                  </a:lnTo>
                  <a:lnTo>
                    <a:pt x="68651" y="211155"/>
                  </a:lnTo>
                  <a:lnTo>
                    <a:pt x="68693" y="198247"/>
                  </a:lnTo>
                  <a:lnTo>
                    <a:pt x="84486" y="175369"/>
                  </a:lnTo>
                  <a:lnTo>
                    <a:pt x="156073" y="175369"/>
                  </a:lnTo>
                  <a:lnTo>
                    <a:pt x="160825" y="158156"/>
                  </a:lnTo>
                  <a:lnTo>
                    <a:pt x="177151" y="144145"/>
                  </a:lnTo>
                  <a:lnTo>
                    <a:pt x="363527" y="144145"/>
                  </a:lnTo>
                  <a:lnTo>
                    <a:pt x="363496" y="143674"/>
                  </a:lnTo>
                  <a:lnTo>
                    <a:pt x="345335" y="95139"/>
                  </a:lnTo>
                  <a:lnTo>
                    <a:pt x="306818" y="45085"/>
                  </a:lnTo>
                  <a:lnTo>
                    <a:pt x="261987" y="14636"/>
                  </a:lnTo>
                  <a:lnTo>
                    <a:pt x="228415" y="4079"/>
                  </a:lnTo>
                  <a:lnTo>
                    <a:pt x="183247" y="0"/>
                  </a:lnTo>
                  <a:close/>
                </a:path>
                <a:path w="367029" h="414654">
                  <a:moveTo>
                    <a:pt x="222490" y="288290"/>
                  </a:moveTo>
                  <a:lnTo>
                    <a:pt x="219442" y="294386"/>
                  </a:lnTo>
                  <a:lnTo>
                    <a:pt x="216394" y="300355"/>
                  </a:lnTo>
                  <a:lnTo>
                    <a:pt x="216394" y="303276"/>
                  </a:lnTo>
                  <a:lnTo>
                    <a:pt x="215296" y="330279"/>
                  </a:lnTo>
                  <a:lnTo>
                    <a:pt x="216759" y="356997"/>
                  </a:lnTo>
                  <a:lnTo>
                    <a:pt x="221055" y="383143"/>
                  </a:lnTo>
                  <a:lnTo>
                    <a:pt x="228459" y="408432"/>
                  </a:lnTo>
                  <a:lnTo>
                    <a:pt x="228459" y="414528"/>
                  </a:lnTo>
                  <a:lnTo>
                    <a:pt x="281596" y="414528"/>
                  </a:lnTo>
                  <a:lnTo>
                    <a:pt x="286164" y="411861"/>
                  </a:lnTo>
                  <a:lnTo>
                    <a:pt x="291179" y="403062"/>
                  </a:lnTo>
                  <a:lnTo>
                    <a:pt x="294753" y="384429"/>
                  </a:lnTo>
                  <a:lnTo>
                    <a:pt x="299952" y="359868"/>
                  </a:lnTo>
                  <a:lnTo>
                    <a:pt x="309104" y="334152"/>
                  </a:lnTo>
                  <a:lnTo>
                    <a:pt x="319399" y="311794"/>
                  </a:lnTo>
                  <a:lnTo>
                    <a:pt x="328027" y="297307"/>
                  </a:lnTo>
                  <a:lnTo>
                    <a:pt x="330932" y="292006"/>
                  </a:lnTo>
                  <a:lnTo>
                    <a:pt x="245211" y="292006"/>
                  </a:lnTo>
                  <a:lnTo>
                    <a:pt x="222490" y="288290"/>
                  </a:lnTo>
                  <a:close/>
                </a:path>
                <a:path w="367029" h="414654">
                  <a:moveTo>
                    <a:pt x="360917" y="219202"/>
                  </a:moveTo>
                  <a:lnTo>
                    <a:pt x="270623" y="219202"/>
                  </a:lnTo>
                  <a:lnTo>
                    <a:pt x="281626" y="224016"/>
                  </a:lnTo>
                  <a:lnTo>
                    <a:pt x="290641" y="232759"/>
                  </a:lnTo>
                  <a:lnTo>
                    <a:pt x="295680" y="243740"/>
                  </a:lnTo>
                  <a:lnTo>
                    <a:pt x="294753" y="255270"/>
                  </a:lnTo>
                  <a:lnTo>
                    <a:pt x="283890" y="276913"/>
                  </a:lnTo>
                  <a:lnTo>
                    <a:pt x="266527" y="288686"/>
                  </a:lnTo>
                  <a:lnTo>
                    <a:pt x="245211" y="292006"/>
                  </a:lnTo>
                  <a:lnTo>
                    <a:pt x="330932" y="292006"/>
                  </a:lnTo>
                  <a:lnTo>
                    <a:pt x="334903" y="284761"/>
                  </a:lnTo>
                  <a:lnTo>
                    <a:pt x="347001" y="261239"/>
                  </a:lnTo>
                  <a:lnTo>
                    <a:pt x="359208" y="228631"/>
                  </a:lnTo>
                  <a:lnTo>
                    <a:pt x="360917" y="219202"/>
                  </a:lnTo>
                  <a:close/>
                </a:path>
                <a:path w="367029" h="414654">
                  <a:moveTo>
                    <a:pt x="363527" y="144145"/>
                  </a:moveTo>
                  <a:lnTo>
                    <a:pt x="177151" y="144145"/>
                  </a:lnTo>
                  <a:lnTo>
                    <a:pt x="190012" y="144678"/>
                  </a:lnTo>
                  <a:lnTo>
                    <a:pt x="200598" y="152796"/>
                  </a:lnTo>
                  <a:lnTo>
                    <a:pt x="207780" y="164844"/>
                  </a:lnTo>
                  <a:lnTo>
                    <a:pt x="210425" y="177165"/>
                  </a:lnTo>
                  <a:lnTo>
                    <a:pt x="208304" y="192815"/>
                  </a:lnTo>
                  <a:lnTo>
                    <a:pt x="202503" y="207597"/>
                  </a:lnTo>
                  <a:lnTo>
                    <a:pt x="193869" y="220688"/>
                  </a:lnTo>
                  <a:lnTo>
                    <a:pt x="183247" y="231267"/>
                  </a:lnTo>
                  <a:lnTo>
                    <a:pt x="183247" y="234315"/>
                  </a:lnTo>
                  <a:lnTo>
                    <a:pt x="186295" y="237236"/>
                  </a:lnTo>
                  <a:lnTo>
                    <a:pt x="189216" y="240284"/>
                  </a:lnTo>
                  <a:lnTo>
                    <a:pt x="194337" y="248689"/>
                  </a:lnTo>
                  <a:lnTo>
                    <a:pt x="200566" y="256000"/>
                  </a:lnTo>
                  <a:lnTo>
                    <a:pt x="207915" y="262215"/>
                  </a:lnTo>
                  <a:lnTo>
                    <a:pt x="216394" y="267335"/>
                  </a:lnTo>
                  <a:lnTo>
                    <a:pt x="219442" y="261239"/>
                  </a:lnTo>
                  <a:lnTo>
                    <a:pt x="222490" y="255270"/>
                  </a:lnTo>
                  <a:lnTo>
                    <a:pt x="257236" y="220976"/>
                  </a:lnTo>
                  <a:lnTo>
                    <a:pt x="270623" y="219202"/>
                  </a:lnTo>
                  <a:lnTo>
                    <a:pt x="360917" y="219202"/>
                  </a:lnTo>
                  <a:lnTo>
                    <a:pt x="366417" y="188796"/>
                  </a:lnTo>
                  <a:lnTo>
                    <a:pt x="363561" y="144678"/>
                  </a:lnTo>
                  <a:lnTo>
                    <a:pt x="363527" y="144145"/>
                  </a:lnTo>
                  <a:close/>
                </a:path>
                <a:path w="367029" h="414654">
                  <a:moveTo>
                    <a:pt x="156073" y="175369"/>
                  </a:moveTo>
                  <a:lnTo>
                    <a:pt x="84486" y="175369"/>
                  </a:lnTo>
                  <a:lnTo>
                    <a:pt x="102554" y="179816"/>
                  </a:lnTo>
                  <a:lnTo>
                    <a:pt x="119503" y="199479"/>
                  </a:lnTo>
                  <a:lnTo>
                    <a:pt x="131939" y="222250"/>
                  </a:lnTo>
                  <a:lnTo>
                    <a:pt x="131939" y="228219"/>
                  </a:lnTo>
                  <a:lnTo>
                    <a:pt x="134987" y="231267"/>
                  </a:lnTo>
                  <a:lnTo>
                    <a:pt x="141752" y="232505"/>
                  </a:lnTo>
                  <a:lnTo>
                    <a:pt x="148528" y="232029"/>
                  </a:lnTo>
                  <a:lnTo>
                    <a:pt x="155329" y="230409"/>
                  </a:lnTo>
                  <a:lnTo>
                    <a:pt x="162165" y="228219"/>
                  </a:lnTo>
                  <a:lnTo>
                    <a:pt x="156416" y="204134"/>
                  </a:lnTo>
                  <a:lnTo>
                    <a:pt x="154963" y="179816"/>
                  </a:lnTo>
                  <a:lnTo>
                    <a:pt x="154942" y="179466"/>
                  </a:lnTo>
                  <a:lnTo>
                    <a:pt x="156073" y="175369"/>
                  </a:lnTo>
                  <a:close/>
                </a:path>
              </a:pathLst>
            </a:custGeom>
            <a:solidFill>
              <a:srgbClr val="134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0364" y="5526023"/>
              <a:ext cx="211836" cy="1143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454008" y="4276090"/>
            <a:ext cx="1332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Requerimientos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6392" y="5950315"/>
            <a:ext cx="9770187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200"/>
              </a:lnSpc>
              <a:spcBef>
                <a:spcPts val="100"/>
              </a:spcBef>
            </a:pPr>
            <a:r>
              <a:rPr sz="1800" spc="-10" dirty="0">
                <a:latin typeface="Corbel"/>
                <a:cs typeface="Corbel"/>
              </a:rPr>
              <a:t>Transformar </a:t>
            </a:r>
            <a:r>
              <a:rPr sz="1800" dirty="0">
                <a:latin typeface="Corbel"/>
                <a:cs typeface="Corbel"/>
              </a:rPr>
              <a:t>las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necesidades,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expectativas,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restricciones</a:t>
            </a:r>
            <a:r>
              <a:rPr sz="1800" spc="-6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interfaces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de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las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partes</a:t>
            </a:r>
            <a:r>
              <a:rPr sz="1800" spc="-30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interesadas</a:t>
            </a:r>
            <a:r>
              <a:rPr sz="1800" spc="-25" dirty="0">
                <a:latin typeface="Corbel"/>
                <a:cs typeface="Corbel"/>
              </a:rPr>
              <a:t> en </a:t>
            </a:r>
            <a:r>
              <a:rPr sz="1800" dirty="0">
                <a:latin typeface="Corbel"/>
                <a:cs typeface="Corbel"/>
              </a:rPr>
              <a:t>requerimientos</a:t>
            </a:r>
            <a:r>
              <a:rPr sz="1800" spc="-5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de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cliente</a:t>
            </a:r>
            <a:r>
              <a:rPr sz="1800" spc="-4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priorizados.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31" name="Marcador de número de diapositiva 30">
            <a:extLst>
              <a:ext uri="{FF2B5EF4-FFF2-40B4-BE49-F238E27FC236}">
                <a16:creationId xmlns:a16="http://schemas.microsoft.com/office/drawing/2014/main" id="{3B7B8555-DF5B-399E-4C0A-9D87F779FB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7</a:t>
            </a:fld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" y="2845689"/>
            <a:ext cx="262699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Ingeniería</a:t>
            </a:r>
            <a:r>
              <a:rPr sz="3600" spc="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 </a:t>
            </a:r>
            <a:r>
              <a:rPr sz="36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Software</a:t>
            </a:r>
            <a:endParaRPr sz="36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1955" y="1600200"/>
            <a:ext cx="4418330" cy="325281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Actividad</a:t>
            </a:r>
            <a:r>
              <a:rPr sz="1800" b="1" spc="-11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spc="-25" dirty="0">
                <a:solidFill>
                  <a:schemeClr val="tx1"/>
                </a:solidFill>
                <a:latin typeface="Century Gothic"/>
                <a:cs typeface="Century Gothic"/>
              </a:rPr>
              <a:t>de</a:t>
            </a:r>
            <a:endParaRPr sz="1800" b="1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259079" indent="-246379">
              <a:lnSpc>
                <a:spcPct val="100000"/>
              </a:lnSpc>
              <a:spcBef>
                <a:spcPts val="980"/>
              </a:spcBef>
              <a:buClr>
                <a:srgbClr val="40B9D2"/>
              </a:buClr>
              <a:buFont typeface="Wingdings"/>
              <a:buChar char=""/>
              <a:tabLst>
                <a:tab pos="259079" algn="l"/>
              </a:tabLst>
            </a:pPr>
            <a:r>
              <a:rPr sz="1800" dirty="0">
                <a:solidFill>
                  <a:schemeClr val="tx1"/>
                </a:solidFill>
                <a:latin typeface="Century Gothic"/>
                <a:cs typeface="Century Gothic"/>
              </a:rPr>
              <a:t>Analizar</a:t>
            </a:r>
            <a:r>
              <a:rPr sz="1800" spc="-7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chemeClr val="tx1"/>
                </a:solidFill>
                <a:latin typeface="Century Gothic"/>
                <a:cs typeface="Century Gothic"/>
              </a:rPr>
              <a:t>el</a:t>
            </a:r>
            <a:r>
              <a:rPr sz="1800" spc="-10" dirty="0">
                <a:solidFill>
                  <a:schemeClr val="tx1"/>
                </a:solidFill>
                <a:latin typeface="Century Gothic"/>
                <a:cs typeface="Century Gothic"/>
              </a:rPr>
              <a:t> problema</a:t>
            </a:r>
            <a:endParaRPr sz="18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lr>
                <a:srgbClr val="40B9D2"/>
              </a:buClr>
              <a:buFont typeface="Wingdings"/>
              <a:buChar char=""/>
              <a:tabLst>
                <a:tab pos="259079" algn="l"/>
              </a:tabLst>
            </a:pPr>
            <a:r>
              <a:rPr sz="1800" spc="-10" dirty="0">
                <a:solidFill>
                  <a:schemeClr val="tx1"/>
                </a:solidFill>
                <a:latin typeface="Century Gothic"/>
                <a:cs typeface="Century Gothic"/>
              </a:rPr>
              <a:t>especificar</a:t>
            </a:r>
            <a:endParaRPr sz="18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lr>
                <a:srgbClr val="40B9D2"/>
              </a:buClr>
              <a:buFont typeface="Wingdings"/>
              <a:buChar char=""/>
              <a:tabLst>
                <a:tab pos="259079" algn="l"/>
              </a:tabLst>
            </a:pPr>
            <a:r>
              <a:rPr sz="1800" spc="-10" dirty="0">
                <a:solidFill>
                  <a:schemeClr val="tx1"/>
                </a:solidFill>
                <a:latin typeface="Century Gothic"/>
                <a:cs typeface="Century Gothic"/>
              </a:rPr>
              <a:t>diseñar</a:t>
            </a:r>
            <a:endParaRPr sz="18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lr>
                <a:srgbClr val="40B9D2"/>
              </a:buClr>
              <a:buFont typeface="Wingdings"/>
              <a:buChar char=""/>
              <a:tabLst>
                <a:tab pos="259079" algn="l"/>
              </a:tabLst>
            </a:pPr>
            <a:r>
              <a:rPr sz="1800" spc="-10" dirty="0">
                <a:solidFill>
                  <a:schemeClr val="tx1"/>
                </a:solidFill>
                <a:latin typeface="Century Gothic"/>
                <a:cs typeface="Century Gothic"/>
              </a:rPr>
              <a:t>implementar</a:t>
            </a:r>
            <a:endParaRPr sz="18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lr>
                <a:srgbClr val="40B9D2"/>
              </a:buClr>
              <a:buFont typeface="Wingdings"/>
              <a:buChar char=""/>
              <a:tabLst>
                <a:tab pos="259079" algn="l"/>
              </a:tabLst>
            </a:pPr>
            <a:r>
              <a:rPr sz="1800" spc="-10" dirty="0">
                <a:solidFill>
                  <a:schemeClr val="tx1"/>
                </a:solidFill>
                <a:latin typeface="Century Gothic"/>
                <a:cs typeface="Century Gothic"/>
              </a:rPr>
              <a:t>validar</a:t>
            </a:r>
            <a:endParaRPr sz="18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lr>
                <a:srgbClr val="40B9D2"/>
              </a:buClr>
              <a:buFont typeface="Wingdings"/>
              <a:buChar char=""/>
              <a:tabLst>
                <a:tab pos="259079" algn="l"/>
              </a:tabLst>
            </a:pPr>
            <a:r>
              <a:rPr sz="1800" spc="-20" dirty="0">
                <a:solidFill>
                  <a:schemeClr val="tx1"/>
                </a:solidFill>
                <a:latin typeface="Century Gothic"/>
                <a:cs typeface="Century Gothic"/>
              </a:rPr>
              <a:t>usar</a:t>
            </a:r>
            <a:endParaRPr sz="18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lr>
                <a:srgbClr val="40B9D2"/>
              </a:buClr>
              <a:buFont typeface="Wingdings"/>
              <a:buChar char=""/>
              <a:tabLst>
                <a:tab pos="259079" algn="l"/>
                <a:tab pos="1479550" algn="l"/>
              </a:tabLst>
            </a:pPr>
            <a:r>
              <a:rPr sz="1800" spc="-10" dirty="0">
                <a:solidFill>
                  <a:schemeClr val="tx1"/>
                </a:solidFill>
                <a:latin typeface="Century Gothic"/>
                <a:cs typeface="Century Gothic"/>
              </a:rPr>
              <a:t>mantener</a:t>
            </a:r>
            <a:r>
              <a:rPr sz="1800" dirty="0">
                <a:solidFill>
                  <a:schemeClr val="tx1"/>
                </a:solidFill>
                <a:latin typeface="Century Gothic"/>
                <a:cs typeface="Century Gothic"/>
              </a:rPr>
              <a:t>	los</a:t>
            </a:r>
            <a:r>
              <a:rPr sz="1800" spc="-2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chemeClr val="tx1"/>
                </a:solidFill>
                <a:latin typeface="Century Gothic"/>
                <a:cs typeface="Century Gothic"/>
              </a:rPr>
              <a:t>sistemas</a:t>
            </a:r>
            <a:r>
              <a:rPr sz="1800" spc="-5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Century Gothic"/>
                <a:cs typeface="Century Gothic"/>
              </a:rPr>
              <a:t>socio-técnicos</a:t>
            </a:r>
            <a:endParaRPr sz="18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1692" y="1379219"/>
            <a:ext cx="3849624" cy="2891028"/>
          </a:xfrm>
          <a:prstGeom prst="rect">
            <a:avLst/>
          </a:prstGeo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D38A41-F5CA-EB70-1174-9790FA6FD4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8</a:t>
            </a:fld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0" y="758951"/>
            <a:ext cx="3444240" cy="3398366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4500" dirty="0">
              <a:latin typeface="Times New Roman"/>
              <a:cs typeface="Times New Roman"/>
            </a:endParaRPr>
          </a:p>
          <a:p>
            <a:pPr marL="344170" marR="131445" algn="ctr">
              <a:lnSpc>
                <a:spcPts val="4860"/>
              </a:lnSpc>
            </a:pPr>
            <a:r>
              <a:rPr sz="36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Ingeniería </a:t>
            </a:r>
            <a:r>
              <a:rPr sz="3600" spc="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3600" spc="1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Software</a:t>
            </a:r>
            <a:endParaRPr sz="36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8429" y="1524206"/>
            <a:ext cx="7252971" cy="4228081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306070" indent="-293370">
              <a:lnSpc>
                <a:spcPct val="100000"/>
              </a:lnSpc>
              <a:spcBef>
                <a:spcPts val="1030"/>
              </a:spcBef>
              <a:buClr>
                <a:srgbClr val="40B9D2"/>
              </a:buClr>
              <a:buFont typeface="Wingdings"/>
              <a:buChar char=""/>
              <a:tabLst>
                <a:tab pos="306070" algn="l"/>
              </a:tabLst>
            </a:pP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Definir</a:t>
            </a:r>
            <a:r>
              <a:rPr sz="2200" i="1" spc="114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200" i="1" spc="13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proceso</a:t>
            </a:r>
            <a:r>
              <a:rPr sz="2200" i="1" spc="1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200" i="1" spc="1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desarrollo</a:t>
            </a:r>
            <a:r>
              <a:rPr sz="2200" i="1" spc="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200" i="1" spc="14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software</a:t>
            </a:r>
            <a:r>
              <a:rPr sz="2200" i="1" spc="1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a</a:t>
            </a:r>
            <a:r>
              <a:rPr sz="2200" i="1" spc="14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aplicar</a:t>
            </a:r>
            <a:r>
              <a:rPr lang="es-MX"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.</a:t>
            </a:r>
            <a:endParaRPr sz="22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306070" indent="-293370">
              <a:lnSpc>
                <a:spcPct val="100000"/>
              </a:lnSpc>
              <a:spcBef>
                <a:spcPts val="940"/>
              </a:spcBef>
              <a:buClr>
                <a:srgbClr val="40B9D2"/>
              </a:buClr>
              <a:buFont typeface="Wingdings"/>
              <a:buChar char=""/>
              <a:tabLst>
                <a:tab pos="306070" algn="l"/>
              </a:tabLst>
            </a:pP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Administrar</a:t>
            </a:r>
            <a:r>
              <a:rPr sz="2200" i="1" spc="7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200" i="1" spc="9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proyecto</a:t>
            </a:r>
            <a:r>
              <a:rPr sz="2200" i="1" spc="7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200" i="1" spc="9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desarrollo</a:t>
            </a:r>
            <a:r>
              <a:rPr lang="es-MX"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.</a:t>
            </a:r>
            <a:endParaRPr sz="22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306070" indent="-293370">
              <a:lnSpc>
                <a:spcPct val="100000"/>
              </a:lnSpc>
              <a:spcBef>
                <a:spcPts val="935"/>
              </a:spcBef>
              <a:buClr>
                <a:srgbClr val="40B9D2"/>
              </a:buClr>
              <a:buFont typeface="Wingdings"/>
              <a:buChar char=""/>
              <a:tabLst>
                <a:tab pos="306070" algn="l"/>
              </a:tabLst>
            </a:pP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Describir</a:t>
            </a:r>
            <a:r>
              <a:rPr sz="2200" i="1" spc="8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200" i="1" spc="1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producto</a:t>
            </a:r>
            <a:r>
              <a:rPr sz="2200" i="1" spc="7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200" i="1" spc="114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software</a:t>
            </a:r>
            <a:r>
              <a:rPr sz="2200" i="1" spc="8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pensado</a:t>
            </a:r>
            <a:r>
              <a:rPr lang="es-MX"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.</a:t>
            </a:r>
            <a:endParaRPr sz="22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306070" indent="-293370">
              <a:lnSpc>
                <a:spcPct val="100000"/>
              </a:lnSpc>
              <a:spcBef>
                <a:spcPts val="940"/>
              </a:spcBef>
              <a:buClr>
                <a:srgbClr val="40B9D2"/>
              </a:buClr>
              <a:buFont typeface="Wingdings"/>
              <a:buChar char=""/>
              <a:tabLst>
                <a:tab pos="306070" algn="l"/>
              </a:tabLst>
            </a:pP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Diseñar</a:t>
            </a:r>
            <a:r>
              <a:rPr sz="2200" i="1" spc="9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200" i="1" spc="12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producto</a:t>
            </a:r>
            <a:r>
              <a:rPr sz="2200" i="1" spc="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200" i="1" spc="114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software</a:t>
            </a:r>
            <a:r>
              <a:rPr sz="2200" i="1" spc="8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pensado</a:t>
            </a:r>
            <a:r>
              <a:rPr lang="es-MX"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.</a:t>
            </a:r>
            <a:endParaRPr sz="22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45"/>
              </a:spcBef>
              <a:buClr>
                <a:srgbClr val="40B9D2"/>
              </a:buClr>
              <a:buFont typeface="Wingdings"/>
              <a:buChar char=""/>
              <a:tabLst>
                <a:tab pos="298450" algn="l"/>
              </a:tabLst>
            </a:pP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Implementar</a:t>
            </a:r>
            <a:r>
              <a:rPr sz="2200" i="1" spc="3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200" i="1" spc="6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producto</a:t>
            </a:r>
            <a:r>
              <a:rPr sz="2200" i="1" spc="4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diseñado</a:t>
            </a:r>
            <a:r>
              <a:rPr lang="es-MX"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.</a:t>
            </a:r>
            <a:endParaRPr sz="22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298450" indent="-285750">
              <a:lnSpc>
                <a:spcPts val="2510"/>
              </a:lnSpc>
              <a:spcBef>
                <a:spcPts val="935"/>
              </a:spcBef>
              <a:buClr>
                <a:srgbClr val="40B9D2"/>
              </a:buClr>
              <a:buFont typeface="Wingdings"/>
              <a:buChar char=""/>
              <a:tabLst>
                <a:tab pos="298450" algn="l"/>
              </a:tabLst>
            </a:pP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Efectuar</a:t>
            </a:r>
            <a:r>
              <a:rPr sz="2200" i="1" spc="8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pruebas</a:t>
            </a:r>
            <a:r>
              <a:rPr sz="2200" i="1" spc="1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200" i="1" spc="1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las</a:t>
            </a:r>
            <a:r>
              <a:rPr sz="2200" i="1" spc="12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partes</a:t>
            </a:r>
            <a:r>
              <a:rPr sz="2200" i="1" spc="10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del</a:t>
            </a:r>
            <a:r>
              <a:rPr sz="2200" i="1" spc="114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producto</a:t>
            </a:r>
            <a:endParaRPr sz="22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299085">
              <a:lnSpc>
                <a:spcPts val="2510"/>
              </a:lnSpc>
            </a:pPr>
            <a:r>
              <a:rPr lang="es-AR"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I</a:t>
            </a:r>
            <a:r>
              <a:rPr sz="2200" i="1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mplementado</a:t>
            </a:r>
            <a:r>
              <a:rPr lang="es-MX"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.</a:t>
            </a:r>
            <a:endParaRPr sz="22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297815" marR="1314450" indent="-285750">
              <a:lnSpc>
                <a:spcPts val="2380"/>
              </a:lnSpc>
              <a:spcBef>
                <a:spcPts val="1235"/>
              </a:spcBef>
              <a:buClr>
                <a:srgbClr val="40B9D2"/>
              </a:buClr>
              <a:buFont typeface="Wingdings"/>
              <a:buChar char=""/>
              <a:tabLst>
                <a:tab pos="299085" algn="l"/>
              </a:tabLst>
            </a:pPr>
            <a:r>
              <a:rPr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Integrar</a:t>
            </a:r>
            <a:r>
              <a:rPr sz="2200" i="1" spc="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las</a:t>
            </a:r>
            <a:r>
              <a:rPr sz="2200" i="1" spc="3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partes</a:t>
            </a:r>
            <a:r>
              <a:rPr sz="2200" i="1" spc="2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8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y</a:t>
            </a:r>
            <a:r>
              <a:rPr sz="2200" i="1" spc="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efectuar</a:t>
            </a:r>
            <a:r>
              <a:rPr sz="2200" i="1" spc="1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200" i="1" spc="9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testing</a:t>
            </a:r>
            <a:r>
              <a:rPr sz="2200" i="1" spc="4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-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del 	</a:t>
            </a:r>
            <a:r>
              <a:rPr sz="2200" i="1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producto</a:t>
            </a:r>
            <a:r>
              <a:rPr sz="2200" i="1" spc="7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implementado</a:t>
            </a:r>
            <a:r>
              <a:rPr lang="es-MX"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.</a:t>
            </a:r>
            <a:endParaRPr sz="22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894"/>
              </a:spcBef>
              <a:buClr>
                <a:srgbClr val="40B9D2"/>
              </a:buClr>
              <a:buFont typeface="Wingdings"/>
              <a:buChar char=""/>
              <a:tabLst>
                <a:tab pos="298450" algn="l"/>
              </a:tabLst>
            </a:pP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Mantener</a:t>
            </a:r>
            <a:r>
              <a:rPr sz="2200" i="1" spc="9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200" i="1" spc="114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i="1" spc="-1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producto</a:t>
            </a:r>
            <a:r>
              <a:rPr lang="es-MX" sz="2200" i="1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.</a:t>
            </a:r>
            <a:endParaRPr sz="22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83634" y="772109"/>
            <a:ext cx="482473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100"/>
              </a:spcBef>
            </a:pPr>
            <a:r>
              <a:rPr spc="80" dirty="0">
                <a:solidFill>
                  <a:schemeClr val="tx1"/>
                </a:solidFill>
              </a:rPr>
              <a:t>Actividades</a:t>
            </a:r>
            <a:r>
              <a:rPr spc="160" dirty="0">
                <a:solidFill>
                  <a:schemeClr val="tx1"/>
                </a:solidFill>
              </a:rPr>
              <a:t> </a:t>
            </a:r>
            <a:r>
              <a:rPr spc="80" dirty="0">
                <a:solidFill>
                  <a:schemeClr val="tx1"/>
                </a:solidFill>
              </a:rPr>
              <a:t>Básicas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628976-4B44-2187-254E-3480B460B8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9</a:t>
            </a:fld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112" y="842481"/>
            <a:ext cx="3422842" cy="4444807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3500" dirty="0">
              <a:latin typeface="Times New Roman"/>
              <a:cs typeface="Times New Roman"/>
            </a:endParaRPr>
          </a:p>
          <a:p>
            <a:pPr marL="272415" marR="801370" algn="just">
              <a:lnSpc>
                <a:spcPct val="90000"/>
              </a:lnSpc>
              <a:spcBef>
                <a:spcPts val="5"/>
              </a:spcBef>
            </a:pPr>
            <a:r>
              <a:rPr sz="3500" spc="7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Las</a:t>
            </a:r>
            <a:r>
              <a:rPr sz="3500" spc="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3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4</a:t>
            </a:r>
            <a:r>
              <a:rPr sz="3500" spc="7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3500" spc="15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</a:t>
            </a:r>
            <a:r>
              <a:rPr sz="3500" spc="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3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3500" spc="6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3500" spc="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la </a:t>
            </a:r>
            <a:r>
              <a:rPr sz="3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ingeniería</a:t>
            </a:r>
            <a:r>
              <a:rPr sz="3500" spc="-1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3500" spc="-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 </a:t>
            </a:r>
            <a:r>
              <a:rPr sz="35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Software</a:t>
            </a:r>
            <a:endParaRPr sz="3500" dirty="0">
              <a:latin typeface="Abadi" panose="020B0604020104020204" pitchFamily="34" charset="0"/>
              <a:cs typeface="Cambria"/>
            </a:endParaRPr>
          </a:p>
          <a:p>
            <a:pPr marL="960755" indent="-342265">
              <a:lnSpc>
                <a:spcPct val="100000"/>
              </a:lnSpc>
              <a:spcBef>
                <a:spcPts val="1939"/>
              </a:spcBef>
              <a:buFont typeface="Wingdings"/>
              <a:buChar char=""/>
              <a:tabLst>
                <a:tab pos="960755" algn="l"/>
              </a:tabLst>
            </a:pPr>
            <a:r>
              <a:rPr sz="2400" spc="40" dirty="0">
                <a:solidFill>
                  <a:srgbClr val="ED6F08"/>
                </a:solidFill>
                <a:latin typeface="Abadi" panose="020B0604020104020204" pitchFamily="34" charset="0"/>
                <a:cs typeface="Cambria"/>
              </a:rPr>
              <a:t>Proyecto</a:t>
            </a:r>
            <a:endParaRPr sz="2400" dirty="0">
              <a:latin typeface="Abadi" panose="020B0604020104020204" pitchFamily="34" charset="0"/>
              <a:cs typeface="Cambria"/>
            </a:endParaRPr>
          </a:p>
          <a:p>
            <a:pPr marL="960755" indent="-342265">
              <a:lnSpc>
                <a:spcPct val="100000"/>
              </a:lnSpc>
              <a:spcBef>
                <a:spcPts val="315"/>
              </a:spcBef>
              <a:buFont typeface="Wingdings"/>
              <a:buChar char=""/>
              <a:tabLst>
                <a:tab pos="960755" algn="l"/>
              </a:tabLst>
            </a:pPr>
            <a:r>
              <a:rPr sz="2400" spc="40" dirty="0">
                <a:solidFill>
                  <a:srgbClr val="ED6F08"/>
                </a:solidFill>
                <a:latin typeface="Abadi" panose="020B0604020104020204" pitchFamily="34" charset="0"/>
                <a:cs typeface="Cambria"/>
              </a:rPr>
              <a:t>Producto</a:t>
            </a:r>
            <a:endParaRPr sz="2400" dirty="0">
              <a:latin typeface="Abadi" panose="020B0604020104020204" pitchFamily="34" charset="0"/>
              <a:cs typeface="Cambria"/>
            </a:endParaRPr>
          </a:p>
          <a:p>
            <a:pPr marL="960755" indent="-342265">
              <a:lnSpc>
                <a:spcPct val="100000"/>
              </a:lnSpc>
              <a:spcBef>
                <a:spcPts val="310"/>
              </a:spcBef>
              <a:buFont typeface="Wingdings"/>
              <a:buChar char=""/>
              <a:tabLst>
                <a:tab pos="960755" algn="l"/>
              </a:tabLst>
            </a:pPr>
            <a:r>
              <a:rPr sz="2400" spc="45" dirty="0">
                <a:solidFill>
                  <a:srgbClr val="ED6F08"/>
                </a:solidFill>
                <a:latin typeface="Abadi" panose="020B0604020104020204" pitchFamily="34" charset="0"/>
                <a:cs typeface="Cambria"/>
              </a:rPr>
              <a:t>Proceso</a:t>
            </a:r>
            <a:endParaRPr sz="2400" dirty="0">
              <a:latin typeface="Abadi" panose="020B0604020104020204" pitchFamily="34" charset="0"/>
              <a:cs typeface="Cambria"/>
            </a:endParaRPr>
          </a:p>
          <a:p>
            <a:pPr marL="960755" indent="-342265">
              <a:lnSpc>
                <a:spcPct val="100000"/>
              </a:lnSpc>
              <a:spcBef>
                <a:spcPts val="315"/>
              </a:spcBef>
              <a:buFont typeface="Wingdings"/>
              <a:buChar char=""/>
              <a:tabLst>
                <a:tab pos="960755" algn="l"/>
              </a:tabLst>
            </a:pPr>
            <a:r>
              <a:rPr sz="2400" spc="-10" dirty="0">
                <a:solidFill>
                  <a:srgbClr val="ED6F08"/>
                </a:solidFill>
                <a:latin typeface="Abadi" panose="020B0604020104020204" pitchFamily="34" charset="0"/>
                <a:cs typeface="Cambria"/>
              </a:rPr>
              <a:t>Personas</a:t>
            </a:r>
            <a:endParaRPr sz="2400" dirty="0">
              <a:latin typeface="Abadi" panose="020B0604020104020204" pitchFamily="34" charset="0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9935" y="976883"/>
            <a:ext cx="7491983" cy="488746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86F26B-6C52-F897-0309-2B41542C56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10</a:t>
            </a:fld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ABCC26D-9187-2B97-0A29-C7E871743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fontScale="90000"/>
          </a:bodyPr>
          <a:lstStyle/>
          <a:p>
            <a:r>
              <a:rPr lang="es-ES" altLang="es-AR" sz="3600" b="1" dirty="0">
                <a:solidFill>
                  <a:schemeClr val="tx1"/>
                </a:solidFill>
                <a:latin typeface="Arial" panose="020B0604020202020204" pitchFamily="34" charset="0"/>
              </a:rPr>
              <a:t>Trabajo en Equipo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0ED00D8-0E77-3304-AD12-CC29433A37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1191" y="1747319"/>
            <a:ext cx="11362099" cy="474401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lnSpcReduction="10000"/>
          </a:bodyPr>
          <a:lstStyle/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¿De quién es el trabajo?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Esta es la historia acerca de cuatro personas llamadas TODOS, ALGUIEN, CUALQUIERA y NADIE.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“Había que cumplir una tarea muy importante, y se le ordenó a TODOS hacerla. 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TODOS estaban seguros de que ALGUIEN lo haría, pero NADIE lo hizo. ALGUIEN se enojó, porque era un trabajo de TODOS. 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TODOS pensaron que CUALQUIERA pudo haberlo hecho, pero NADIE se dio cuenta de que TODOS no lo iban a hacer. </a:t>
            </a:r>
          </a:p>
          <a:p>
            <a:pPr marL="0" indent="0" algn="ctr" defTabSz="739775">
              <a:buNone/>
              <a:tabLst>
                <a:tab pos="6921500" algn="l"/>
                <a:tab pos="7091363" algn="l"/>
              </a:tabLst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 fin, TODOS acusaron a ALGUIEN cuando NADIE hizo lo que CUALQUIERA pudo haberlo hecho”.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8755CE2-F2D4-746C-3D68-4816B22D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9C41516-2E49-C42E-4CAC-635BC0457F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1400" y="536738"/>
            <a:ext cx="9793320" cy="852488"/>
          </a:xfrm>
        </p:spPr>
        <p:txBody>
          <a:bodyPr>
            <a:normAutofit/>
          </a:bodyPr>
          <a:lstStyle/>
          <a:p>
            <a:r>
              <a:rPr lang="es-ES" altLang="es-AR" sz="3200" dirty="0">
                <a:solidFill>
                  <a:schemeClr val="tx1"/>
                </a:solidFill>
              </a:rPr>
              <a:t>Conceptos sobre gestión de proyectos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B8E2AF6C-9BAE-1B1F-9058-919E60285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44419"/>
            <a:ext cx="11026065" cy="459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SzPct val="65000"/>
              <a:buFont typeface="Wingdings" panose="05000000000000000000" pitchFamily="2" charset="2"/>
              <a:buNone/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 gestión eficaz de un proyecto de software se centra en las Cuatro  “PES”:</a:t>
            </a:r>
          </a:p>
          <a:p>
            <a:pPr>
              <a:buSzPct val="65000"/>
              <a:buFont typeface="Wingdings" panose="05000000000000000000" pitchFamily="2" charset="2"/>
              <a:buChar char="n"/>
            </a:pPr>
            <a:endParaRPr lang="es-ES" altLang="es-AR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buSzPct val="65000"/>
              <a:buFont typeface="Wingdings" panose="05000000000000000000" pitchFamily="2" charset="2"/>
              <a:buChar char="n"/>
            </a:pPr>
            <a:endParaRPr lang="es-ES" altLang="es-AR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lvl="1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Personal.</a:t>
            </a:r>
          </a:p>
          <a:p>
            <a:pPr lvl="1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Producto.</a:t>
            </a:r>
          </a:p>
          <a:p>
            <a:pPr lvl="1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Problema.</a:t>
            </a:r>
          </a:p>
          <a:p>
            <a:pPr lvl="1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Proceso.</a:t>
            </a:r>
          </a:p>
          <a:p>
            <a:pPr>
              <a:buSzPct val="65000"/>
              <a:buFont typeface="Wingdings" panose="05000000000000000000" pitchFamily="2" charset="2"/>
              <a:buChar char="n"/>
            </a:pPr>
            <a:endParaRPr lang="es-ES" altLang="es-AR" dirty="0">
              <a:solidFill>
                <a:schemeClr val="tx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C1A8F24-2AD2-375E-86C4-91CDF30A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B5EB7-AAA6-5842-4108-0AB27176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4824730" cy="492443"/>
          </a:xfrm>
        </p:spPr>
        <p:txBody>
          <a:bodyPr/>
          <a:lstStyle/>
          <a:p>
            <a:r>
              <a:rPr lang="es-ES" altLang="es-AR" sz="3200" dirty="0">
                <a:solidFill>
                  <a:schemeClr val="tx1"/>
                </a:solidFill>
              </a:rPr>
              <a:t>Las Cuatro  “PES”:</a:t>
            </a:r>
            <a:endParaRPr lang="es-AR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1B17323-3D19-1279-F8C5-81013CE956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13</a:t>
            </a:fld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8574304-6BCC-6B28-0656-29B8F9AEDFC2}"/>
              </a:ext>
            </a:extLst>
          </p:cNvPr>
          <p:cNvSpPr txBox="1"/>
          <p:nvPr/>
        </p:nvSpPr>
        <p:spPr>
          <a:xfrm>
            <a:off x="381000" y="2514600"/>
            <a:ext cx="6097712" cy="2530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MX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Personal: equipo</a:t>
            </a:r>
          </a:p>
          <a:p>
            <a:pPr marL="285750" lvl="1" indent="-285750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MX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Producto: software</a:t>
            </a:r>
          </a:p>
          <a:p>
            <a:pPr marL="285750" lvl="1" indent="-285750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MX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Problema: necesidad</a:t>
            </a:r>
          </a:p>
          <a:p>
            <a:pPr marL="285750" lvl="1" indent="-285750">
              <a:lnSpc>
                <a:spcPct val="145000"/>
              </a:lnSpc>
              <a:buSzPct val="65000"/>
              <a:buFont typeface="Wingdings" panose="05000000000000000000" pitchFamily="2" charset="2"/>
              <a:buChar char="n"/>
            </a:pPr>
            <a:r>
              <a:rPr lang="es-MX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Proceso: metodología</a:t>
            </a:r>
          </a:p>
        </p:txBody>
      </p:sp>
    </p:spTree>
    <p:extLst>
      <p:ext uri="{BB962C8B-B14F-4D97-AF65-F5344CB8AC3E}">
        <p14:creationId xmlns:p14="http://schemas.microsoft.com/office/powerpoint/2010/main" val="3477194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4997" y="437134"/>
            <a:ext cx="72599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Interesados</a:t>
            </a:r>
            <a:r>
              <a:rPr sz="4800" spc="225" dirty="0"/>
              <a:t> </a:t>
            </a:r>
            <a:r>
              <a:rPr sz="4800" spc="125" dirty="0"/>
              <a:t>o</a:t>
            </a:r>
            <a:r>
              <a:rPr sz="4800" spc="235" dirty="0"/>
              <a:t> </a:t>
            </a:r>
            <a:r>
              <a:rPr sz="4800" spc="-10" dirty="0"/>
              <a:t>Stakeholders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41198" y="1493900"/>
            <a:ext cx="3014345" cy="30511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933575" algn="just">
              <a:lnSpc>
                <a:spcPct val="100400"/>
              </a:lnSpc>
              <a:spcBef>
                <a:spcPts val="85"/>
              </a:spcBef>
              <a:tabLst>
                <a:tab pos="2854960" algn="l"/>
              </a:tabLst>
            </a:pP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es</a:t>
            </a:r>
            <a:r>
              <a:rPr sz="2200" spc="525" dirty="0">
                <a:solidFill>
                  <a:srgbClr val="FFFFFF"/>
                </a:solidFill>
                <a:latin typeface="Corbel"/>
                <a:cs typeface="Corbel"/>
              </a:rPr>
              <a:t>   </a:t>
            </a:r>
            <a:r>
              <a:rPr sz="2200" spc="-25" dirty="0">
                <a:solidFill>
                  <a:srgbClr val="FFFFFF"/>
                </a:solidFill>
                <a:latin typeface="Corbel"/>
                <a:cs typeface="Corbel"/>
              </a:rPr>
              <a:t>una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palabra</a:t>
            </a:r>
            <a:r>
              <a:rPr sz="2200" spc="1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del</a:t>
            </a:r>
            <a:r>
              <a:rPr sz="2200" spc="1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inglés</a:t>
            </a:r>
            <a:r>
              <a:rPr sz="2200" spc="1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que,</a:t>
            </a:r>
            <a:r>
              <a:rPr sz="2200" spc="1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orbel"/>
                <a:cs typeface="Corbel"/>
              </a:rPr>
              <a:t>en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el</a:t>
            </a:r>
            <a:r>
              <a:rPr sz="2200" spc="545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ámbito</a:t>
            </a:r>
            <a:r>
              <a:rPr sz="2200" spc="225" dirty="0">
                <a:solidFill>
                  <a:srgbClr val="FFFFFF"/>
                </a:solidFill>
                <a:latin typeface="Corbel"/>
                <a:cs typeface="Corbel"/>
              </a:rPr>
              <a:t>   </a:t>
            </a:r>
            <a:r>
              <a:rPr sz="2200" spc="-10" dirty="0">
                <a:solidFill>
                  <a:srgbClr val="FFFFFF"/>
                </a:solidFill>
                <a:latin typeface="Corbel"/>
                <a:cs typeface="Corbel"/>
              </a:rPr>
              <a:t>empresarial,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significa</a:t>
            </a:r>
            <a:r>
              <a:rPr sz="2200" spc="225" dirty="0">
                <a:solidFill>
                  <a:srgbClr val="FFFFFF"/>
                </a:solidFill>
                <a:latin typeface="Corbel"/>
                <a:cs typeface="Corbel"/>
              </a:rPr>
              <a:t>  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‘interesado’</a:t>
            </a:r>
            <a:r>
              <a:rPr sz="2200" spc="229" dirty="0">
                <a:solidFill>
                  <a:srgbClr val="FFFFFF"/>
                </a:solidFill>
                <a:latin typeface="Corbel"/>
                <a:cs typeface="Corbel"/>
              </a:rPr>
              <a:t>   </a:t>
            </a:r>
            <a:r>
              <a:rPr sz="2200" spc="-50" dirty="0">
                <a:solidFill>
                  <a:srgbClr val="FFFFFF"/>
                </a:solidFill>
                <a:latin typeface="Corbel"/>
                <a:cs typeface="Corbel"/>
              </a:rPr>
              <a:t>o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‘parte</a:t>
            </a:r>
            <a:r>
              <a:rPr sz="2200" spc="55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interesada’,</a:t>
            </a:r>
            <a:r>
              <a:rPr sz="2200" spc="60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2200" spc="55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2200" spc="-25" dirty="0">
                <a:solidFill>
                  <a:srgbClr val="FFFFFF"/>
                </a:solidFill>
                <a:latin typeface="Corbel"/>
                <a:cs typeface="Corbel"/>
              </a:rPr>
              <a:t>que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se</a:t>
            </a:r>
            <a:r>
              <a:rPr sz="2200" spc="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refiere</a:t>
            </a:r>
            <a:r>
              <a:rPr sz="2200" spc="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2200" spc="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todas</a:t>
            </a:r>
            <a:r>
              <a:rPr sz="2200" spc="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orbel"/>
                <a:cs typeface="Corbel"/>
              </a:rPr>
              <a:t>aquellas personas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	</a:t>
            </a:r>
            <a:r>
              <a:rPr sz="2200" spc="-50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endParaRPr sz="2200" dirty="0">
              <a:latin typeface="Corbel"/>
              <a:cs typeface="Corbel"/>
            </a:endParaRPr>
          </a:p>
          <a:p>
            <a:pPr marL="12700" marR="5715" algn="just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organizaciones</a:t>
            </a:r>
            <a:r>
              <a:rPr sz="2200" spc="4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orbel"/>
                <a:cs typeface="Corbel"/>
              </a:rPr>
              <a:t>afectadas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por</a:t>
            </a:r>
            <a:r>
              <a:rPr sz="2200" spc="60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las</a:t>
            </a:r>
            <a:r>
              <a:rPr sz="2200" spc="60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actividades</a:t>
            </a:r>
            <a:r>
              <a:rPr sz="2200" spc="65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2200" spc="65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2200" spc="-25" dirty="0">
                <a:solidFill>
                  <a:srgbClr val="FFFFFF"/>
                </a:solidFill>
                <a:latin typeface="Corbel"/>
                <a:cs typeface="Corbel"/>
              </a:rPr>
              <a:t>las</a:t>
            </a:r>
            <a:endParaRPr sz="2200" dirty="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621" y="4519371"/>
            <a:ext cx="1715135" cy="118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821690" algn="l"/>
              </a:tabLst>
            </a:pPr>
            <a:r>
              <a:rPr sz="2200" spc="-25" dirty="0">
                <a:solidFill>
                  <a:srgbClr val="FFFFFF"/>
                </a:solidFill>
                <a:latin typeface="Corbel"/>
                <a:cs typeface="Corbel"/>
              </a:rPr>
              <a:t>de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Corbel"/>
                <a:cs typeface="Corbel"/>
              </a:rPr>
              <a:t>una</a:t>
            </a:r>
            <a:endParaRPr sz="22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200">
              <a:latin typeface="Corbel"/>
              <a:cs typeface="Corbel"/>
            </a:endParaRPr>
          </a:p>
          <a:p>
            <a:pPr marR="5715" algn="r">
              <a:lnSpc>
                <a:spcPct val="100000"/>
              </a:lnSpc>
              <a:tabLst>
                <a:tab pos="1551305" algn="l"/>
              </a:tabLst>
            </a:pPr>
            <a:r>
              <a:rPr sz="2200" spc="-10" dirty="0">
                <a:solidFill>
                  <a:srgbClr val="FFFFFF"/>
                </a:solidFill>
                <a:latin typeface="Corbel"/>
                <a:cs typeface="Corbel"/>
              </a:rPr>
              <a:t>también</a:t>
            </a:r>
            <a:r>
              <a:rPr sz="2200" dirty="0">
                <a:solidFill>
                  <a:srgbClr val="FFFFFF"/>
                </a:solidFill>
                <a:latin typeface="Corbel"/>
                <a:cs typeface="Corbel"/>
              </a:rPr>
              <a:t>	</a:t>
            </a:r>
            <a:r>
              <a:rPr sz="2200" spc="-50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endParaRPr sz="22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198" y="4519371"/>
            <a:ext cx="1254760" cy="1518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Corbel"/>
                <a:cs typeface="Corbel"/>
              </a:rPr>
              <a:t>decisiones</a:t>
            </a:r>
            <a:endParaRPr sz="22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solidFill>
                  <a:srgbClr val="FFFFFF"/>
                </a:solidFill>
                <a:latin typeface="Corbel"/>
                <a:cs typeface="Corbel"/>
              </a:rPr>
              <a:t>empresa.</a:t>
            </a:r>
            <a:endParaRPr sz="2200">
              <a:latin typeface="Corbel"/>
              <a:cs typeface="Corbe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200" spc="-10" dirty="0">
                <a:solidFill>
                  <a:srgbClr val="FFFFFF"/>
                </a:solidFill>
                <a:latin typeface="Corbel"/>
                <a:cs typeface="Corbel"/>
              </a:rPr>
              <a:t>Aplica Proyectos.</a:t>
            </a:r>
            <a:endParaRPr sz="22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198" y="684297"/>
            <a:ext cx="1819275" cy="117538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35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Personas</a:t>
            </a:r>
            <a:endParaRPr sz="3500" dirty="0">
              <a:latin typeface="Abadi" panose="020B0604020104020204" pitchFamily="34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b="1" i="1" spc="-10" dirty="0">
                <a:solidFill>
                  <a:srgbClr val="FFFFFF"/>
                </a:solidFill>
                <a:latin typeface="Corbel"/>
                <a:cs typeface="Corbel"/>
              </a:rPr>
              <a:t>Stakeholder</a:t>
            </a:r>
            <a:endParaRPr sz="2400" dirty="0">
              <a:latin typeface="Corbel"/>
              <a:cs typeface="Corbe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7826" y="1565004"/>
            <a:ext cx="6973271" cy="4648027"/>
          </a:xfrm>
          <a:prstGeom prst="rect">
            <a:avLst/>
          </a:prstGeom>
        </p:spPr>
      </p:pic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EFD9C992-0ADE-DC59-3140-03E2D1486F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14</a:t>
            </a:fld>
            <a:endParaRPr lang="es-A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724" y="863295"/>
            <a:ext cx="175323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10" dirty="0">
                <a:solidFill>
                  <a:srgbClr val="FFFFFF"/>
                </a:solidFill>
              </a:rPr>
              <a:t>Proyecto</a:t>
            </a:r>
            <a:endParaRPr sz="35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8236" y="1007626"/>
            <a:ext cx="7212787" cy="5082277"/>
          </a:xfrm>
          <a:prstGeom prst="rect">
            <a:avLst/>
          </a:prstGeom>
        </p:spPr>
      </p:pic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3E1C15E-6FBE-DC6B-7CB2-9810A0FFE5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15</a:t>
            </a:fld>
            <a:endParaRPr lang="es-AR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34B1025-2DA4-AD34-F66F-60F6051D1A11}"/>
              </a:ext>
            </a:extLst>
          </p:cNvPr>
          <p:cNvSpPr txBox="1"/>
          <p:nvPr/>
        </p:nvSpPr>
        <p:spPr>
          <a:xfrm>
            <a:off x="24866" y="1905000"/>
            <a:ext cx="332793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/>
              <a:t>Secuencia de actividades orientadas a producir una aplicación:</a:t>
            </a:r>
          </a:p>
          <a:p>
            <a:endParaRPr lang="es-MX" sz="1400" dirty="0"/>
          </a:p>
          <a:p>
            <a:r>
              <a:rPr lang="es-MX" sz="1400" dirty="0"/>
              <a:t>• Identificar el Proyecto.</a:t>
            </a:r>
          </a:p>
          <a:p>
            <a:r>
              <a:rPr lang="es-MX" sz="1400" dirty="0"/>
              <a:t>• Adaptar un Sistema heredado.</a:t>
            </a:r>
          </a:p>
          <a:p>
            <a:r>
              <a:rPr lang="es-MX" sz="1400" dirty="0"/>
              <a:t>• Ampliar funciones o características de una aplicación existente.</a:t>
            </a:r>
          </a:p>
          <a:p>
            <a:r>
              <a:rPr lang="es-MX" sz="1400" dirty="0"/>
              <a:t>• Crear un producto, servicio o Sistema nuevo.</a:t>
            </a:r>
          </a:p>
          <a:p>
            <a:r>
              <a:rPr lang="es-MX" sz="1400" dirty="0"/>
              <a:t>• Tiempos/Fechas.</a:t>
            </a:r>
          </a:p>
          <a:p>
            <a:r>
              <a:rPr lang="es-MX" sz="1400" dirty="0"/>
              <a:t>• Recursos/Roles.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321" y="926719"/>
            <a:ext cx="180213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10" dirty="0">
                <a:solidFill>
                  <a:srgbClr val="FFFFFF"/>
                </a:solidFill>
              </a:rPr>
              <a:t>Producto</a:t>
            </a:r>
            <a:endParaRPr sz="3500" dirty="0"/>
          </a:p>
        </p:txBody>
      </p:sp>
      <p:sp>
        <p:nvSpPr>
          <p:cNvPr id="3" name="object 3"/>
          <p:cNvSpPr txBox="1"/>
          <p:nvPr/>
        </p:nvSpPr>
        <p:spPr>
          <a:xfrm>
            <a:off x="163778" y="1661287"/>
            <a:ext cx="3265221" cy="3825021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132715">
              <a:lnSpc>
                <a:spcPts val="2160"/>
              </a:lnSpc>
              <a:spcBef>
                <a:spcPts val="375"/>
              </a:spcBef>
            </a:pPr>
            <a:r>
              <a:rPr b="1" i="1" dirty="0">
                <a:solidFill>
                  <a:schemeClr val="tx1"/>
                </a:solidFill>
                <a:latin typeface="Corbel"/>
                <a:cs typeface="Corbel"/>
              </a:rPr>
              <a:t>Son</a:t>
            </a:r>
            <a:r>
              <a:rPr b="1" i="1" spc="-4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b="1" i="1" dirty="0">
                <a:solidFill>
                  <a:schemeClr val="tx1"/>
                </a:solidFill>
                <a:latin typeface="Corbel"/>
                <a:cs typeface="Corbel"/>
              </a:rPr>
              <a:t>los</a:t>
            </a:r>
            <a:r>
              <a:rPr b="1" i="1" spc="-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b="1" i="1" dirty="0">
                <a:solidFill>
                  <a:schemeClr val="tx1"/>
                </a:solidFill>
                <a:latin typeface="Corbel"/>
                <a:cs typeface="Corbel"/>
              </a:rPr>
              <a:t>artefactos</a:t>
            </a:r>
            <a:r>
              <a:rPr b="1" i="1" spc="-4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b="1" i="1" spc="-10" dirty="0">
                <a:solidFill>
                  <a:schemeClr val="tx1"/>
                </a:solidFill>
                <a:latin typeface="Corbel"/>
                <a:cs typeface="Corbel"/>
              </a:rPr>
              <a:t>diseñados </a:t>
            </a:r>
            <a:r>
              <a:rPr b="1" i="1" dirty="0">
                <a:solidFill>
                  <a:schemeClr val="tx1"/>
                </a:solidFill>
                <a:latin typeface="Corbel"/>
                <a:cs typeface="Corbel"/>
              </a:rPr>
              <a:t>a</a:t>
            </a:r>
            <a:r>
              <a:rPr b="1" i="1" spc="-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b="1" i="1" dirty="0">
                <a:solidFill>
                  <a:schemeClr val="tx1"/>
                </a:solidFill>
                <a:latin typeface="Corbel"/>
                <a:cs typeface="Corbel"/>
              </a:rPr>
              <a:t>lo</a:t>
            </a:r>
            <a:r>
              <a:rPr b="1" i="1" spc="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b="1" i="1" dirty="0">
                <a:solidFill>
                  <a:schemeClr val="tx1"/>
                </a:solidFill>
                <a:latin typeface="Corbel"/>
                <a:cs typeface="Corbel"/>
              </a:rPr>
              <a:t>largo</a:t>
            </a:r>
            <a:r>
              <a:rPr b="1" i="1" spc="-1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b="1" i="1" dirty="0">
                <a:solidFill>
                  <a:schemeClr val="tx1"/>
                </a:solidFill>
                <a:latin typeface="Corbel"/>
                <a:cs typeface="Corbel"/>
              </a:rPr>
              <a:t>del</a:t>
            </a:r>
            <a:r>
              <a:rPr b="1" i="1" spc="-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b="1" i="1" spc="-10" dirty="0">
                <a:solidFill>
                  <a:schemeClr val="tx1"/>
                </a:solidFill>
                <a:latin typeface="Corbel"/>
                <a:cs typeface="Corbel"/>
              </a:rPr>
              <a:t>proyecto, </a:t>
            </a:r>
            <a:r>
              <a:rPr b="1" i="1" dirty="0">
                <a:solidFill>
                  <a:schemeClr val="tx1"/>
                </a:solidFill>
                <a:latin typeface="Corbel"/>
                <a:cs typeface="Corbel"/>
              </a:rPr>
              <a:t>Incluyen</a:t>
            </a:r>
            <a:r>
              <a:rPr b="1" i="1" spc="-1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b="1" i="1" spc="-25" dirty="0">
                <a:solidFill>
                  <a:schemeClr val="tx1"/>
                </a:solidFill>
                <a:latin typeface="Corbel"/>
                <a:cs typeface="Corbel"/>
              </a:rPr>
              <a:t>a:</a:t>
            </a:r>
            <a:endParaRPr dirty="0">
              <a:solidFill>
                <a:schemeClr val="tx1"/>
              </a:solidFill>
              <a:latin typeface="Corbel"/>
              <a:cs typeface="Corbel"/>
            </a:endParaRPr>
          </a:p>
          <a:p>
            <a:pPr marL="12700" marR="5080" indent="271780">
              <a:lnSpc>
                <a:spcPts val="2160"/>
              </a:lnSpc>
              <a:spcBef>
                <a:spcPts val="650"/>
              </a:spcBef>
              <a:buSzPct val="95000"/>
              <a:buChar char="•"/>
              <a:tabLst>
                <a:tab pos="284480" algn="l"/>
              </a:tabLst>
            </a:pPr>
            <a:r>
              <a:rPr spc="60" dirty="0" err="1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Especificación</a:t>
            </a:r>
            <a:r>
              <a:rPr spc="7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pc="-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 </a:t>
            </a: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Requerimientos</a:t>
            </a:r>
            <a:r>
              <a:rPr spc="3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pc="3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software</a:t>
            </a:r>
            <a:endParaRPr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283845" indent="-118745">
              <a:lnSpc>
                <a:spcPct val="100000"/>
              </a:lnSpc>
              <a:spcBef>
                <a:spcPts val="330"/>
              </a:spcBef>
              <a:buSzPct val="95000"/>
              <a:buChar char="•"/>
              <a:tabLst>
                <a:tab pos="283845" algn="l"/>
              </a:tabLst>
            </a:pP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Arquitectura</a:t>
            </a:r>
            <a:r>
              <a:rPr spc="35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pc="3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Software</a:t>
            </a:r>
            <a:endParaRPr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283845" indent="-118745">
              <a:lnSpc>
                <a:spcPct val="100000"/>
              </a:lnSpc>
              <a:spcBef>
                <a:spcPts val="355"/>
              </a:spcBef>
              <a:buSzPct val="95000"/>
              <a:buChar char="•"/>
              <a:tabLst>
                <a:tab pos="283845" algn="l"/>
              </a:tabLst>
            </a:pPr>
            <a:r>
              <a:rPr spc="7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Modelos</a:t>
            </a:r>
            <a:r>
              <a:rPr spc="1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pc="14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pc="4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Diseño</a:t>
            </a:r>
            <a:endParaRPr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12700" marR="1104265" indent="182880">
              <a:lnSpc>
                <a:spcPts val="2160"/>
              </a:lnSpc>
              <a:spcBef>
                <a:spcPts val="635"/>
              </a:spcBef>
            </a:pP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•Código</a:t>
            </a:r>
            <a:r>
              <a:rPr spc="31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Fuente</a:t>
            </a:r>
            <a:r>
              <a:rPr spc="37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pc="-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- </a:t>
            </a:r>
            <a:r>
              <a:rPr spc="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Componentes</a:t>
            </a:r>
            <a:endParaRPr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194945">
              <a:lnSpc>
                <a:spcPct val="100000"/>
              </a:lnSpc>
              <a:spcBef>
                <a:spcPts val="330"/>
              </a:spcBef>
            </a:pP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•Casos</a:t>
            </a:r>
            <a:r>
              <a:rPr spc="23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pc="24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prueba</a:t>
            </a:r>
            <a:endParaRPr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285115" indent="-119380">
              <a:lnSpc>
                <a:spcPct val="100000"/>
              </a:lnSpc>
              <a:spcBef>
                <a:spcPts val="360"/>
              </a:spcBef>
              <a:buSzPct val="95000"/>
              <a:buChar char="•"/>
              <a:tabLst>
                <a:tab pos="285115" algn="l"/>
              </a:tabLst>
            </a:pPr>
            <a:r>
              <a:rPr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Test</a:t>
            </a:r>
            <a:r>
              <a:rPr spc="1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automatizados</a:t>
            </a:r>
            <a:endParaRPr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  <a:p>
            <a:pPr marL="12700" marR="767080" indent="271780">
              <a:lnSpc>
                <a:spcPts val="2160"/>
              </a:lnSpc>
              <a:spcBef>
                <a:spcPts val="635"/>
              </a:spcBef>
              <a:buSzPct val="95000"/>
              <a:buChar char="•"/>
              <a:tabLst>
                <a:tab pos="284480" algn="l"/>
              </a:tabLst>
            </a:pPr>
            <a:r>
              <a:rPr spc="6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Documentación</a:t>
            </a:r>
            <a:r>
              <a:rPr spc="1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pc="-25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 </a:t>
            </a:r>
            <a:r>
              <a:rPr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gestión</a:t>
            </a:r>
            <a:endParaRPr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9520" y="758951"/>
            <a:ext cx="7772400" cy="5330952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703947-C99F-A2FF-8D77-47B6DB1877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16</a:t>
            </a:fld>
            <a:endParaRPr lang="es-A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B2B02B-DD40-0910-B2F7-B7F59EB093C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17</a:t>
            </a:fld>
            <a:endParaRPr lang="es-AR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1429A55-832F-8228-DE2E-1FBD5110DAD2}"/>
              </a:ext>
            </a:extLst>
          </p:cNvPr>
          <p:cNvSpPr txBox="1">
            <a:spLocks/>
          </p:cNvSpPr>
          <p:nvPr/>
        </p:nvSpPr>
        <p:spPr>
          <a:xfrm>
            <a:off x="6849" y="685800"/>
            <a:ext cx="180213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000" b="0" i="0">
                <a:solidFill>
                  <a:srgbClr val="006FC0"/>
                </a:solidFill>
                <a:latin typeface="Abadi" panose="020B0604020104020204" pitchFamily="34" charset="0"/>
                <a:ea typeface="+mj-ea"/>
                <a:cs typeface="Abadi" panose="020B0604020104020204" pitchFamily="34" charset="0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s-AR" sz="3500" spc="-10" dirty="0">
                <a:solidFill>
                  <a:srgbClr val="FFFFFF"/>
                </a:solidFill>
              </a:rPr>
              <a:t>Producto</a:t>
            </a:r>
            <a:endParaRPr lang="es-AR" sz="35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4952C36-2D20-9BA6-8948-431C178CA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995032"/>
              </p:ext>
            </p:extLst>
          </p:nvPr>
        </p:nvGraphicFramePr>
        <p:xfrm>
          <a:off x="2057400" y="533400"/>
          <a:ext cx="9144000" cy="716417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2786703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365729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02870771"/>
                    </a:ext>
                  </a:extLst>
                </a:gridCol>
              </a:tblGrid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/>
                        <a:t>Estructura técnica</a:t>
                      </a: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/>
                        <a:t>Definición</a:t>
                      </a: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 dirty="0"/>
                        <a:t>Ejemplo</a:t>
                      </a: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688073"/>
                  </a:ext>
                </a:extLst>
              </a:tr>
              <a:tr h="1804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/>
                        <a:t>Arquitectura en capas (Layered)</a:t>
                      </a: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dirty="0"/>
                        <a:t>Organiza el sistema en niveles, donde cada capa cumple una función específica y utiliza los servicios de la capa inferior.</a:t>
                      </a:r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/>
                        <a:t>Un sistema bancario con capas de presentación, lógica de negocio y base de datos.</a:t>
                      </a:r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170925"/>
                  </a:ext>
                </a:extLst>
              </a:tr>
              <a:tr h="198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/>
                        <a:t>Arquitectura Cliente-Servidor</a:t>
                      </a: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dirty="0"/>
                        <a:t>Separa el sistema entre clientes que realizan solicitudes y servidores que procesan y responden a esas solicitudes.</a:t>
                      </a:r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dirty="0"/>
                        <a:t>Una aplicación web donde el navegador accede a un servidor que gestiona la información.</a:t>
                      </a:r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958621"/>
                  </a:ext>
                </a:extLst>
              </a:tr>
              <a:tr h="1354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 dirty="0"/>
                        <a:t>Arquitectura de Tres Capas</a:t>
                      </a: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dirty="0"/>
                        <a:t>Variante de la arquitectura en capas que distingue claramente la interfaz de usuario, la lógica de negocio y los datos.</a:t>
                      </a:r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/>
                        <a:t>Un sistema de gestión universitaria.</a:t>
                      </a:r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248097"/>
                  </a:ext>
                </a:extLst>
              </a:tr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869612"/>
                  </a:ext>
                </a:extLst>
              </a:tr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579384"/>
                  </a:ext>
                </a:extLst>
              </a:tr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687646"/>
                  </a:ext>
                </a:extLst>
              </a:tr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125807"/>
                  </a:ext>
                </a:extLst>
              </a:tr>
              <a:tr h="2834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07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410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0D94-CEB6-6774-B13C-4C35F516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EBE95B-E130-A6C4-8BAB-EFDBF0912D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18</a:t>
            </a:fld>
            <a:endParaRPr lang="es-AR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8B5F586-95E5-9A24-5453-0F7BAD94E0C8}"/>
              </a:ext>
            </a:extLst>
          </p:cNvPr>
          <p:cNvSpPr txBox="1">
            <a:spLocks/>
          </p:cNvSpPr>
          <p:nvPr/>
        </p:nvSpPr>
        <p:spPr>
          <a:xfrm>
            <a:off x="6849" y="685800"/>
            <a:ext cx="180213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000" b="0" i="0">
                <a:solidFill>
                  <a:srgbClr val="006FC0"/>
                </a:solidFill>
                <a:latin typeface="Abadi" panose="020B0604020104020204" pitchFamily="34" charset="0"/>
                <a:ea typeface="+mj-ea"/>
                <a:cs typeface="Abadi" panose="020B0604020104020204" pitchFamily="34" charset="0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s-AR" sz="3500" spc="-10" dirty="0">
                <a:solidFill>
                  <a:srgbClr val="FFFFFF"/>
                </a:solidFill>
              </a:rPr>
              <a:t>Producto</a:t>
            </a:r>
            <a:endParaRPr lang="es-AR" sz="35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90F3BCE-8948-A2E7-CD32-E958AF4A6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099686"/>
              </p:ext>
            </p:extLst>
          </p:nvPr>
        </p:nvGraphicFramePr>
        <p:xfrm>
          <a:off x="1981200" y="1143001"/>
          <a:ext cx="9144000" cy="6013159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2786703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365729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02870771"/>
                    </a:ext>
                  </a:extLst>
                </a:gridCol>
              </a:tblGrid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/>
                        <a:t>Estructura técnica</a:t>
                      </a: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/>
                        <a:t>Definición</a:t>
                      </a: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 dirty="0"/>
                        <a:t>Ejemplo</a:t>
                      </a: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688073"/>
                  </a:ext>
                </a:extLst>
              </a:tr>
              <a:tr h="13546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Arquitectura de Microservicios</a:t>
                      </a:r>
                      <a:endParaRPr lang="es-A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Divide la aplicación en pequeños servicios independientes que se comunican mediante APIs.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Una plataforma de comercio electrónico con servicios separados para ventas, pagos e inventario.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170925"/>
                  </a:ext>
                </a:extLst>
              </a:tr>
              <a:tr h="13546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Arquitectura Monolítica</a:t>
                      </a:r>
                      <a:endParaRPr lang="es-AR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Todos los componentes del sistema forman una única aplicación ejecutable.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 sistema de gestión de biblioteca desarrollado como una sola aplicación.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958621"/>
                  </a:ext>
                </a:extLst>
              </a:tr>
              <a:tr h="13546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pt-PT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Arquitectura Orientada a Servicios (SOA)</a:t>
                      </a:r>
                      <a:endParaRPr lang="es-AR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Integra diferentes aplicaciones mediante servicios reutilizables.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 organismo público que conecta sistemas de recursos humanos, finanzas y compras.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248097"/>
                  </a:ext>
                </a:extLst>
              </a:tr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869612"/>
                  </a:ext>
                </a:extLst>
              </a:tr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579384"/>
                  </a:ext>
                </a:extLst>
              </a:tr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687646"/>
                  </a:ext>
                </a:extLst>
              </a:tr>
              <a:tr h="2735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125807"/>
                  </a:ext>
                </a:extLst>
              </a:tr>
              <a:tr h="2834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07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267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C9859-C686-B73B-D6B9-CB7E35CD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A5DE58-692E-67FF-36F8-D3C66FC30B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19</a:t>
            </a:fld>
            <a:endParaRPr lang="es-AR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76FE4A1-A8EB-E679-AA78-2EEDCAA6F913}"/>
              </a:ext>
            </a:extLst>
          </p:cNvPr>
          <p:cNvSpPr txBox="1">
            <a:spLocks/>
          </p:cNvSpPr>
          <p:nvPr/>
        </p:nvSpPr>
        <p:spPr>
          <a:xfrm>
            <a:off x="6849" y="685800"/>
            <a:ext cx="180213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000" b="0" i="0">
                <a:solidFill>
                  <a:srgbClr val="006FC0"/>
                </a:solidFill>
                <a:latin typeface="Abadi" panose="020B0604020104020204" pitchFamily="34" charset="0"/>
                <a:ea typeface="+mj-ea"/>
                <a:cs typeface="Abadi" panose="020B0604020104020204" pitchFamily="34" charset="0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s-AR" sz="3500" spc="-10" dirty="0">
                <a:solidFill>
                  <a:srgbClr val="FFFFFF"/>
                </a:solidFill>
              </a:rPr>
              <a:t>Producto</a:t>
            </a:r>
            <a:endParaRPr lang="es-AR" sz="35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8C71F6D-9C21-F753-E724-CC3EBF76A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562040"/>
              </p:ext>
            </p:extLst>
          </p:nvPr>
        </p:nvGraphicFramePr>
        <p:xfrm>
          <a:off x="1808979" y="1261057"/>
          <a:ext cx="9544821" cy="6537684"/>
        </p:xfrm>
        <a:graphic>
          <a:graphicData uri="http://schemas.openxmlformats.org/drawingml/2006/table">
            <a:tbl>
              <a:tblPr/>
              <a:tblGrid>
                <a:gridCol w="3181607">
                  <a:extLst>
                    <a:ext uri="{9D8B030D-6E8A-4147-A177-3AD203B41FA5}">
                      <a16:colId xmlns:a16="http://schemas.microsoft.com/office/drawing/2014/main" val="2278670342"/>
                    </a:ext>
                  </a:extLst>
                </a:gridCol>
                <a:gridCol w="3181607">
                  <a:extLst>
                    <a:ext uri="{9D8B030D-6E8A-4147-A177-3AD203B41FA5}">
                      <a16:colId xmlns:a16="http://schemas.microsoft.com/office/drawing/2014/main" val="1636572998"/>
                    </a:ext>
                  </a:extLst>
                </a:gridCol>
                <a:gridCol w="3181607">
                  <a:extLst>
                    <a:ext uri="{9D8B030D-6E8A-4147-A177-3AD203B41FA5}">
                      <a16:colId xmlns:a16="http://schemas.microsoft.com/office/drawing/2014/main" val="2402870771"/>
                    </a:ext>
                  </a:extLst>
                </a:gridCol>
              </a:tblGrid>
              <a:tr h="230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/>
                        <a:t>Estructura técnica</a:t>
                      </a: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/>
                        <a:t>Definición</a:t>
                      </a: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000" b="1" dirty="0"/>
                        <a:t>Ejemplo</a:t>
                      </a: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688073"/>
                  </a:ext>
                </a:extLst>
              </a:tr>
              <a:tr h="19202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Arquitectura Basada en Eventos</a:t>
                      </a:r>
                      <a:endParaRPr lang="es-A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Los componentes se comunican mediante eventos que desencadenan acciones automáticamente.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 sistema que envía una notificación cuando un cliente realiza una compra.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170925"/>
                  </a:ext>
                </a:extLst>
              </a:tr>
              <a:tr h="15422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Arquitectura en la Nube (Cloud)</a:t>
                      </a:r>
                      <a:endParaRPr lang="es-AR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Los recursos y servicios se ejecutan en infraestructura Cloud, permitiendo escalabilidad y disponibilidad.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r>
                        <a:rPr lang="es-AR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 sistema que utiliza servidores de nube para almacenar y procesar datos de usuarios.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958621"/>
                  </a:ext>
                </a:extLst>
              </a:tr>
              <a:tr h="10122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endParaRPr lang="es-AR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endParaRPr lang="es-A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038860" algn="l"/>
                        </a:tabLst>
                      </a:pPr>
                      <a:endParaRPr lang="es-A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248097"/>
                  </a:ext>
                </a:extLst>
              </a:tr>
              <a:tr h="2304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869612"/>
                  </a:ext>
                </a:extLst>
              </a:tr>
              <a:tr h="2304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579384"/>
                  </a:ext>
                </a:extLst>
              </a:tr>
              <a:tr h="2304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687646"/>
                  </a:ext>
                </a:extLst>
              </a:tr>
              <a:tr h="2304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125807"/>
                  </a:ext>
                </a:extLst>
              </a:tr>
              <a:tr h="2304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AR" sz="2000" dirty="0"/>
                    </a:p>
                  </a:txBody>
                  <a:tcPr marL="3666" marR="3666" marT="1833" marB="1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07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424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5571" y="758951"/>
            <a:ext cx="376555" cy="5331460"/>
          </a:xfrm>
          <a:custGeom>
            <a:avLst/>
            <a:gdLst/>
            <a:ahLst/>
            <a:cxnLst/>
            <a:rect l="l" t="t" r="r" b="b"/>
            <a:pathLst>
              <a:path w="376554" h="5331460">
                <a:moveTo>
                  <a:pt x="376427" y="0"/>
                </a:moveTo>
                <a:lnTo>
                  <a:pt x="0" y="0"/>
                </a:lnTo>
                <a:lnTo>
                  <a:pt x="0" y="5330952"/>
                </a:lnTo>
                <a:lnTo>
                  <a:pt x="376427" y="5330952"/>
                </a:lnTo>
                <a:lnTo>
                  <a:pt x="376427" y="0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0" y="758951"/>
            <a:ext cx="3444240" cy="2719975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328930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2590"/>
              </a:spcBef>
            </a:pPr>
            <a:r>
              <a:rPr sz="32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Procesos</a:t>
            </a:r>
            <a:endParaRPr sz="3200" dirty="0">
              <a:latin typeface="Abadi" panose="020B0604020104020204" pitchFamily="34" charset="0"/>
              <a:cs typeface="Cambria"/>
            </a:endParaRPr>
          </a:p>
          <a:p>
            <a:pPr>
              <a:lnSpc>
                <a:spcPct val="100000"/>
              </a:lnSpc>
            </a:pPr>
            <a:endParaRPr sz="3200" dirty="0">
              <a:latin typeface="Abadi" panose="020B0604020104020204" pitchFamily="34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3200" dirty="0">
              <a:latin typeface="Abadi" panose="020B0604020104020204" pitchFamily="34" charset="0"/>
              <a:cs typeface="Cambria"/>
            </a:endParaRPr>
          </a:p>
          <a:p>
            <a:pPr marL="846455" indent="-286385">
              <a:lnSpc>
                <a:spcPct val="100000"/>
              </a:lnSpc>
              <a:buFont typeface="Wingdings"/>
              <a:buChar char=""/>
              <a:tabLst>
                <a:tab pos="846455" algn="l"/>
              </a:tabLst>
            </a:pPr>
            <a:r>
              <a:rPr sz="2500" spc="50" dirty="0">
                <a:solidFill>
                  <a:srgbClr val="ED6F08"/>
                </a:solidFill>
                <a:latin typeface="Abadi" panose="020B0604020104020204" pitchFamily="34" charset="0"/>
                <a:cs typeface="Cambria"/>
              </a:rPr>
              <a:t>Secuenciales</a:t>
            </a:r>
            <a:endParaRPr sz="2500" dirty="0">
              <a:latin typeface="Abadi" panose="020B0604020104020204" pitchFamily="34" charset="0"/>
              <a:cs typeface="Cambria"/>
            </a:endParaRPr>
          </a:p>
          <a:p>
            <a:pPr marL="846455" indent="-286385">
              <a:lnSpc>
                <a:spcPct val="100000"/>
              </a:lnSpc>
              <a:buFont typeface="Wingdings"/>
              <a:buChar char=""/>
              <a:tabLst>
                <a:tab pos="846455" algn="l"/>
              </a:tabLst>
            </a:pPr>
            <a:r>
              <a:rPr sz="2500" spc="-10" dirty="0">
                <a:solidFill>
                  <a:srgbClr val="ED6F08"/>
                </a:solidFill>
                <a:latin typeface="Abadi" panose="020B0604020104020204" pitchFamily="34" charset="0"/>
                <a:cs typeface="Cambria"/>
              </a:rPr>
              <a:t>Evolutivos</a:t>
            </a:r>
            <a:endParaRPr sz="25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9621" y="843153"/>
            <a:ext cx="7896859" cy="11144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8900"/>
              </a:lnSpc>
              <a:spcBef>
                <a:spcPts val="120"/>
              </a:spcBef>
            </a:pP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Colección</a:t>
            </a:r>
            <a:r>
              <a:rPr sz="1800" b="1" spc="105" dirty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de</a:t>
            </a:r>
            <a:r>
              <a:rPr sz="1800" b="1" spc="110" dirty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actividades</a:t>
            </a:r>
            <a:r>
              <a:rPr sz="1800" b="1" spc="105" dirty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de</a:t>
            </a:r>
            <a:r>
              <a:rPr sz="1800" b="1" spc="105" dirty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trabajo,</a:t>
            </a:r>
            <a:r>
              <a:rPr sz="1800" b="1" spc="105" dirty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acciones</a:t>
            </a:r>
            <a:r>
              <a:rPr sz="1800" b="1" spc="100" dirty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y</a:t>
            </a:r>
            <a:r>
              <a:rPr sz="1800" b="1" spc="105" dirty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tareas</a:t>
            </a:r>
            <a:r>
              <a:rPr sz="1800" b="1" spc="110" dirty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que</a:t>
            </a:r>
            <a:r>
              <a:rPr sz="1800" b="1" spc="100" dirty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sz="1800" b="1" spc="-25" dirty="0">
                <a:solidFill>
                  <a:schemeClr val="tx1"/>
                </a:solidFill>
                <a:latin typeface="Century Gothic"/>
                <a:cs typeface="Century Gothic"/>
              </a:rPr>
              <a:t>se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realizan</a:t>
            </a:r>
            <a:r>
              <a:rPr sz="1800" b="1" spc="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cuando</a:t>
            </a:r>
            <a:r>
              <a:rPr sz="1800" b="1" spc="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va</a:t>
            </a:r>
            <a:r>
              <a:rPr sz="1800" b="1" spc="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a</a:t>
            </a:r>
            <a:r>
              <a:rPr sz="1800" b="1" spc="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crearse</a:t>
            </a:r>
            <a:r>
              <a:rPr sz="1800" b="1" spc="45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un</a:t>
            </a:r>
            <a:r>
              <a:rPr sz="1800" b="1" spc="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producto</a:t>
            </a:r>
            <a:r>
              <a:rPr sz="1800" b="1" spc="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o</a:t>
            </a:r>
            <a:r>
              <a:rPr sz="1800" b="1" spc="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aplicación.</a:t>
            </a:r>
            <a:r>
              <a:rPr sz="1800" b="1" spc="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Cada</a:t>
            </a:r>
            <a:r>
              <a:rPr sz="1800" b="1" spc="35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una</a:t>
            </a:r>
            <a:r>
              <a:rPr sz="1800" b="1" spc="4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spc="-25" dirty="0">
                <a:solidFill>
                  <a:schemeClr val="tx1"/>
                </a:solidFill>
                <a:latin typeface="Century Gothic"/>
                <a:cs typeface="Century Gothic"/>
              </a:rPr>
              <a:t>de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estas</a:t>
            </a:r>
            <a:r>
              <a:rPr sz="1800" b="1" spc="445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actividades,</a:t>
            </a:r>
            <a:r>
              <a:rPr sz="1800" b="1" spc="4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acciones</a:t>
            </a:r>
            <a:r>
              <a:rPr sz="1800" b="1" spc="455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y</a:t>
            </a:r>
            <a:r>
              <a:rPr sz="1800" b="1" spc="445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tareas</a:t>
            </a:r>
            <a:r>
              <a:rPr sz="1800" b="1" spc="4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se</a:t>
            </a:r>
            <a:r>
              <a:rPr sz="1800" b="1" spc="45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encuentran</a:t>
            </a:r>
            <a:r>
              <a:rPr sz="1800" b="1" spc="445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dentro</a:t>
            </a:r>
            <a:r>
              <a:rPr sz="1800" b="1" spc="445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de</a:t>
            </a:r>
            <a:r>
              <a:rPr sz="1800" b="1" spc="434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spc="-25" dirty="0">
                <a:solidFill>
                  <a:schemeClr val="tx1"/>
                </a:solidFill>
                <a:latin typeface="Century Gothic"/>
                <a:cs typeface="Century Gothic"/>
              </a:rPr>
              <a:t>una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estructura</a:t>
            </a:r>
            <a:r>
              <a:rPr sz="1800" b="1" spc="-55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chemeClr val="tx1"/>
                </a:solidFill>
                <a:latin typeface="Century Gothic"/>
                <a:cs typeface="Century Gothic"/>
              </a:rPr>
              <a:t>o</a:t>
            </a:r>
            <a:r>
              <a:rPr sz="1800" b="1" spc="-20" dirty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chemeClr val="tx1"/>
                </a:solidFill>
                <a:latin typeface="Century Gothic"/>
                <a:cs typeface="Century Gothic"/>
              </a:rPr>
              <a:t>modelo.</a:t>
            </a:r>
            <a:endParaRPr sz="1800" b="1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b="8068"/>
          <a:stretch>
            <a:fillRect/>
          </a:stretch>
        </p:blipFill>
        <p:spPr>
          <a:xfrm>
            <a:off x="6595893" y="2962635"/>
            <a:ext cx="4800938" cy="23114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72078" y="2520823"/>
            <a:ext cx="31692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Procesos</a:t>
            </a:r>
            <a:r>
              <a:rPr sz="2500" spc="39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500" spc="35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spc="-10" dirty="0">
                <a:solidFill>
                  <a:schemeClr val="tx1"/>
                </a:solidFill>
                <a:latin typeface="Abadi" panose="020B0604020104020204" pitchFamily="34" charset="0"/>
                <a:cs typeface="Cambria"/>
              </a:rPr>
              <a:t>Software:</a:t>
            </a:r>
            <a:endParaRPr sz="2500" dirty="0">
              <a:solidFill>
                <a:schemeClr val="tx1"/>
              </a:solidFill>
              <a:latin typeface="Abadi" panose="020B0604020104020204" pitchFamily="34" charset="0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72078" y="3229736"/>
            <a:ext cx="2271522" cy="231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95"/>
              </a:spcBef>
              <a:buSzPct val="72000"/>
              <a:buChar char="•"/>
              <a:tabLst>
                <a:tab pos="160655" algn="l"/>
              </a:tabLst>
            </a:pPr>
            <a:r>
              <a:rPr sz="2500" spc="-10" dirty="0">
                <a:solidFill>
                  <a:schemeClr val="tx1"/>
                </a:solidFill>
                <a:latin typeface="Corbel"/>
                <a:cs typeface="Corbel"/>
              </a:rPr>
              <a:t>Cascada</a:t>
            </a:r>
            <a:endParaRPr sz="2500" dirty="0">
              <a:solidFill>
                <a:schemeClr val="tx1"/>
              </a:solidFill>
              <a:latin typeface="Corbel"/>
              <a:cs typeface="Corbel"/>
            </a:endParaRPr>
          </a:p>
          <a:p>
            <a:pPr marL="215900" indent="-203200">
              <a:lnSpc>
                <a:spcPct val="100000"/>
              </a:lnSpc>
              <a:buChar char="•"/>
              <a:tabLst>
                <a:tab pos="215900" algn="l"/>
              </a:tabLst>
            </a:pPr>
            <a:r>
              <a:rPr sz="2500" dirty="0">
                <a:solidFill>
                  <a:schemeClr val="tx1"/>
                </a:solidFill>
                <a:latin typeface="Corbel"/>
                <a:cs typeface="Corbel"/>
              </a:rPr>
              <a:t>Modelo</a:t>
            </a:r>
            <a:r>
              <a:rPr sz="2500" spc="-7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500" spc="-25" dirty="0">
                <a:solidFill>
                  <a:schemeClr val="tx1"/>
                </a:solidFill>
                <a:latin typeface="Corbel"/>
                <a:cs typeface="Corbel"/>
              </a:rPr>
              <a:t>en</a:t>
            </a:r>
            <a:r>
              <a:rPr sz="2500" spc="-17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500" spc="-50" dirty="0">
                <a:solidFill>
                  <a:schemeClr val="tx1"/>
                </a:solidFill>
                <a:latin typeface="Corbel"/>
                <a:cs typeface="Corbel"/>
              </a:rPr>
              <a:t>V</a:t>
            </a:r>
            <a:endParaRPr sz="2500" dirty="0">
              <a:solidFill>
                <a:schemeClr val="tx1"/>
              </a:solidFill>
              <a:latin typeface="Corbel"/>
              <a:cs typeface="Corbel"/>
            </a:endParaRPr>
          </a:p>
          <a:p>
            <a:pPr marL="215900" indent="-203200">
              <a:lnSpc>
                <a:spcPct val="100000"/>
              </a:lnSpc>
              <a:buChar char="•"/>
              <a:tabLst>
                <a:tab pos="215900" algn="l"/>
              </a:tabLst>
            </a:pPr>
            <a:r>
              <a:rPr sz="2500" spc="-10" dirty="0">
                <a:solidFill>
                  <a:schemeClr val="tx1"/>
                </a:solidFill>
                <a:latin typeface="Corbel"/>
                <a:cs typeface="Corbel"/>
              </a:rPr>
              <a:t>Incremental</a:t>
            </a:r>
            <a:endParaRPr sz="2500" dirty="0">
              <a:solidFill>
                <a:schemeClr val="tx1"/>
              </a:solidFill>
              <a:latin typeface="Corbel"/>
              <a:cs typeface="Corbel"/>
            </a:endParaRPr>
          </a:p>
          <a:p>
            <a:pPr marL="215900" indent="-203200">
              <a:lnSpc>
                <a:spcPct val="100000"/>
              </a:lnSpc>
              <a:spcBef>
                <a:spcPts val="5"/>
              </a:spcBef>
              <a:buChar char="•"/>
              <a:tabLst>
                <a:tab pos="215900" algn="l"/>
              </a:tabLst>
            </a:pPr>
            <a:r>
              <a:rPr sz="2500" spc="-10" dirty="0">
                <a:solidFill>
                  <a:schemeClr val="tx1"/>
                </a:solidFill>
                <a:latin typeface="Corbel"/>
                <a:cs typeface="Corbel"/>
              </a:rPr>
              <a:t>Espiral</a:t>
            </a:r>
            <a:endParaRPr sz="2500" dirty="0">
              <a:solidFill>
                <a:schemeClr val="tx1"/>
              </a:solidFill>
              <a:latin typeface="Corbel"/>
              <a:cs typeface="Corbel"/>
            </a:endParaRPr>
          </a:p>
          <a:p>
            <a:pPr marL="207010" indent="-194310">
              <a:lnSpc>
                <a:spcPct val="100000"/>
              </a:lnSpc>
              <a:buChar char="•"/>
              <a:tabLst>
                <a:tab pos="207010" algn="l"/>
              </a:tabLst>
            </a:pPr>
            <a:r>
              <a:rPr sz="2500" spc="-10" dirty="0">
                <a:solidFill>
                  <a:schemeClr val="tx1"/>
                </a:solidFill>
                <a:latin typeface="Corbel"/>
                <a:cs typeface="Corbel"/>
              </a:rPr>
              <a:t>Unificado</a:t>
            </a:r>
            <a:endParaRPr sz="2500" dirty="0">
              <a:solidFill>
                <a:schemeClr val="tx1"/>
              </a:solidFill>
              <a:latin typeface="Corbel"/>
              <a:cs typeface="Corbel"/>
            </a:endParaRPr>
          </a:p>
          <a:p>
            <a:pPr marL="202565" indent="-189865">
              <a:lnSpc>
                <a:spcPct val="100000"/>
              </a:lnSpc>
              <a:buChar char="•"/>
              <a:tabLst>
                <a:tab pos="202565" algn="l"/>
              </a:tabLst>
            </a:pPr>
            <a:r>
              <a:rPr sz="2500" spc="-10" dirty="0">
                <a:solidFill>
                  <a:schemeClr val="tx1"/>
                </a:solidFill>
                <a:latin typeface="Corbel"/>
                <a:cs typeface="Corbel"/>
              </a:rPr>
              <a:t>Ágiles</a:t>
            </a:r>
            <a:endParaRPr sz="2500" dirty="0">
              <a:solidFill>
                <a:schemeClr val="tx1"/>
              </a:solidFill>
              <a:latin typeface="Corbel"/>
              <a:cs typeface="Corbel"/>
            </a:endParaRP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0A53D0-0F56-13D0-7403-7B3CB7499A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20</a:t>
            </a:fld>
            <a:endParaRPr lang="es-A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BB5A099-C240-2811-4746-BFC54E02C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734914"/>
            <a:ext cx="3276600" cy="1143000"/>
          </a:xfrm>
        </p:spPr>
        <p:txBody>
          <a:bodyPr>
            <a:normAutofit/>
          </a:bodyPr>
          <a:lstStyle/>
          <a:p>
            <a:pPr marL="344170" algn="ctr">
              <a:spcBef>
                <a:spcPts val="2590"/>
              </a:spcBef>
            </a:pPr>
            <a:r>
              <a:rPr lang="es-ES" altLang="es-AR" sz="3200" spc="-10" dirty="0">
                <a:solidFill>
                  <a:srgbClr val="FFFFFF"/>
                </a:solidFill>
              </a:rPr>
              <a:t>Resolución del problema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F23D1A0-C3F8-A6AE-CEF9-E8106439BC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6049" y="1844675"/>
            <a:ext cx="11280616" cy="276998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altLang="es-AR" sz="3000" dirty="0">
                <a:solidFill>
                  <a:schemeClr val="tx1"/>
                </a:solidFill>
              </a:rPr>
              <a:t>Un gestor puede diagnosticar los aspectos tecnológicos y de organización.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altLang="es-AR" sz="3000" dirty="0">
                <a:solidFill>
                  <a:schemeClr val="tx1"/>
                </a:solidFill>
              </a:rPr>
              <a:t>Estructurar una posible solución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altLang="es-AR" sz="3000" dirty="0">
                <a:solidFill>
                  <a:schemeClr val="tx1"/>
                </a:solidFill>
              </a:rPr>
              <a:t>Aplicar todo lo aprendido en proyectos anteriores.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altLang="es-AR" sz="3000" dirty="0">
                <a:solidFill>
                  <a:schemeClr val="tx1"/>
                </a:solidFill>
              </a:rPr>
              <a:t>Flexibilidad para cambiar la gestión si los intentos iniciales no dan el resultado esperado.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4940213-6C83-8265-733B-DC12254C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C6FD689-57ED-4011-F9B8-AC44861DD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914400"/>
            <a:ext cx="4824730" cy="52322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s-ES" altLang="es-AR" sz="3400" dirty="0">
                <a:solidFill>
                  <a:schemeClr val="bg1"/>
                </a:solidFill>
              </a:rPr>
              <a:t>Personal</a:t>
            </a:r>
          </a:p>
        </p:txBody>
      </p:sp>
      <p:sp>
        <p:nvSpPr>
          <p:cNvPr id="1027" name="Text Box 3">
            <a:extLst>
              <a:ext uri="{FF2B5EF4-FFF2-40B4-BE49-F238E27FC236}">
                <a16:creationId xmlns:a16="http://schemas.microsoft.com/office/drawing/2014/main" id="{E953E6B7-0AEA-5DF2-A855-ED6D15835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887" y="2134386"/>
            <a:ext cx="112987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60363" indent="-3603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39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" altLang="es-AR" sz="2800" dirty="0">
                <a:latin typeface="+mj-lt"/>
                <a:ea typeface="+mj-ea"/>
                <a:cs typeface="+mj-cs"/>
              </a:rPr>
              <a:t>Modelo de madurez de la capacidad de gestión de persona.</a:t>
            </a:r>
          </a:p>
          <a:p>
            <a:endParaRPr lang="es-ES" altLang="es-AR" sz="2800" dirty="0">
              <a:latin typeface="+mj-lt"/>
              <a:ea typeface="+mj-ea"/>
              <a:cs typeface="+mj-cs"/>
            </a:endParaRPr>
          </a:p>
          <a:p>
            <a:pPr algn="just">
              <a:buSzPct val="65000"/>
              <a:buFont typeface="Wingdings" panose="05000000000000000000" pitchFamily="2" charset="2"/>
              <a:buChar char="n"/>
            </a:pPr>
            <a:r>
              <a:rPr lang="es-ES" altLang="es-AR" sz="2800" dirty="0">
                <a:latin typeface="+mj-lt"/>
                <a:ea typeface="+mj-ea"/>
                <a:cs typeface="+mj-cs"/>
              </a:rPr>
              <a:t>Aumentar la preparación de organizaciones del software para llevar a cabo  las cada vez más      complicadas aplicaciones ayudando a atraer,        aumentar, motivar, desplegar y retener el talento  necesario para mejorar su capacidad de desarrollo   de software.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60F5165-0192-068D-0C77-16F9AF89B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 Box 4">
            <a:extLst>
              <a:ext uri="{FF2B5EF4-FFF2-40B4-BE49-F238E27FC236}">
                <a16:creationId xmlns:a16="http://schemas.microsoft.com/office/drawing/2014/main" id="{C49C158A-D3A1-3CA9-43BC-A98350CED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404151"/>
            <a:ext cx="7489825" cy="4049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65000"/>
              </a:lnSpc>
            </a:pPr>
            <a:r>
              <a:rPr lang="es-ES" altLang="es-AR" sz="3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Las organizaciones que alcanzan una gran madurez en el área de gestión de personal tienen una mayor probabilidad de implementar unas eficaces prácticas de ingeniería del software.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D9D1311-1376-CCA1-094D-CA79A5A7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8FD89B-C16E-EDD7-49B9-EC4DCAF7C7E3}"/>
              </a:ext>
            </a:extLst>
          </p:cNvPr>
          <p:cNvSpPr txBox="1"/>
          <p:nvPr/>
        </p:nvSpPr>
        <p:spPr>
          <a:xfrm>
            <a:off x="381000" y="990600"/>
            <a:ext cx="609771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AR" sz="3400" dirty="0">
                <a:solidFill>
                  <a:schemeClr val="bg1"/>
                </a:solidFill>
              </a:rPr>
              <a:t>Personal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1570FE8-2BB6-513F-C749-E7FBF58DD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990600"/>
            <a:ext cx="9829094" cy="523220"/>
          </a:xfrm>
        </p:spPr>
        <p:txBody>
          <a:bodyPr/>
          <a:lstStyle/>
          <a:p>
            <a:r>
              <a:rPr lang="es-ES" altLang="es-AR" sz="3400" dirty="0">
                <a:solidFill>
                  <a:schemeClr val="bg1"/>
                </a:solidFill>
              </a:rPr>
              <a:t>Personal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C39FFCB-D74B-F40B-CE98-FD42FA48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76600" y="1905000"/>
            <a:ext cx="8991600" cy="3016210"/>
          </a:xfrm>
        </p:spPr>
        <p:txBody>
          <a:bodyPr/>
          <a:lstStyle/>
          <a:p>
            <a:pPr marL="0" indent="0">
              <a:buNone/>
            </a:pPr>
            <a:r>
              <a:rPr lang="es-ES" altLang="es-AR" sz="2400" dirty="0">
                <a:solidFill>
                  <a:schemeClr val="tx1"/>
                </a:solidFill>
              </a:rPr>
              <a:t>¿</a:t>
            </a: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Qué es lo que buscamos cuando seleccionamos a alguien para dirigir un proyecto de SW?</a:t>
            </a:r>
          </a:p>
          <a:p>
            <a:pPr marL="828675" lvl="1">
              <a:buClr>
                <a:schemeClr val="tx2"/>
              </a:buClr>
            </a:pPr>
            <a:endParaRPr lang="es-ES" altLang="es-AR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828675" lvl="1">
              <a:buClr>
                <a:schemeClr val="tx2"/>
              </a:buClr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Motivación. </a:t>
            </a:r>
            <a:r>
              <a:rPr lang="es-ES" altLang="es-AR" sz="2800" dirty="0">
                <a:solidFill>
                  <a:schemeClr val="accent1">
                    <a:lumMod val="75000"/>
                  </a:schemeClr>
                </a:solidFill>
              </a:rPr>
              <a:t>La habilidad para motivar al personal. </a:t>
            </a:r>
            <a:endParaRPr lang="es-ES" altLang="es-AR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828675" lvl="1">
              <a:buClr>
                <a:schemeClr val="tx2"/>
              </a:buClr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Organización. </a:t>
            </a:r>
            <a:r>
              <a:rPr lang="es-ES" altLang="es-AR" sz="2800" dirty="0">
                <a:solidFill>
                  <a:schemeClr val="accent1">
                    <a:lumMod val="75000"/>
                  </a:schemeClr>
                </a:solidFill>
              </a:rPr>
              <a:t>La habilidad para moldear procesos. </a:t>
            </a:r>
            <a:endParaRPr lang="es-ES" altLang="es-AR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828675" lvl="1">
              <a:buClr>
                <a:schemeClr val="tx2"/>
              </a:buClr>
            </a:pPr>
            <a:r>
              <a:rPr lang="es-ES" altLang="es-AR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Ideas o Innovación. </a:t>
            </a:r>
            <a:r>
              <a:rPr lang="es-ES" altLang="es-AR" sz="2800" dirty="0">
                <a:solidFill>
                  <a:schemeClr val="accent1">
                    <a:lumMod val="75000"/>
                  </a:schemeClr>
                </a:solidFill>
              </a:rPr>
              <a:t>La habilidad para motivar al personal para crear y sentirse creativos.</a:t>
            </a:r>
            <a:endParaRPr lang="es-ES" altLang="es-AR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B7C5484-CEAD-AFF6-06EB-B9852487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B4C11FC-7005-A553-A4E0-FB6446F3C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3634" y="772109"/>
            <a:ext cx="4824730" cy="615553"/>
          </a:xfrm>
        </p:spPr>
        <p:txBody>
          <a:bodyPr wrap="square" lIns="0" tIns="0" rIns="0" bIns="0">
            <a:spAutoFit/>
          </a:bodyPr>
          <a:lstStyle/>
          <a:p>
            <a:r>
              <a:rPr lang="es-ES" altLang="es-AR" sz="4000" b="1" dirty="0">
                <a:latin typeface="Arial" panose="020B0604020202020204" pitchFamily="34" charset="0"/>
              </a:rPr>
              <a:t>Trabajo en Equipo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6A9D217-10F6-A2BA-7621-46B6BAA1B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3660" y="1589848"/>
            <a:ext cx="11149080" cy="367830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rtlCol="0" anchor="ctr">
            <a:no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altLang="es-AR" sz="2400" dirty="0">
                <a:solidFill>
                  <a:schemeClr val="tx2"/>
                </a:solidFill>
              </a:rPr>
              <a:t>¿Qué es Trabajo en Equipo? (por lo que sí es)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altLang="es-AR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Tener un objetivo </a:t>
            </a:r>
            <a:r>
              <a:rPr lang="es-ES" altLang="es-AR" sz="24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ó</a:t>
            </a:r>
            <a:r>
              <a:rPr lang="es-ES" altLang="es-AR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meta común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altLang="es-AR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Estar dispuesto a sacrificar intereses personales </a:t>
            </a:r>
            <a:r>
              <a:rPr lang="es-ES" altLang="es-AR" sz="24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ó</a:t>
            </a:r>
            <a:r>
              <a:rPr lang="es-ES" altLang="es-AR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del grupo, momentáneamente.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altLang="es-AR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Tener confianza en los demás.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altLang="es-AR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Disposición a compartir información.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altLang="es-AR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Sentir en carne propia los problemas ajenos.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A057855-977C-F7DD-92BD-EA3EBB8C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E35F20B-5984-4E66-0085-A1B5013C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AR" sz="3100"/>
              <a:t>Cohesión de equipos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A308493-93F0-E0D8-3F7A-2D4AFF96A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1727" y="1907060"/>
            <a:ext cx="10806869" cy="4216400"/>
          </a:xfrm>
        </p:spPr>
        <p:txBody>
          <a:bodyPr/>
          <a:lstStyle/>
          <a:p>
            <a:pPr algn="ctr">
              <a:lnSpc>
                <a:spcPct val="245000"/>
              </a:lnSpc>
              <a:spcBef>
                <a:spcPts val="2400"/>
              </a:spcBef>
              <a:buNone/>
            </a:pPr>
            <a:r>
              <a:rPr lang="es-ES" altLang="es-AR" sz="2900">
                <a:solidFill>
                  <a:schemeClr val="accent1">
                    <a:lumMod val="75000"/>
                  </a:schemeClr>
                </a:solidFill>
              </a:rPr>
              <a:t>Un equipo cuajado es un grupo de gente tejido tan fuertemente que el todo es mayor que la suma de las partes.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A53EBFB-643E-F0E9-64B4-3587C77E6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BAF3DA4-598B-8835-3532-4E35540CC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AR" sz="3100"/>
              <a:t>Cohesión de equipos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8D68B96-996C-5D6C-8114-74EFB6D39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2673" y="1916113"/>
            <a:ext cx="11226297" cy="4216400"/>
          </a:xfrm>
        </p:spPr>
        <p:txBody>
          <a:bodyPr/>
          <a:lstStyle/>
          <a:p>
            <a:pPr algn="ctr">
              <a:lnSpc>
                <a:spcPct val="125000"/>
              </a:lnSpc>
              <a:spcBef>
                <a:spcPts val="2400"/>
              </a:spcBef>
              <a:buNone/>
            </a:pPr>
            <a:r>
              <a:rPr lang="es-ES" altLang="es-AR" sz="2900">
                <a:solidFill>
                  <a:schemeClr val="accent1">
                    <a:lumMod val="75000"/>
                  </a:schemeClr>
                </a:solidFill>
              </a:rPr>
              <a:t>Cuando el equipo empieza a cuajar, la probabilidad de éxito empieza a subir. El equipo puede convertirse en imparable, un monstruo de éxito. No necesita ser dirigidos de una manera tradicional y no necesitan que se les motive. Están en su gran momento. Comparten una meta en común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E663BDD-EB14-036D-E8A8-17D20D048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84BE5-6177-9DBB-8901-87646E37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5" y="914400"/>
            <a:ext cx="2693035" cy="1384995"/>
          </a:xfrm>
        </p:spPr>
        <p:txBody>
          <a:bodyPr/>
          <a:lstStyle/>
          <a:p>
            <a:r>
              <a:rPr lang="es-MX" dirty="0">
                <a:solidFill>
                  <a:schemeClr val="bg1"/>
                </a:solidFill>
              </a:rPr>
              <a:t>Integración de las Cuatro PES</a:t>
            </a:r>
            <a:br>
              <a:rPr lang="es-MX" dirty="0">
                <a:solidFill>
                  <a:schemeClr val="bg1"/>
                </a:solidFill>
              </a:rPr>
            </a:b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65CC98-E6FD-EEA5-159A-53767E913C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28</a:t>
            </a:fld>
            <a:endParaRPr lang="es-AR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4BF1B50-3A1C-FFB2-8136-173D21D4EE6C}"/>
              </a:ext>
            </a:extLst>
          </p:cNvPr>
          <p:cNvSpPr txBox="1"/>
          <p:nvPr/>
        </p:nvSpPr>
        <p:spPr>
          <a:xfrm>
            <a:off x="3962400" y="1833081"/>
            <a:ext cx="54102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PERSONAL</a:t>
            </a:r>
          </a:p>
          <a:p>
            <a:pPr>
              <a:defRPr sz="2200"/>
            </a:pPr>
            <a:r>
              <a:rPr dirty="0"/>
              <a:t>      ↑</a:t>
            </a:r>
          </a:p>
          <a:p>
            <a:pPr>
              <a:defRPr sz="2200"/>
            </a:pPr>
            <a:r>
              <a:rPr dirty="0"/>
              <a:t>PRODUCTO ← ● → PROBLEMA</a:t>
            </a:r>
          </a:p>
          <a:p>
            <a:pPr>
              <a:defRPr sz="2200"/>
            </a:pPr>
            <a:r>
              <a:rPr dirty="0"/>
              <a:t>      ↓</a:t>
            </a:r>
          </a:p>
          <a:p>
            <a:pPr>
              <a:defRPr sz="2200"/>
            </a:pPr>
            <a:r>
              <a:rPr dirty="0"/>
              <a:t>   PROCESO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Proyecto de Software </a:t>
            </a:r>
            <a:r>
              <a:rPr dirty="0" err="1"/>
              <a:t>Exitoso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4374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6854D3D9-5B32-BFEA-68D0-9EA70C91D7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066800"/>
            <a:ext cx="4824730" cy="461665"/>
          </a:xfrm>
        </p:spPr>
        <p:txBody>
          <a:bodyPr>
            <a:normAutofit fontScale="90000"/>
          </a:bodyPr>
          <a:lstStyle/>
          <a:p>
            <a:r>
              <a:rPr lang="es-ES" altLang="es-AR" sz="3100" dirty="0">
                <a:solidFill>
                  <a:schemeClr val="bg1"/>
                </a:solidFill>
              </a:rPr>
              <a:t>Planificación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254C317-6775-780C-6555-8E0DD6B37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0" y="2622376"/>
            <a:ext cx="8382000" cy="1164977"/>
          </a:xfrm>
        </p:spPr>
        <p:txBody>
          <a:bodyPr/>
          <a:lstStyle/>
          <a:p>
            <a:pPr marL="609600" indent="-609600" algn="ctr">
              <a:lnSpc>
                <a:spcPct val="150000"/>
              </a:lnSpc>
              <a:buNone/>
            </a:pPr>
            <a:r>
              <a:rPr lang="es-ES" altLang="es-AR" dirty="0">
                <a:solidFill>
                  <a:schemeClr val="tx2"/>
                </a:solidFill>
              </a:rPr>
              <a:t>Tareas requeridas para definir los</a:t>
            </a:r>
          </a:p>
          <a:p>
            <a:pPr marL="609600" indent="-609600" algn="ctr">
              <a:lnSpc>
                <a:spcPct val="150000"/>
              </a:lnSpc>
              <a:buNone/>
            </a:pPr>
            <a:r>
              <a:rPr lang="es-ES" altLang="es-AR" dirty="0">
                <a:solidFill>
                  <a:schemeClr val="tx2"/>
                </a:solidFill>
              </a:rPr>
              <a:t>recursos, la planificación temporal del</a:t>
            </a:r>
          </a:p>
          <a:p>
            <a:pPr marL="609600" indent="-609600" algn="ctr">
              <a:lnSpc>
                <a:spcPct val="150000"/>
              </a:lnSpc>
              <a:buNone/>
            </a:pPr>
            <a:r>
              <a:rPr lang="es-ES" altLang="es-AR" dirty="0">
                <a:solidFill>
                  <a:schemeClr val="tx2"/>
                </a:solidFill>
              </a:rPr>
              <a:t>proyecto y cualquier información relativa a él.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94DDED1-95AD-8364-13C5-5811AE2B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F615B0A-3FC9-7E87-E6BD-CB0C21A35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66800"/>
            <a:ext cx="4824730" cy="461665"/>
          </a:xfrm>
        </p:spPr>
        <p:txBody>
          <a:bodyPr>
            <a:normAutofit fontScale="90000"/>
          </a:bodyPr>
          <a:lstStyle/>
          <a:p>
            <a:r>
              <a:rPr lang="es-ES" altLang="es-AR" sz="3100" dirty="0">
                <a:solidFill>
                  <a:schemeClr val="bg1"/>
                </a:solidFill>
              </a:rPr>
              <a:t>Análisis de riesgo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3EBED2D-C3D1-19B1-2B3B-B578F4646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42168" y="2438400"/>
            <a:ext cx="8168640" cy="461665"/>
          </a:xfrm>
        </p:spPr>
        <p:txBody>
          <a:bodyPr/>
          <a:lstStyle/>
          <a:p>
            <a:pPr algn="ctr">
              <a:lnSpc>
                <a:spcPct val="210000"/>
              </a:lnSpc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Tareas requeridas para valorar los riesgos técnicos y de gestión.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A8746C1-8908-7A00-D9CC-8C9C28DE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7D247ED-3E64-50FD-8F11-527F4B87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4824730" cy="461665"/>
          </a:xfrm>
        </p:spPr>
        <p:txBody>
          <a:bodyPr>
            <a:normAutofit fontScale="90000"/>
          </a:bodyPr>
          <a:lstStyle/>
          <a:p>
            <a:r>
              <a:rPr lang="es-ES" altLang="es-AR" sz="3100" dirty="0">
                <a:solidFill>
                  <a:schemeClr val="bg1"/>
                </a:solidFill>
              </a:rPr>
              <a:t>Ingeniería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04847F6-1DE3-F740-08FD-AF9FC9878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0400" y="2209800"/>
            <a:ext cx="8168640" cy="461665"/>
          </a:xfrm>
        </p:spPr>
        <p:txBody>
          <a:bodyPr/>
          <a:lstStyle/>
          <a:p>
            <a:pPr algn="ctr">
              <a:lnSpc>
                <a:spcPct val="230000"/>
              </a:lnSpc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Tareas requeridas para construir una o más representaciones de la aplicación.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8066E73-FA45-5097-E108-6DA1FB29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2EABB53-A459-D65F-744A-E28BA5D11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66800"/>
            <a:ext cx="3124200" cy="461665"/>
          </a:xfrm>
        </p:spPr>
        <p:txBody>
          <a:bodyPr>
            <a:normAutofit fontScale="90000"/>
          </a:bodyPr>
          <a:lstStyle/>
          <a:p>
            <a:pPr algn="ctr"/>
            <a:r>
              <a:rPr lang="es-ES" altLang="es-AR" sz="3100" dirty="0">
                <a:solidFill>
                  <a:schemeClr val="bg1"/>
                </a:solidFill>
              </a:rPr>
              <a:t>Construcción y entrega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0D4C2CA-F853-08BF-BA1C-F8B962D3E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0400" y="2057400"/>
            <a:ext cx="8168640" cy="461665"/>
          </a:xfrm>
        </p:spPr>
        <p:txBody>
          <a:bodyPr/>
          <a:lstStyle/>
          <a:p>
            <a:pPr algn="ctr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Tareas requeridas para construir, probar </a:t>
            </a:r>
          </a:p>
          <a:p>
            <a:pPr algn="ctr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instalar y proporcionar asistencia al </a:t>
            </a:r>
          </a:p>
          <a:p>
            <a:pPr algn="ctr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usuario.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D21AE20-0FCD-F1DE-9C73-05980FFB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2A786FB-039B-0452-D600-606BD6157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66800"/>
            <a:ext cx="2949320" cy="461665"/>
          </a:xfrm>
        </p:spPr>
        <p:txBody>
          <a:bodyPr>
            <a:normAutofit fontScale="90000"/>
          </a:bodyPr>
          <a:lstStyle/>
          <a:p>
            <a:pPr algn="ctr"/>
            <a:r>
              <a:rPr lang="es-ES" altLang="es-AR" sz="3100" dirty="0">
                <a:solidFill>
                  <a:schemeClr val="bg1"/>
                </a:solidFill>
              </a:rPr>
              <a:t>Evaluación del cliente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A278CE0C-8D9C-BBC1-2D46-E72C1749C1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77920" y="1828800"/>
            <a:ext cx="8168640" cy="46166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Tareas requeridas para obtener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información de la opinión del cliente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basadas en la evaluación de las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representaciones de SW creadas durante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la fase de ingeniería e implementación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s-ES" altLang="es-AR" dirty="0">
                <a:solidFill>
                  <a:schemeClr val="tx2"/>
                </a:solidFill>
              </a:rPr>
              <a:t>durante la fase de instalación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1022BDD-1844-C5CE-C9F0-53CAB437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9350" y="434466"/>
            <a:ext cx="49657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114" dirty="0"/>
              <a:t>Clases</a:t>
            </a:r>
            <a:r>
              <a:rPr sz="4800" spc="140" dirty="0"/>
              <a:t> </a:t>
            </a:r>
            <a:r>
              <a:rPr sz="4800" spc="50" dirty="0"/>
              <a:t>de</a:t>
            </a:r>
            <a:r>
              <a:rPr sz="4800" spc="125" dirty="0"/>
              <a:t> </a:t>
            </a:r>
            <a:r>
              <a:rPr sz="4800" spc="-10" dirty="0"/>
              <a:t>usuarios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87985" y="1237914"/>
            <a:ext cx="2507615" cy="1397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Los</a:t>
            </a:r>
            <a:r>
              <a:rPr spc="-35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usuarios</a:t>
            </a:r>
            <a:r>
              <a:rPr spc="-30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son</a:t>
            </a:r>
            <a:r>
              <a:rPr spc="-20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aquellas</a:t>
            </a:r>
            <a:r>
              <a:rPr spc="-40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personas</a:t>
            </a:r>
            <a:r>
              <a:rPr spc="-25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que</a:t>
            </a:r>
            <a:r>
              <a:rPr spc="-35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spc="-10" dirty="0">
                <a:solidFill>
                  <a:schemeClr val="bg1"/>
                </a:solidFill>
                <a:latin typeface="Corbel"/>
                <a:cs typeface="Corbel"/>
              </a:rPr>
              <a:t>realizarán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sus</a:t>
            </a:r>
            <a:r>
              <a:rPr spc="65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tareas</a:t>
            </a:r>
            <a:r>
              <a:rPr spc="75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usando</a:t>
            </a:r>
            <a:r>
              <a:rPr spc="75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directa</a:t>
            </a:r>
            <a:r>
              <a:rPr spc="70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o</a:t>
            </a:r>
            <a:r>
              <a:rPr spc="70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indirectamente</a:t>
            </a:r>
            <a:r>
              <a:rPr spc="60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spc="-25" dirty="0">
                <a:solidFill>
                  <a:schemeClr val="bg1"/>
                </a:solidFill>
                <a:latin typeface="Corbel"/>
                <a:cs typeface="Corbel"/>
              </a:rPr>
              <a:t>el </a:t>
            </a:r>
            <a:r>
              <a:rPr spc="-10" dirty="0">
                <a:solidFill>
                  <a:schemeClr val="bg1"/>
                </a:solidFill>
                <a:latin typeface="Corbel"/>
                <a:cs typeface="Corbel"/>
              </a:rPr>
              <a:t>producto.</a:t>
            </a:r>
            <a:endParaRPr dirty="0">
              <a:solidFill>
                <a:schemeClr val="bg1"/>
              </a:solidFill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9908" y="1366274"/>
            <a:ext cx="4822997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Los</a:t>
            </a:r>
            <a:r>
              <a:rPr sz="2200" spc="26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usuarios</a:t>
            </a:r>
            <a:r>
              <a:rPr sz="2200" spc="28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directos</a:t>
            </a:r>
            <a:r>
              <a:rPr sz="2200" spc="27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interactúan</a:t>
            </a:r>
            <a:r>
              <a:rPr sz="2200" spc="27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spc="-25" dirty="0">
                <a:solidFill>
                  <a:schemeClr val="tx1"/>
                </a:solidFill>
                <a:latin typeface="Corbel"/>
                <a:cs typeface="Corbel"/>
              </a:rPr>
              <a:t>con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el</a:t>
            </a:r>
            <a:r>
              <a:rPr sz="2200" spc="-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sistema</a:t>
            </a:r>
            <a:r>
              <a:rPr sz="2200" spc="-2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–</a:t>
            </a:r>
            <a:r>
              <a:rPr sz="2200" spc="-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carga</a:t>
            </a:r>
            <a:r>
              <a:rPr sz="2200" spc="-3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de</a:t>
            </a:r>
            <a:r>
              <a:rPr sz="2200" spc="-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Corbel"/>
                <a:cs typeface="Corbel"/>
              </a:rPr>
              <a:t>datos.</a:t>
            </a:r>
            <a:endParaRPr sz="2200" dirty="0">
              <a:solidFill>
                <a:schemeClr val="tx1"/>
              </a:solidFill>
              <a:latin typeface="Corbel"/>
              <a:cs typeface="Corbe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8867" y="2333025"/>
            <a:ext cx="3946183" cy="28275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54737" y="5207101"/>
            <a:ext cx="4764405" cy="96393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60"/>
              </a:spcBef>
            </a:pP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Los</a:t>
            </a:r>
            <a:r>
              <a:rPr sz="2200" spc="100" dirty="0">
                <a:solidFill>
                  <a:schemeClr val="tx1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usuarios</a:t>
            </a:r>
            <a:r>
              <a:rPr sz="2200" spc="105" dirty="0">
                <a:solidFill>
                  <a:schemeClr val="tx1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indirectos</a:t>
            </a:r>
            <a:r>
              <a:rPr sz="2200" spc="110" dirty="0">
                <a:solidFill>
                  <a:schemeClr val="tx1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reciben</a:t>
            </a:r>
            <a:r>
              <a:rPr sz="2200" spc="105" dirty="0">
                <a:solidFill>
                  <a:schemeClr val="tx1"/>
                </a:solidFill>
                <a:latin typeface="Corbel"/>
                <a:cs typeface="Corbel"/>
              </a:rPr>
              <a:t>  </a:t>
            </a:r>
            <a:r>
              <a:rPr sz="2200" spc="-10" dirty="0">
                <a:solidFill>
                  <a:schemeClr val="tx1"/>
                </a:solidFill>
                <a:latin typeface="Corbel"/>
                <a:cs typeface="Corbel"/>
              </a:rPr>
              <a:t>salidas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del</a:t>
            </a:r>
            <a:r>
              <a:rPr sz="2200" spc="114" dirty="0">
                <a:solidFill>
                  <a:schemeClr val="tx1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sistema,</a:t>
            </a:r>
            <a:r>
              <a:rPr sz="2200" spc="120" dirty="0">
                <a:solidFill>
                  <a:schemeClr val="tx1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-</a:t>
            </a:r>
            <a:r>
              <a:rPr sz="2200" spc="125" dirty="0">
                <a:solidFill>
                  <a:schemeClr val="tx1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obtienen</a:t>
            </a:r>
            <a:r>
              <a:rPr sz="2200" spc="130" dirty="0">
                <a:solidFill>
                  <a:schemeClr val="tx1"/>
                </a:solidFill>
                <a:latin typeface="Corbel"/>
                <a:cs typeface="Corbel"/>
              </a:rPr>
              <a:t> 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información</a:t>
            </a:r>
            <a:r>
              <a:rPr sz="2200" spc="120" dirty="0">
                <a:solidFill>
                  <a:schemeClr val="tx1"/>
                </a:solidFill>
                <a:latin typeface="Corbel"/>
                <a:cs typeface="Corbel"/>
              </a:rPr>
              <a:t>  </a:t>
            </a:r>
            <a:r>
              <a:rPr sz="2200" spc="-50" dirty="0">
                <a:solidFill>
                  <a:schemeClr val="tx1"/>
                </a:solidFill>
                <a:latin typeface="Corbel"/>
                <a:cs typeface="Corbel"/>
              </a:rPr>
              <a:t>y </a:t>
            </a:r>
            <a:r>
              <a:rPr sz="2200" dirty="0">
                <a:solidFill>
                  <a:schemeClr val="tx1"/>
                </a:solidFill>
                <a:latin typeface="Corbel"/>
                <a:cs typeface="Corbel"/>
              </a:rPr>
              <a:t>toman</a:t>
            </a:r>
            <a:r>
              <a:rPr sz="2200" spc="-7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Corbel"/>
                <a:cs typeface="Corbel"/>
              </a:rPr>
              <a:t>decisiones.</a:t>
            </a:r>
            <a:endParaRPr sz="2200" dirty="0">
              <a:solidFill>
                <a:schemeClr val="tx1"/>
              </a:solidFill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06" y="3886200"/>
            <a:ext cx="3429000" cy="154196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360"/>
              </a:spcBef>
            </a:pPr>
            <a:r>
              <a:rPr spc="-10" dirty="0">
                <a:solidFill>
                  <a:schemeClr val="bg1"/>
                </a:solidFill>
                <a:latin typeface="Corbel"/>
                <a:cs typeface="Corbel"/>
              </a:rPr>
              <a:t>Administradores:</a:t>
            </a:r>
            <a:r>
              <a:rPr spc="-15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Tienen</a:t>
            </a:r>
            <a:r>
              <a:rPr spc="5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la</a:t>
            </a:r>
            <a:r>
              <a:rPr spc="-5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responsabilidad</a:t>
            </a:r>
            <a:r>
              <a:rPr spc="-10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ante</a:t>
            </a:r>
            <a:r>
              <a:rPr spc="-5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spc="-25" dirty="0">
                <a:solidFill>
                  <a:schemeClr val="bg1"/>
                </a:solidFill>
                <a:latin typeface="Corbel"/>
                <a:cs typeface="Corbel"/>
              </a:rPr>
              <a:t>la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organización</a:t>
            </a:r>
            <a:r>
              <a:rPr spc="340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de</a:t>
            </a:r>
            <a:r>
              <a:rPr spc="325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controlar</a:t>
            </a:r>
            <a:r>
              <a:rPr spc="325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las</a:t>
            </a:r>
            <a:r>
              <a:rPr spc="320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actividades</a:t>
            </a:r>
            <a:r>
              <a:rPr spc="330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spc="-25" dirty="0">
                <a:solidFill>
                  <a:schemeClr val="bg1"/>
                </a:solidFill>
                <a:latin typeface="Corbel"/>
                <a:cs typeface="Corbel"/>
              </a:rPr>
              <a:t>del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sistema,</a:t>
            </a:r>
            <a:r>
              <a:rPr spc="170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Gestión</a:t>
            </a:r>
            <a:r>
              <a:rPr spc="175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(ABM)</a:t>
            </a:r>
            <a:r>
              <a:rPr spc="180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de</a:t>
            </a:r>
            <a:r>
              <a:rPr spc="170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usuarios,</a:t>
            </a:r>
            <a:r>
              <a:rPr spc="175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grupos</a:t>
            </a:r>
            <a:r>
              <a:rPr spc="165" dirty="0">
                <a:solidFill>
                  <a:schemeClr val="bg1"/>
                </a:solidFill>
                <a:latin typeface="Corbel"/>
                <a:cs typeface="Corbel"/>
              </a:rPr>
              <a:t>  </a:t>
            </a:r>
            <a:r>
              <a:rPr spc="-50" dirty="0">
                <a:solidFill>
                  <a:schemeClr val="bg1"/>
                </a:solidFill>
                <a:latin typeface="Corbel"/>
                <a:cs typeface="Corbel"/>
              </a:rPr>
              <a:t>y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roles,</a:t>
            </a:r>
            <a:r>
              <a:rPr spc="-50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niveles</a:t>
            </a:r>
            <a:r>
              <a:rPr spc="-40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chemeClr val="bg1"/>
                </a:solidFill>
                <a:latin typeface="Corbel"/>
                <a:cs typeface="Corbel"/>
              </a:rPr>
              <a:t>de</a:t>
            </a:r>
            <a:r>
              <a:rPr spc="-40" dirty="0">
                <a:solidFill>
                  <a:schemeClr val="bg1"/>
                </a:solidFill>
                <a:latin typeface="Corbel"/>
                <a:cs typeface="Corbel"/>
              </a:rPr>
              <a:t> </a:t>
            </a:r>
            <a:r>
              <a:rPr spc="-10" dirty="0">
                <a:solidFill>
                  <a:schemeClr val="bg1"/>
                </a:solidFill>
                <a:latin typeface="Corbel"/>
                <a:cs typeface="Corbel"/>
              </a:rPr>
              <a:t>acceso.</a:t>
            </a:r>
            <a:endParaRPr dirty="0">
              <a:solidFill>
                <a:schemeClr val="bg1"/>
              </a:solidFill>
              <a:latin typeface="Corbel"/>
              <a:cs typeface="Corbel"/>
            </a:endParaRP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D21050D-65AE-354E-E10D-E920238DF2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34</a:t>
            </a:fld>
            <a:endParaRPr lang="es-A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186" y="746759"/>
            <a:ext cx="2281758" cy="4972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9325" y="746759"/>
            <a:ext cx="3253104" cy="4998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8363" y="1032662"/>
            <a:ext cx="192709" cy="733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2194" y="746759"/>
            <a:ext cx="2557399" cy="49987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29055" y="1946148"/>
            <a:ext cx="4789170" cy="4912360"/>
            <a:chOff x="829055" y="1946148"/>
            <a:chExt cx="4789170" cy="491236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9055" y="5835392"/>
              <a:ext cx="4789170" cy="10226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6675" y="1946148"/>
              <a:ext cx="4774692" cy="38983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0807" y="2322576"/>
              <a:ext cx="4187952" cy="314706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06820" y="1965705"/>
            <a:ext cx="188849" cy="1793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52641" y="1997075"/>
            <a:ext cx="464468" cy="18554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34250" y="1982089"/>
            <a:ext cx="849883" cy="20053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81110" y="1996185"/>
            <a:ext cx="569370" cy="1864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771253" y="1996185"/>
            <a:ext cx="1095375" cy="18643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166225" y="2046477"/>
            <a:ext cx="389763" cy="136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42481" y="2283841"/>
            <a:ext cx="1067943" cy="20053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55255" y="2454517"/>
            <a:ext cx="25873" cy="2655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60033" y="2762757"/>
            <a:ext cx="188848" cy="179324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705854" y="2779141"/>
            <a:ext cx="173990" cy="198120"/>
            <a:chOff x="6705854" y="2779141"/>
            <a:chExt cx="173990" cy="198120"/>
          </a:xfrm>
        </p:grpSpPr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05854" y="2794000"/>
              <a:ext cx="115697" cy="18287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58508" y="2779141"/>
              <a:ext cx="21082" cy="197104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995668" y="2779141"/>
            <a:ext cx="814958" cy="26390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930133" y="2779141"/>
            <a:ext cx="259588" cy="20053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317230" y="2843529"/>
            <a:ext cx="389763" cy="13614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833866" y="2811526"/>
            <a:ext cx="622934" cy="22809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591167" y="2793238"/>
            <a:ext cx="665733" cy="24637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383773" y="2843529"/>
            <a:ext cx="226949" cy="13614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704583" y="3115945"/>
            <a:ext cx="158369" cy="20053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953341" y="3115945"/>
            <a:ext cx="866683" cy="20053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908797" y="3115945"/>
            <a:ext cx="318007" cy="20053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318754" y="3130042"/>
            <a:ext cx="1027684" cy="249809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9440291" y="3180333"/>
            <a:ext cx="942340" cy="196215"/>
            <a:chOff x="9440291" y="3180333"/>
            <a:chExt cx="942340" cy="196215"/>
          </a:xfrm>
        </p:grpSpPr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440291" y="3180333"/>
              <a:ext cx="878839" cy="1960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356596" y="3286494"/>
              <a:ext cx="25872" cy="26554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360033" y="3524758"/>
            <a:ext cx="188848" cy="17932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705854" y="3556127"/>
            <a:ext cx="769112" cy="18554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565897" y="3541140"/>
            <a:ext cx="259624" cy="20053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333993" y="3605529"/>
            <a:ext cx="491616" cy="19951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984997" y="3605529"/>
            <a:ext cx="252349" cy="13614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920733" y="3541140"/>
            <a:ext cx="787400" cy="20053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9804654" y="3541140"/>
            <a:ext cx="614679" cy="20053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0519156" y="3541140"/>
            <a:ext cx="280543" cy="20053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741668" y="3874515"/>
            <a:ext cx="731138" cy="20396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556754" y="3877945"/>
            <a:ext cx="259588" cy="200532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901178" y="3910329"/>
            <a:ext cx="866775" cy="23152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849359" y="3945763"/>
            <a:ext cx="124460" cy="192659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9047317" y="3877945"/>
            <a:ext cx="1402715" cy="264160"/>
            <a:chOff x="9047317" y="3877945"/>
            <a:chExt cx="1402715" cy="264160"/>
          </a:xfrm>
        </p:grpSpPr>
        <p:pic>
          <p:nvPicPr>
            <p:cNvPr id="51" name="object 5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047317" y="3877945"/>
              <a:ext cx="1340901" cy="26390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423651" y="4048494"/>
              <a:ext cx="25873" cy="26554"/>
            </a:xfrm>
            <a:prstGeom prst="rect">
              <a:avLst/>
            </a:prstGeom>
          </p:spPr>
        </p:pic>
      </p:grpSp>
      <p:pic>
        <p:nvPicPr>
          <p:cNvPr id="53" name="object 5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360033" y="4286758"/>
            <a:ext cx="188848" cy="17932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6705854" y="4303140"/>
            <a:ext cx="1075436" cy="200532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7882890" y="4317238"/>
            <a:ext cx="912749" cy="186436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8893302" y="4303140"/>
            <a:ext cx="259588" cy="200532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9254490" y="4303140"/>
            <a:ext cx="868299" cy="20053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0220959" y="4370959"/>
            <a:ext cx="124460" cy="19265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6695693" y="4704334"/>
            <a:ext cx="252349" cy="13614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0435590" y="4303140"/>
            <a:ext cx="630554" cy="200532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7038593" y="4639945"/>
            <a:ext cx="511682" cy="200532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630159" y="4636515"/>
            <a:ext cx="457454" cy="203961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8172450" y="4639945"/>
            <a:ext cx="1279144" cy="200532"/>
          </a:xfrm>
          <a:prstGeom prst="rect">
            <a:avLst/>
          </a:prstGeom>
        </p:spPr>
      </p:pic>
      <p:grpSp>
        <p:nvGrpSpPr>
          <p:cNvPr id="64" name="object 64"/>
          <p:cNvGrpSpPr/>
          <p:nvPr/>
        </p:nvGrpSpPr>
        <p:grpSpPr>
          <a:xfrm>
            <a:off x="9537954" y="4636515"/>
            <a:ext cx="1101090" cy="204470"/>
            <a:chOff x="9537954" y="4636515"/>
            <a:chExt cx="1101090" cy="204470"/>
          </a:xfrm>
        </p:grpSpPr>
        <p:pic>
          <p:nvPicPr>
            <p:cNvPr id="65" name="object 65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9537954" y="4636515"/>
              <a:ext cx="1039241" cy="20396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0612628" y="4810494"/>
              <a:ext cx="25873" cy="26554"/>
            </a:xfrm>
            <a:prstGeom prst="rect">
              <a:avLst/>
            </a:prstGeom>
          </p:spPr>
        </p:pic>
      </p:grpSp>
      <p:pic>
        <p:nvPicPr>
          <p:cNvPr id="67" name="object 67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360033" y="5048758"/>
            <a:ext cx="188848" cy="179324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6705854" y="5065140"/>
            <a:ext cx="586613" cy="200532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7379207" y="5129529"/>
            <a:ext cx="402082" cy="196087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879715" y="5129529"/>
            <a:ext cx="759586" cy="196087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8737727" y="5129529"/>
            <a:ext cx="649224" cy="19608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9481439" y="5097526"/>
            <a:ext cx="766571" cy="22809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0333481" y="5065140"/>
            <a:ext cx="259588" cy="200532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0673588" y="5065140"/>
            <a:ext cx="1124838" cy="200532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6695693" y="5401945"/>
            <a:ext cx="252602" cy="200545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7045959" y="5401945"/>
            <a:ext cx="158369" cy="200545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7302881" y="5398515"/>
            <a:ext cx="1106677" cy="263893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8501633" y="5401945"/>
            <a:ext cx="259588" cy="200545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8845295" y="5466334"/>
            <a:ext cx="402081" cy="196075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9332214" y="5466334"/>
            <a:ext cx="226949" cy="136156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9648952" y="5401945"/>
            <a:ext cx="625475" cy="200660"/>
            <a:chOff x="9648952" y="5401945"/>
            <a:chExt cx="625475" cy="200660"/>
          </a:xfrm>
        </p:grpSpPr>
        <p:pic>
          <p:nvPicPr>
            <p:cNvPr id="82" name="object 82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648952" y="5401945"/>
              <a:ext cx="561975" cy="20054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248392" y="5572532"/>
              <a:ext cx="25873" cy="26554"/>
            </a:xfrm>
            <a:prstGeom prst="rect">
              <a:avLst/>
            </a:prstGeom>
          </p:spPr>
        </p:pic>
      </p:grpSp>
      <p:sp>
        <p:nvSpPr>
          <p:cNvPr id="85" name="Marcador de número de diapositiva 84">
            <a:extLst>
              <a:ext uri="{FF2B5EF4-FFF2-40B4-BE49-F238E27FC236}">
                <a16:creationId xmlns:a16="http://schemas.microsoft.com/office/drawing/2014/main" id="{5DE2D0B9-FCF3-302E-5006-1C6A1BFFD0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35</a:t>
            </a:fld>
            <a:endParaRPr lang="es-A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0392" y="518159"/>
            <a:ext cx="2270379" cy="4443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991" y="1856232"/>
            <a:ext cx="6187440" cy="33695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780021" y="154304"/>
            <a:ext cx="37636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Se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reflejan</a:t>
            </a:r>
            <a:r>
              <a:rPr sz="1800" spc="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directamente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las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actividades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fundamentales</a:t>
            </a:r>
            <a:r>
              <a:rPr sz="1800" spc="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del</a:t>
            </a:r>
            <a:r>
              <a:rPr sz="1800" spc="-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desarrollo: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0021" y="703326"/>
            <a:ext cx="189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solidFill>
                  <a:srgbClr val="FFFFFF"/>
                </a:solidFill>
                <a:latin typeface="Corbel"/>
                <a:cs typeface="Corbel"/>
              </a:rPr>
              <a:t>1.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0686" y="724788"/>
            <a:ext cx="4994275" cy="8293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 marR="34925" algn="just">
              <a:lnSpc>
                <a:spcPts val="2160"/>
              </a:lnSpc>
            </a:pPr>
            <a:r>
              <a:rPr sz="1800" i="1" u="sng" dirty="0">
                <a:solidFill>
                  <a:srgbClr val="FFFFFF"/>
                </a:solidFill>
                <a:highlight>
                  <a:srgbClr val="808000"/>
                </a:highlight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Análisis</a:t>
            </a:r>
            <a:r>
              <a:rPr sz="1800" i="1" u="sng" spc="110" dirty="0">
                <a:solidFill>
                  <a:srgbClr val="FFFFFF"/>
                </a:solidFill>
                <a:highlight>
                  <a:srgbClr val="808000"/>
                </a:highlight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highlight>
                  <a:srgbClr val="808000"/>
                </a:highlight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y</a:t>
            </a:r>
            <a:r>
              <a:rPr sz="1800" i="1" u="sng" spc="100" dirty="0">
                <a:solidFill>
                  <a:srgbClr val="FFFFFF"/>
                </a:solidFill>
                <a:highlight>
                  <a:srgbClr val="808000"/>
                </a:highlight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highlight>
                  <a:srgbClr val="808000"/>
                </a:highlight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definición</a:t>
            </a:r>
            <a:r>
              <a:rPr sz="1800" i="1" u="sng" spc="110" dirty="0">
                <a:solidFill>
                  <a:srgbClr val="FFFFFF"/>
                </a:solidFill>
                <a:highlight>
                  <a:srgbClr val="808000"/>
                </a:highlight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highlight>
                  <a:srgbClr val="808000"/>
                </a:highlight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de</a:t>
            </a:r>
            <a:r>
              <a:rPr sz="1800" i="1" u="sng" spc="95" dirty="0">
                <a:solidFill>
                  <a:srgbClr val="FFFFFF"/>
                </a:solidFill>
                <a:highlight>
                  <a:srgbClr val="808000"/>
                </a:highlight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highlight>
                  <a:srgbClr val="808000"/>
                </a:highlight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requerimientos:</a:t>
            </a:r>
            <a:r>
              <a:rPr sz="1800" i="1" u="none" spc="105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Los</a:t>
            </a:r>
            <a:r>
              <a:rPr sz="1800" u="none" spc="11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</a:t>
            </a:r>
            <a:r>
              <a:rPr sz="1800" u="none" spc="-1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servicios,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las</a:t>
            </a:r>
            <a:r>
              <a:rPr sz="1800" u="none" spc="365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restricciones</a:t>
            </a:r>
            <a:r>
              <a:rPr sz="1800" u="none" spc="37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y</a:t>
            </a:r>
            <a:r>
              <a:rPr sz="1800" u="none" spc="365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las</a:t>
            </a:r>
            <a:r>
              <a:rPr sz="1800" u="none" spc="365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metas</a:t>
            </a:r>
            <a:r>
              <a:rPr sz="1800" u="none" spc="37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del</a:t>
            </a:r>
            <a:r>
              <a:rPr sz="1800" u="none" spc="365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sistema</a:t>
            </a:r>
            <a:r>
              <a:rPr sz="1800" u="none" spc="36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spc="-25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se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establecen</a:t>
            </a:r>
            <a:r>
              <a:rPr sz="1800" u="none" spc="12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mediante</a:t>
            </a:r>
            <a:r>
              <a:rPr sz="1800" u="none" spc="12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consulta</a:t>
            </a:r>
            <a:r>
              <a:rPr sz="1800" u="none" spc="13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a</a:t>
            </a:r>
            <a:r>
              <a:rPr sz="1800" u="none" spc="12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los</a:t>
            </a:r>
            <a:r>
              <a:rPr sz="1800" u="none" spc="13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usuarios</a:t>
            </a:r>
            <a:r>
              <a:rPr sz="1800" u="none" spc="125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 </a:t>
            </a:r>
            <a:r>
              <a:rPr sz="1800" u="none" spc="-25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del</a:t>
            </a:r>
            <a:endParaRPr sz="1800" dirty="0">
              <a:highlight>
                <a:srgbClr val="808000"/>
              </a:highlight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0686" y="1553844"/>
            <a:ext cx="3144520" cy="2564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045"/>
              </a:lnSpc>
            </a:pPr>
            <a:r>
              <a:rPr sz="180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sistema.</a:t>
            </a:r>
            <a:r>
              <a:rPr sz="1800" spc="-3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(</a:t>
            </a:r>
            <a:r>
              <a:rPr sz="1800" dirty="0">
                <a:solidFill>
                  <a:srgbClr val="FF0000"/>
                </a:solidFill>
                <a:highlight>
                  <a:srgbClr val="808000"/>
                </a:highlight>
                <a:latin typeface="Corbel"/>
                <a:cs typeface="Corbel"/>
              </a:rPr>
              <a:t>Aquí</a:t>
            </a:r>
            <a:r>
              <a:rPr sz="1800" spc="-40" dirty="0">
                <a:solidFill>
                  <a:srgbClr val="FF0000"/>
                </a:solidFill>
                <a:highlight>
                  <a:srgbClr val="808000"/>
                </a:highlight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0000"/>
                </a:solidFill>
                <a:highlight>
                  <a:srgbClr val="808000"/>
                </a:highlight>
                <a:latin typeface="Corbel"/>
                <a:cs typeface="Corbel"/>
              </a:rPr>
              <a:t>estamos</a:t>
            </a:r>
            <a:r>
              <a:rPr sz="1800" spc="-5" dirty="0">
                <a:solidFill>
                  <a:srgbClr val="FF0000"/>
                </a:solidFill>
                <a:highlight>
                  <a:srgbClr val="808000"/>
                </a:highlight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0000"/>
                </a:solidFill>
                <a:highlight>
                  <a:srgbClr val="808000"/>
                </a:highlight>
                <a:latin typeface="Corbel"/>
                <a:cs typeface="Corbel"/>
              </a:rPr>
              <a:t>nosotros</a:t>
            </a:r>
            <a:r>
              <a:rPr sz="1800" spc="-10" dirty="0">
                <a:solidFill>
                  <a:srgbClr val="FFFFFF"/>
                </a:solidFill>
                <a:highlight>
                  <a:srgbClr val="808000"/>
                </a:highlight>
                <a:latin typeface="Corbel"/>
                <a:cs typeface="Corbel"/>
              </a:rPr>
              <a:t>)</a:t>
            </a:r>
            <a:endParaRPr sz="1800" dirty="0">
              <a:highlight>
                <a:srgbClr val="808000"/>
              </a:highlight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0021" y="1800859"/>
            <a:ext cx="52044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715" indent="-228600" algn="just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41300" algn="l"/>
              </a:tabLst>
            </a:pP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Diseño</a:t>
            </a:r>
            <a:r>
              <a:rPr sz="1800" i="1" u="sng" spc="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del</a:t>
            </a:r>
            <a:r>
              <a:rPr sz="1800" i="1" u="sng" spc="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sistema</a:t>
            </a:r>
            <a:r>
              <a:rPr sz="1800" i="1" u="sng" spc="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y</a:t>
            </a:r>
            <a:r>
              <a:rPr sz="1800" i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del</a:t>
            </a:r>
            <a:r>
              <a:rPr sz="1800" i="1" u="sng" spc="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software:</a:t>
            </a:r>
            <a:r>
              <a:rPr sz="1800" i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El</a:t>
            </a:r>
            <a:r>
              <a:rPr sz="1800" u="none" spc="75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proceso</a:t>
            </a:r>
            <a:r>
              <a:rPr sz="1800" u="none" spc="75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1800" u="none" spc="-25" dirty="0">
                <a:solidFill>
                  <a:srgbClr val="FFFFFF"/>
                </a:solidFill>
                <a:latin typeface="Corbel"/>
                <a:cs typeface="Corbel"/>
              </a:rPr>
              <a:t>de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diseño</a:t>
            </a:r>
            <a:r>
              <a:rPr sz="1800" u="none" spc="2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</a:t>
            </a:r>
            <a:r>
              <a:rPr sz="1800" u="none" spc="204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sistemas</a:t>
            </a:r>
            <a:r>
              <a:rPr sz="1800" u="none" spc="2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asigna</a:t>
            </a:r>
            <a:r>
              <a:rPr sz="1800" u="none" spc="19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los</a:t>
            </a:r>
            <a:r>
              <a:rPr sz="1800" u="none" spc="2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requerimientos,</a:t>
            </a:r>
            <a:r>
              <a:rPr sz="1800" u="none" spc="2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20" dirty="0">
                <a:solidFill>
                  <a:srgbClr val="FFFFFF"/>
                </a:solidFill>
                <a:latin typeface="Corbel"/>
                <a:cs typeface="Corbel"/>
              </a:rPr>
              <a:t>para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sistemas</a:t>
            </a:r>
            <a:r>
              <a:rPr sz="1800" u="none" spc="2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</a:t>
            </a:r>
            <a:r>
              <a:rPr sz="1800" u="none" spc="2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hardware</a:t>
            </a:r>
            <a:r>
              <a:rPr sz="1800" u="none" spc="28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u="none" spc="2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</a:t>
            </a:r>
            <a:r>
              <a:rPr sz="1800" u="none" spc="2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software,</a:t>
            </a:r>
            <a:r>
              <a:rPr sz="1800" u="none" spc="2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al</a:t>
            </a:r>
            <a:r>
              <a:rPr sz="1800" u="none" spc="2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10" dirty="0">
                <a:solidFill>
                  <a:srgbClr val="FFFFFF"/>
                </a:solidFill>
                <a:latin typeface="Corbel"/>
                <a:cs typeface="Corbel"/>
              </a:rPr>
              <a:t>establecer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una</a:t>
            </a:r>
            <a:r>
              <a:rPr sz="1800" u="none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arquitectura</a:t>
            </a:r>
            <a:r>
              <a:rPr sz="1800" u="none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</a:t>
            </a:r>
            <a:r>
              <a:rPr sz="1800" u="none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sistema</a:t>
            </a:r>
            <a:r>
              <a:rPr sz="1800" u="none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10" dirty="0">
                <a:solidFill>
                  <a:srgbClr val="FFFFFF"/>
                </a:solidFill>
                <a:latin typeface="Corbel"/>
                <a:cs typeface="Corbel"/>
              </a:rPr>
              <a:t>global.</a:t>
            </a:r>
            <a:endParaRPr sz="1800" dirty="0">
              <a:latin typeface="Corbel"/>
              <a:cs typeface="Corbel"/>
            </a:endParaRPr>
          </a:p>
          <a:p>
            <a:pPr marL="241300" marR="6985" indent="-228600" algn="just">
              <a:lnSpc>
                <a:spcPct val="100000"/>
              </a:lnSpc>
              <a:buAutoNum type="arabicPeriod" startAt="2"/>
              <a:tabLst>
                <a:tab pos="241300" algn="l"/>
              </a:tabLst>
            </a:pP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Implementación</a:t>
            </a:r>
            <a:r>
              <a:rPr sz="1800" i="1" u="sng" spc="3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y</a:t>
            </a:r>
            <a:r>
              <a:rPr sz="1800" i="1" u="sng" spc="3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prueba</a:t>
            </a:r>
            <a:r>
              <a:rPr sz="1800" i="1" u="sng" spc="3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de</a:t>
            </a:r>
            <a:r>
              <a:rPr sz="1800" i="1" u="sng" spc="3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unidad:</a:t>
            </a:r>
            <a:r>
              <a:rPr sz="1800" i="1" u="sng" spc="3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La</a:t>
            </a:r>
            <a:r>
              <a:rPr sz="1800" u="none" spc="3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prueba</a:t>
            </a:r>
            <a:r>
              <a:rPr sz="1800" u="none" spc="3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25" dirty="0">
                <a:solidFill>
                  <a:srgbClr val="FFFFFF"/>
                </a:solidFill>
                <a:latin typeface="Corbel"/>
                <a:cs typeface="Corbel"/>
              </a:rPr>
              <a:t>de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unidad</a:t>
            </a:r>
            <a:r>
              <a:rPr sz="1800" u="none" spc="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consiste</a:t>
            </a:r>
            <a:r>
              <a:rPr sz="1800" u="none" spc="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en</a:t>
            </a:r>
            <a:r>
              <a:rPr sz="1800" u="none" spc="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verificar</a:t>
            </a:r>
            <a:r>
              <a:rPr sz="1800" u="none" spc="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que</a:t>
            </a:r>
            <a:r>
              <a:rPr sz="1800" u="none" spc="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cada</a:t>
            </a:r>
            <a:r>
              <a:rPr sz="1800" u="none" spc="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unidad</a:t>
            </a:r>
            <a:r>
              <a:rPr sz="1800" u="none" spc="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10" dirty="0">
                <a:solidFill>
                  <a:srgbClr val="FFFFFF"/>
                </a:solidFill>
                <a:latin typeface="Corbel"/>
                <a:cs typeface="Corbel"/>
              </a:rPr>
              <a:t>cumpla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con</a:t>
            </a:r>
            <a:r>
              <a:rPr sz="1800" u="none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su</a:t>
            </a:r>
            <a:r>
              <a:rPr sz="1800" u="none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10" dirty="0">
                <a:solidFill>
                  <a:srgbClr val="FFFFFF"/>
                </a:solidFill>
                <a:latin typeface="Corbel"/>
                <a:cs typeface="Corbel"/>
              </a:rPr>
              <a:t>especificación.</a:t>
            </a:r>
            <a:endParaRPr sz="1800" dirty="0">
              <a:latin typeface="Corbel"/>
              <a:cs typeface="Corbel"/>
            </a:endParaRPr>
          </a:p>
          <a:p>
            <a:pPr marL="241300" marR="6350" indent="-228600" algn="just">
              <a:lnSpc>
                <a:spcPct val="100000"/>
              </a:lnSpc>
              <a:buAutoNum type="arabicPeriod" startAt="2"/>
              <a:tabLst>
                <a:tab pos="241300" algn="l"/>
              </a:tabLst>
            </a:pP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Integración</a:t>
            </a:r>
            <a:r>
              <a:rPr sz="1800" i="1" u="sng" spc="40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y</a:t>
            </a:r>
            <a:r>
              <a:rPr sz="1800" i="1" u="sng" spc="3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prueba</a:t>
            </a:r>
            <a:r>
              <a:rPr sz="1800" i="1" u="sng" spc="3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de</a:t>
            </a:r>
            <a:r>
              <a:rPr sz="1800" i="1" u="sng" spc="3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sistema:</a:t>
            </a:r>
            <a:r>
              <a:rPr sz="1800" i="1" u="sng" spc="3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Las</a:t>
            </a:r>
            <a:r>
              <a:rPr sz="1800" u="none" spc="4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unidades</a:t>
            </a:r>
            <a:r>
              <a:rPr sz="1800" u="none" spc="4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25" dirty="0">
                <a:solidFill>
                  <a:srgbClr val="FFFFFF"/>
                </a:solidFill>
                <a:latin typeface="Corbel"/>
                <a:cs typeface="Corbel"/>
              </a:rPr>
              <a:t>del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programa</a:t>
            </a:r>
            <a:r>
              <a:rPr sz="1800" u="none" spc="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u="none" spc="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los</a:t>
            </a:r>
            <a:r>
              <a:rPr sz="1800" u="none" spc="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programas</a:t>
            </a:r>
            <a:r>
              <a:rPr sz="1800" u="none" spc="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individuales</a:t>
            </a:r>
            <a:r>
              <a:rPr sz="1800" u="none" spc="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se</a:t>
            </a:r>
            <a:r>
              <a:rPr sz="1800" u="none" spc="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integran</a:t>
            </a:r>
            <a:r>
              <a:rPr sz="1800" u="none" spc="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50" dirty="0">
                <a:solidFill>
                  <a:srgbClr val="FFFFFF"/>
                </a:solidFill>
                <a:latin typeface="Corbel"/>
                <a:cs typeface="Corbel"/>
              </a:rPr>
              <a:t>y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prueban como</a:t>
            </a:r>
            <a:r>
              <a:rPr sz="1800" u="none" spc="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un</a:t>
            </a:r>
            <a:r>
              <a:rPr sz="1800" u="none" spc="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sistema</a:t>
            </a:r>
            <a:r>
              <a:rPr sz="1800" u="none" spc="-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completo</a:t>
            </a:r>
            <a:r>
              <a:rPr sz="1800" u="none" spc="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para</a:t>
            </a:r>
            <a:r>
              <a:rPr sz="1800" u="none" spc="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10" dirty="0">
                <a:solidFill>
                  <a:srgbClr val="FFFFFF"/>
                </a:solidFill>
                <a:latin typeface="Corbel"/>
                <a:cs typeface="Corbel"/>
              </a:rPr>
              <a:t>asegurarse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</a:t>
            </a:r>
            <a:r>
              <a:rPr sz="1800" u="none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que</a:t>
            </a:r>
            <a:r>
              <a:rPr sz="1800" u="none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se</a:t>
            </a:r>
            <a:r>
              <a:rPr sz="1800" u="none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cumplan</a:t>
            </a:r>
            <a:r>
              <a:rPr sz="1800" u="none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los</a:t>
            </a:r>
            <a:r>
              <a:rPr sz="1800" u="none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requerimientos</a:t>
            </a:r>
            <a:r>
              <a:rPr sz="1800" u="none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</a:t>
            </a:r>
            <a:r>
              <a:rPr sz="1800" u="none" spc="-10" dirty="0">
                <a:solidFill>
                  <a:srgbClr val="FFFFFF"/>
                </a:solidFill>
                <a:latin typeface="Corbel"/>
                <a:cs typeface="Corbel"/>
              </a:rPr>
              <a:t> software.</a:t>
            </a:r>
            <a:endParaRPr sz="1800" dirty="0">
              <a:latin typeface="Corbel"/>
              <a:cs typeface="Corbel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41300" algn="l"/>
              </a:tabLst>
            </a:pP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Operación</a:t>
            </a:r>
            <a:r>
              <a:rPr sz="1800" i="1" u="sng" spc="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y</a:t>
            </a:r>
            <a:r>
              <a:rPr sz="1800" i="1" u="sng" spc="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i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mantenimiento:</a:t>
            </a:r>
            <a:r>
              <a:rPr sz="1800" i="1" u="sng" spc="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Incluye</a:t>
            </a:r>
            <a:r>
              <a:rPr sz="1800" u="none" spc="1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corregir</a:t>
            </a:r>
            <a:r>
              <a:rPr sz="1800" u="none" spc="1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10" dirty="0">
                <a:solidFill>
                  <a:srgbClr val="FFFFFF"/>
                </a:solidFill>
                <a:latin typeface="Corbel"/>
                <a:cs typeface="Corbel"/>
              </a:rPr>
              <a:t>errores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no</a:t>
            </a:r>
            <a:r>
              <a:rPr sz="1800" u="none" spc="350" dirty="0">
                <a:solidFill>
                  <a:srgbClr val="FFFFFF"/>
                </a:solidFill>
                <a:latin typeface="Corbel"/>
                <a:cs typeface="Corbel"/>
              </a:rPr>
              <a:t>  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detectados</a:t>
            </a:r>
            <a:r>
              <a:rPr sz="1800" u="none" spc="355" dirty="0">
                <a:solidFill>
                  <a:srgbClr val="FFFFFF"/>
                </a:solidFill>
                <a:latin typeface="Corbel"/>
                <a:cs typeface="Corbel"/>
              </a:rPr>
              <a:t>  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previamente,</a:t>
            </a:r>
            <a:r>
              <a:rPr sz="1800" u="none" spc="355" dirty="0">
                <a:solidFill>
                  <a:srgbClr val="FFFFFF"/>
                </a:solidFill>
                <a:latin typeface="Corbel"/>
                <a:cs typeface="Corbel"/>
              </a:rPr>
              <a:t>  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mejorar</a:t>
            </a:r>
            <a:r>
              <a:rPr sz="1800" u="none" spc="355" dirty="0">
                <a:solidFill>
                  <a:srgbClr val="FFFFFF"/>
                </a:solidFill>
                <a:latin typeface="Corbel"/>
                <a:cs typeface="Corbel"/>
              </a:rPr>
              <a:t>    </a:t>
            </a:r>
            <a:r>
              <a:rPr sz="1800" u="none" spc="-25" dirty="0">
                <a:solidFill>
                  <a:srgbClr val="FFFFFF"/>
                </a:solidFill>
                <a:latin typeface="Corbel"/>
                <a:cs typeface="Corbel"/>
              </a:rPr>
              <a:t>la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implementación</a:t>
            </a:r>
            <a:r>
              <a:rPr sz="1800" u="none" spc="225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</a:t>
            </a:r>
            <a:r>
              <a:rPr sz="1800" u="none" spc="229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las</a:t>
            </a:r>
            <a:r>
              <a:rPr sz="1800" u="none" spc="229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unidades</a:t>
            </a:r>
            <a:r>
              <a:rPr sz="1800" u="none" spc="240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del</a:t>
            </a:r>
            <a:r>
              <a:rPr sz="1800" u="none" spc="229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sistema</a:t>
            </a:r>
            <a:r>
              <a:rPr sz="1800" u="none" spc="229" dirty="0">
                <a:solidFill>
                  <a:srgbClr val="FFFFFF"/>
                </a:solidFill>
                <a:latin typeface="Corbel"/>
                <a:cs typeface="Corbel"/>
              </a:rPr>
              <a:t>  </a:t>
            </a:r>
            <a:r>
              <a:rPr sz="1800" u="none" spc="-50" dirty="0">
                <a:solidFill>
                  <a:srgbClr val="FFFFFF"/>
                </a:solidFill>
                <a:latin typeface="Corbel"/>
                <a:cs typeface="Corbel"/>
              </a:rPr>
              <a:t>e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incrementar</a:t>
            </a:r>
            <a:r>
              <a:rPr sz="1800" u="none" spc="3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los</a:t>
            </a:r>
            <a:r>
              <a:rPr sz="1800" u="none" spc="3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servicios</a:t>
            </a:r>
            <a:r>
              <a:rPr sz="1800" u="none" spc="3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del</a:t>
            </a:r>
            <a:r>
              <a:rPr sz="1800" u="none" spc="3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sistema</a:t>
            </a:r>
            <a:r>
              <a:rPr sz="1800" u="none" spc="3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conforme</a:t>
            </a:r>
            <a:r>
              <a:rPr sz="1800" u="none" spc="3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25" dirty="0">
                <a:solidFill>
                  <a:srgbClr val="FFFFFF"/>
                </a:solidFill>
                <a:latin typeface="Corbel"/>
                <a:cs typeface="Corbel"/>
              </a:rPr>
              <a:t>se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descubren</a:t>
            </a:r>
            <a:r>
              <a:rPr sz="1800" u="none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dirty="0">
                <a:solidFill>
                  <a:srgbClr val="FFFFFF"/>
                </a:solidFill>
                <a:latin typeface="Corbel"/>
                <a:cs typeface="Corbel"/>
              </a:rPr>
              <a:t>nuevos</a:t>
            </a:r>
            <a:r>
              <a:rPr sz="1800" u="none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u="none" spc="-10" dirty="0">
                <a:solidFill>
                  <a:srgbClr val="FFFFFF"/>
                </a:solidFill>
                <a:latin typeface="Corbel"/>
                <a:cs typeface="Corbel"/>
              </a:rPr>
              <a:t>requerimientos.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38EF46DE-3A0C-2934-B45A-D9951197E5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36</a:t>
            </a:fld>
            <a:endParaRPr lang="es-A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242685" cy="6858000"/>
            <a:chOff x="0" y="0"/>
            <a:chExt cx="624268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24248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096000" cy="6857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2751" y="992136"/>
              <a:ext cx="2195322" cy="6878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7661" y="548640"/>
              <a:ext cx="1585899" cy="386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2011" y="992136"/>
              <a:ext cx="2802001" cy="6878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7988" y="548005"/>
              <a:ext cx="2191258" cy="38874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41448" y="1644446"/>
              <a:ext cx="971448" cy="6848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57551" y="1210944"/>
              <a:ext cx="360553" cy="3717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8367" y="2358135"/>
              <a:ext cx="312038" cy="2235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6606" y="2420620"/>
              <a:ext cx="357835" cy="1600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32585" y="2351785"/>
              <a:ext cx="1048512" cy="22986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05048" y="2351785"/>
              <a:ext cx="991615" cy="29705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35221" y="2351785"/>
              <a:ext cx="321055" cy="2298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94327" y="2351785"/>
              <a:ext cx="645922" cy="22986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7415" y="2694685"/>
              <a:ext cx="319557" cy="22986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54963" y="2694685"/>
              <a:ext cx="609473" cy="22885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98445" y="2694685"/>
              <a:ext cx="319531" cy="22986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59861" y="2694685"/>
              <a:ext cx="1422018" cy="22986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24653" y="2694685"/>
              <a:ext cx="321056" cy="22986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8050" y="3037585"/>
              <a:ext cx="1199743" cy="22986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12159" y="3037585"/>
              <a:ext cx="1229614" cy="22986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69947" y="3037585"/>
              <a:ext cx="989711" cy="29705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8855" y="3447669"/>
              <a:ext cx="631596" cy="22415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25751" y="3381755"/>
              <a:ext cx="1142365" cy="29578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48303" y="3452748"/>
              <a:ext cx="170561" cy="22377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05021" y="3380485"/>
              <a:ext cx="949451" cy="29133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98855" y="3790569"/>
              <a:ext cx="1248181" cy="22415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486786" y="3790569"/>
              <a:ext cx="526161" cy="16167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063495" y="3790569"/>
              <a:ext cx="326390" cy="16268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118992" y="3724655"/>
              <a:ext cx="1385951" cy="228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531867" y="3909821"/>
              <a:ext cx="43307" cy="43433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978688" y="1466514"/>
            <a:ext cx="4178983" cy="4241268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55281" y="4409185"/>
            <a:ext cx="1240066" cy="22986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049652" y="4409185"/>
            <a:ext cx="1284477" cy="22986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494404" y="4476369"/>
            <a:ext cx="767842" cy="16268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414646" y="4409185"/>
            <a:ext cx="1048512" cy="22986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370964" y="4752085"/>
            <a:ext cx="1688718" cy="22986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59396" y="4752085"/>
            <a:ext cx="319570" cy="22986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3446017" y="4824348"/>
            <a:ext cx="170561" cy="223774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4001389" y="4752085"/>
            <a:ext cx="1543685" cy="276225"/>
            <a:chOff x="4001389" y="4752085"/>
            <a:chExt cx="1543685" cy="276225"/>
          </a:xfrm>
        </p:grpSpPr>
        <p:pic>
          <p:nvPicPr>
            <p:cNvPr id="46" name="object 4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001389" y="4752085"/>
              <a:ext cx="1467739" cy="22986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496560" y="4937505"/>
              <a:ext cx="48513" cy="90677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52424" y="5094985"/>
            <a:ext cx="393128" cy="22986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174508" y="5094985"/>
            <a:ext cx="1404226" cy="22986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707639" y="5094985"/>
            <a:ext cx="319532" cy="22986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3147186" y="5122290"/>
            <a:ext cx="1243076" cy="268731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511166" y="5094985"/>
            <a:ext cx="1044829" cy="291338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841603" y="5437885"/>
            <a:ext cx="1002563" cy="228866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951482" y="5465190"/>
            <a:ext cx="552957" cy="202514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2617851" y="5437885"/>
            <a:ext cx="1071372" cy="22981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812921" y="5437885"/>
            <a:ext cx="1029969" cy="22981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4968113" y="5505069"/>
            <a:ext cx="590676" cy="162636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50967" y="5780785"/>
            <a:ext cx="1394748" cy="22981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159635" y="5847994"/>
            <a:ext cx="498728" cy="22411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2762630" y="5782055"/>
            <a:ext cx="1165224" cy="290055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031107" y="5780785"/>
            <a:ext cx="1135379" cy="291325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447919" y="5850839"/>
            <a:ext cx="116331" cy="155016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652741" y="6124955"/>
            <a:ext cx="1244600" cy="295910"/>
            <a:chOff x="652741" y="6124955"/>
            <a:chExt cx="1244600" cy="295910"/>
          </a:xfrm>
        </p:grpSpPr>
        <p:pic>
          <p:nvPicPr>
            <p:cNvPr id="64" name="object 6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52741" y="6124955"/>
              <a:ext cx="1167041" cy="29575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853437" y="6310083"/>
              <a:ext cx="43306" cy="43421"/>
            </a:xfrm>
            <a:prstGeom prst="rect">
              <a:avLst/>
            </a:prstGeom>
          </p:spPr>
        </p:pic>
      </p:grpSp>
      <p:sp>
        <p:nvSpPr>
          <p:cNvPr id="67" name="Marcador de número de diapositiva 66">
            <a:extLst>
              <a:ext uri="{FF2B5EF4-FFF2-40B4-BE49-F238E27FC236}">
                <a16:creationId xmlns:a16="http://schemas.microsoft.com/office/drawing/2014/main" id="{F44008DD-7663-1BD7-2A7A-791367EBB7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37</a:t>
            </a:fld>
            <a:endParaRPr lang="es-A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7586471" y="0"/>
              <a:ext cx="4605655" cy="6858000"/>
            </a:xfrm>
            <a:custGeom>
              <a:avLst/>
              <a:gdLst/>
              <a:ahLst/>
              <a:cxnLst/>
              <a:rect l="l" t="t" r="r" b="b"/>
              <a:pathLst>
                <a:path w="4605655" h="6858000">
                  <a:moveTo>
                    <a:pt x="0" y="0"/>
                  </a:moveTo>
                  <a:lnTo>
                    <a:pt x="0" y="6858000"/>
                  </a:lnTo>
                  <a:lnTo>
                    <a:pt x="4605527" y="6858000"/>
                  </a:lnTo>
                  <a:lnTo>
                    <a:pt x="46055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33628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8153400" cy="68579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6044" y="1153642"/>
              <a:ext cx="2195322" cy="68633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876" y="709676"/>
              <a:ext cx="1585976" cy="386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3779" y="1153642"/>
              <a:ext cx="2536698" cy="6863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89121" y="709676"/>
              <a:ext cx="1926843" cy="386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1808" y="1729714"/>
              <a:ext cx="2131187" cy="6863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6641" y="1285747"/>
              <a:ext cx="1521968" cy="3860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44011" y="1729803"/>
              <a:ext cx="1122591" cy="6641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58717" y="1398269"/>
              <a:ext cx="512064" cy="27355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59708" y="1708442"/>
              <a:ext cx="2718181" cy="70824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75176" y="1287652"/>
              <a:ext cx="2107819" cy="4876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88907" y="806195"/>
              <a:ext cx="2799588" cy="22981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88907" y="3593591"/>
              <a:ext cx="2799588" cy="261670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94689" y="2759405"/>
            <a:ext cx="6257290" cy="30899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500" spc="6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Es</a:t>
            </a:r>
            <a:r>
              <a:rPr sz="2500" spc="3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utilizado</a:t>
            </a:r>
            <a:r>
              <a:rPr sz="2500" spc="35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principalmente</a:t>
            </a:r>
            <a:r>
              <a:rPr sz="2500" spc="3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en</a:t>
            </a:r>
            <a:r>
              <a:rPr sz="2500" spc="3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500" spc="34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desarrollo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500" spc="28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software</a:t>
            </a:r>
            <a:r>
              <a:rPr sz="2500" spc="27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para</a:t>
            </a:r>
            <a:r>
              <a:rPr sz="2500" spc="28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ofrecer</a:t>
            </a:r>
            <a:r>
              <a:rPr sz="2500" spc="27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spc="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al</a:t>
            </a:r>
            <a:r>
              <a:rPr sz="2500" spc="28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usuario</a:t>
            </a:r>
            <a:r>
              <a:rPr sz="2500" spc="28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spc="3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una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visión</a:t>
            </a:r>
            <a:r>
              <a:rPr sz="2500" spc="4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previa</a:t>
            </a:r>
            <a:r>
              <a:rPr sz="2500" spc="3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500" spc="62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cómo</a:t>
            </a:r>
            <a:r>
              <a:rPr sz="2500" spc="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será</a:t>
            </a:r>
            <a:r>
              <a:rPr sz="2500" spc="4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500" spc="3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programa</a:t>
            </a:r>
            <a:r>
              <a:rPr sz="2500" spc="4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</a:t>
            </a:r>
            <a:r>
              <a:rPr sz="2500" spc="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o </a:t>
            </a:r>
            <a:r>
              <a:rPr sz="2500" spc="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sistema.</a:t>
            </a:r>
            <a:endParaRPr sz="2500" dirty="0">
              <a:latin typeface="Abadi" panose="020B0604020104020204" pitchFamily="34" charset="0"/>
              <a:cs typeface="Cambria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500" spc="8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Se</a:t>
            </a:r>
            <a:r>
              <a:rPr sz="2500" spc="2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le</a:t>
            </a:r>
            <a:r>
              <a:rPr sz="2500" spc="254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dice</a:t>
            </a:r>
            <a:r>
              <a:rPr sz="2500" spc="26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500" spc="26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desarrollo</a:t>
            </a:r>
            <a:r>
              <a:rPr sz="2500" spc="28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evolutivo</a:t>
            </a:r>
            <a:r>
              <a:rPr sz="2500" spc="26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al</a:t>
            </a:r>
            <a:r>
              <a:rPr sz="2500" spc="26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modelo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500" spc="28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prototipo</a:t>
            </a:r>
            <a:r>
              <a:rPr sz="2500" spc="29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porque</a:t>
            </a:r>
            <a:r>
              <a:rPr sz="2500" spc="28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500" spc="5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evoluciona</a:t>
            </a:r>
            <a:r>
              <a:rPr sz="2500" spc="29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500" spc="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hasta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convertirse</a:t>
            </a:r>
            <a:r>
              <a:rPr sz="2500" spc="36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en</a:t>
            </a:r>
            <a:r>
              <a:rPr sz="2500" spc="3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500" spc="3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producto</a:t>
            </a:r>
            <a:r>
              <a:rPr sz="2500" spc="40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final.</a:t>
            </a:r>
            <a:endParaRPr sz="25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21" name="Marcador de número de diapositiva 20">
            <a:extLst>
              <a:ext uri="{FF2B5EF4-FFF2-40B4-BE49-F238E27FC236}">
                <a16:creationId xmlns:a16="http://schemas.microsoft.com/office/drawing/2014/main" id="{EEFA5158-148D-62DA-3374-0FC984A174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38</a:t>
            </a:fld>
            <a:endParaRPr lang="es-A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904" y="941844"/>
            <a:ext cx="2195322" cy="6878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4991" y="498729"/>
            <a:ext cx="1585848" cy="3860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7640" y="941844"/>
            <a:ext cx="2536698" cy="6878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234" y="498729"/>
            <a:ext cx="1926716" cy="3860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10655" y="963206"/>
            <a:ext cx="759752" cy="6230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25870" y="720547"/>
            <a:ext cx="149885" cy="5707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269735" y="499363"/>
            <a:ext cx="2006600" cy="1130935"/>
            <a:chOff x="6269735" y="499363"/>
            <a:chExt cx="2006600" cy="1130935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9735" y="922058"/>
              <a:ext cx="2006218" cy="7082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5330" y="499363"/>
              <a:ext cx="1396238" cy="48895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15028" y="1342644"/>
            <a:ext cx="6862572" cy="461467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61899" y="1666748"/>
            <a:ext cx="3758565" cy="20435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7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Las</a:t>
            </a:r>
            <a:r>
              <a:rPr sz="2200" spc="509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actividades</a:t>
            </a:r>
            <a:r>
              <a:rPr sz="2200" spc="509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200" spc="51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200" spc="-2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este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modelo</a:t>
            </a:r>
            <a:r>
              <a:rPr sz="2200" spc="3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se</a:t>
            </a:r>
            <a:r>
              <a:rPr sz="2200" spc="36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spc="5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conforman</a:t>
            </a:r>
            <a:r>
              <a:rPr sz="2200" spc="37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en</a:t>
            </a:r>
            <a:r>
              <a:rPr sz="2200" spc="36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una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espiral,</a:t>
            </a:r>
            <a:r>
              <a:rPr sz="2200" spc="484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en</a:t>
            </a:r>
            <a:r>
              <a:rPr sz="2200" spc="48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la</a:t>
            </a:r>
            <a:r>
              <a:rPr sz="2200" spc="47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que</a:t>
            </a:r>
            <a:r>
              <a:rPr sz="2200" spc="484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cada</a:t>
            </a:r>
            <a:r>
              <a:rPr sz="2200" spc="49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bucle </a:t>
            </a:r>
            <a:r>
              <a:rPr sz="2200" spc="6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o</a:t>
            </a:r>
            <a:r>
              <a:rPr sz="2200" spc="27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iteración</a:t>
            </a:r>
            <a:r>
              <a:rPr sz="2200" spc="28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representa</a:t>
            </a:r>
            <a:r>
              <a:rPr sz="2200" spc="27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200" spc="-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un </a:t>
            </a:r>
            <a:r>
              <a:rPr sz="2200" spc="5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conjunto</a:t>
            </a:r>
            <a:r>
              <a:rPr sz="2200" spc="18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200" spc="1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spc="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actividades.</a:t>
            </a:r>
            <a:endParaRPr sz="22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679" y="3755897"/>
            <a:ext cx="26670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38225" algn="l"/>
                <a:tab pos="1223645" algn="l"/>
                <a:tab pos="2231390" algn="l"/>
              </a:tabLst>
            </a:pPr>
            <a:r>
              <a:rPr sz="2200" spc="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Las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		</a:t>
            </a:r>
            <a:r>
              <a:rPr sz="22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actividades están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	</a:t>
            </a:r>
            <a:r>
              <a:rPr sz="2200" spc="4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fijadas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	</a:t>
            </a:r>
            <a:r>
              <a:rPr sz="2200" spc="3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a</a:t>
            </a:r>
            <a:endParaRPr sz="22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8226" y="3755897"/>
            <a:ext cx="10471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01040">
              <a:lnSpc>
                <a:spcPct val="100000"/>
              </a:lnSpc>
              <a:spcBef>
                <a:spcPts val="95"/>
              </a:spcBef>
            </a:pPr>
            <a:r>
              <a:rPr sz="2200" spc="3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no </a:t>
            </a:r>
            <a:r>
              <a:rPr sz="22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ninguna</a:t>
            </a:r>
            <a:endParaRPr sz="22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0679" y="4426458"/>
            <a:ext cx="12585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prioridad,</a:t>
            </a:r>
            <a:endParaRPr sz="22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0679" y="4426458"/>
            <a:ext cx="30689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703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sino</a:t>
            </a:r>
            <a:endParaRPr sz="2200" dirty="0">
              <a:latin typeface="Abadi" panose="020B0604020104020204" pitchFamily="34" charset="0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1655445" algn="l"/>
                <a:tab pos="2309495" algn="l"/>
              </a:tabLst>
            </a:pPr>
            <a:r>
              <a:rPr sz="22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siguientes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se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	</a:t>
            </a:r>
            <a:r>
              <a:rPr sz="22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eligen</a:t>
            </a:r>
            <a:endParaRPr sz="22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98394" y="4426458"/>
            <a:ext cx="12249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848360" algn="l"/>
              </a:tabLst>
            </a:pPr>
            <a:r>
              <a:rPr sz="2200" spc="-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que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	</a:t>
            </a:r>
            <a:r>
              <a:rPr sz="2200" spc="-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las</a:t>
            </a:r>
            <a:endParaRPr sz="2200" dirty="0">
              <a:latin typeface="Abadi" panose="020B0604020104020204" pitchFamily="34" charset="0"/>
              <a:cs typeface="Cambria"/>
            </a:endParaRPr>
          </a:p>
          <a:p>
            <a:pPr marR="5715" algn="r">
              <a:lnSpc>
                <a:spcPct val="100000"/>
              </a:lnSpc>
            </a:pPr>
            <a:r>
              <a:rPr sz="2200" spc="-2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en</a:t>
            </a:r>
            <a:endParaRPr sz="22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679" y="5097271"/>
            <a:ext cx="376491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5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función</a:t>
            </a:r>
            <a:r>
              <a:rPr sz="2200" spc="29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del</a:t>
            </a:r>
            <a:r>
              <a:rPr sz="2200" spc="3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análisis</a:t>
            </a:r>
            <a:r>
              <a:rPr sz="2200" spc="29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de</a:t>
            </a:r>
            <a:r>
              <a:rPr sz="2200" spc="30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riesgo, </a:t>
            </a:r>
            <a:r>
              <a:rPr sz="2200" spc="65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comenzando</a:t>
            </a:r>
            <a:r>
              <a:rPr sz="2200" spc="229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por</a:t>
            </a:r>
            <a:r>
              <a:rPr sz="2200" spc="229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20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el</a:t>
            </a:r>
            <a:r>
              <a:rPr sz="2200" spc="229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   </a:t>
            </a:r>
            <a:r>
              <a:rPr sz="2200" spc="4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bucle </a:t>
            </a:r>
            <a:r>
              <a:rPr sz="2200" spc="-10" dirty="0">
                <a:solidFill>
                  <a:srgbClr val="FFFFFF"/>
                </a:solidFill>
                <a:latin typeface="Abadi" panose="020B0604020104020204" pitchFamily="34" charset="0"/>
                <a:cs typeface="Cambria"/>
              </a:rPr>
              <a:t>interior.</a:t>
            </a:r>
            <a:endParaRPr sz="2200" dirty="0">
              <a:latin typeface="Abadi" panose="020B0604020104020204" pitchFamily="34" charset="0"/>
              <a:cs typeface="Cambria"/>
            </a:endParaRPr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AFF895E8-AF2D-988D-A932-AF06A2077B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39</a:t>
            </a:fld>
            <a:endParaRPr lang="es-A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945620" cy="6858000"/>
            <a:chOff x="0" y="0"/>
            <a:chExt cx="1194562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764231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618101" cy="6857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216" y="1056132"/>
              <a:ext cx="1830451" cy="6035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3942" y="692276"/>
              <a:ext cx="1290866" cy="3213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8339" y="1056132"/>
              <a:ext cx="2095627" cy="6035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37739" y="692276"/>
              <a:ext cx="1555369" cy="32131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8511" y="1536191"/>
              <a:ext cx="2551049" cy="6035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27022" y="1171066"/>
              <a:ext cx="2012441" cy="3225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3470" y="2312797"/>
              <a:ext cx="213969" cy="2247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5626" y="2375280"/>
              <a:ext cx="169913" cy="1562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26132" y="2333751"/>
              <a:ext cx="1241552" cy="2687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12540" y="2373629"/>
              <a:ext cx="279781" cy="1626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6328" y="2649347"/>
              <a:ext cx="2036076" cy="2913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95676" y="2716529"/>
              <a:ext cx="327913" cy="1626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70985" y="2716529"/>
              <a:ext cx="529589" cy="16167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6963" y="2993517"/>
              <a:ext cx="652665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2745" y="2992247"/>
              <a:ext cx="319531" cy="22986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48661" y="2993517"/>
              <a:ext cx="1755266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36948" y="3177667"/>
              <a:ext cx="48513" cy="9067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8233" y="3335146"/>
              <a:ext cx="657618" cy="22986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96822" y="3402329"/>
              <a:ext cx="531495" cy="16268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91385" y="3335146"/>
              <a:ext cx="319531" cy="22986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62935" y="3335146"/>
              <a:ext cx="393064" cy="22986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17417" y="3335146"/>
              <a:ext cx="876427" cy="22986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96963" y="3679316"/>
              <a:ext cx="1490992" cy="228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332735" y="3745229"/>
              <a:ext cx="531876" cy="16167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013329" y="3679316"/>
              <a:ext cx="1085976" cy="29006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6328" y="4020946"/>
              <a:ext cx="319557" cy="22986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152395" y="4020946"/>
              <a:ext cx="1948433" cy="22986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63547" y="4020946"/>
              <a:ext cx="245872" cy="22885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90308" y="4391152"/>
              <a:ext cx="1197800" cy="26403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023745" y="4363846"/>
              <a:ext cx="321056" cy="22986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469388" y="4363846"/>
              <a:ext cx="245872" cy="22885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832607" y="4363846"/>
              <a:ext cx="1268221" cy="22986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6328" y="4706746"/>
              <a:ext cx="319557" cy="22986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311147" y="4706746"/>
              <a:ext cx="393065" cy="22986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000885" y="4708016"/>
              <a:ext cx="1379727" cy="2900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84904" y="4706746"/>
              <a:ext cx="411099" cy="22986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87768" y="5076952"/>
              <a:ext cx="1239964" cy="2687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946655" y="5236083"/>
              <a:ext cx="43433" cy="4343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779264" y="1723409"/>
              <a:ext cx="7165883" cy="3378694"/>
            </a:xfrm>
            <a:prstGeom prst="rect">
              <a:avLst/>
            </a:prstGeom>
          </p:spPr>
        </p:pic>
      </p:grpSp>
      <p:sp>
        <p:nvSpPr>
          <p:cNvPr id="45" name="Marcador de número de diapositiva 44">
            <a:extLst>
              <a:ext uri="{FF2B5EF4-FFF2-40B4-BE49-F238E27FC236}">
                <a16:creationId xmlns:a16="http://schemas.microsoft.com/office/drawing/2014/main" id="{6763D67E-2C17-CDF0-CCCF-576E22ECBE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40</a:t>
            </a:fld>
            <a:endParaRPr lang="es-A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3B66A26-A297-4530-4850-C2483D5E36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41</a:t>
            </a:fld>
            <a:endParaRPr lang="es-AR"/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942188A6-CBD4-588B-D592-30A2A175FC0B}"/>
              </a:ext>
            </a:extLst>
          </p:cNvPr>
          <p:cNvSpPr txBox="1">
            <a:spLocks/>
          </p:cNvSpPr>
          <p:nvPr/>
        </p:nvSpPr>
        <p:spPr>
          <a:xfrm>
            <a:off x="615696" y="359356"/>
            <a:ext cx="113385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Abadi" panose="020F0502020204030204" pitchFamily="34" charset="0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95"/>
              </a:spcBef>
            </a:pPr>
            <a:r>
              <a:rPr lang="es-MX" sz="4000">
                <a:solidFill>
                  <a:schemeClr val="bg1"/>
                </a:solidFill>
              </a:rPr>
              <a:t>Método Ágil</a:t>
            </a:r>
            <a:endParaRPr lang="es-MX" sz="4000" dirty="0">
              <a:solidFill>
                <a:schemeClr val="bg1"/>
              </a:solidFill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EC433871-B1B8-6444-D559-037FE2053029}"/>
              </a:ext>
            </a:extLst>
          </p:cNvPr>
          <p:cNvSpPr txBox="1"/>
          <p:nvPr/>
        </p:nvSpPr>
        <p:spPr>
          <a:xfrm>
            <a:off x="914400" y="2422001"/>
            <a:ext cx="10210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>
              <a:defRPr sz="2000" spc="55">
                <a:solidFill>
                  <a:schemeClr val="tx2"/>
                </a:solidFill>
              </a:defRPr>
            </a:lvl1pPr>
          </a:lstStyle>
          <a:p>
            <a:pPr algn="l"/>
            <a:r>
              <a:rPr sz="2400" dirty="0">
                <a:solidFill>
                  <a:schemeClr val="bg1"/>
                </a:solidFill>
              </a:rPr>
              <a:t>A través de este trabajo hemos aprendido a valorar:</a:t>
            </a:r>
          </a:p>
          <a:p>
            <a:pPr algn="l"/>
            <a:endParaRPr sz="24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</a:rPr>
              <a:t>Individuos e interacciones sobre </a:t>
            </a:r>
            <a:r>
              <a:rPr sz="2400" dirty="0" err="1">
                <a:solidFill>
                  <a:schemeClr val="bg1"/>
                </a:solidFill>
              </a:rPr>
              <a:t>procesos</a:t>
            </a:r>
            <a:r>
              <a:rPr sz="2400" dirty="0">
                <a:solidFill>
                  <a:schemeClr val="bg1"/>
                </a:solidFill>
              </a:rPr>
              <a:t> y herramientas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</a:rPr>
              <a:t>Software funcionando sobre documentación </a:t>
            </a:r>
            <a:r>
              <a:rPr sz="2400" dirty="0" err="1">
                <a:solidFill>
                  <a:schemeClr val="bg1"/>
                </a:solidFill>
              </a:rPr>
              <a:t>extensiva</a:t>
            </a:r>
            <a:endParaRPr sz="24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</a:rPr>
              <a:t>Colaboración con el cliente sobre </a:t>
            </a:r>
            <a:r>
              <a:rPr sz="2400" dirty="0" err="1">
                <a:solidFill>
                  <a:schemeClr val="bg1"/>
                </a:solidFill>
              </a:rPr>
              <a:t>negociación</a:t>
            </a:r>
            <a:r>
              <a:rPr sz="2400" dirty="0">
                <a:solidFill>
                  <a:schemeClr val="bg1"/>
                </a:solidFill>
              </a:rPr>
              <a:t> contractual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</a:rPr>
              <a:t>Respuesta ante el cambio sobre </a:t>
            </a:r>
            <a:r>
              <a:rPr sz="2400" dirty="0" err="1">
                <a:solidFill>
                  <a:schemeClr val="bg1"/>
                </a:solidFill>
              </a:rPr>
              <a:t>seguir</a:t>
            </a:r>
            <a:r>
              <a:rPr sz="2400" dirty="0">
                <a:solidFill>
                  <a:schemeClr val="bg1"/>
                </a:solidFill>
              </a:rPr>
              <a:t> un plan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E115ED-EC8B-43A2-8DB8-FCF52C4ADC6A}"/>
              </a:ext>
            </a:extLst>
          </p:cNvPr>
          <p:cNvSpPr txBox="1"/>
          <p:nvPr/>
        </p:nvSpPr>
        <p:spPr>
          <a:xfrm>
            <a:off x="426720" y="1236052"/>
            <a:ext cx="1146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>
              <a:defRPr sz="2000" spc="55">
                <a:solidFill>
                  <a:schemeClr val="tx1"/>
                </a:solidFill>
              </a:defRPr>
            </a:lvl1pPr>
          </a:lstStyle>
          <a:p>
            <a:pPr algn="ctr"/>
            <a:r>
              <a:rPr lang="es-MX" sz="2400" dirty="0">
                <a:solidFill>
                  <a:schemeClr val="bg1"/>
                </a:solidFill>
              </a:rPr>
              <a:t>Estamos  descubriendo  formas  mejores  de  desarrollar  software  tanto  por  nuestra  propia experiencia como ayudando a terceros.</a:t>
            </a:r>
            <a:endParaRPr lang="es-A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4415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19" y="2755264"/>
            <a:ext cx="1908187" cy="3845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197" y="3334130"/>
            <a:ext cx="1559280" cy="3977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6751" y="762000"/>
            <a:ext cx="9337547" cy="5478779"/>
          </a:xfrm>
          <a:prstGeom prst="rect">
            <a:avLst/>
          </a:prstGeom>
        </p:spPr>
      </p:pic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673AB9-7F1F-A476-F200-3F05AFAD95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42</a:t>
            </a:fld>
            <a:endParaRPr lang="es-A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723" y="2487041"/>
            <a:ext cx="2130501" cy="42976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556" y="3133217"/>
            <a:ext cx="2071141" cy="440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3535" y="638555"/>
            <a:ext cx="9159240" cy="5312664"/>
          </a:xfrm>
          <a:prstGeom prst="rect">
            <a:avLst/>
          </a:prstGeom>
        </p:spPr>
      </p:pic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8167F5-A4A8-12FD-65AB-DAC94EDE5E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43</a:t>
            </a:fld>
            <a:endParaRPr lang="es-A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CBC98A8-9C8C-8912-4569-80C23EB011D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rnd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itle 1">
            <a:extLst>
              <a:ext uri="{FF2B5EF4-FFF2-40B4-BE49-F238E27FC236}">
                <a16:creationId xmlns:a16="http://schemas.microsoft.com/office/drawing/2014/main" id="{D0C82B2A-0D97-4C8D-9679-E52CD92D0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322" y="1085610"/>
            <a:ext cx="4494179" cy="553998"/>
          </a:xfrm>
        </p:spPr>
        <p:txBody>
          <a:bodyPr>
            <a:normAutofit/>
          </a:bodyPr>
          <a:lstStyle/>
          <a:p>
            <a:pPr algn="ctr"/>
            <a:r>
              <a:rPr lang="es-AR" sz="3500" b="1" spc="300">
                <a:latin typeface="Amasis MT Pro Medium" panose="02040604050005020304" pitchFamily="18" charset="0"/>
              </a:rPr>
              <a:t>Dudas ?</a:t>
            </a:r>
            <a:endParaRPr lang="en-US" sz="3500" b="1" spc="300">
              <a:latin typeface="Amasis MT Pro Medium" panose="02040604050005020304" pitchFamily="18" charset="0"/>
            </a:endParaRPr>
          </a:p>
        </p:txBody>
      </p:sp>
      <p:pic>
        <p:nvPicPr>
          <p:cNvPr id="17" name="Marcador de contenido 16" descr="Sala de alumnos levantando la mano frente a un profesor">
            <a:extLst>
              <a:ext uri="{FF2B5EF4-FFF2-40B4-BE49-F238E27FC236}">
                <a16:creationId xmlns:a16="http://schemas.microsoft.com/office/drawing/2014/main" id="{B1BF6732-AAB2-4368-81BD-4FF4065C2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494046" y="1901291"/>
            <a:ext cx="5276499" cy="3594100"/>
          </a:xfr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9AE80C0-B675-8279-4262-B98445D72064}"/>
              </a:ext>
            </a:extLst>
          </p:cNvPr>
          <p:cNvSpPr txBox="1"/>
          <p:nvPr/>
        </p:nvSpPr>
        <p:spPr>
          <a:xfrm>
            <a:off x="2102809" y="5696714"/>
            <a:ext cx="609437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b="1" cap="all" spc="300" err="1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  <a:ea typeface="+mj-ea"/>
                <a:cs typeface="+mj-cs"/>
              </a:rPr>
              <a:t>Comentarios</a:t>
            </a:r>
            <a:r>
              <a:rPr lang="en-US" sz="3300" b="1" cap="all" spc="30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  <a:ea typeface="+mj-ea"/>
                <a:cs typeface="+mj-cs"/>
              </a:rPr>
              <a:t>?</a:t>
            </a:r>
            <a:endParaRPr lang="es-AR" sz="3300" b="1" cap="all" spc="300">
              <a:solidFill>
                <a:schemeClr val="accent1">
                  <a:lumMod val="75000"/>
                </a:schemeClr>
              </a:solidFill>
              <a:latin typeface="Amasis MT Pro Medium" panose="02040604050005020304" pitchFamily="18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9A6AB-6996-D6D3-6AEF-1360E76EA5DE}"/>
              </a:ext>
            </a:extLst>
          </p:cNvPr>
          <p:cNvSpPr txBox="1">
            <a:spLocks/>
          </p:cNvSpPr>
          <p:nvPr/>
        </p:nvSpPr>
        <p:spPr>
          <a:xfrm>
            <a:off x="6426740" y="3338418"/>
            <a:ext cx="4494179" cy="5539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3300" b="1" spc="300" err="1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Preguntas</a:t>
            </a:r>
            <a:r>
              <a:rPr lang="en-US" sz="13300" b="1" spc="30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?</a:t>
            </a:r>
            <a:br>
              <a:rPr lang="en-US" sz="3500" b="1" spc="300">
                <a:latin typeface="Amasis MT Pro Medium" panose="02040604050005020304" pitchFamily="18" charset="0"/>
              </a:rPr>
            </a:br>
            <a:br>
              <a:rPr lang="en-US" sz="3500" b="1" spc="300">
                <a:solidFill>
                  <a:schemeClr val="accent1"/>
                </a:solidFill>
                <a:latin typeface="Amasis MT Pro Medium" panose="02040604050005020304" pitchFamily="18" charset="0"/>
              </a:rPr>
            </a:br>
            <a:endParaRPr lang="en-US" sz="3500" b="1" spc="300">
              <a:solidFill>
                <a:schemeClr val="accent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4C7EB2-B3DF-E1A5-E4D1-F30FD386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0E506-8910-4A1D-9597-9E72BD293B97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07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aaa21c-b190-41e2-bce9-beef15c034af">
      <Terms xmlns="http://schemas.microsoft.com/office/infopath/2007/PartnerControls"/>
    </lcf76f155ced4ddcb4097134ff3c332f>
    <TaxCatchAll xmlns="76cd4081-d503-4eb2-9e44-e4abb748bb5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78FC685A2BE143BD8DCEBE5EE711F3" ma:contentTypeVersion="10" ma:contentTypeDescription="Create a new document." ma:contentTypeScope="" ma:versionID="0964a90c175e757d66342d28d55f12c9">
  <xsd:schema xmlns:xsd="http://www.w3.org/2001/XMLSchema" xmlns:xs="http://www.w3.org/2001/XMLSchema" xmlns:p="http://schemas.microsoft.com/office/2006/metadata/properties" xmlns:ns2="1aaaa21c-b190-41e2-bce9-beef15c034af" xmlns:ns3="76cd4081-d503-4eb2-9e44-e4abb748bb5e" targetNamespace="http://schemas.microsoft.com/office/2006/metadata/properties" ma:root="true" ma:fieldsID="59e9713129d7bd3e9b9dde7f30900738" ns2:_="" ns3:_="">
    <xsd:import namespace="1aaaa21c-b190-41e2-bce9-beef15c034af"/>
    <xsd:import namespace="76cd4081-d503-4eb2-9e44-e4abb748bb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aaa21c-b190-41e2-bce9-beef15c0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d4081-d503-4eb2-9e44-e4abb748bb5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9172690-021a-4eb8-bf47-7164987a813e}" ma:internalName="TaxCatchAll" ma:showField="CatchAllData" ma:web="76cd4081-d503-4eb2-9e44-e4abb748bb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8FC62B-53B0-4B9C-A37D-A6426B3B9B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7B8ED14-D23C-41E1-8A72-48B9755363EF}"/>
</file>

<file path=customXml/itemProps3.xml><?xml version="1.0" encoding="utf-8"?>
<ds:datastoreItem xmlns:ds="http://schemas.openxmlformats.org/officeDocument/2006/customXml" ds:itemID="{6CEA3206-EB0E-4419-8B3D-2B9FD61083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1804</Words>
  <Application>Microsoft Office PowerPoint</Application>
  <PresentationFormat>Widescreen</PresentationFormat>
  <Paragraphs>297</Paragraphs>
  <Slides>44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PowerPoint Presentation</vt:lpstr>
      <vt:lpstr>PowerPoint Presentation</vt:lpstr>
      <vt:lpstr>Niveles de los Requerimientos</vt:lpstr>
      <vt:lpstr>PowerPoint Presentation</vt:lpstr>
      <vt:lpstr>PowerPoint Presentation</vt:lpstr>
      <vt:lpstr>Problemas de requerimiento</vt:lpstr>
      <vt:lpstr>Necesidades de usuario</vt:lpstr>
      <vt:lpstr>PowerPoint Presentation</vt:lpstr>
      <vt:lpstr>Actividades Básicas</vt:lpstr>
      <vt:lpstr>PowerPoint Presentation</vt:lpstr>
      <vt:lpstr>Trabajo en Equipo</vt:lpstr>
      <vt:lpstr>Conceptos sobre gestión de proyectos</vt:lpstr>
      <vt:lpstr>Las Cuatro  “PES”:</vt:lpstr>
      <vt:lpstr>Interesados o Stakeholders</vt:lpstr>
      <vt:lpstr>Proyecto</vt:lpstr>
      <vt:lpstr>Producto</vt:lpstr>
      <vt:lpstr>PowerPoint Presentation</vt:lpstr>
      <vt:lpstr>PowerPoint Presentation</vt:lpstr>
      <vt:lpstr>PowerPoint Presentation</vt:lpstr>
      <vt:lpstr>PowerPoint Presentation</vt:lpstr>
      <vt:lpstr>Resolución del problema</vt:lpstr>
      <vt:lpstr>Personal</vt:lpstr>
      <vt:lpstr>PowerPoint Presentation</vt:lpstr>
      <vt:lpstr>Personal</vt:lpstr>
      <vt:lpstr>Trabajo en Equipo</vt:lpstr>
      <vt:lpstr>Cohesión de equipos</vt:lpstr>
      <vt:lpstr>Cohesión de equipos</vt:lpstr>
      <vt:lpstr>Integración de las Cuatro PES </vt:lpstr>
      <vt:lpstr>Planificación</vt:lpstr>
      <vt:lpstr>Análisis de riesgo</vt:lpstr>
      <vt:lpstr>Ingeniería</vt:lpstr>
      <vt:lpstr>Construcción y entrega</vt:lpstr>
      <vt:lpstr>Evaluación del cliente</vt:lpstr>
      <vt:lpstr>Clases de usuarios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Dudas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INGENIERÍA DE REQUERIMIENTOS</dc:title>
  <dc:creator>MARY AUXILIADORA FERNANDEZ</dc:creator>
  <cp:lastModifiedBy>Daldin Susana</cp:lastModifiedBy>
  <cp:revision>7</cp:revision>
  <dcterms:created xsi:type="dcterms:W3CDTF">2025-08-13T13:12:37Z</dcterms:created>
  <dcterms:modified xsi:type="dcterms:W3CDTF">2026-09-12T16:54:23Z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2025-08-13T00:00:00Z</vt:filetime>
  </property>
  <property fmtid="{D5CDD505-2E9C-101B-9397-08002B2CF9AE}" pid="5" name="Producer">
    <vt:lpwstr>Microsoft® PowerPoint® para Microsoft 365</vt:lpwstr>
  </property>
  <property fmtid="{D5CDD505-2E9C-101B-9397-08002B2CF9AE}" pid="6" name="ContentTypeId">
    <vt:lpwstr>0x0101007E78FC685A2BE143BD8DCEBE5EE711F3</vt:lpwstr>
  </property>
</Properties>
</file>