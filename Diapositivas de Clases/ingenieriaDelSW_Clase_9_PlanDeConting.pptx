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0"/>
  </p:notesMasterIdLst>
  <p:sldIdLst>
    <p:sldId id="522" r:id="rId5"/>
    <p:sldId id="256" r:id="rId6"/>
    <p:sldId id="257" r:id="rId7"/>
    <p:sldId id="547" r:id="rId8"/>
    <p:sldId id="548" r:id="rId9"/>
    <p:sldId id="546" r:id="rId10"/>
    <p:sldId id="549" r:id="rId11"/>
    <p:sldId id="550" r:id="rId12"/>
    <p:sldId id="557" r:id="rId13"/>
    <p:sldId id="543" r:id="rId14"/>
    <p:sldId id="551" r:id="rId15"/>
    <p:sldId id="552" r:id="rId16"/>
    <p:sldId id="553" r:id="rId17"/>
    <p:sldId id="554" r:id="rId18"/>
    <p:sldId id="555" r:id="rId19"/>
    <p:sldId id="556" r:id="rId20"/>
    <p:sldId id="561" r:id="rId21"/>
    <p:sldId id="562" r:id="rId22"/>
    <p:sldId id="564" r:id="rId23"/>
    <p:sldId id="565" r:id="rId24"/>
    <p:sldId id="563" r:id="rId25"/>
    <p:sldId id="559" r:id="rId26"/>
    <p:sldId id="560" r:id="rId27"/>
    <p:sldId id="259" r:id="rId28"/>
    <p:sldId id="276" r:id="rId29"/>
    <p:sldId id="544" r:id="rId30"/>
    <p:sldId id="262" r:id="rId31"/>
    <p:sldId id="263" r:id="rId32"/>
    <p:sldId id="264" r:id="rId33"/>
    <p:sldId id="265" r:id="rId34"/>
    <p:sldId id="266" r:id="rId35"/>
    <p:sldId id="267" r:id="rId36"/>
    <p:sldId id="545" r:id="rId37"/>
    <p:sldId id="269" r:id="rId38"/>
    <p:sldId id="270" r:id="rId39"/>
    <p:sldId id="271" r:id="rId40"/>
    <p:sldId id="272" r:id="rId41"/>
    <p:sldId id="273" r:id="rId42"/>
    <p:sldId id="274" r:id="rId43"/>
    <p:sldId id="275" r:id="rId44"/>
    <p:sldId id="569" r:id="rId45"/>
    <p:sldId id="570" r:id="rId46"/>
    <p:sldId id="571" r:id="rId47"/>
    <p:sldId id="572" r:id="rId48"/>
    <p:sldId id="573" r:id="rId49"/>
    <p:sldId id="574" r:id="rId50"/>
    <p:sldId id="575" r:id="rId51"/>
    <p:sldId id="576" r:id="rId52"/>
    <p:sldId id="577" r:id="rId53"/>
    <p:sldId id="566" r:id="rId54"/>
    <p:sldId id="567" r:id="rId55"/>
    <p:sldId id="568" r:id="rId56"/>
    <p:sldId id="578" r:id="rId57"/>
    <p:sldId id="579" r:id="rId58"/>
    <p:sldId id="268" r:id="rId59"/>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EAA204-5315-D1D5-2D56-611F9DBFDE6D}" v="11" dt="2026-10-19T18:09:30.1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LDIN GRACIELA SUSANA" userId="S::gdaldin@uade.edu.ar::4fdff1c9-ccbd-4515-a030-ff7d0f1057b2" providerId="AD" clId="Web-{8DEAA204-5315-D1D5-2D56-611F9DBFDE6D}"/>
    <pc:docChg chg="modSld">
      <pc:chgData name="DALDIN GRACIELA SUSANA" userId="S::gdaldin@uade.edu.ar::4fdff1c9-ccbd-4515-a030-ff7d0f1057b2" providerId="AD" clId="Web-{8DEAA204-5315-D1D5-2D56-611F9DBFDE6D}" dt="2026-10-19T18:09:30.199" v="14" actId="20577"/>
      <pc:docMkLst>
        <pc:docMk/>
      </pc:docMkLst>
      <pc:sldChg chg="modSp">
        <pc:chgData name="DALDIN GRACIELA SUSANA" userId="S::gdaldin@uade.edu.ar::4fdff1c9-ccbd-4515-a030-ff7d0f1057b2" providerId="AD" clId="Web-{8DEAA204-5315-D1D5-2D56-611F9DBFDE6D}" dt="2026-10-19T18:06:57.679" v="1" actId="20577"/>
        <pc:sldMkLst>
          <pc:docMk/>
          <pc:sldMk cId="87015579" sldId="572"/>
        </pc:sldMkLst>
        <pc:spChg chg="mod">
          <ac:chgData name="DALDIN GRACIELA SUSANA" userId="S::gdaldin@uade.edu.ar::4fdff1c9-ccbd-4515-a030-ff7d0f1057b2" providerId="AD" clId="Web-{8DEAA204-5315-D1D5-2D56-611F9DBFDE6D}" dt="2026-10-19T18:06:57.679" v="1" actId="20577"/>
          <ac:spMkLst>
            <pc:docMk/>
            <pc:sldMk cId="87015579" sldId="572"/>
            <ac:spMk id="3" creationId="{F0DB838C-AA14-F7B4-9199-D7331275B684}"/>
          </ac:spMkLst>
        </pc:spChg>
      </pc:sldChg>
      <pc:sldChg chg="modSp">
        <pc:chgData name="DALDIN GRACIELA SUSANA" userId="S::gdaldin@uade.edu.ar::4fdff1c9-ccbd-4515-a030-ff7d0f1057b2" providerId="AD" clId="Web-{8DEAA204-5315-D1D5-2D56-611F9DBFDE6D}" dt="2026-10-19T18:08:28.510" v="8" actId="20577"/>
        <pc:sldMkLst>
          <pc:docMk/>
          <pc:sldMk cId="2203064087" sldId="573"/>
        </pc:sldMkLst>
        <pc:spChg chg="mod">
          <ac:chgData name="DALDIN GRACIELA SUSANA" userId="S::gdaldin@uade.edu.ar::4fdff1c9-ccbd-4515-a030-ff7d0f1057b2" providerId="AD" clId="Web-{8DEAA204-5315-D1D5-2D56-611F9DBFDE6D}" dt="2026-10-19T18:08:28.510" v="8" actId="20577"/>
          <ac:spMkLst>
            <pc:docMk/>
            <pc:sldMk cId="2203064087" sldId="573"/>
            <ac:spMk id="3" creationId="{5D948982-7F55-B404-93B3-B694940C50DC}"/>
          </ac:spMkLst>
        </pc:spChg>
      </pc:sldChg>
      <pc:sldChg chg="modSp">
        <pc:chgData name="DALDIN GRACIELA SUSANA" userId="S::gdaldin@uade.edu.ar::4fdff1c9-ccbd-4515-a030-ff7d0f1057b2" providerId="AD" clId="Web-{8DEAA204-5315-D1D5-2D56-611F9DBFDE6D}" dt="2026-10-19T18:09:30.199" v="14" actId="20577"/>
        <pc:sldMkLst>
          <pc:docMk/>
          <pc:sldMk cId="611443646" sldId="574"/>
        </pc:sldMkLst>
        <pc:spChg chg="mod">
          <ac:chgData name="DALDIN GRACIELA SUSANA" userId="S::gdaldin@uade.edu.ar::4fdff1c9-ccbd-4515-a030-ff7d0f1057b2" providerId="AD" clId="Web-{8DEAA204-5315-D1D5-2D56-611F9DBFDE6D}" dt="2026-10-19T18:09:30.199" v="14" actId="20577"/>
          <ac:spMkLst>
            <pc:docMk/>
            <pc:sldMk cId="611443646" sldId="574"/>
            <ac:spMk id="3" creationId="{BAD30E2F-B49E-6C9D-D66F-ADC2EA865A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D6A6A6-18DA-453A-8628-52A7AAA53854}" type="datetimeFigureOut">
              <a:rPr lang="es-AR" smtClean="0"/>
              <a:t>19/10/2026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BC5E8F-412D-4A04-B5FB-B19E77C5801B}" type="slidenum">
              <a:rPr lang="es-AR" smtClean="0"/>
              <a:t>‹Nº›</a:t>
            </a:fld>
            <a:endParaRPr lang="es-AR"/>
          </a:p>
        </p:txBody>
      </p:sp>
    </p:spTree>
    <p:extLst>
      <p:ext uri="{BB962C8B-B14F-4D97-AF65-F5344CB8AC3E}">
        <p14:creationId xmlns:p14="http://schemas.microsoft.com/office/powerpoint/2010/main" val="1822439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3F28A1F-3E69-47E5-AE93-E7F2155A242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4766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D3F28A1F-3E69-47E5-AE93-E7F2155A242D}" type="slidenum">
              <a:rPr lang="es-ES" noProof="0" smtClean="0"/>
              <a:t>55</a:t>
            </a:fld>
            <a:endParaRPr lang="es-ES" noProof="0"/>
          </a:p>
        </p:txBody>
      </p:sp>
    </p:spTree>
    <p:extLst>
      <p:ext uri="{BB962C8B-B14F-4D97-AF65-F5344CB8AC3E}">
        <p14:creationId xmlns:p14="http://schemas.microsoft.com/office/powerpoint/2010/main" val="1511479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5C930E83-2075-41BA-95CD-CD3B3E543768}" type="datetime1">
              <a:rPr lang="en-US" smtClean="0"/>
              <a:t>10/19/2026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3414223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E205A2-FC10-4CAB-A93E-32EF3F155F40}" type="datetime1">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3259635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AF5EE9D-EEF1-4313-A74A-BBF75BBF7AAD}" type="datetime1">
              <a:rPr lang="en-US" smtClean="0"/>
              <a:t>10/19/2026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2435782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10E3B8-C854-43E1-98B8-91A6D35BD6EB}" type="datetime1">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2064619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41189F-B27A-4178-86F8-F3D978B463CB}" type="datetime1">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301622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21F31F3-030E-4FA7-8D2F-3356B451E3CA}" type="datetime1">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0E506-8910-4A1D-9597-9E72BD293B97}" type="slidenum">
              <a:rPr lang="en-US" smtClean="0"/>
              <a:t>‹Nº›</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4230989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59D50F-1CA6-46EB-AAE2-0B6B3DF3E704}" type="datetime1">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1854448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F1045D1D-BE25-432B-A014-0FEF26638FBB}" type="datetime1">
              <a:rPr lang="en-US" smtClean="0"/>
              <a:t>10/19/2026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4020978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F117B-43D2-4F63-9A58-A1BD9028B0DD}" type="datetime1">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226508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06C6F9-314D-49C8-A42F-4EF50A267DC5}" type="datetime1">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1230026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94CC1BDF-F7FD-4ACE-86B4-523DBDDA0CA5}" type="datetime1">
              <a:rPr lang="en-US" smtClean="0"/>
              <a:t>10/19/2026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2958146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7998E74-E15C-4103-83DA-642FBB8A8E00}" type="datetime1">
              <a:rPr lang="en-US" smtClean="0"/>
              <a:t>10/19/2026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E40E506-8910-4A1D-9597-9E72BD293B97}" type="slidenum">
              <a:rPr lang="en-US" smtClean="0"/>
              <a:t>‹Nº›</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0095562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UADE | Comenzá tu carrera en una Gran Universidad">
            <a:extLst>
              <a:ext uri="{FF2B5EF4-FFF2-40B4-BE49-F238E27FC236}">
                <a16:creationId xmlns:a16="http://schemas.microsoft.com/office/drawing/2014/main" id="{7133C0B5-A121-A890-1684-32757CCF0262}"/>
              </a:ext>
            </a:extLst>
          </p:cNvPr>
          <p:cNvPicPr>
            <a:picLocks noChangeAspect="1" noChangeArrowheads="1"/>
          </p:cNvPicPr>
          <p:nvPr/>
        </p:nvPicPr>
        <p:blipFill rotWithShape="1">
          <a:blip r:embed="rId3" cstate="hqprint">
            <a:extLst>
              <a:ext uri="{28A0092B-C50C-407E-A947-70E740481C1C}">
                <a14:useLocalDpi xmlns:a14="http://schemas.microsoft.com/office/drawing/2010/main" val="0"/>
              </a:ext>
            </a:extLst>
          </a:blip>
          <a:srcRect r="6" b="478"/>
          <a:stretch/>
        </p:blipFill>
        <p:spPr bwMode="auto">
          <a:xfrm>
            <a:off x="775361" y="1598166"/>
            <a:ext cx="3014297" cy="179454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D99C405-B1A7-43F2-998F-543F8B2B881D}"/>
              </a:ext>
            </a:extLst>
          </p:cNvPr>
          <p:cNvPicPr>
            <a:picLocks noChangeAspect="1"/>
          </p:cNvPicPr>
          <p:nvPr/>
        </p:nvPicPr>
        <p:blipFill>
          <a:blip r:embed="rId4"/>
          <a:stretch>
            <a:fillRect/>
          </a:stretch>
        </p:blipFill>
        <p:spPr>
          <a:xfrm>
            <a:off x="4948333" y="974331"/>
            <a:ext cx="6084428" cy="3042214"/>
          </a:xfrm>
          <a:prstGeom prst="rect">
            <a:avLst/>
          </a:prstGeom>
        </p:spPr>
      </p:pic>
      <p:cxnSp>
        <p:nvCxnSpPr>
          <p:cNvPr id="4" name="Straight Connector 3">
            <a:extLst>
              <a:ext uri="{FF2B5EF4-FFF2-40B4-BE49-F238E27FC236}">
                <a16:creationId xmlns:a16="http://schemas.microsoft.com/office/drawing/2014/main" id="{D4CCD094-D228-ACA0-C5E7-11CE7ECEBC4A}"/>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Marcador de número de diapositiva 1">
            <a:extLst>
              <a:ext uri="{FF2B5EF4-FFF2-40B4-BE49-F238E27FC236}">
                <a16:creationId xmlns:a16="http://schemas.microsoft.com/office/drawing/2014/main" id="{A95C534B-3FD4-FB77-D350-AE5CFF392771}"/>
              </a:ext>
            </a:extLst>
          </p:cNvPr>
          <p:cNvSpPr>
            <a:spLocks noGrp="1"/>
          </p:cNvSpPr>
          <p:nvPr>
            <p:ph type="sldNum" sz="quarter" idx="12"/>
          </p:nvPr>
        </p:nvSpPr>
        <p:spPr/>
        <p:txBody>
          <a:bodyPr/>
          <a:lstStyle/>
          <a:p>
            <a:fld id="{0E40E506-8910-4A1D-9597-9E72BD293B97}" type="slidenum">
              <a:rPr lang="en-US" smtClean="0"/>
              <a:t>1</a:t>
            </a:fld>
            <a:endParaRPr lang="en-US"/>
          </a:p>
        </p:txBody>
      </p:sp>
    </p:spTree>
    <p:extLst>
      <p:ext uri="{BB962C8B-B14F-4D97-AF65-F5344CB8AC3E}">
        <p14:creationId xmlns:p14="http://schemas.microsoft.com/office/powerpoint/2010/main" val="2413534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E89A493-26AA-C943-4EDD-7795F284665F}"/>
              </a:ext>
            </a:extLst>
          </p:cNvPr>
          <p:cNvSpPr>
            <a:spLocks noGrp="1" noChangeArrowheads="1"/>
          </p:cNvSpPr>
          <p:nvPr>
            <p:ph type="ctrTitle"/>
          </p:nvPr>
        </p:nvSpPr>
        <p:spPr>
          <a:xfrm>
            <a:off x="1089245" y="1480242"/>
            <a:ext cx="10073678" cy="1143000"/>
          </a:xfrm>
        </p:spPr>
        <p:txBody>
          <a:bodyPr anchor="ctr">
            <a:normAutofit/>
          </a:bodyPr>
          <a:lstStyle/>
          <a:p>
            <a:pPr algn="ctr"/>
            <a:r>
              <a:rPr lang="es-ES_tradnl" altLang="es-AR" sz="3200"/>
              <a:t>Factores a considerar en la implementación de un Plan de Contingencia</a:t>
            </a:r>
            <a:endParaRPr lang="es-ES_tradnl" altLang="es-AR" sz="2800"/>
          </a:p>
        </p:txBody>
      </p:sp>
      <p:sp>
        <p:nvSpPr>
          <p:cNvPr id="4" name="Marcador de número de diapositiva 3">
            <a:extLst>
              <a:ext uri="{FF2B5EF4-FFF2-40B4-BE49-F238E27FC236}">
                <a16:creationId xmlns:a16="http://schemas.microsoft.com/office/drawing/2014/main" id="{975895E6-2C80-935D-2BA1-7744242587F1}"/>
              </a:ext>
            </a:extLst>
          </p:cNvPr>
          <p:cNvSpPr>
            <a:spLocks noGrp="1"/>
          </p:cNvSpPr>
          <p:nvPr>
            <p:ph type="sldNum" sz="quarter" idx="12"/>
          </p:nvPr>
        </p:nvSpPr>
        <p:spPr/>
        <p:txBody>
          <a:bodyPr/>
          <a:lstStyle/>
          <a:p>
            <a:fld id="{0E40E506-8910-4A1D-9597-9E72BD293B97}"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24CC8BC-002B-FE1B-B72F-6631718388EE}"/>
              </a:ext>
            </a:extLst>
          </p:cNvPr>
          <p:cNvSpPr>
            <a:spLocks noGrp="1" noChangeArrowheads="1"/>
          </p:cNvSpPr>
          <p:nvPr>
            <p:ph type="title"/>
          </p:nvPr>
        </p:nvSpPr>
        <p:spPr>
          <a:xfrm>
            <a:off x="490648" y="536738"/>
            <a:ext cx="8420100" cy="1143000"/>
          </a:xfrm>
        </p:spPr>
        <p:txBody>
          <a:bodyPr/>
          <a:lstStyle/>
          <a:p>
            <a:pPr algn="l"/>
            <a:r>
              <a:rPr lang="es-ES_tradnl" altLang="es-AR"/>
              <a:t>Conceptos básicos</a:t>
            </a:r>
          </a:p>
        </p:txBody>
      </p:sp>
      <p:sp>
        <p:nvSpPr>
          <p:cNvPr id="3075" name="Rectangle 3">
            <a:extLst>
              <a:ext uri="{FF2B5EF4-FFF2-40B4-BE49-F238E27FC236}">
                <a16:creationId xmlns:a16="http://schemas.microsoft.com/office/drawing/2014/main" id="{BFC5E941-75DD-61FF-D60F-00780CAB2D23}"/>
              </a:ext>
            </a:extLst>
          </p:cNvPr>
          <p:cNvSpPr>
            <a:spLocks noGrp="1" noChangeArrowheads="1"/>
          </p:cNvSpPr>
          <p:nvPr>
            <p:ph type="body" idx="1"/>
          </p:nvPr>
        </p:nvSpPr>
        <p:spPr>
          <a:xfrm>
            <a:off x="1140737" y="2202136"/>
            <a:ext cx="10112720" cy="3749675"/>
          </a:xfrm>
        </p:spPr>
        <p:txBody>
          <a:bodyPr vert="horz" lIns="91440" tIns="45720" rIns="91440" bIns="45720" rtlCol="0" anchor="ctr">
            <a:normAutofit/>
          </a:bodyPr>
          <a:lstStyle/>
          <a:p>
            <a:r>
              <a:rPr lang="es-ES_tradnl" altLang="es-AR">
                <a:solidFill>
                  <a:schemeClr val="accent1"/>
                </a:solidFill>
                <a:latin typeface="Google Sans"/>
              </a:rPr>
              <a:t>Contingente: Se dice de lo que puede suceder o no suceder y cuya existencia depende de otro. </a:t>
            </a:r>
          </a:p>
          <a:p>
            <a:endParaRPr lang="es-ES_tradnl" altLang="es-AR">
              <a:solidFill>
                <a:schemeClr val="accent1"/>
              </a:solidFill>
              <a:latin typeface="Google Sans"/>
            </a:endParaRPr>
          </a:p>
          <a:p>
            <a:r>
              <a:rPr lang="es-ES_tradnl" altLang="es-AR">
                <a:solidFill>
                  <a:schemeClr val="accent1"/>
                </a:solidFill>
                <a:latin typeface="Google Sans"/>
              </a:rPr>
              <a:t>Contingencia : Posibilidad. Riesgo</a:t>
            </a:r>
          </a:p>
          <a:p>
            <a:endParaRPr lang="es-ES_tradnl" altLang="es-AR">
              <a:solidFill>
                <a:schemeClr val="accent1"/>
              </a:solidFill>
              <a:latin typeface="Google Sans"/>
            </a:endParaRPr>
          </a:p>
          <a:p>
            <a:r>
              <a:rPr lang="es-ES_tradnl" altLang="es-AR">
                <a:solidFill>
                  <a:schemeClr val="accent1"/>
                </a:solidFill>
                <a:latin typeface="Google Sans"/>
              </a:rPr>
              <a:t> Desastre : Desgracia, catástrofe, suceso infeliz. </a:t>
            </a:r>
          </a:p>
          <a:p>
            <a:endParaRPr lang="es-ES_tradnl" altLang="es-AR">
              <a:solidFill>
                <a:schemeClr val="accent1"/>
              </a:solidFill>
              <a:latin typeface="Google Sans"/>
            </a:endParaRPr>
          </a:p>
          <a:p>
            <a:r>
              <a:rPr lang="es-ES_tradnl" altLang="es-AR">
                <a:solidFill>
                  <a:schemeClr val="accent1"/>
                </a:solidFill>
                <a:latin typeface="Google Sans"/>
              </a:rPr>
              <a:t> Recuperar : Volver a tomar o a adquirir lo que antes se tenía.</a:t>
            </a:r>
          </a:p>
          <a:p>
            <a:endParaRPr lang="es-ES_tradnl" altLang="es-AR">
              <a:solidFill>
                <a:schemeClr val="accent1"/>
              </a:solidFill>
              <a:latin typeface="Google Sans"/>
            </a:endParaRPr>
          </a:p>
        </p:txBody>
      </p:sp>
      <p:sp>
        <p:nvSpPr>
          <p:cNvPr id="4" name="Marcador de número de diapositiva 3">
            <a:extLst>
              <a:ext uri="{FF2B5EF4-FFF2-40B4-BE49-F238E27FC236}">
                <a16:creationId xmlns:a16="http://schemas.microsoft.com/office/drawing/2014/main" id="{8B533D24-FF02-3940-19A8-E169B97A8BB3}"/>
              </a:ext>
            </a:extLst>
          </p:cNvPr>
          <p:cNvSpPr>
            <a:spLocks noGrp="1"/>
          </p:cNvSpPr>
          <p:nvPr>
            <p:ph type="sldNum" sz="quarter" idx="12"/>
          </p:nvPr>
        </p:nvSpPr>
        <p:spPr/>
        <p:txBody>
          <a:bodyPr/>
          <a:lstStyle/>
          <a:p>
            <a:fld id="{0E40E506-8910-4A1D-9597-9E72BD293B97}"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597B30-8C98-783B-47D1-858D3F9C4890}"/>
              </a:ext>
            </a:extLst>
          </p:cNvPr>
          <p:cNvSpPr>
            <a:spLocks noGrp="1"/>
          </p:cNvSpPr>
          <p:nvPr>
            <p:ph type="title"/>
          </p:nvPr>
        </p:nvSpPr>
        <p:spPr/>
        <p:txBody>
          <a:bodyPr/>
          <a:lstStyle/>
          <a:p>
            <a:r>
              <a:rPr lang="es-AR"/>
              <a:t>Planes</a:t>
            </a:r>
          </a:p>
        </p:txBody>
      </p:sp>
      <p:sp>
        <p:nvSpPr>
          <p:cNvPr id="3" name="Marcador de contenido 2">
            <a:extLst>
              <a:ext uri="{FF2B5EF4-FFF2-40B4-BE49-F238E27FC236}">
                <a16:creationId xmlns:a16="http://schemas.microsoft.com/office/drawing/2014/main" id="{B65C619F-0E97-9722-86E7-766C7A5D7CD4}"/>
              </a:ext>
            </a:extLst>
          </p:cNvPr>
          <p:cNvSpPr>
            <a:spLocks noGrp="1"/>
          </p:cNvSpPr>
          <p:nvPr>
            <p:ph idx="1"/>
          </p:nvPr>
        </p:nvSpPr>
        <p:spPr/>
        <p:txBody>
          <a:bodyPr/>
          <a:lstStyle/>
          <a:p>
            <a:pPr marL="305435" indent="-305435"/>
            <a:r>
              <a:rPr lang="en-US" b="0" i="0">
                <a:solidFill>
                  <a:schemeClr val="accent1"/>
                </a:solidFill>
                <a:effectLst/>
                <a:latin typeface="Google Sans"/>
              </a:rPr>
              <a:t>Business Continuity Plan o BCP</a:t>
            </a:r>
            <a:endParaRPr lang="es-ES">
              <a:solidFill>
                <a:schemeClr val="accent1"/>
              </a:solidFill>
            </a:endParaRPr>
          </a:p>
          <a:p>
            <a:pPr marL="629920" lvl="1" indent="-305435">
              <a:buFont typeface="Courier New" panose="05020102010507070707" pitchFamily="18" charset="2"/>
              <a:buChar char="o"/>
            </a:pPr>
            <a:r>
              <a:rPr lang="en-US" sz="1400">
                <a:solidFill>
                  <a:srgbClr val="545D7E"/>
                </a:solidFill>
                <a:ea typeface="+mn-lt"/>
                <a:cs typeface="+mn-lt"/>
              </a:rPr>
              <a:t>Plan de </a:t>
            </a:r>
            <a:r>
              <a:rPr lang="en-US" sz="1400" err="1">
                <a:solidFill>
                  <a:srgbClr val="545D7E"/>
                </a:solidFill>
                <a:ea typeface="+mn-lt"/>
                <a:cs typeface="+mn-lt"/>
              </a:rPr>
              <a:t>continuidad</a:t>
            </a:r>
            <a:r>
              <a:rPr lang="en-US" sz="1400">
                <a:solidFill>
                  <a:srgbClr val="545D7E"/>
                </a:solidFill>
                <a:ea typeface="+mn-lt"/>
                <a:cs typeface="+mn-lt"/>
              </a:rPr>
              <a:t> del </a:t>
            </a:r>
            <a:r>
              <a:rPr lang="en-US" sz="1400" err="1">
                <a:solidFill>
                  <a:srgbClr val="545D7E"/>
                </a:solidFill>
                <a:ea typeface="+mn-lt"/>
                <a:cs typeface="+mn-lt"/>
              </a:rPr>
              <a:t>negocio</a:t>
            </a:r>
            <a:r>
              <a:rPr lang="en-US" sz="1400">
                <a:solidFill>
                  <a:srgbClr val="545D7E"/>
                </a:solidFill>
                <a:ea typeface="+mn-lt"/>
                <a:cs typeface="+mn-lt"/>
              </a:rPr>
              <a:t> que </a:t>
            </a:r>
            <a:r>
              <a:rPr lang="en-US" sz="1400" err="1">
                <a:solidFill>
                  <a:srgbClr val="545D7E"/>
                </a:solidFill>
                <a:ea typeface="+mn-lt"/>
                <a:cs typeface="+mn-lt"/>
              </a:rPr>
              <a:t>asegura</a:t>
            </a:r>
            <a:r>
              <a:rPr lang="en-US" sz="1400">
                <a:solidFill>
                  <a:srgbClr val="545D7E"/>
                </a:solidFill>
                <a:ea typeface="+mn-lt"/>
                <a:cs typeface="+mn-lt"/>
              </a:rPr>
              <a:t> que las </a:t>
            </a:r>
            <a:r>
              <a:rPr lang="en-US" sz="1400" err="1">
                <a:solidFill>
                  <a:srgbClr val="545D7E"/>
                </a:solidFill>
                <a:ea typeface="+mn-lt"/>
                <a:cs typeface="+mn-lt"/>
              </a:rPr>
              <a:t>operaciones</a:t>
            </a:r>
            <a:r>
              <a:rPr lang="en-US" sz="1400">
                <a:solidFill>
                  <a:srgbClr val="545D7E"/>
                </a:solidFill>
                <a:ea typeface="+mn-lt"/>
                <a:cs typeface="+mn-lt"/>
              </a:rPr>
              <a:t> </a:t>
            </a:r>
            <a:r>
              <a:rPr lang="en-US" sz="1400" err="1">
                <a:solidFill>
                  <a:srgbClr val="545D7E"/>
                </a:solidFill>
                <a:ea typeface="+mn-lt"/>
                <a:cs typeface="+mn-lt"/>
              </a:rPr>
              <a:t>críticas</a:t>
            </a:r>
            <a:r>
              <a:rPr lang="en-US" sz="1400">
                <a:solidFill>
                  <a:srgbClr val="545D7E"/>
                </a:solidFill>
                <a:ea typeface="+mn-lt"/>
                <a:cs typeface="+mn-lt"/>
              </a:rPr>
              <a:t> de </a:t>
            </a:r>
            <a:r>
              <a:rPr lang="en-US" sz="1400" err="1">
                <a:solidFill>
                  <a:srgbClr val="545D7E"/>
                </a:solidFill>
                <a:ea typeface="+mn-lt"/>
                <a:cs typeface="+mn-lt"/>
              </a:rPr>
              <a:t>una</a:t>
            </a:r>
            <a:r>
              <a:rPr lang="en-US" sz="1400">
                <a:solidFill>
                  <a:srgbClr val="545D7E"/>
                </a:solidFill>
                <a:ea typeface="+mn-lt"/>
                <a:cs typeface="+mn-lt"/>
              </a:rPr>
              <a:t> </a:t>
            </a:r>
            <a:r>
              <a:rPr lang="en-US" sz="1400" err="1">
                <a:solidFill>
                  <a:srgbClr val="545D7E"/>
                </a:solidFill>
                <a:ea typeface="+mn-lt"/>
                <a:cs typeface="+mn-lt"/>
              </a:rPr>
              <a:t>organización</a:t>
            </a:r>
            <a:r>
              <a:rPr lang="en-US" sz="1400">
                <a:solidFill>
                  <a:srgbClr val="545D7E"/>
                </a:solidFill>
                <a:ea typeface="+mn-lt"/>
                <a:cs typeface="+mn-lt"/>
              </a:rPr>
              <a:t> </a:t>
            </a:r>
            <a:r>
              <a:rPr lang="en-US" sz="1400" err="1">
                <a:solidFill>
                  <a:srgbClr val="545D7E"/>
                </a:solidFill>
                <a:ea typeface="+mn-lt"/>
                <a:cs typeface="+mn-lt"/>
              </a:rPr>
              <a:t>continúen</a:t>
            </a:r>
            <a:r>
              <a:rPr lang="en-US" sz="1400">
                <a:solidFill>
                  <a:srgbClr val="545D7E"/>
                </a:solidFill>
                <a:ea typeface="+mn-lt"/>
                <a:cs typeface="+mn-lt"/>
              </a:rPr>
              <a:t> </a:t>
            </a:r>
            <a:r>
              <a:rPr lang="en-US" sz="1400" err="1">
                <a:solidFill>
                  <a:srgbClr val="545D7E"/>
                </a:solidFill>
                <a:ea typeface="+mn-lt"/>
                <a:cs typeface="+mn-lt"/>
              </a:rPr>
              <a:t>durante</a:t>
            </a:r>
            <a:r>
              <a:rPr lang="en-US" sz="1400">
                <a:solidFill>
                  <a:srgbClr val="545D7E"/>
                </a:solidFill>
                <a:ea typeface="+mn-lt"/>
                <a:cs typeface="+mn-lt"/>
              </a:rPr>
              <a:t> y </a:t>
            </a:r>
            <a:r>
              <a:rPr lang="en-US" sz="1400" err="1">
                <a:solidFill>
                  <a:srgbClr val="545D7E"/>
                </a:solidFill>
                <a:ea typeface="+mn-lt"/>
                <a:cs typeface="+mn-lt"/>
              </a:rPr>
              <a:t>después</a:t>
            </a:r>
            <a:r>
              <a:rPr lang="en-US" sz="1400">
                <a:solidFill>
                  <a:srgbClr val="545D7E"/>
                </a:solidFill>
                <a:ea typeface="+mn-lt"/>
                <a:cs typeface="+mn-lt"/>
              </a:rPr>
              <a:t> de </a:t>
            </a:r>
            <a:r>
              <a:rPr lang="en-US" sz="1400" err="1">
                <a:solidFill>
                  <a:srgbClr val="545D7E"/>
                </a:solidFill>
                <a:ea typeface="+mn-lt"/>
                <a:cs typeface="+mn-lt"/>
              </a:rPr>
              <a:t>una</a:t>
            </a:r>
            <a:r>
              <a:rPr lang="en-US" sz="1400">
                <a:solidFill>
                  <a:srgbClr val="545D7E"/>
                </a:solidFill>
                <a:ea typeface="+mn-lt"/>
                <a:cs typeface="+mn-lt"/>
              </a:rPr>
              <a:t> </a:t>
            </a:r>
            <a:r>
              <a:rPr lang="en-US" sz="1400" err="1">
                <a:solidFill>
                  <a:srgbClr val="545D7E"/>
                </a:solidFill>
                <a:ea typeface="+mn-lt"/>
                <a:cs typeface="+mn-lt"/>
              </a:rPr>
              <a:t>interrupción</a:t>
            </a:r>
            <a:r>
              <a:rPr lang="en-US" sz="1400">
                <a:solidFill>
                  <a:srgbClr val="545D7E"/>
                </a:solidFill>
                <a:ea typeface="+mn-lt"/>
                <a:cs typeface="+mn-lt"/>
              </a:rPr>
              <a:t>. El BCP </a:t>
            </a:r>
            <a:r>
              <a:rPr lang="en-US" sz="1400" err="1">
                <a:solidFill>
                  <a:srgbClr val="545D7E"/>
                </a:solidFill>
                <a:ea typeface="+mn-lt"/>
                <a:cs typeface="+mn-lt"/>
              </a:rPr>
              <a:t>abarca</a:t>
            </a:r>
            <a:r>
              <a:rPr lang="en-US" sz="1400">
                <a:solidFill>
                  <a:srgbClr val="545D7E"/>
                </a:solidFill>
                <a:ea typeface="+mn-lt"/>
                <a:cs typeface="+mn-lt"/>
              </a:rPr>
              <a:t> </a:t>
            </a:r>
            <a:r>
              <a:rPr lang="en-US" sz="1400" err="1">
                <a:solidFill>
                  <a:srgbClr val="545D7E"/>
                </a:solidFill>
                <a:ea typeface="+mn-lt"/>
                <a:cs typeface="+mn-lt"/>
              </a:rPr>
              <a:t>todo</a:t>
            </a:r>
            <a:r>
              <a:rPr lang="en-US" sz="1400">
                <a:solidFill>
                  <a:srgbClr val="545D7E"/>
                </a:solidFill>
                <a:ea typeface="+mn-lt"/>
                <a:cs typeface="+mn-lt"/>
              </a:rPr>
              <a:t> </a:t>
            </a:r>
            <a:r>
              <a:rPr lang="en-US" sz="1400" err="1">
                <a:solidFill>
                  <a:srgbClr val="545D7E"/>
                </a:solidFill>
                <a:ea typeface="+mn-lt"/>
                <a:cs typeface="+mn-lt"/>
              </a:rPr>
              <a:t>el</a:t>
            </a:r>
            <a:r>
              <a:rPr lang="en-US" sz="1400">
                <a:solidFill>
                  <a:srgbClr val="545D7E"/>
                </a:solidFill>
                <a:ea typeface="+mn-lt"/>
                <a:cs typeface="+mn-lt"/>
              </a:rPr>
              <a:t> </a:t>
            </a:r>
            <a:r>
              <a:rPr lang="en-US" sz="1400" err="1">
                <a:solidFill>
                  <a:srgbClr val="545D7E"/>
                </a:solidFill>
                <a:ea typeface="+mn-lt"/>
                <a:cs typeface="+mn-lt"/>
              </a:rPr>
              <a:t>negocio</a:t>
            </a:r>
            <a:r>
              <a:rPr lang="en-US" sz="1400">
                <a:solidFill>
                  <a:srgbClr val="545D7E"/>
                </a:solidFill>
                <a:ea typeface="+mn-lt"/>
                <a:cs typeface="+mn-lt"/>
              </a:rPr>
              <a:t>, </a:t>
            </a:r>
            <a:r>
              <a:rPr lang="en-US" sz="1400" err="1">
                <a:solidFill>
                  <a:srgbClr val="545D7E"/>
                </a:solidFill>
                <a:ea typeface="+mn-lt"/>
                <a:cs typeface="+mn-lt"/>
              </a:rPr>
              <a:t>incluyendo</a:t>
            </a:r>
            <a:r>
              <a:rPr lang="en-US" sz="1400">
                <a:solidFill>
                  <a:srgbClr val="545D7E"/>
                </a:solidFill>
                <a:ea typeface="+mn-lt"/>
                <a:cs typeface="+mn-lt"/>
              </a:rPr>
              <a:t> personas, </a:t>
            </a:r>
            <a:r>
              <a:rPr lang="en-US" sz="1400" err="1">
                <a:solidFill>
                  <a:srgbClr val="545D7E"/>
                </a:solidFill>
                <a:ea typeface="+mn-lt"/>
                <a:cs typeface="+mn-lt"/>
              </a:rPr>
              <a:t>procesos</a:t>
            </a:r>
            <a:r>
              <a:rPr lang="en-US" sz="1400">
                <a:solidFill>
                  <a:srgbClr val="545D7E"/>
                </a:solidFill>
                <a:ea typeface="+mn-lt"/>
                <a:cs typeface="+mn-lt"/>
              </a:rPr>
              <a:t>, </a:t>
            </a:r>
            <a:r>
              <a:rPr lang="en-US" sz="1400" err="1">
                <a:solidFill>
                  <a:srgbClr val="545D7E"/>
                </a:solidFill>
                <a:ea typeface="+mn-lt"/>
                <a:cs typeface="+mn-lt"/>
              </a:rPr>
              <a:t>instalaciones</a:t>
            </a:r>
            <a:r>
              <a:rPr lang="en-US" sz="1400">
                <a:solidFill>
                  <a:srgbClr val="545D7E"/>
                </a:solidFill>
                <a:ea typeface="+mn-lt"/>
                <a:cs typeface="+mn-lt"/>
              </a:rPr>
              <a:t> y </a:t>
            </a:r>
            <a:r>
              <a:rPr lang="en-US" sz="1400" err="1">
                <a:solidFill>
                  <a:srgbClr val="545D7E"/>
                </a:solidFill>
                <a:ea typeface="+mn-lt"/>
                <a:cs typeface="+mn-lt"/>
              </a:rPr>
              <a:t>tecnología</a:t>
            </a:r>
            <a:r>
              <a:rPr lang="en-US" sz="1400">
                <a:solidFill>
                  <a:srgbClr val="545D7E"/>
                </a:solidFill>
                <a:ea typeface="+mn-lt"/>
                <a:cs typeface="+mn-lt"/>
              </a:rPr>
              <a:t>. </a:t>
            </a:r>
            <a:endParaRPr lang="en-US" sz="1400">
              <a:solidFill>
                <a:schemeClr val="accent1"/>
              </a:solidFill>
              <a:latin typeface="Google Sans"/>
            </a:endParaRPr>
          </a:p>
          <a:p>
            <a:pPr marL="305435" indent="-305435"/>
            <a:r>
              <a:rPr lang="es-AR" err="1">
                <a:solidFill>
                  <a:schemeClr val="accent1"/>
                </a:solidFill>
                <a:latin typeface="Google Sans"/>
              </a:rPr>
              <a:t>Disaster</a:t>
            </a:r>
            <a:r>
              <a:rPr lang="es-AR">
                <a:solidFill>
                  <a:schemeClr val="accent1"/>
                </a:solidFill>
                <a:latin typeface="Google Sans"/>
              </a:rPr>
              <a:t> </a:t>
            </a:r>
            <a:r>
              <a:rPr lang="es-AR" err="1">
                <a:solidFill>
                  <a:schemeClr val="accent1"/>
                </a:solidFill>
                <a:latin typeface="Google Sans"/>
              </a:rPr>
              <a:t>Recovery</a:t>
            </a:r>
            <a:r>
              <a:rPr lang="es-AR">
                <a:solidFill>
                  <a:schemeClr val="accent1"/>
                </a:solidFill>
                <a:latin typeface="Google Sans"/>
              </a:rPr>
              <a:t> Plan</a:t>
            </a:r>
            <a:r>
              <a:rPr lang="en-US">
                <a:solidFill>
                  <a:schemeClr val="accent1"/>
                </a:solidFill>
                <a:latin typeface="Google Sans"/>
              </a:rPr>
              <a:t> o DRP</a:t>
            </a:r>
          </a:p>
          <a:p>
            <a:pPr marL="629920" lvl="1" indent="-305435">
              <a:buFont typeface="Courier New" panose="05020102010507070707" pitchFamily="18" charset="2"/>
              <a:buChar char="o"/>
            </a:pPr>
            <a:r>
              <a:rPr lang="en-US" sz="1400">
                <a:solidFill>
                  <a:srgbClr val="545D7E"/>
                </a:solidFill>
                <a:ea typeface="+mn-lt"/>
                <a:cs typeface="+mn-lt"/>
              </a:rPr>
              <a:t>Plan de </a:t>
            </a:r>
            <a:r>
              <a:rPr lang="en-US" sz="1400" err="1">
                <a:solidFill>
                  <a:srgbClr val="545D7E"/>
                </a:solidFill>
                <a:ea typeface="+mn-lt"/>
                <a:cs typeface="+mn-lt"/>
              </a:rPr>
              <a:t>recuperación</a:t>
            </a:r>
            <a:r>
              <a:rPr lang="en-US" sz="1400">
                <a:solidFill>
                  <a:srgbClr val="545D7E"/>
                </a:solidFill>
                <a:ea typeface="+mn-lt"/>
                <a:cs typeface="+mn-lt"/>
              </a:rPr>
              <a:t> ante </a:t>
            </a:r>
            <a:r>
              <a:rPr lang="en-US" sz="1400" err="1">
                <a:solidFill>
                  <a:srgbClr val="545D7E"/>
                </a:solidFill>
                <a:ea typeface="+mn-lt"/>
                <a:cs typeface="+mn-lt"/>
              </a:rPr>
              <a:t>desastres</a:t>
            </a:r>
            <a:r>
              <a:rPr lang="en-US" sz="1400">
                <a:solidFill>
                  <a:srgbClr val="545D7E"/>
                </a:solidFill>
                <a:ea typeface="+mn-lt"/>
                <a:cs typeface="+mn-lt"/>
              </a:rPr>
              <a:t> que define </a:t>
            </a:r>
            <a:r>
              <a:rPr lang="en-US" sz="1400" err="1">
                <a:solidFill>
                  <a:srgbClr val="545D7E"/>
                </a:solidFill>
                <a:ea typeface="+mn-lt"/>
                <a:cs typeface="+mn-lt"/>
              </a:rPr>
              <a:t>los</a:t>
            </a:r>
            <a:r>
              <a:rPr lang="en-US" sz="1400">
                <a:solidFill>
                  <a:srgbClr val="545D7E"/>
                </a:solidFill>
                <a:ea typeface="+mn-lt"/>
                <a:cs typeface="+mn-lt"/>
              </a:rPr>
              <a:t> </a:t>
            </a:r>
            <a:r>
              <a:rPr lang="en-US" sz="1400" err="1">
                <a:solidFill>
                  <a:srgbClr val="545D7E"/>
                </a:solidFill>
                <a:ea typeface="+mn-lt"/>
                <a:cs typeface="+mn-lt"/>
              </a:rPr>
              <a:t>procedimientos</a:t>
            </a:r>
            <a:r>
              <a:rPr lang="en-US" sz="1400">
                <a:solidFill>
                  <a:srgbClr val="545D7E"/>
                </a:solidFill>
                <a:ea typeface="+mn-lt"/>
                <a:cs typeface="+mn-lt"/>
              </a:rPr>
              <a:t>, </a:t>
            </a:r>
            <a:r>
              <a:rPr lang="en-US" sz="1400" err="1">
                <a:solidFill>
                  <a:srgbClr val="545D7E"/>
                </a:solidFill>
                <a:ea typeface="+mn-lt"/>
                <a:cs typeface="+mn-lt"/>
              </a:rPr>
              <a:t>estrategias</a:t>
            </a:r>
            <a:r>
              <a:rPr lang="en-US" sz="1400">
                <a:solidFill>
                  <a:srgbClr val="545D7E"/>
                </a:solidFill>
                <a:ea typeface="+mn-lt"/>
                <a:cs typeface="+mn-lt"/>
              </a:rPr>
              <a:t>, y roles y </a:t>
            </a:r>
            <a:r>
              <a:rPr lang="en-US" sz="1400" err="1">
                <a:solidFill>
                  <a:srgbClr val="545D7E"/>
                </a:solidFill>
                <a:ea typeface="+mn-lt"/>
                <a:cs typeface="+mn-lt"/>
              </a:rPr>
              <a:t>responsabilidades</a:t>
            </a:r>
            <a:r>
              <a:rPr lang="en-US" sz="1400">
                <a:solidFill>
                  <a:srgbClr val="545D7E"/>
                </a:solidFill>
                <a:ea typeface="+mn-lt"/>
                <a:cs typeface="+mn-lt"/>
              </a:rPr>
              <a:t> para </a:t>
            </a:r>
            <a:r>
              <a:rPr lang="en-US" sz="1400" err="1">
                <a:solidFill>
                  <a:srgbClr val="545D7E"/>
                </a:solidFill>
                <a:ea typeface="+mn-lt"/>
                <a:cs typeface="+mn-lt"/>
              </a:rPr>
              <a:t>restaurar</a:t>
            </a:r>
            <a:r>
              <a:rPr lang="en-US" sz="1400">
                <a:solidFill>
                  <a:srgbClr val="545D7E"/>
                </a:solidFill>
                <a:ea typeface="+mn-lt"/>
                <a:cs typeface="+mn-lt"/>
              </a:rPr>
              <a:t> </a:t>
            </a:r>
            <a:r>
              <a:rPr lang="en-US" sz="1400" err="1">
                <a:solidFill>
                  <a:srgbClr val="545D7E"/>
                </a:solidFill>
                <a:ea typeface="+mn-lt"/>
                <a:cs typeface="+mn-lt"/>
              </a:rPr>
              <a:t>el</a:t>
            </a:r>
            <a:r>
              <a:rPr lang="en-US" sz="1400">
                <a:solidFill>
                  <a:srgbClr val="545D7E"/>
                </a:solidFill>
                <a:ea typeface="+mn-lt"/>
                <a:cs typeface="+mn-lt"/>
              </a:rPr>
              <a:t> </a:t>
            </a:r>
            <a:r>
              <a:rPr lang="en-US" sz="1400" err="1">
                <a:solidFill>
                  <a:srgbClr val="545D7E"/>
                </a:solidFill>
                <a:ea typeface="+mn-lt"/>
                <a:cs typeface="+mn-lt"/>
              </a:rPr>
              <a:t>acceso</a:t>
            </a:r>
            <a:r>
              <a:rPr lang="en-US" sz="1400">
                <a:solidFill>
                  <a:srgbClr val="545D7E"/>
                </a:solidFill>
                <a:ea typeface="+mn-lt"/>
                <a:cs typeface="+mn-lt"/>
              </a:rPr>
              <a:t> a </a:t>
            </a:r>
            <a:r>
              <a:rPr lang="en-US" sz="1400" err="1">
                <a:solidFill>
                  <a:srgbClr val="545D7E"/>
                </a:solidFill>
                <a:ea typeface="+mn-lt"/>
                <a:cs typeface="+mn-lt"/>
              </a:rPr>
              <a:t>los</a:t>
            </a:r>
            <a:r>
              <a:rPr lang="en-US" sz="1400">
                <a:solidFill>
                  <a:srgbClr val="545D7E"/>
                </a:solidFill>
                <a:ea typeface="+mn-lt"/>
                <a:cs typeface="+mn-lt"/>
              </a:rPr>
              <a:t> </a:t>
            </a:r>
            <a:r>
              <a:rPr lang="en-US" sz="1400" err="1">
                <a:solidFill>
                  <a:srgbClr val="545D7E"/>
                </a:solidFill>
                <a:ea typeface="+mn-lt"/>
                <a:cs typeface="+mn-lt"/>
              </a:rPr>
              <a:t>sistemas</a:t>
            </a:r>
            <a:r>
              <a:rPr lang="en-US" sz="1400">
                <a:solidFill>
                  <a:srgbClr val="545D7E"/>
                </a:solidFill>
                <a:ea typeface="+mn-lt"/>
                <a:cs typeface="+mn-lt"/>
              </a:rPr>
              <a:t> e </a:t>
            </a:r>
            <a:r>
              <a:rPr lang="en-US" sz="1400" err="1">
                <a:solidFill>
                  <a:srgbClr val="545D7E"/>
                </a:solidFill>
                <a:ea typeface="+mn-lt"/>
                <a:cs typeface="+mn-lt"/>
              </a:rPr>
              <a:t>infraestructuras</a:t>
            </a:r>
            <a:r>
              <a:rPr lang="en-US" sz="1400">
                <a:solidFill>
                  <a:srgbClr val="545D7E"/>
                </a:solidFill>
                <a:ea typeface="+mn-lt"/>
                <a:cs typeface="+mn-lt"/>
              </a:rPr>
              <a:t> </a:t>
            </a:r>
            <a:r>
              <a:rPr lang="en-US" sz="1400" err="1">
                <a:solidFill>
                  <a:srgbClr val="545D7E"/>
                </a:solidFill>
                <a:ea typeface="+mn-lt"/>
                <a:cs typeface="+mn-lt"/>
              </a:rPr>
              <a:t>comprometidos</a:t>
            </a:r>
            <a:r>
              <a:rPr lang="en-US" sz="1400">
                <a:solidFill>
                  <a:srgbClr val="545D7E"/>
                </a:solidFill>
                <a:ea typeface="+mn-lt"/>
                <a:cs typeface="+mn-lt"/>
              </a:rPr>
              <a:t>. El DRP se </a:t>
            </a:r>
            <a:r>
              <a:rPr lang="en-US" sz="1400" err="1">
                <a:solidFill>
                  <a:srgbClr val="545D7E"/>
                </a:solidFill>
                <a:ea typeface="+mn-lt"/>
                <a:cs typeface="+mn-lt"/>
              </a:rPr>
              <a:t>enfoca</a:t>
            </a:r>
            <a:r>
              <a:rPr lang="en-US" sz="1400">
                <a:solidFill>
                  <a:srgbClr val="545D7E"/>
                </a:solidFill>
                <a:ea typeface="+mn-lt"/>
                <a:cs typeface="+mn-lt"/>
              </a:rPr>
              <a:t> </a:t>
            </a:r>
            <a:r>
              <a:rPr lang="en-US" sz="1400" err="1">
                <a:solidFill>
                  <a:srgbClr val="545D7E"/>
                </a:solidFill>
                <a:ea typeface="+mn-lt"/>
                <a:cs typeface="+mn-lt"/>
              </a:rPr>
              <a:t>únicamente</a:t>
            </a:r>
            <a:r>
              <a:rPr lang="en-US" sz="1400">
                <a:solidFill>
                  <a:srgbClr val="545D7E"/>
                </a:solidFill>
                <a:ea typeface="+mn-lt"/>
                <a:cs typeface="+mn-lt"/>
              </a:rPr>
              <a:t> </a:t>
            </a:r>
            <a:r>
              <a:rPr lang="en-US" sz="1400" err="1">
                <a:solidFill>
                  <a:srgbClr val="545D7E"/>
                </a:solidFill>
                <a:ea typeface="+mn-lt"/>
                <a:cs typeface="+mn-lt"/>
              </a:rPr>
              <a:t>en</a:t>
            </a:r>
            <a:r>
              <a:rPr lang="en-US" sz="1400">
                <a:solidFill>
                  <a:srgbClr val="545D7E"/>
                </a:solidFill>
                <a:ea typeface="+mn-lt"/>
                <a:cs typeface="+mn-lt"/>
              </a:rPr>
              <a:t> la </a:t>
            </a:r>
            <a:r>
              <a:rPr lang="en-US" sz="1400" err="1">
                <a:solidFill>
                  <a:srgbClr val="545D7E"/>
                </a:solidFill>
                <a:ea typeface="+mn-lt"/>
                <a:cs typeface="+mn-lt"/>
              </a:rPr>
              <a:t>recuperación</a:t>
            </a:r>
            <a:r>
              <a:rPr lang="en-US" sz="1400">
                <a:solidFill>
                  <a:srgbClr val="545D7E"/>
                </a:solidFill>
                <a:ea typeface="+mn-lt"/>
                <a:cs typeface="+mn-lt"/>
              </a:rPr>
              <a:t> de las </a:t>
            </a:r>
            <a:r>
              <a:rPr lang="en-US" sz="1400" err="1">
                <a:solidFill>
                  <a:srgbClr val="545D7E"/>
                </a:solidFill>
                <a:ea typeface="+mn-lt"/>
                <a:cs typeface="+mn-lt"/>
              </a:rPr>
              <a:t>infraestructuras</a:t>
            </a:r>
            <a:r>
              <a:rPr lang="en-US" sz="1400">
                <a:solidFill>
                  <a:srgbClr val="545D7E"/>
                </a:solidFill>
                <a:ea typeface="+mn-lt"/>
                <a:cs typeface="+mn-lt"/>
              </a:rPr>
              <a:t> </a:t>
            </a:r>
            <a:r>
              <a:rPr lang="en-US" sz="1400" err="1">
                <a:solidFill>
                  <a:srgbClr val="545D7E"/>
                </a:solidFill>
                <a:ea typeface="+mn-lt"/>
                <a:cs typeface="+mn-lt"/>
              </a:rPr>
              <a:t>tecnológicas</a:t>
            </a:r>
            <a:r>
              <a:rPr lang="en-US" sz="1400">
                <a:solidFill>
                  <a:srgbClr val="545D7E"/>
                </a:solidFill>
                <a:ea typeface="+mn-lt"/>
                <a:cs typeface="+mn-lt"/>
              </a:rPr>
              <a:t>. </a:t>
            </a:r>
          </a:p>
        </p:txBody>
      </p:sp>
      <p:sp>
        <p:nvSpPr>
          <p:cNvPr id="4" name="Marcador de número de diapositiva 3">
            <a:extLst>
              <a:ext uri="{FF2B5EF4-FFF2-40B4-BE49-F238E27FC236}">
                <a16:creationId xmlns:a16="http://schemas.microsoft.com/office/drawing/2014/main" id="{4893AFBF-5147-DA0A-4B9A-3251C960DDE5}"/>
              </a:ext>
            </a:extLst>
          </p:cNvPr>
          <p:cNvSpPr>
            <a:spLocks noGrp="1"/>
          </p:cNvSpPr>
          <p:nvPr>
            <p:ph type="sldNum" sz="quarter" idx="12"/>
          </p:nvPr>
        </p:nvSpPr>
        <p:spPr/>
        <p:txBody>
          <a:bodyPr/>
          <a:lstStyle/>
          <a:p>
            <a:fld id="{0E40E506-8910-4A1D-9597-9E72BD293B97}" type="slidenum">
              <a:rPr lang="en-US" smtClean="0"/>
              <a:t>4</a:t>
            </a:fld>
            <a:endParaRPr lang="en-US"/>
          </a:p>
        </p:txBody>
      </p:sp>
    </p:spTree>
    <p:extLst>
      <p:ext uri="{BB962C8B-B14F-4D97-AF65-F5344CB8AC3E}">
        <p14:creationId xmlns:p14="http://schemas.microsoft.com/office/powerpoint/2010/main" val="1315815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DCC41E-8D32-0255-CAAC-AF5EDFCBDD13}"/>
              </a:ext>
            </a:extLst>
          </p:cNvPr>
          <p:cNvSpPr>
            <a:spLocks noGrp="1"/>
          </p:cNvSpPr>
          <p:nvPr>
            <p:ph type="title"/>
          </p:nvPr>
        </p:nvSpPr>
        <p:spPr/>
        <p:txBody>
          <a:bodyPr/>
          <a:lstStyle/>
          <a:p>
            <a:r>
              <a:rPr lang="es-AR" err="1"/>
              <a:t>Bcp</a:t>
            </a:r>
            <a:r>
              <a:rPr lang="es-AR"/>
              <a:t> VS. DRP</a:t>
            </a:r>
          </a:p>
        </p:txBody>
      </p:sp>
      <p:sp>
        <p:nvSpPr>
          <p:cNvPr id="3" name="Marcador de contenido 2">
            <a:extLst>
              <a:ext uri="{FF2B5EF4-FFF2-40B4-BE49-F238E27FC236}">
                <a16:creationId xmlns:a16="http://schemas.microsoft.com/office/drawing/2014/main" id="{34259DAD-C1FA-3FBC-5B33-101BEB58B010}"/>
              </a:ext>
            </a:extLst>
          </p:cNvPr>
          <p:cNvSpPr>
            <a:spLocks noGrp="1"/>
          </p:cNvSpPr>
          <p:nvPr>
            <p:ph idx="1"/>
          </p:nvPr>
        </p:nvSpPr>
        <p:spPr>
          <a:xfrm>
            <a:off x="977774" y="2180496"/>
            <a:ext cx="10148935" cy="3678303"/>
          </a:xfrm>
        </p:spPr>
        <p:txBody>
          <a:bodyPr/>
          <a:lstStyle/>
          <a:p>
            <a:r>
              <a:rPr lang="es-MX" b="0" i="0">
                <a:solidFill>
                  <a:schemeClr val="accent1"/>
                </a:solidFill>
                <a:effectLst/>
                <a:latin typeface="Google Sans"/>
              </a:rPr>
              <a:t>Aunque ambos buscan mitigar el impacto de los incidentes:</a:t>
            </a:r>
          </a:p>
          <a:p>
            <a:endParaRPr lang="es-MX">
              <a:solidFill>
                <a:schemeClr val="accent1"/>
              </a:solidFill>
              <a:latin typeface="Google Sans"/>
            </a:endParaRPr>
          </a:p>
          <a:p>
            <a:r>
              <a:rPr lang="es-MX" b="0" i="0">
                <a:solidFill>
                  <a:schemeClr val="accent1"/>
                </a:solidFill>
                <a:effectLst/>
                <a:latin typeface="Google Sans"/>
              </a:rPr>
              <a:t>El BCP cubre todas las operaciones críticas del negocio.</a:t>
            </a:r>
          </a:p>
          <a:p>
            <a:r>
              <a:rPr lang="es-MX">
                <a:solidFill>
                  <a:schemeClr val="accent1"/>
                </a:solidFill>
                <a:latin typeface="Google Sans"/>
              </a:rPr>
              <a:t>E</a:t>
            </a:r>
            <a:r>
              <a:rPr lang="es-MX" b="0" i="0">
                <a:solidFill>
                  <a:schemeClr val="accent1"/>
                </a:solidFill>
                <a:effectLst/>
                <a:latin typeface="Google Sans"/>
              </a:rPr>
              <a:t>l DRP se enfoca únicamente en la recuperación de las infraestructuras tecnológicas.</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21513480-41D1-B9B3-59D7-606C5D5167E2}"/>
              </a:ext>
            </a:extLst>
          </p:cNvPr>
          <p:cNvSpPr>
            <a:spLocks noGrp="1"/>
          </p:cNvSpPr>
          <p:nvPr>
            <p:ph type="sldNum" sz="quarter" idx="12"/>
          </p:nvPr>
        </p:nvSpPr>
        <p:spPr/>
        <p:txBody>
          <a:bodyPr/>
          <a:lstStyle/>
          <a:p>
            <a:fld id="{0E40E506-8910-4A1D-9597-9E72BD293B97}" type="slidenum">
              <a:rPr lang="en-US" smtClean="0"/>
              <a:t>5</a:t>
            </a:fld>
            <a:endParaRPr lang="en-US"/>
          </a:p>
        </p:txBody>
      </p:sp>
    </p:spTree>
    <p:extLst>
      <p:ext uri="{BB962C8B-B14F-4D97-AF65-F5344CB8AC3E}">
        <p14:creationId xmlns:p14="http://schemas.microsoft.com/office/powerpoint/2010/main" val="3713835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6655585-905B-F89D-E362-BB4E1AC6765D}"/>
              </a:ext>
            </a:extLst>
          </p:cNvPr>
          <p:cNvSpPr>
            <a:spLocks noGrp="1"/>
          </p:cNvSpPr>
          <p:nvPr>
            <p:ph idx="1"/>
          </p:nvPr>
        </p:nvSpPr>
        <p:spPr>
          <a:xfrm>
            <a:off x="959667" y="2180496"/>
            <a:ext cx="10909426" cy="3678303"/>
          </a:xfrm>
        </p:spPr>
        <p:txBody>
          <a:bodyPr/>
          <a:lstStyle/>
          <a:p>
            <a:r>
              <a:rPr lang="es-MX">
                <a:solidFill>
                  <a:schemeClr val="accent1"/>
                </a:solidFill>
              </a:rPr>
              <a:t>El propósito de la continuidad del negocio/recuperación en caso de desastre es permitir que una empresa continúe ofreciendo servicios críticos en caso de que ocurra una interrupción y que sobreviva a una interrupción desastrosa de las actividades. </a:t>
            </a:r>
          </a:p>
          <a:p>
            <a:r>
              <a:rPr lang="es-MX">
                <a:solidFill>
                  <a:schemeClr val="accent1"/>
                </a:solidFill>
              </a:rPr>
              <a:t>Es necesario contar con una planificación y un compromiso rigurosos de los recursos para prever tales eventos de forma adecuada. </a:t>
            </a:r>
          </a:p>
          <a:p>
            <a:r>
              <a:rPr lang="es-MX">
                <a:solidFill>
                  <a:schemeClr val="accent1"/>
                </a:solidFill>
              </a:rPr>
              <a:t>El primer paso en la preparación de un nuevo BCP, o en la actualización de uno existente, es identificar los procesos de negocio de importancia estratégica, aquellos procesos clave que son responsables del crecimiento permanente del negocio y de la consecución de las metas del negocio. </a:t>
            </a:r>
          </a:p>
          <a:p>
            <a:r>
              <a:rPr lang="es-MX">
                <a:solidFill>
                  <a:schemeClr val="accent1"/>
                </a:solidFill>
              </a:rPr>
              <a:t>Lo ideal es que el BCP/DRP sea respaldado por una política ejecutiva formal que establezca el objetivo general de la organización en lo que respecta a 1a recuperación y asigne atribuciones a las personas que participan en el desarrollo, las pruebas y el mantenimiento de los planes. </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2B1364E6-784E-749F-7D11-DA8912D14523}"/>
              </a:ext>
            </a:extLst>
          </p:cNvPr>
          <p:cNvSpPr>
            <a:spLocks noGrp="1"/>
          </p:cNvSpPr>
          <p:nvPr>
            <p:ph type="sldNum" sz="quarter" idx="12"/>
          </p:nvPr>
        </p:nvSpPr>
        <p:spPr/>
        <p:txBody>
          <a:bodyPr/>
          <a:lstStyle/>
          <a:p>
            <a:fld id="{0E40E506-8910-4A1D-9597-9E72BD293B97}" type="slidenum">
              <a:rPr lang="en-US" smtClean="0"/>
              <a:t>6</a:t>
            </a:fld>
            <a:endParaRPr lang="en-US"/>
          </a:p>
        </p:txBody>
      </p:sp>
      <p:sp>
        <p:nvSpPr>
          <p:cNvPr id="5" name="Título 1">
            <a:extLst>
              <a:ext uri="{FF2B5EF4-FFF2-40B4-BE49-F238E27FC236}">
                <a16:creationId xmlns:a16="http://schemas.microsoft.com/office/drawing/2014/main" id="{9D9D054D-7393-26D1-D871-9D36A7905004}"/>
              </a:ext>
            </a:extLst>
          </p:cNvPr>
          <p:cNvSpPr>
            <a:spLocks noGrp="1"/>
          </p:cNvSpPr>
          <p:nvPr>
            <p:ph type="title"/>
          </p:nvPr>
        </p:nvSpPr>
        <p:spPr>
          <a:xfrm>
            <a:off x="581025" y="701675"/>
            <a:ext cx="11029950" cy="1014413"/>
          </a:xfrm>
        </p:spPr>
        <p:txBody>
          <a:bodyPr/>
          <a:lstStyle/>
          <a:p>
            <a:r>
              <a:rPr lang="es-AR" err="1"/>
              <a:t>Bcp</a:t>
            </a:r>
            <a:r>
              <a:rPr lang="es-AR"/>
              <a:t> VS. DRP</a:t>
            </a:r>
          </a:p>
        </p:txBody>
      </p:sp>
    </p:spTree>
    <p:extLst>
      <p:ext uri="{BB962C8B-B14F-4D97-AF65-F5344CB8AC3E}">
        <p14:creationId xmlns:p14="http://schemas.microsoft.com/office/powerpoint/2010/main" val="2775972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75B246-3B93-2305-444A-2710B9DFE2BA}"/>
              </a:ext>
            </a:extLst>
          </p:cNvPr>
          <p:cNvSpPr>
            <a:spLocks noGrp="1"/>
          </p:cNvSpPr>
          <p:nvPr>
            <p:ph type="title"/>
          </p:nvPr>
        </p:nvSpPr>
        <p:spPr/>
        <p:txBody>
          <a:bodyPr/>
          <a:lstStyle/>
          <a:p>
            <a:r>
              <a:rPr lang="es-AR"/>
              <a:t>BCP</a:t>
            </a:r>
          </a:p>
        </p:txBody>
      </p:sp>
      <p:sp>
        <p:nvSpPr>
          <p:cNvPr id="3" name="Marcador de contenido 2">
            <a:extLst>
              <a:ext uri="{FF2B5EF4-FFF2-40B4-BE49-F238E27FC236}">
                <a16:creationId xmlns:a16="http://schemas.microsoft.com/office/drawing/2014/main" id="{16130E79-7E70-44EC-61E1-FDA680ED6D7E}"/>
              </a:ext>
            </a:extLst>
          </p:cNvPr>
          <p:cNvSpPr>
            <a:spLocks noGrp="1"/>
          </p:cNvSpPr>
          <p:nvPr>
            <p:ph idx="1"/>
          </p:nvPr>
        </p:nvSpPr>
        <p:spPr>
          <a:xfrm>
            <a:off x="1104523" y="2180496"/>
            <a:ext cx="10130827" cy="3678303"/>
          </a:xfrm>
        </p:spPr>
        <p:txBody>
          <a:bodyPr/>
          <a:lstStyle/>
          <a:p>
            <a:r>
              <a:rPr lang="es-MX">
                <a:solidFill>
                  <a:schemeClr val="accent1"/>
                </a:solidFill>
              </a:rPr>
              <a:t>El BCP es responsabilidad de la alta gerencia, debido a que a ésta se le confió la protección de los activos y la viabilidad de la organización. </a:t>
            </a:r>
          </a:p>
          <a:p>
            <a:r>
              <a:rPr lang="es-MX">
                <a:solidFill>
                  <a:schemeClr val="accent1"/>
                </a:solidFill>
              </a:rPr>
              <a:t>Las unidades de negocio y soporte siguen el BCP para ofrecer un nivel de funcionalidad reducido pero suficiente en las operaciones de negocio inmediatamente después de enfrentar una interrupción, mientras ocurre 1a recuperación. </a:t>
            </a:r>
          </a:p>
          <a:p>
            <a:r>
              <a:rPr lang="es-MX">
                <a:solidFill>
                  <a:schemeClr val="accent1"/>
                </a:solidFill>
              </a:rPr>
              <a:t>El plan debería tratar todas las funciones y los activos requeridos para continuar como una organización viable. Esto incluye procedimientos de continuidad considerados como necesarios para sobrevivir y minimizar las consecuencias de la interrupción del negocio . </a:t>
            </a:r>
          </a:p>
          <a:p>
            <a:endParaRPr lang="es-AR">
              <a:solidFill>
                <a:schemeClr val="accent1"/>
              </a:solidFill>
            </a:endParaRPr>
          </a:p>
        </p:txBody>
      </p:sp>
      <p:sp>
        <p:nvSpPr>
          <p:cNvPr id="4" name="Marcador de número de diapositiva 3">
            <a:extLst>
              <a:ext uri="{FF2B5EF4-FFF2-40B4-BE49-F238E27FC236}">
                <a16:creationId xmlns:a16="http://schemas.microsoft.com/office/drawing/2014/main" id="{2F808DC1-A1F1-79BD-9A2D-A81B878B1AE3}"/>
              </a:ext>
            </a:extLst>
          </p:cNvPr>
          <p:cNvSpPr>
            <a:spLocks noGrp="1"/>
          </p:cNvSpPr>
          <p:nvPr>
            <p:ph type="sldNum" sz="quarter" idx="12"/>
          </p:nvPr>
        </p:nvSpPr>
        <p:spPr/>
        <p:txBody>
          <a:bodyPr/>
          <a:lstStyle/>
          <a:p>
            <a:fld id="{0E40E506-8910-4A1D-9597-9E72BD293B97}" type="slidenum">
              <a:rPr lang="en-US" smtClean="0"/>
              <a:t>7</a:t>
            </a:fld>
            <a:endParaRPr lang="en-US"/>
          </a:p>
        </p:txBody>
      </p:sp>
    </p:spTree>
    <p:extLst>
      <p:ext uri="{BB962C8B-B14F-4D97-AF65-F5344CB8AC3E}">
        <p14:creationId xmlns:p14="http://schemas.microsoft.com/office/powerpoint/2010/main" val="1112800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2B670E8-DB5B-8AD1-2F32-7C46590F6431}"/>
              </a:ext>
            </a:extLst>
          </p:cNvPr>
          <p:cNvSpPr>
            <a:spLocks noGrp="1"/>
          </p:cNvSpPr>
          <p:nvPr>
            <p:ph idx="1"/>
          </p:nvPr>
        </p:nvSpPr>
        <p:spPr/>
        <p:txBody>
          <a:bodyPr/>
          <a:lstStyle/>
          <a:p>
            <a:r>
              <a:rPr lang="es-MX">
                <a:solidFill>
                  <a:schemeClr val="accent1"/>
                </a:solidFill>
              </a:rPr>
              <a:t>El BCP toma en consideración:</a:t>
            </a:r>
          </a:p>
          <a:p>
            <a:r>
              <a:rPr lang="es-MX">
                <a:solidFill>
                  <a:schemeClr val="accent1"/>
                </a:solidFill>
              </a:rPr>
              <a:t>Las operaciones críticas que son necesarias para la supervivencia de la organización</a:t>
            </a:r>
          </a:p>
          <a:p>
            <a:r>
              <a:rPr lang="es-MX">
                <a:solidFill>
                  <a:schemeClr val="accent1"/>
                </a:solidFill>
              </a:rPr>
              <a:t>Los recursos humanos/materiales que los soportan</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7117CE1D-17C2-469E-60A2-8F2FD365D5F4}"/>
              </a:ext>
            </a:extLst>
          </p:cNvPr>
          <p:cNvSpPr>
            <a:spLocks noGrp="1"/>
          </p:cNvSpPr>
          <p:nvPr>
            <p:ph type="sldNum" sz="quarter" idx="12"/>
          </p:nvPr>
        </p:nvSpPr>
        <p:spPr/>
        <p:txBody>
          <a:bodyPr/>
          <a:lstStyle/>
          <a:p>
            <a:fld id="{0E40E506-8910-4A1D-9597-9E72BD293B97}" type="slidenum">
              <a:rPr lang="en-US" smtClean="0"/>
              <a:t>8</a:t>
            </a:fld>
            <a:endParaRPr lang="en-US"/>
          </a:p>
        </p:txBody>
      </p:sp>
      <p:sp>
        <p:nvSpPr>
          <p:cNvPr id="5" name="Título 1">
            <a:extLst>
              <a:ext uri="{FF2B5EF4-FFF2-40B4-BE49-F238E27FC236}">
                <a16:creationId xmlns:a16="http://schemas.microsoft.com/office/drawing/2014/main" id="{19E38006-B387-315F-46F8-E82DF12624F0}"/>
              </a:ext>
            </a:extLst>
          </p:cNvPr>
          <p:cNvSpPr>
            <a:spLocks noGrp="1"/>
          </p:cNvSpPr>
          <p:nvPr>
            <p:ph type="title"/>
          </p:nvPr>
        </p:nvSpPr>
        <p:spPr>
          <a:xfrm>
            <a:off x="581025" y="701675"/>
            <a:ext cx="11029950" cy="1014413"/>
          </a:xfrm>
        </p:spPr>
        <p:txBody>
          <a:bodyPr/>
          <a:lstStyle/>
          <a:p>
            <a:r>
              <a:rPr lang="es-AR"/>
              <a:t>BCP</a:t>
            </a:r>
          </a:p>
        </p:txBody>
      </p:sp>
    </p:spTree>
    <p:extLst>
      <p:ext uri="{BB962C8B-B14F-4D97-AF65-F5344CB8AC3E}">
        <p14:creationId xmlns:p14="http://schemas.microsoft.com/office/powerpoint/2010/main" val="192191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F7395BC1-C63F-FF3D-D93D-778ECDDDE9B0}"/>
              </a:ext>
            </a:extLst>
          </p:cNvPr>
          <p:cNvSpPr>
            <a:spLocks noGrp="1"/>
          </p:cNvSpPr>
          <p:nvPr>
            <p:ph type="sldNum" sz="quarter" idx="12"/>
          </p:nvPr>
        </p:nvSpPr>
        <p:spPr/>
        <p:txBody>
          <a:bodyPr/>
          <a:lstStyle/>
          <a:p>
            <a:fld id="{0E40E506-8910-4A1D-9597-9E72BD293B97}" type="slidenum">
              <a:rPr lang="en-US" smtClean="0"/>
              <a:t>9</a:t>
            </a:fld>
            <a:endParaRPr lang="en-US"/>
          </a:p>
        </p:txBody>
      </p:sp>
      <p:pic>
        <p:nvPicPr>
          <p:cNvPr id="10" name="Marcador de contenido 9">
            <a:extLst>
              <a:ext uri="{FF2B5EF4-FFF2-40B4-BE49-F238E27FC236}">
                <a16:creationId xmlns:a16="http://schemas.microsoft.com/office/drawing/2014/main" id="{AA4FDD04-81F5-42C9-0F74-134085712C5A}"/>
              </a:ext>
            </a:extLst>
          </p:cNvPr>
          <p:cNvPicPr>
            <a:picLocks noGrp="1" noChangeAspect="1"/>
          </p:cNvPicPr>
          <p:nvPr>
            <p:ph idx="1"/>
          </p:nvPr>
        </p:nvPicPr>
        <p:blipFill>
          <a:blip r:embed="rId2"/>
          <a:stretch>
            <a:fillRect/>
          </a:stretch>
        </p:blipFill>
        <p:spPr>
          <a:xfrm>
            <a:off x="2200275" y="2191544"/>
            <a:ext cx="7791450" cy="3657600"/>
          </a:xfrm>
        </p:spPr>
      </p:pic>
      <p:sp>
        <p:nvSpPr>
          <p:cNvPr id="11" name="Título 1">
            <a:extLst>
              <a:ext uri="{FF2B5EF4-FFF2-40B4-BE49-F238E27FC236}">
                <a16:creationId xmlns:a16="http://schemas.microsoft.com/office/drawing/2014/main" id="{2EBE7A11-76B5-E5F0-47F0-379EA1D5AEB9}"/>
              </a:ext>
            </a:extLst>
          </p:cNvPr>
          <p:cNvSpPr>
            <a:spLocks noGrp="1"/>
          </p:cNvSpPr>
          <p:nvPr>
            <p:ph type="title"/>
          </p:nvPr>
        </p:nvSpPr>
        <p:spPr>
          <a:xfrm>
            <a:off x="581025" y="701675"/>
            <a:ext cx="11029950" cy="1014413"/>
          </a:xfrm>
        </p:spPr>
        <p:txBody>
          <a:bodyPr/>
          <a:lstStyle/>
          <a:p>
            <a:r>
              <a:rPr lang="es-AR"/>
              <a:t>BCP</a:t>
            </a:r>
          </a:p>
        </p:txBody>
      </p:sp>
    </p:spTree>
    <p:extLst>
      <p:ext uri="{BB962C8B-B14F-4D97-AF65-F5344CB8AC3E}">
        <p14:creationId xmlns:p14="http://schemas.microsoft.com/office/powerpoint/2010/main" val="3961817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9343A15-BA7C-BE22-12A7-F084F463D9AE}"/>
              </a:ext>
            </a:extLst>
          </p:cNvPr>
          <p:cNvSpPr>
            <a:spLocks noGrp="1" noChangeArrowheads="1"/>
          </p:cNvSpPr>
          <p:nvPr>
            <p:ph type="title"/>
          </p:nvPr>
        </p:nvSpPr>
        <p:spPr>
          <a:xfrm>
            <a:off x="500769" y="624689"/>
            <a:ext cx="11241575" cy="1143000"/>
          </a:xfrm>
        </p:spPr>
        <p:txBody>
          <a:bodyPr/>
          <a:lstStyle/>
          <a:p>
            <a:pPr algn="l"/>
            <a:r>
              <a:rPr lang="es-ES_tradnl" altLang="es-AR"/>
              <a:t>Tipos de contingencias - desastres</a:t>
            </a:r>
          </a:p>
        </p:txBody>
      </p:sp>
      <p:sp>
        <p:nvSpPr>
          <p:cNvPr id="4099" name="Rectangle 3">
            <a:extLst>
              <a:ext uri="{FF2B5EF4-FFF2-40B4-BE49-F238E27FC236}">
                <a16:creationId xmlns:a16="http://schemas.microsoft.com/office/drawing/2014/main" id="{09282627-F981-F591-4A7D-3055158F2AFA}"/>
              </a:ext>
            </a:extLst>
          </p:cNvPr>
          <p:cNvSpPr>
            <a:spLocks noGrp="1" noChangeArrowheads="1"/>
          </p:cNvSpPr>
          <p:nvPr>
            <p:ph type="body" idx="1"/>
          </p:nvPr>
        </p:nvSpPr>
        <p:spPr>
          <a:xfrm>
            <a:off x="1885950" y="2202136"/>
            <a:ext cx="8420100" cy="4114800"/>
          </a:xfrm>
        </p:spPr>
        <p:txBody>
          <a:bodyPr vert="horz" lIns="91440" tIns="45720" rIns="91440" bIns="45720" rtlCol="0" anchor="ctr">
            <a:normAutofit/>
          </a:bodyPr>
          <a:lstStyle/>
          <a:p>
            <a:r>
              <a:rPr lang="es-ES_tradnl" altLang="es-AR">
                <a:solidFill>
                  <a:schemeClr val="accent1"/>
                </a:solidFill>
              </a:rPr>
              <a:t> Incendio</a:t>
            </a:r>
          </a:p>
          <a:p>
            <a:r>
              <a:rPr lang="es-ES_tradnl" altLang="es-AR">
                <a:solidFill>
                  <a:schemeClr val="accent1"/>
                </a:solidFill>
              </a:rPr>
              <a:t> Inundación</a:t>
            </a:r>
          </a:p>
          <a:p>
            <a:r>
              <a:rPr lang="es-ES_tradnl" altLang="es-AR">
                <a:solidFill>
                  <a:schemeClr val="accent1"/>
                </a:solidFill>
              </a:rPr>
              <a:t> Terremoto</a:t>
            </a:r>
          </a:p>
          <a:p>
            <a:r>
              <a:rPr lang="es-ES_tradnl" altLang="es-AR">
                <a:solidFill>
                  <a:schemeClr val="accent1"/>
                </a:solidFill>
              </a:rPr>
              <a:t> Maremoto</a:t>
            </a:r>
          </a:p>
          <a:p>
            <a:r>
              <a:rPr lang="es-ES_tradnl" altLang="es-AR">
                <a:solidFill>
                  <a:schemeClr val="accent1"/>
                </a:solidFill>
              </a:rPr>
              <a:t> Ataque terrorista</a:t>
            </a:r>
          </a:p>
          <a:p>
            <a:r>
              <a:rPr lang="es-ES_tradnl" altLang="es-AR">
                <a:solidFill>
                  <a:schemeClr val="accent1"/>
                </a:solidFill>
              </a:rPr>
              <a:t> Falla técnica significativa</a:t>
            </a:r>
          </a:p>
          <a:p>
            <a:r>
              <a:rPr lang="es-ES_tradnl" altLang="es-AR">
                <a:solidFill>
                  <a:schemeClr val="accent1"/>
                </a:solidFill>
              </a:rPr>
              <a:t> etc.</a:t>
            </a:r>
          </a:p>
          <a:p>
            <a:endParaRPr lang="es-ES_tradnl" altLang="es-AR">
              <a:solidFill>
                <a:schemeClr val="accent1"/>
              </a:solidFill>
            </a:endParaRPr>
          </a:p>
        </p:txBody>
      </p:sp>
      <p:sp>
        <p:nvSpPr>
          <p:cNvPr id="4" name="Marcador de número de diapositiva 3">
            <a:extLst>
              <a:ext uri="{FF2B5EF4-FFF2-40B4-BE49-F238E27FC236}">
                <a16:creationId xmlns:a16="http://schemas.microsoft.com/office/drawing/2014/main" id="{7E0771AD-BFA0-4231-6E52-EAE082E8BAC8}"/>
              </a:ext>
            </a:extLst>
          </p:cNvPr>
          <p:cNvSpPr>
            <a:spLocks noGrp="1"/>
          </p:cNvSpPr>
          <p:nvPr>
            <p:ph type="sldNum" sz="quarter" idx="12"/>
          </p:nvPr>
        </p:nvSpPr>
        <p:spPr/>
        <p:txBody>
          <a:bodyPr/>
          <a:lstStyle/>
          <a:p>
            <a:fld id="{0E40E506-8910-4A1D-9597-9E72BD293B97}"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EC16541-0A84-2BE9-2360-53180F7EFF44}"/>
              </a:ext>
            </a:extLst>
          </p:cNvPr>
          <p:cNvSpPr>
            <a:spLocks noGrp="1"/>
          </p:cNvSpPr>
          <p:nvPr>
            <p:ph idx="1"/>
          </p:nvPr>
        </p:nvSpPr>
        <p:spPr/>
        <p:txBody>
          <a:bodyPr/>
          <a:lstStyle/>
          <a:p>
            <a:r>
              <a:rPr lang="es-MX">
                <a:solidFill>
                  <a:schemeClr val="accent1"/>
                </a:solidFill>
              </a:rPr>
              <a:t>El plan para la continuidad de las operaciones, el BCP incluye: </a:t>
            </a:r>
          </a:p>
          <a:p>
            <a:pPr lvl="1"/>
            <a:r>
              <a:rPr lang="es-MX">
                <a:solidFill>
                  <a:schemeClr val="accent1"/>
                </a:solidFill>
              </a:rPr>
              <a:t>El DRP que se utiliza para recuperar una instalación que se haya vuelto inoperable, incluyendo la reubicación de las operaciones en una nueva ubicación "El plan de restauración” que se utiliza para normalizar las operaciones en una instalación restaurada o nueva. </a:t>
            </a:r>
          </a:p>
          <a:p>
            <a:r>
              <a:rPr lang="es-MX">
                <a:solidFill>
                  <a:schemeClr val="accent1"/>
                </a:solidFill>
              </a:rPr>
              <a:t>Dependiendo de la complejidad de la organización, podría haber uno o más planes para tratar los diferentes aspectos de la continuidad del negocio y la recuperación ante desastres. </a:t>
            </a:r>
          </a:p>
        </p:txBody>
      </p:sp>
      <p:sp>
        <p:nvSpPr>
          <p:cNvPr id="4" name="Marcador de número de diapositiva 3">
            <a:extLst>
              <a:ext uri="{FF2B5EF4-FFF2-40B4-BE49-F238E27FC236}">
                <a16:creationId xmlns:a16="http://schemas.microsoft.com/office/drawing/2014/main" id="{CF604C8E-B058-6433-BEF4-64106A74BBF7}"/>
              </a:ext>
            </a:extLst>
          </p:cNvPr>
          <p:cNvSpPr>
            <a:spLocks noGrp="1"/>
          </p:cNvSpPr>
          <p:nvPr>
            <p:ph type="sldNum" sz="quarter" idx="12"/>
          </p:nvPr>
        </p:nvSpPr>
        <p:spPr/>
        <p:txBody>
          <a:bodyPr/>
          <a:lstStyle/>
          <a:p>
            <a:fld id="{0E40E506-8910-4A1D-9597-9E72BD293B97}" type="slidenum">
              <a:rPr lang="en-US" smtClean="0"/>
              <a:t>11</a:t>
            </a:fld>
            <a:endParaRPr lang="en-US"/>
          </a:p>
        </p:txBody>
      </p:sp>
      <p:sp>
        <p:nvSpPr>
          <p:cNvPr id="5" name="Título 1">
            <a:extLst>
              <a:ext uri="{FF2B5EF4-FFF2-40B4-BE49-F238E27FC236}">
                <a16:creationId xmlns:a16="http://schemas.microsoft.com/office/drawing/2014/main" id="{4CF336ED-09F8-5616-AF34-31CA15195757}"/>
              </a:ext>
            </a:extLst>
          </p:cNvPr>
          <p:cNvSpPr>
            <a:spLocks noGrp="1"/>
          </p:cNvSpPr>
          <p:nvPr>
            <p:ph type="title"/>
          </p:nvPr>
        </p:nvSpPr>
        <p:spPr>
          <a:xfrm>
            <a:off x="470780" y="701675"/>
            <a:ext cx="11307778" cy="1014413"/>
          </a:xfrm>
        </p:spPr>
        <p:txBody>
          <a:bodyPr/>
          <a:lstStyle/>
          <a:p>
            <a:r>
              <a:rPr lang="es-MX"/>
              <a:t>PLANIFICACIÓN DE CONTINUIDAD DEL NEGOCIO DE TI </a:t>
            </a:r>
            <a:endParaRPr lang="es-AR"/>
          </a:p>
        </p:txBody>
      </p:sp>
    </p:spTree>
    <p:extLst>
      <p:ext uri="{BB962C8B-B14F-4D97-AF65-F5344CB8AC3E}">
        <p14:creationId xmlns:p14="http://schemas.microsoft.com/office/powerpoint/2010/main" val="3325994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980D22F-6F88-D1CF-B037-6E48FEC1D96A}"/>
              </a:ext>
            </a:extLst>
          </p:cNvPr>
          <p:cNvSpPr>
            <a:spLocks noGrp="1"/>
          </p:cNvSpPr>
          <p:nvPr>
            <p:ph idx="1"/>
          </p:nvPr>
        </p:nvSpPr>
        <p:spPr/>
        <p:txBody>
          <a:bodyPr>
            <a:normAutofit/>
          </a:bodyPr>
          <a:lstStyle/>
          <a:p>
            <a:r>
              <a:rPr lang="es-MX">
                <a:solidFill>
                  <a:schemeClr val="accent1"/>
                </a:solidFill>
              </a:rPr>
              <a:t>El BCP/DRP del sistema de información es un componente principal de la estrategia general de continuidad del negocio y recuperación en caso de desastre de una organización. </a:t>
            </a:r>
          </a:p>
          <a:p>
            <a:r>
              <a:rPr lang="es-MX">
                <a:solidFill>
                  <a:schemeClr val="accent1"/>
                </a:solidFill>
              </a:rPr>
              <a:t>Si el plan de TI es un plan separado, debe ser consistente con apoyar el BCP corporativo a  lo largo de todo el proceso de planificación de continuidad del negocio de TI.</a:t>
            </a:r>
          </a:p>
          <a:p>
            <a:r>
              <a:rPr lang="es-MX">
                <a:solidFill>
                  <a:schemeClr val="accent1"/>
                </a:solidFill>
              </a:rPr>
              <a:t>El BCP general de la organización; debe ser respaldado por la política ejecutiva. </a:t>
            </a:r>
          </a:p>
          <a:p>
            <a:r>
              <a:rPr lang="es-MX">
                <a:solidFill>
                  <a:schemeClr val="accent1"/>
                </a:solidFill>
              </a:rPr>
              <a:t>Todos los planes de TI deben ser consistentes con apoyar el BCP corporativo. </a:t>
            </a:r>
          </a:p>
          <a:p>
            <a:r>
              <a:rPr lang="es-MX">
                <a:solidFill>
                  <a:schemeClr val="accent1"/>
                </a:solidFill>
              </a:rPr>
              <a:t>Esto significa que las instalaciones alternas de procesamiento que apoyan las operaciones clave deben estar preparadas, se compatibles con la instalación original de procesamiento y contar con planes actualizados en lo que respecta a su uso. </a:t>
            </a:r>
          </a:p>
        </p:txBody>
      </p:sp>
      <p:sp>
        <p:nvSpPr>
          <p:cNvPr id="4" name="Marcador de número de diapositiva 3">
            <a:extLst>
              <a:ext uri="{FF2B5EF4-FFF2-40B4-BE49-F238E27FC236}">
                <a16:creationId xmlns:a16="http://schemas.microsoft.com/office/drawing/2014/main" id="{89A3B4AA-3BC2-21D5-6309-A4360C05BBEF}"/>
              </a:ext>
            </a:extLst>
          </p:cNvPr>
          <p:cNvSpPr>
            <a:spLocks noGrp="1"/>
          </p:cNvSpPr>
          <p:nvPr>
            <p:ph type="sldNum" sz="quarter" idx="12"/>
          </p:nvPr>
        </p:nvSpPr>
        <p:spPr/>
        <p:txBody>
          <a:bodyPr/>
          <a:lstStyle/>
          <a:p>
            <a:fld id="{0E40E506-8910-4A1D-9597-9E72BD293B97}" type="slidenum">
              <a:rPr lang="en-US" smtClean="0"/>
              <a:t>12</a:t>
            </a:fld>
            <a:endParaRPr lang="en-US"/>
          </a:p>
        </p:txBody>
      </p:sp>
      <p:sp>
        <p:nvSpPr>
          <p:cNvPr id="5" name="Título 1">
            <a:extLst>
              <a:ext uri="{FF2B5EF4-FFF2-40B4-BE49-F238E27FC236}">
                <a16:creationId xmlns:a16="http://schemas.microsoft.com/office/drawing/2014/main" id="{8EB2DAB8-B6D8-2735-5182-A26811CB9448}"/>
              </a:ext>
            </a:extLst>
          </p:cNvPr>
          <p:cNvSpPr>
            <a:spLocks noGrp="1"/>
          </p:cNvSpPr>
          <p:nvPr>
            <p:ph type="title"/>
          </p:nvPr>
        </p:nvSpPr>
        <p:spPr>
          <a:xfrm>
            <a:off x="581025" y="701675"/>
            <a:ext cx="11029950" cy="1014413"/>
          </a:xfrm>
        </p:spPr>
        <p:txBody>
          <a:bodyPr/>
          <a:lstStyle/>
          <a:p>
            <a:r>
              <a:rPr lang="es-MX"/>
              <a:t>PLANIFICACIÓN DE CONTINUIDAD DEL NEGOCIO DE TI </a:t>
            </a:r>
            <a:endParaRPr lang="es-AR"/>
          </a:p>
        </p:txBody>
      </p:sp>
    </p:spTree>
    <p:extLst>
      <p:ext uri="{BB962C8B-B14F-4D97-AF65-F5344CB8AC3E}">
        <p14:creationId xmlns:p14="http://schemas.microsoft.com/office/powerpoint/2010/main" val="2802643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F40CEC5-1957-00BB-19BF-5D6AF3A5E4FF}"/>
              </a:ext>
            </a:extLst>
          </p:cNvPr>
          <p:cNvSpPr>
            <a:spLocks noGrp="1"/>
          </p:cNvSpPr>
          <p:nvPr>
            <p:ph idx="1"/>
          </p:nvPr>
        </p:nvSpPr>
        <p:spPr/>
        <p:txBody>
          <a:bodyPr/>
          <a:lstStyle/>
          <a:p>
            <a:r>
              <a:rPr lang="es-MX" b="1">
                <a:solidFill>
                  <a:schemeClr val="accent1"/>
                </a:solidFill>
              </a:rPr>
              <a:t>Desarrollar y probar </a:t>
            </a:r>
            <a:r>
              <a:rPr lang="es-MX">
                <a:solidFill>
                  <a:schemeClr val="accent1"/>
                </a:solidFill>
              </a:rPr>
              <a:t>el BCP/DRP del sistema de información es un componente principal de la estrategia general de continuidad del negocio y recuperación en caso de desastre de una organización. </a:t>
            </a:r>
          </a:p>
          <a:p>
            <a:r>
              <a:rPr lang="es-MX">
                <a:solidFill>
                  <a:schemeClr val="accent1"/>
                </a:solidFill>
              </a:rPr>
              <a:t>El plan se basa en el uso coordinado de las contramedidas para afrontar riesgos que están disponibles para la organización ( es decir, instalación alterna de procesamiento, redes de datos redundantes, equipos resilientes, sistemas de respaldo y recuperación, replicación de datos, etc.). </a:t>
            </a:r>
          </a:p>
          <a:p>
            <a:r>
              <a:rPr lang="es-MX">
                <a:solidFill>
                  <a:schemeClr val="accent1"/>
                </a:solidFill>
              </a:rPr>
              <a:t>Si el plan de TI es un plan separado (o varios planes separados), debe ser consistente con apoyar el BCP corporativo. </a:t>
            </a:r>
          </a:p>
          <a:p>
            <a:r>
              <a:rPr lang="es-MX">
                <a:solidFill>
                  <a:schemeClr val="accent1"/>
                </a:solidFill>
              </a:rPr>
              <a:t>Establecer dependencias entre los procesos críticos de negocio, las aplicaciones,  el sistema de información y los componentes de la infraestructura de TI es uno de los pasos de la evaluación de riesgos.</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CBABCF53-C2BA-4AA4-5D83-1DC108DC1F32}"/>
              </a:ext>
            </a:extLst>
          </p:cNvPr>
          <p:cNvSpPr>
            <a:spLocks noGrp="1"/>
          </p:cNvSpPr>
          <p:nvPr>
            <p:ph type="sldNum" sz="quarter" idx="12"/>
          </p:nvPr>
        </p:nvSpPr>
        <p:spPr/>
        <p:txBody>
          <a:bodyPr/>
          <a:lstStyle/>
          <a:p>
            <a:fld id="{0E40E506-8910-4A1D-9597-9E72BD293B97}" type="slidenum">
              <a:rPr lang="en-US" smtClean="0"/>
              <a:t>13</a:t>
            </a:fld>
            <a:endParaRPr lang="en-US"/>
          </a:p>
        </p:txBody>
      </p:sp>
      <p:sp>
        <p:nvSpPr>
          <p:cNvPr id="5" name="Título 1">
            <a:extLst>
              <a:ext uri="{FF2B5EF4-FFF2-40B4-BE49-F238E27FC236}">
                <a16:creationId xmlns:a16="http://schemas.microsoft.com/office/drawing/2014/main" id="{3E061A10-2E90-BD55-616E-B54666A6F84F}"/>
              </a:ext>
            </a:extLst>
          </p:cNvPr>
          <p:cNvSpPr>
            <a:spLocks noGrp="1"/>
          </p:cNvSpPr>
          <p:nvPr>
            <p:ph type="title"/>
          </p:nvPr>
        </p:nvSpPr>
        <p:spPr>
          <a:xfrm>
            <a:off x="581025" y="701675"/>
            <a:ext cx="11029950" cy="1014413"/>
          </a:xfrm>
        </p:spPr>
        <p:txBody>
          <a:bodyPr/>
          <a:lstStyle/>
          <a:p>
            <a:r>
              <a:rPr lang="es-MX"/>
              <a:t>PLANIFICACIÓN DE CONTINUIDAD DEL NEGOCIO DE TI </a:t>
            </a:r>
            <a:endParaRPr lang="es-AR"/>
          </a:p>
        </p:txBody>
      </p:sp>
    </p:spTree>
    <p:extLst>
      <p:ext uri="{BB962C8B-B14F-4D97-AF65-F5344CB8AC3E}">
        <p14:creationId xmlns:p14="http://schemas.microsoft.com/office/powerpoint/2010/main" val="2700592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05236E1-9FCE-A4C0-550F-27EA10ABCCB2}"/>
              </a:ext>
            </a:extLst>
          </p:cNvPr>
          <p:cNvSpPr>
            <a:spLocks noGrp="1"/>
          </p:cNvSpPr>
          <p:nvPr>
            <p:ph idx="1"/>
          </p:nvPr>
        </p:nvSpPr>
        <p:spPr/>
        <p:txBody>
          <a:bodyPr/>
          <a:lstStyle/>
          <a:p>
            <a:r>
              <a:rPr lang="es-MX">
                <a:solidFill>
                  <a:schemeClr val="accent1"/>
                </a:solidFill>
              </a:rPr>
              <a:t>Si la organización está dispuesta a investigar la magnitud de las pérdidas que sufrirá el negocio por la interrupción, la organización puede llevar acabo un análisis del impacto en el negocio (BIA). </a:t>
            </a:r>
          </a:p>
          <a:p>
            <a:r>
              <a:rPr lang="es-MX">
                <a:solidFill>
                  <a:schemeClr val="accent1"/>
                </a:solidFill>
              </a:rPr>
              <a:t>El BIA permite a la organización determinar el </a:t>
            </a:r>
            <a:r>
              <a:rPr lang="es-MX" b="1">
                <a:solidFill>
                  <a:schemeClr val="accent1"/>
                </a:solidFill>
              </a:rPr>
              <a:t>máximo tiempo posible de inactividad </a:t>
            </a:r>
            <a:r>
              <a:rPr lang="es-MX">
                <a:solidFill>
                  <a:schemeClr val="accent1"/>
                </a:solidFill>
              </a:rPr>
              <a:t>para una aplicación en particular y </a:t>
            </a:r>
            <a:r>
              <a:rPr lang="es-MX" b="1">
                <a:solidFill>
                  <a:schemeClr val="accent1"/>
                </a:solidFill>
              </a:rPr>
              <a:t>cuántos datos se podrían perder</a:t>
            </a:r>
            <a:r>
              <a:rPr lang="es-MX">
                <a:solidFill>
                  <a:schemeClr val="accent1"/>
                </a:solidFill>
              </a:rPr>
              <a:t>. </a:t>
            </a:r>
          </a:p>
          <a:p>
            <a:r>
              <a:rPr lang="es-MX">
                <a:solidFill>
                  <a:schemeClr val="accent1"/>
                </a:solidFill>
              </a:rPr>
              <a:t>Los resultados de la evaluación del riesgo y el BIA se incorporan a la estrategia de continuidad del negocio de SI, la cual describe la tecnología principal y los principios que sirven de base a la protección y recuperación de TI, así como la directriz para implementará tecnología. </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39B8371E-4681-F230-F450-623CBEBD9D98}"/>
              </a:ext>
            </a:extLst>
          </p:cNvPr>
          <p:cNvSpPr>
            <a:spLocks noGrp="1"/>
          </p:cNvSpPr>
          <p:nvPr>
            <p:ph type="sldNum" sz="quarter" idx="12"/>
          </p:nvPr>
        </p:nvSpPr>
        <p:spPr/>
        <p:txBody>
          <a:bodyPr/>
          <a:lstStyle/>
          <a:p>
            <a:fld id="{0E40E506-8910-4A1D-9597-9E72BD293B97}" type="slidenum">
              <a:rPr lang="en-US" smtClean="0"/>
              <a:t>14</a:t>
            </a:fld>
            <a:endParaRPr lang="en-US"/>
          </a:p>
        </p:txBody>
      </p:sp>
      <p:sp>
        <p:nvSpPr>
          <p:cNvPr id="8" name="Título 1">
            <a:extLst>
              <a:ext uri="{FF2B5EF4-FFF2-40B4-BE49-F238E27FC236}">
                <a16:creationId xmlns:a16="http://schemas.microsoft.com/office/drawing/2014/main" id="{16FE77AB-4A08-DE60-1E0F-7B5AF91D8A69}"/>
              </a:ext>
            </a:extLst>
          </p:cNvPr>
          <p:cNvSpPr>
            <a:spLocks noGrp="1"/>
          </p:cNvSpPr>
          <p:nvPr>
            <p:ph type="title"/>
          </p:nvPr>
        </p:nvSpPr>
        <p:spPr>
          <a:xfrm>
            <a:off x="581025" y="701675"/>
            <a:ext cx="11029950" cy="1014413"/>
          </a:xfrm>
        </p:spPr>
        <p:txBody>
          <a:bodyPr/>
          <a:lstStyle/>
          <a:p>
            <a:r>
              <a:rPr lang="es-MX"/>
              <a:t>PLANIFICACIÓN DE CONTINUIDAD DEL NEGOCIO DE TI </a:t>
            </a:r>
            <a:endParaRPr lang="es-AR"/>
          </a:p>
        </p:txBody>
      </p:sp>
    </p:spTree>
    <p:extLst>
      <p:ext uri="{BB962C8B-B14F-4D97-AF65-F5344CB8AC3E}">
        <p14:creationId xmlns:p14="http://schemas.microsoft.com/office/powerpoint/2010/main" val="3892708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E99A3CD-6ECC-CD97-8C8C-5ABE50C22B78}"/>
              </a:ext>
            </a:extLst>
          </p:cNvPr>
          <p:cNvSpPr>
            <a:spLocks noGrp="1"/>
          </p:cNvSpPr>
          <p:nvPr>
            <p:ph idx="1"/>
          </p:nvPr>
        </p:nvSpPr>
        <p:spPr/>
        <p:txBody>
          <a:bodyPr/>
          <a:lstStyle/>
          <a:p>
            <a:pPr algn="just"/>
            <a:r>
              <a:rPr lang="es-MX">
                <a:solidFill>
                  <a:schemeClr val="accent1"/>
                </a:solidFill>
              </a:rPr>
              <a:t>No todos los sistemas requerirán una estrategia de recuperación. Basándose en los resultados de la evaluación de riesgos y el BIA, la gerencia podría considerar que no es conveniente desde el punto de vista económico restaurar ciertas aplicaciones en caso de desastre. </a:t>
            </a:r>
          </a:p>
          <a:p>
            <a:pPr algn="just"/>
            <a:r>
              <a:rPr lang="es-MX">
                <a:solidFill>
                  <a:schemeClr val="accent1"/>
                </a:solidFill>
              </a:rPr>
              <a:t>Un factor primordial cuando se determinan las opciones de recuperación es que el costo nunca debe exceder el beneficio (esto suele determinarse claramente después de finalizar un BIA). </a:t>
            </a:r>
          </a:p>
          <a:p>
            <a:pPr algn="just"/>
            <a:r>
              <a:rPr lang="es-MX">
                <a:solidFill>
                  <a:schemeClr val="accent1"/>
                </a:solidFill>
              </a:rPr>
              <a:t>Uno de los resultados importantes del BIA, </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0B08FBDD-B7DD-C1AE-309C-C6C4173A36B0}"/>
              </a:ext>
            </a:extLst>
          </p:cNvPr>
          <p:cNvSpPr>
            <a:spLocks noGrp="1"/>
          </p:cNvSpPr>
          <p:nvPr>
            <p:ph type="sldNum" sz="quarter" idx="12"/>
          </p:nvPr>
        </p:nvSpPr>
        <p:spPr/>
        <p:txBody>
          <a:bodyPr/>
          <a:lstStyle/>
          <a:p>
            <a:fld id="{0E40E506-8910-4A1D-9597-9E72BD293B97}" type="slidenum">
              <a:rPr lang="en-US" smtClean="0"/>
              <a:t>15</a:t>
            </a:fld>
            <a:endParaRPr lang="en-US"/>
          </a:p>
        </p:txBody>
      </p:sp>
      <p:sp>
        <p:nvSpPr>
          <p:cNvPr id="5" name="Título 1">
            <a:extLst>
              <a:ext uri="{FF2B5EF4-FFF2-40B4-BE49-F238E27FC236}">
                <a16:creationId xmlns:a16="http://schemas.microsoft.com/office/drawing/2014/main" id="{80371EA4-9D0E-B7AB-F3B3-A850B5863132}"/>
              </a:ext>
            </a:extLst>
          </p:cNvPr>
          <p:cNvSpPr>
            <a:spLocks noGrp="1"/>
          </p:cNvSpPr>
          <p:nvPr>
            <p:ph type="title"/>
          </p:nvPr>
        </p:nvSpPr>
        <p:spPr>
          <a:xfrm>
            <a:off x="581025" y="701675"/>
            <a:ext cx="11029950" cy="1014413"/>
          </a:xfrm>
        </p:spPr>
        <p:txBody>
          <a:bodyPr/>
          <a:lstStyle/>
          <a:p>
            <a:r>
              <a:rPr lang="es-MX"/>
              <a:t>PLANIFICACIÓN DE CONTINUIDAD DEL NEGOCIO DE TI </a:t>
            </a:r>
            <a:endParaRPr lang="es-AR"/>
          </a:p>
        </p:txBody>
      </p:sp>
    </p:spTree>
    <p:extLst>
      <p:ext uri="{BB962C8B-B14F-4D97-AF65-F5344CB8AC3E}">
        <p14:creationId xmlns:p14="http://schemas.microsoft.com/office/powerpoint/2010/main" val="629159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209E29-1C4B-B219-46F2-DADB5F60D815}"/>
              </a:ext>
            </a:extLst>
          </p:cNvPr>
          <p:cNvSpPr>
            <a:spLocks noGrp="1"/>
          </p:cNvSpPr>
          <p:nvPr>
            <p:ph type="title"/>
          </p:nvPr>
        </p:nvSpPr>
        <p:spPr/>
        <p:txBody>
          <a:bodyPr/>
          <a:lstStyle/>
          <a:p>
            <a:r>
              <a:rPr lang="es-AR"/>
              <a:t>Métricas </a:t>
            </a:r>
            <a:r>
              <a:rPr lang="es-AR" err="1"/>
              <a:t>rpo-rto</a:t>
            </a:r>
            <a:endParaRPr lang="es-AR"/>
          </a:p>
        </p:txBody>
      </p:sp>
      <p:sp>
        <p:nvSpPr>
          <p:cNvPr id="3" name="Marcador de contenido 2">
            <a:extLst>
              <a:ext uri="{FF2B5EF4-FFF2-40B4-BE49-F238E27FC236}">
                <a16:creationId xmlns:a16="http://schemas.microsoft.com/office/drawing/2014/main" id="{B1FAB532-984D-1C1E-0071-62C444673D55}"/>
              </a:ext>
            </a:extLst>
          </p:cNvPr>
          <p:cNvSpPr>
            <a:spLocks noGrp="1"/>
          </p:cNvSpPr>
          <p:nvPr>
            <p:ph idx="1"/>
          </p:nvPr>
        </p:nvSpPr>
        <p:spPr/>
        <p:txBody>
          <a:bodyPr/>
          <a:lstStyle/>
          <a:p>
            <a:r>
              <a:rPr lang="es-MX" b="1" i="0">
                <a:solidFill>
                  <a:schemeClr val="accent1"/>
                </a:solidFill>
                <a:effectLst/>
                <a:latin typeface="Google Sans"/>
              </a:rPr>
              <a:t>RPO</a:t>
            </a:r>
            <a:r>
              <a:rPr lang="es-MX" b="0" i="0">
                <a:solidFill>
                  <a:schemeClr val="accent1"/>
                </a:solidFill>
                <a:effectLst/>
                <a:latin typeface="Google Sans"/>
              </a:rPr>
              <a:t> es la </a:t>
            </a:r>
            <a:r>
              <a:rPr lang="es-MX" b="1" i="0">
                <a:solidFill>
                  <a:schemeClr val="accent1"/>
                </a:solidFill>
                <a:effectLst/>
                <a:latin typeface="Google Sans"/>
              </a:rPr>
              <a:t>pérdida real de datos </a:t>
            </a:r>
            <a:r>
              <a:rPr lang="es-MX" b="0" i="0">
                <a:solidFill>
                  <a:schemeClr val="accent1"/>
                </a:solidFill>
                <a:effectLst/>
                <a:latin typeface="Google Sans"/>
              </a:rPr>
              <a:t>entre la copia de seguridad y un incidente.</a:t>
            </a:r>
          </a:p>
          <a:p>
            <a:r>
              <a:rPr lang="es-MX" b="1" i="0">
                <a:solidFill>
                  <a:schemeClr val="accent1"/>
                </a:solidFill>
                <a:effectLst/>
                <a:latin typeface="Google Sans"/>
              </a:rPr>
              <a:t>RTO</a:t>
            </a:r>
            <a:r>
              <a:rPr lang="es-MX" b="0" i="0">
                <a:solidFill>
                  <a:schemeClr val="accent1"/>
                </a:solidFill>
                <a:effectLst/>
                <a:latin typeface="Google Sans"/>
              </a:rPr>
              <a:t> es el </a:t>
            </a:r>
            <a:r>
              <a:rPr lang="es-MX" b="1" i="0">
                <a:solidFill>
                  <a:schemeClr val="accent1"/>
                </a:solidFill>
                <a:effectLst/>
                <a:latin typeface="Google Sans"/>
              </a:rPr>
              <a:t>tiempo que lleva solucionar el incidente </a:t>
            </a:r>
            <a:r>
              <a:rPr lang="es-MX" b="0" i="0">
                <a:solidFill>
                  <a:schemeClr val="accent1"/>
                </a:solidFill>
                <a:effectLst/>
                <a:latin typeface="Google Sans"/>
              </a:rPr>
              <a:t>antes de que todos los sistemas vuelvan a su normalidad.</a:t>
            </a:r>
            <a:endParaRPr lang="es-AR">
              <a:solidFill>
                <a:schemeClr val="accent1"/>
              </a:solidFill>
            </a:endParaRPr>
          </a:p>
          <a:p>
            <a:r>
              <a:rPr lang="es-MX">
                <a:solidFill>
                  <a:schemeClr val="accent1"/>
                </a:solidFill>
              </a:rPr>
              <a:t>Esto suele servir como guía en la selección de soluciones tecnológicas (es decir, controles) para respaldar la continuidad del negocio y la recuperación en caso de desastre de TI.</a:t>
            </a:r>
          </a:p>
        </p:txBody>
      </p:sp>
      <p:sp>
        <p:nvSpPr>
          <p:cNvPr id="4" name="Marcador de número de diapositiva 3">
            <a:extLst>
              <a:ext uri="{FF2B5EF4-FFF2-40B4-BE49-F238E27FC236}">
                <a16:creationId xmlns:a16="http://schemas.microsoft.com/office/drawing/2014/main" id="{366D5725-7792-1EAF-A067-A825AB3DC032}"/>
              </a:ext>
            </a:extLst>
          </p:cNvPr>
          <p:cNvSpPr>
            <a:spLocks noGrp="1"/>
          </p:cNvSpPr>
          <p:nvPr>
            <p:ph type="sldNum" sz="quarter" idx="12"/>
          </p:nvPr>
        </p:nvSpPr>
        <p:spPr/>
        <p:txBody>
          <a:bodyPr/>
          <a:lstStyle/>
          <a:p>
            <a:fld id="{0E40E506-8910-4A1D-9597-9E72BD293B97}" type="slidenum">
              <a:rPr lang="en-US" smtClean="0"/>
              <a:t>16</a:t>
            </a:fld>
            <a:endParaRPr lang="en-US"/>
          </a:p>
        </p:txBody>
      </p:sp>
    </p:spTree>
    <p:extLst>
      <p:ext uri="{BB962C8B-B14F-4D97-AF65-F5344CB8AC3E}">
        <p14:creationId xmlns:p14="http://schemas.microsoft.com/office/powerpoint/2010/main" val="2084328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F9C8A0-5135-DDB7-59A5-C52D512D7C97}"/>
              </a:ext>
            </a:extLst>
          </p:cNvPr>
          <p:cNvSpPr>
            <a:spLocks noGrp="1"/>
          </p:cNvSpPr>
          <p:nvPr>
            <p:ph type="title"/>
          </p:nvPr>
        </p:nvSpPr>
        <p:spPr/>
        <p:txBody>
          <a:bodyPr/>
          <a:lstStyle/>
          <a:p>
            <a:r>
              <a:rPr lang="es-AR"/>
              <a:t>Métricas </a:t>
            </a:r>
            <a:r>
              <a:rPr lang="es-AR" err="1"/>
              <a:t>rpo-rto</a:t>
            </a:r>
            <a:endParaRPr lang="es-AR"/>
          </a:p>
        </p:txBody>
      </p:sp>
      <p:sp>
        <p:nvSpPr>
          <p:cNvPr id="3" name="Marcador de contenido 2">
            <a:extLst>
              <a:ext uri="{FF2B5EF4-FFF2-40B4-BE49-F238E27FC236}">
                <a16:creationId xmlns:a16="http://schemas.microsoft.com/office/drawing/2014/main" id="{2137F78F-DABC-69F7-86A9-558A1CA40DF6}"/>
              </a:ext>
            </a:extLst>
          </p:cNvPr>
          <p:cNvSpPr>
            <a:spLocks noGrp="1"/>
          </p:cNvSpPr>
          <p:nvPr>
            <p:ph idx="1"/>
          </p:nvPr>
        </p:nvSpPr>
        <p:spPr/>
        <p:txBody>
          <a:bodyPr/>
          <a:lstStyle/>
          <a:p>
            <a:r>
              <a:rPr lang="es-MX" b="1">
                <a:solidFill>
                  <a:schemeClr val="accent1"/>
                </a:solidFill>
              </a:rPr>
              <a:t>El RPO </a:t>
            </a:r>
            <a:r>
              <a:rPr lang="es-MX">
                <a:solidFill>
                  <a:schemeClr val="accent1"/>
                </a:solidFill>
              </a:rPr>
              <a:t>se determina tomando como base la pérdida de datos aceptables en el caso de interrupción de las operaciones. </a:t>
            </a:r>
          </a:p>
          <a:p>
            <a:pPr lvl="1"/>
            <a:r>
              <a:rPr lang="es-MX" b="1">
                <a:solidFill>
                  <a:schemeClr val="accent1"/>
                </a:solidFill>
              </a:rPr>
              <a:t>Indica el tiempo mínimo posible en el que se pueden recuperar los datos</a:t>
            </a:r>
            <a:r>
              <a:rPr lang="es-MX">
                <a:solidFill>
                  <a:schemeClr val="accent1"/>
                </a:solidFill>
              </a:rPr>
              <a:t>. </a:t>
            </a:r>
          </a:p>
          <a:p>
            <a:pPr lvl="2"/>
            <a:r>
              <a:rPr lang="es-MX">
                <a:solidFill>
                  <a:schemeClr val="accent1"/>
                </a:solidFill>
              </a:rPr>
              <a:t>Por ejemplo, si el proceso puede permitirse perder los datos en un tiempo de hasta cuatro horas antes del desastre, entonces la última copia de respaldo disponible debe ser de hasta cuatro horas antes del desastre o la interrupción, y es necesario que las transacciones que se han producido durante el período de RPO y la interrupción se ingresen después de la recuperación ( conocida como datos de alcance).</a:t>
            </a:r>
          </a:p>
          <a:p>
            <a:pPr lvl="2"/>
            <a:r>
              <a:rPr lang="es-MX">
                <a:solidFill>
                  <a:schemeClr val="accent1"/>
                </a:solidFill>
              </a:rPr>
              <a:t>El RPO cuantifica efectivamente la cantidad permitida de pérdida de datos en caso de interrupción. </a:t>
            </a:r>
          </a:p>
          <a:p>
            <a:pPr lvl="2"/>
            <a:r>
              <a:rPr lang="es-MX">
                <a:solidFill>
                  <a:schemeClr val="accent1"/>
                </a:solidFill>
              </a:rPr>
              <a:t>Resulta casi imposible recuperar los datos completamente. Aún después de ingresar los datos incrementales, algunos datos se encuentran perdidos aún y se les refiere como </a:t>
            </a:r>
            <a:r>
              <a:rPr lang="es-MX" b="1">
                <a:solidFill>
                  <a:schemeClr val="accent1"/>
                </a:solidFill>
              </a:rPr>
              <a:t>datos huérfanos</a:t>
            </a:r>
            <a:r>
              <a:rPr lang="es-MX">
                <a:solidFill>
                  <a:schemeClr val="accent1"/>
                </a:solidFill>
              </a:rPr>
              <a:t>. El RPO afecta directamente a la tecnología utilizada para realizar copias de respaldo y recuperar datos.</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A7E5FA2B-E6DB-0AD2-E1D2-C55BECFE8CEB}"/>
              </a:ext>
            </a:extLst>
          </p:cNvPr>
          <p:cNvSpPr>
            <a:spLocks noGrp="1"/>
          </p:cNvSpPr>
          <p:nvPr>
            <p:ph type="sldNum" sz="quarter" idx="12"/>
          </p:nvPr>
        </p:nvSpPr>
        <p:spPr/>
        <p:txBody>
          <a:bodyPr/>
          <a:lstStyle/>
          <a:p>
            <a:fld id="{0E40E506-8910-4A1D-9597-9E72BD293B97}" type="slidenum">
              <a:rPr lang="en-US" smtClean="0"/>
              <a:t>17</a:t>
            </a:fld>
            <a:endParaRPr lang="en-US"/>
          </a:p>
        </p:txBody>
      </p:sp>
    </p:spTree>
    <p:extLst>
      <p:ext uri="{BB962C8B-B14F-4D97-AF65-F5344CB8AC3E}">
        <p14:creationId xmlns:p14="http://schemas.microsoft.com/office/powerpoint/2010/main" val="1625220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C575D9-E99E-ED4C-EA67-8C608F6B4001}"/>
              </a:ext>
            </a:extLst>
          </p:cNvPr>
          <p:cNvSpPr>
            <a:spLocks noGrp="1"/>
          </p:cNvSpPr>
          <p:nvPr>
            <p:ph type="title"/>
          </p:nvPr>
        </p:nvSpPr>
        <p:spPr/>
        <p:txBody>
          <a:bodyPr/>
          <a:lstStyle/>
          <a:p>
            <a:r>
              <a:rPr lang="es-AR"/>
              <a:t>Métricas </a:t>
            </a:r>
            <a:r>
              <a:rPr lang="es-AR" err="1"/>
              <a:t>rpo-rto</a:t>
            </a:r>
            <a:endParaRPr lang="es-AR"/>
          </a:p>
        </p:txBody>
      </p:sp>
      <p:sp>
        <p:nvSpPr>
          <p:cNvPr id="3" name="Marcador de contenido 2">
            <a:extLst>
              <a:ext uri="{FF2B5EF4-FFF2-40B4-BE49-F238E27FC236}">
                <a16:creationId xmlns:a16="http://schemas.microsoft.com/office/drawing/2014/main" id="{A5ADE7F3-F298-7910-0E84-6D05E55519D6}"/>
              </a:ext>
            </a:extLst>
          </p:cNvPr>
          <p:cNvSpPr>
            <a:spLocks noGrp="1"/>
          </p:cNvSpPr>
          <p:nvPr>
            <p:ph idx="1"/>
          </p:nvPr>
        </p:nvSpPr>
        <p:spPr/>
        <p:txBody>
          <a:bodyPr>
            <a:normAutofit fontScale="85000" lnSpcReduction="10000"/>
          </a:bodyPr>
          <a:lstStyle/>
          <a:p>
            <a:r>
              <a:rPr lang="es-MX">
                <a:solidFill>
                  <a:schemeClr val="accent1"/>
                </a:solidFill>
              </a:rPr>
              <a:t>El</a:t>
            </a:r>
            <a:r>
              <a:rPr lang="es-MX" b="1">
                <a:solidFill>
                  <a:schemeClr val="accent1"/>
                </a:solidFill>
              </a:rPr>
              <a:t> RTO </a:t>
            </a:r>
            <a:r>
              <a:rPr lang="es-MX">
                <a:solidFill>
                  <a:schemeClr val="accent1"/>
                </a:solidFill>
              </a:rPr>
              <a:t>se determina basándose en el </a:t>
            </a:r>
            <a:r>
              <a:rPr lang="es-MX" b="1">
                <a:solidFill>
                  <a:schemeClr val="accent1"/>
                </a:solidFill>
              </a:rPr>
              <a:t>tiempo improductivo </a:t>
            </a:r>
            <a:r>
              <a:rPr lang="es-MX">
                <a:solidFill>
                  <a:schemeClr val="accent1"/>
                </a:solidFill>
              </a:rPr>
              <a:t>aceptable en caso de una interrupción de las operaciones. Indica el punto más próximo en el cual se deben retomar las operaciones de negocio (y sistemas de TI de soporte) después del desastre. </a:t>
            </a:r>
          </a:p>
          <a:p>
            <a:r>
              <a:rPr lang="es-MX">
                <a:solidFill>
                  <a:schemeClr val="accent1"/>
                </a:solidFill>
              </a:rPr>
              <a:t>Ambos conceptos se basan en parámetros de tiempo. Mientras más cerca del centro (0-1 hora) estén los requerimientos de tiempo, más alto será el costo de las estrategias de recuperación. </a:t>
            </a:r>
          </a:p>
          <a:p>
            <a:r>
              <a:rPr lang="es-MX">
                <a:solidFill>
                  <a:schemeClr val="accent1"/>
                </a:solidFill>
              </a:rPr>
              <a:t>Si el </a:t>
            </a:r>
            <a:r>
              <a:rPr lang="es-MX" b="1">
                <a:solidFill>
                  <a:schemeClr val="accent1"/>
                </a:solidFill>
              </a:rPr>
              <a:t>RPO</a:t>
            </a:r>
            <a:r>
              <a:rPr lang="es-MX">
                <a:solidFill>
                  <a:schemeClr val="accent1"/>
                </a:solidFill>
              </a:rPr>
              <a:t> es en minutos (menor pérdida posible aceptable de datos), deben implementarse la réplica de datos en espejo (</a:t>
            </a:r>
            <a:r>
              <a:rPr lang="es-MX" err="1">
                <a:solidFill>
                  <a:schemeClr val="accent1"/>
                </a:solidFill>
              </a:rPr>
              <a:t>mirroring</a:t>
            </a:r>
            <a:r>
              <a:rPr lang="es-MX">
                <a:solidFill>
                  <a:schemeClr val="accent1"/>
                </a:solidFill>
              </a:rPr>
              <a:t>) o 1a réplica en tiempo real como estrategia de recuperación. </a:t>
            </a:r>
          </a:p>
          <a:p>
            <a:r>
              <a:rPr lang="es-MX">
                <a:solidFill>
                  <a:schemeClr val="accent1"/>
                </a:solidFill>
              </a:rPr>
              <a:t>Si el </a:t>
            </a:r>
            <a:r>
              <a:rPr lang="es-MX" b="1">
                <a:solidFill>
                  <a:schemeClr val="accent1"/>
                </a:solidFill>
              </a:rPr>
              <a:t>RTO</a:t>
            </a:r>
            <a:r>
              <a:rPr lang="es-MX">
                <a:solidFill>
                  <a:schemeClr val="accent1"/>
                </a:solidFill>
              </a:rPr>
              <a:t> es en minutos (menor inactividad aceptable), debe utilizarse una combinación de </a:t>
            </a:r>
            <a:r>
              <a:rPr lang="es-MX" err="1">
                <a:solidFill>
                  <a:schemeClr val="accent1"/>
                </a:solidFill>
              </a:rPr>
              <a:t>hot</a:t>
            </a:r>
            <a:r>
              <a:rPr lang="es-MX">
                <a:solidFill>
                  <a:schemeClr val="accent1"/>
                </a:solidFill>
              </a:rPr>
              <a:t> site, servidores de repuesto dedicados (y otros equipos) y </a:t>
            </a:r>
            <a:r>
              <a:rPr lang="es-MX" err="1">
                <a:solidFill>
                  <a:schemeClr val="accent1"/>
                </a:solidFill>
              </a:rPr>
              <a:t>clustering</a:t>
            </a:r>
            <a:r>
              <a:rPr lang="es-MX">
                <a:solidFill>
                  <a:schemeClr val="accent1"/>
                </a:solidFill>
              </a:rPr>
              <a:t>. </a:t>
            </a:r>
          </a:p>
          <a:p>
            <a:r>
              <a:rPr lang="es-MX">
                <a:solidFill>
                  <a:schemeClr val="accent1"/>
                </a:solidFill>
              </a:rPr>
              <a:t>La tolerancia a los desastres es la brecha de tiempo dentro de la cual el negocio puede aceptar la no disponibilidad del servicio critico de TI; por lo tanto, mientras menor sea el RTO, menor será la tolerancia a los desastres. </a:t>
            </a:r>
          </a:p>
          <a:p>
            <a:r>
              <a:rPr lang="es-MX">
                <a:solidFill>
                  <a:schemeClr val="accent1"/>
                </a:solidFill>
              </a:rPr>
              <a:t>El </a:t>
            </a:r>
            <a:r>
              <a:rPr lang="es-MX" b="1">
                <a:solidFill>
                  <a:schemeClr val="accent1"/>
                </a:solidFill>
              </a:rPr>
              <a:t>RTO</a:t>
            </a:r>
            <a:r>
              <a:rPr lang="es-MX">
                <a:solidFill>
                  <a:schemeClr val="accent1"/>
                </a:solidFill>
              </a:rPr>
              <a:t> afecta a la tecnología utilizada para hacer que las aplicaciones y los sistemas de TI estén disponibles -qué utilizar para la recuperación (es decir, </a:t>
            </a:r>
            <a:r>
              <a:rPr lang="es-MX" err="1">
                <a:solidFill>
                  <a:schemeClr val="accent1"/>
                </a:solidFill>
              </a:rPr>
              <a:t>wann</a:t>
            </a:r>
            <a:r>
              <a:rPr lang="es-MX">
                <a:solidFill>
                  <a:schemeClr val="accent1"/>
                </a:solidFill>
              </a:rPr>
              <a:t> site, </a:t>
            </a:r>
            <a:r>
              <a:rPr lang="es-MX" err="1">
                <a:solidFill>
                  <a:schemeClr val="accent1"/>
                </a:solidFill>
              </a:rPr>
              <a:t>hot</a:t>
            </a:r>
            <a:r>
              <a:rPr lang="es-MX">
                <a:solidFill>
                  <a:schemeClr val="accent1"/>
                </a:solidFill>
              </a:rPr>
              <a:t> site, </a:t>
            </a:r>
            <a:r>
              <a:rPr lang="es-MX" err="1">
                <a:solidFill>
                  <a:schemeClr val="accent1"/>
                </a:solidFill>
              </a:rPr>
              <a:t>clusters</a:t>
            </a:r>
            <a:r>
              <a:rPr lang="es-MX">
                <a:solidFill>
                  <a:schemeClr val="accent1"/>
                </a:solidFill>
              </a:rPr>
              <a:t>, etc.). </a:t>
            </a:r>
          </a:p>
          <a:p>
            <a:r>
              <a:rPr lang="es-MX">
                <a:solidFill>
                  <a:schemeClr val="accent1"/>
                </a:solidFill>
              </a:rPr>
              <a:t>El </a:t>
            </a:r>
            <a:r>
              <a:rPr lang="es-MX" b="1">
                <a:solidFill>
                  <a:schemeClr val="accent1"/>
                </a:solidFill>
              </a:rPr>
              <a:t>RPO</a:t>
            </a:r>
            <a:r>
              <a:rPr lang="es-MX">
                <a:solidFill>
                  <a:schemeClr val="accent1"/>
                </a:solidFill>
              </a:rPr>
              <a:t> suele afectar las soluciones de protección de datos (respaldo y recuperación, replicación síncrona o asíncrona de datos). </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6CACA709-63A0-8090-0EF1-971B9832393E}"/>
              </a:ext>
            </a:extLst>
          </p:cNvPr>
          <p:cNvSpPr>
            <a:spLocks noGrp="1"/>
          </p:cNvSpPr>
          <p:nvPr>
            <p:ph type="sldNum" sz="quarter" idx="12"/>
          </p:nvPr>
        </p:nvSpPr>
        <p:spPr/>
        <p:txBody>
          <a:bodyPr/>
          <a:lstStyle/>
          <a:p>
            <a:fld id="{0E40E506-8910-4A1D-9597-9E72BD293B97}" type="slidenum">
              <a:rPr lang="en-US" smtClean="0"/>
              <a:t>18</a:t>
            </a:fld>
            <a:endParaRPr lang="en-US"/>
          </a:p>
        </p:txBody>
      </p:sp>
    </p:spTree>
    <p:extLst>
      <p:ext uri="{BB962C8B-B14F-4D97-AF65-F5344CB8AC3E}">
        <p14:creationId xmlns:p14="http://schemas.microsoft.com/office/powerpoint/2010/main" val="3807918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E90155-BAC6-D8A9-2F52-2DFF30EDE87B}"/>
              </a:ext>
            </a:extLst>
          </p:cNvPr>
          <p:cNvSpPr>
            <a:spLocks noGrp="1"/>
          </p:cNvSpPr>
          <p:nvPr>
            <p:ph type="title"/>
          </p:nvPr>
        </p:nvSpPr>
        <p:spPr/>
        <p:txBody>
          <a:bodyPr/>
          <a:lstStyle/>
          <a:p>
            <a:r>
              <a:rPr lang="es-ES"/>
              <a:t>RTO Vs. RPO</a:t>
            </a:r>
          </a:p>
        </p:txBody>
      </p:sp>
      <p:sp>
        <p:nvSpPr>
          <p:cNvPr id="4" name="Marcador de número de diapositiva 3">
            <a:extLst>
              <a:ext uri="{FF2B5EF4-FFF2-40B4-BE49-F238E27FC236}">
                <a16:creationId xmlns:a16="http://schemas.microsoft.com/office/drawing/2014/main" id="{06944092-839D-6C9C-AA28-6384EA08F8B8}"/>
              </a:ext>
            </a:extLst>
          </p:cNvPr>
          <p:cNvSpPr>
            <a:spLocks noGrp="1"/>
          </p:cNvSpPr>
          <p:nvPr>
            <p:ph type="sldNum" sz="quarter" idx="12"/>
          </p:nvPr>
        </p:nvSpPr>
        <p:spPr/>
        <p:txBody>
          <a:bodyPr/>
          <a:lstStyle/>
          <a:p>
            <a:fld id="{0E40E506-8910-4A1D-9597-9E72BD293B97}" type="slidenum">
              <a:rPr lang="en-US" smtClean="0"/>
              <a:t>19</a:t>
            </a:fld>
            <a:endParaRPr lang="en-US"/>
          </a:p>
        </p:txBody>
      </p:sp>
      <p:sp>
        <p:nvSpPr>
          <p:cNvPr id="6" name="CuadroTexto 5">
            <a:extLst>
              <a:ext uri="{FF2B5EF4-FFF2-40B4-BE49-F238E27FC236}">
                <a16:creationId xmlns:a16="http://schemas.microsoft.com/office/drawing/2014/main" id="{155089D8-1508-B7E7-0DD4-1942948A27B8}"/>
              </a:ext>
            </a:extLst>
          </p:cNvPr>
          <p:cNvSpPr txBox="1"/>
          <p:nvPr/>
        </p:nvSpPr>
        <p:spPr>
          <a:xfrm>
            <a:off x="679010" y="2969598"/>
            <a:ext cx="10121774" cy="1815882"/>
          </a:xfrm>
          <a:prstGeom prst="rect">
            <a:avLst/>
          </a:prstGeom>
          <a:noFill/>
        </p:spPr>
        <p:txBody>
          <a:bodyPr wrap="square">
            <a:spAutoFit/>
          </a:bodyPr>
          <a:lstStyle/>
          <a:p>
            <a:pPr algn="ctr"/>
            <a:r>
              <a:rPr lang="es-MX" sz="2800" b="0" i="0">
                <a:solidFill>
                  <a:schemeClr val="accent1"/>
                </a:solidFill>
                <a:effectLst/>
                <a:latin typeface="Google Sans"/>
              </a:rPr>
              <a:t>La principal diferencia entre RTO y RPO es que </a:t>
            </a:r>
            <a:r>
              <a:rPr lang="es-MX" sz="2800">
                <a:solidFill>
                  <a:schemeClr val="accent1"/>
                </a:solidFill>
              </a:rPr>
              <a:t>el primero se refiere al tiempo de recuperación, mientras que el segundo se refiere a la cantidad de datos que se pueden perder</a:t>
            </a:r>
          </a:p>
          <a:p>
            <a:pPr algn="ctr"/>
            <a:endParaRPr lang="es-MX" sz="2800">
              <a:solidFill>
                <a:schemeClr val="accent1"/>
              </a:solidFill>
            </a:endParaRPr>
          </a:p>
        </p:txBody>
      </p:sp>
    </p:spTree>
    <p:extLst>
      <p:ext uri="{BB962C8B-B14F-4D97-AF65-F5344CB8AC3E}">
        <p14:creationId xmlns:p14="http://schemas.microsoft.com/office/powerpoint/2010/main" val="2347854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1BDA97-A3E6-C1B9-EE2F-04E4E6A89561}"/>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A0CE9EF5-D987-C0D6-D40B-CE581451BC76}"/>
              </a:ext>
            </a:extLst>
          </p:cNvPr>
          <p:cNvSpPr>
            <a:spLocks noGrp="1"/>
          </p:cNvSpPr>
          <p:nvPr>
            <p:ph idx="1"/>
          </p:nvPr>
        </p:nvSpPr>
        <p:spPr/>
        <p:txBody>
          <a:bodyPr/>
          <a:lstStyle/>
          <a:p>
            <a:r>
              <a:rPr lang="es-MX" sz="1800">
                <a:solidFill>
                  <a:schemeClr val="accent1"/>
                </a:solidFill>
              </a:rPr>
              <a:t>El RPO (Objetivo de posible pérdida máxima de datos) introducidos desde el último </a:t>
            </a:r>
            <a:r>
              <a:rPr lang="es-MX" sz="1800" err="1">
                <a:solidFill>
                  <a:schemeClr val="accent1"/>
                </a:solidFill>
              </a:rPr>
              <a:t>backup</a:t>
            </a:r>
            <a:r>
              <a:rPr lang="es-MX" sz="1800">
                <a:solidFill>
                  <a:schemeClr val="accent1"/>
                </a:solidFill>
              </a:rPr>
              <a:t>, hasta la caída del sistema, y no depende del tiempo de recuperación.</a:t>
            </a:r>
            <a:endParaRPr lang="es-AR" sz="1800">
              <a:solidFill>
                <a:schemeClr val="accent1"/>
              </a:solidFill>
            </a:endParaRPr>
          </a:p>
          <a:p>
            <a:r>
              <a:rPr lang="es-MX">
                <a:solidFill>
                  <a:schemeClr val="accent1"/>
                </a:solidFill>
              </a:rPr>
              <a:t>El RTO (Objetivo de Tiempo de Recuperación) determina el tiempo máximo que será tolerable que un servicio crítico pueda volver a dar servicio.</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81542244-3DCB-5A5C-DC4D-1888E8ED2614}"/>
              </a:ext>
            </a:extLst>
          </p:cNvPr>
          <p:cNvSpPr>
            <a:spLocks noGrp="1"/>
          </p:cNvSpPr>
          <p:nvPr>
            <p:ph type="sldNum" sz="quarter" idx="12"/>
          </p:nvPr>
        </p:nvSpPr>
        <p:spPr/>
        <p:txBody>
          <a:bodyPr/>
          <a:lstStyle/>
          <a:p>
            <a:fld id="{0E40E506-8910-4A1D-9597-9E72BD293B97}" type="slidenum">
              <a:rPr lang="en-US" smtClean="0"/>
              <a:t>20</a:t>
            </a:fld>
            <a:endParaRPr lang="en-US"/>
          </a:p>
        </p:txBody>
      </p:sp>
    </p:spTree>
    <p:extLst>
      <p:ext uri="{BB962C8B-B14F-4D97-AF65-F5344CB8AC3E}">
        <p14:creationId xmlns:p14="http://schemas.microsoft.com/office/powerpoint/2010/main" val="2807582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93005C-44D7-1279-F0DB-1C669F20DF2A}"/>
              </a:ext>
            </a:extLst>
          </p:cNvPr>
          <p:cNvSpPr>
            <a:spLocks noGrp="1"/>
          </p:cNvSpPr>
          <p:nvPr>
            <p:ph type="title"/>
          </p:nvPr>
        </p:nvSpPr>
        <p:spPr/>
        <p:txBody>
          <a:bodyPr/>
          <a:lstStyle/>
          <a:p>
            <a:r>
              <a:rPr lang="es-MX"/>
              <a:t>relación entre el RPO y el RTO</a:t>
            </a:r>
            <a:endParaRPr lang="es-AR"/>
          </a:p>
        </p:txBody>
      </p:sp>
      <p:pic>
        <p:nvPicPr>
          <p:cNvPr id="6" name="Marcador de contenido 5">
            <a:extLst>
              <a:ext uri="{FF2B5EF4-FFF2-40B4-BE49-F238E27FC236}">
                <a16:creationId xmlns:a16="http://schemas.microsoft.com/office/drawing/2014/main" id="{A534D280-3724-7ABD-2165-1BD92ED61263}"/>
              </a:ext>
            </a:extLst>
          </p:cNvPr>
          <p:cNvPicPr>
            <a:picLocks noGrp="1" noChangeAspect="1"/>
          </p:cNvPicPr>
          <p:nvPr>
            <p:ph idx="1"/>
          </p:nvPr>
        </p:nvPicPr>
        <p:blipFill>
          <a:blip r:embed="rId2"/>
          <a:stretch>
            <a:fillRect/>
          </a:stretch>
        </p:blipFill>
        <p:spPr>
          <a:xfrm>
            <a:off x="1447991" y="2963068"/>
            <a:ext cx="8646623" cy="2457811"/>
          </a:xfrm>
        </p:spPr>
      </p:pic>
      <p:sp>
        <p:nvSpPr>
          <p:cNvPr id="4" name="Marcador de número de diapositiva 3">
            <a:extLst>
              <a:ext uri="{FF2B5EF4-FFF2-40B4-BE49-F238E27FC236}">
                <a16:creationId xmlns:a16="http://schemas.microsoft.com/office/drawing/2014/main" id="{3AD77A36-881A-C337-CF9D-ABE0FF9C887A}"/>
              </a:ext>
            </a:extLst>
          </p:cNvPr>
          <p:cNvSpPr>
            <a:spLocks noGrp="1"/>
          </p:cNvSpPr>
          <p:nvPr>
            <p:ph type="sldNum" sz="quarter" idx="12"/>
          </p:nvPr>
        </p:nvSpPr>
        <p:spPr/>
        <p:txBody>
          <a:bodyPr/>
          <a:lstStyle/>
          <a:p>
            <a:fld id="{0E40E506-8910-4A1D-9597-9E72BD293B97}" type="slidenum">
              <a:rPr lang="en-US" smtClean="0"/>
              <a:t>21</a:t>
            </a:fld>
            <a:endParaRPr lang="en-US"/>
          </a:p>
        </p:txBody>
      </p:sp>
    </p:spTree>
    <p:extLst>
      <p:ext uri="{BB962C8B-B14F-4D97-AF65-F5344CB8AC3E}">
        <p14:creationId xmlns:p14="http://schemas.microsoft.com/office/powerpoint/2010/main" val="368419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66DEB23-40CF-E597-B24F-FB710EB6598C}"/>
              </a:ext>
            </a:extLst>
          </p:cNvPr>
          <p:cNvSpPr>
            <a:spLocks noGrp="1"/>
          </p:cNvSpPr>
          <p:nvPr>
            <p:ph idx="1"/>
          </p:nvPr>
        </p:nvSpPr>
        <p:spPr>
          <a:xfrm>
            <a:off x="1006065" y="2125078"/>
            <a:ext cx="5200771" cy="3678303"/>
          </a:xfrm>
        </p:spPr>
        <p:txBody>
          <a:bodyPr>
            <a:normAutofit/>
          </a:bodyPr>
          <a:lstStyle/>
          <a:p>
            <a:r>
              <a:rPr lang="es-MX">
                <a:solidFill>
                  <a:schemeClr val="accent1"/>
                </a:solidFill>
              </a:rPr>
              <a:t>La próxima fase en la gestión de la continuidad es identificar las diversas estrategias de recuperación y alternativas posibles para recuperarse cuando ocurre una interrupción y/o desastre. La selección de una estrategia apropiada, basada en el BIA y el análisis de criticidad, es el siguiente paso para desarrollar los planes de continuidad del negocio (BCP) y planes de recuperación en caso de desastre (DRP). Las dos métricas que ayudan a determinar las estrategias de recuperación son el RPO y </a:t>
            </a:r>
            <a:r>
              <a:rPr lang="es-MX" err="1">
                <a:solidFill>
                  <a:schemeClr val="accent1"/>
                </a:solidFill>
              </a:rPr>
              <a:t>eI</a:t>
            </a:r>
            <a:r>
              <a:rPr lang="es-MX">
                <a:solidFill>
                  <a:schemeClr val="accent1"/>
                </a:solidFill>
              </a:rPr>
              <a:t> RTO. </a:t>
            </a:r>
          </a:p>
          <a:p>
            <a:endParaRPr lang="es-AR">
              <a:solidFill>
                <a:schemeClr val="accent1"/>
              </a:solidFill>
            </a:endParaRPr>
          </a:p>
        </p:txBody>
      </p:sp>
      <p:sp>
        <p:nvSpPr>
          <p:cNvPr id="4" name="Marcador de número de diapositiva 3">
            <a:extLst>
              <a:ext uri="{FF2B5EF4-FFF2-40B4-BE49-F238E27FC236}">
                <a16:creationId xmlns:a16="http://schemas.microsoft.com/office/drawing/2014/main" id="{815A1234-498F-B5A6-00D6-720230969A4A}"/>
              </a:ext>
            </a:extLst>
          </p:cNvPr>
          <p:cNvSpPr>
            <a:spLocks noGrp="1"/>
          </p:cNvSpPr>
          <p:nvPr>
            <p:ph type="sldNum" sz="quarter" idx="12"/>
          </p:nvPr>
        </p:nvSpPr>
        <p:spPr/>
        <p:txBody>
          <a:bodyPr/>
          <a:lstStyle/>
          <a:p>
            <a:fld id="{0E40E506-8910-4A1D-9597-9E72BD293B97}" type="slidenum">
              <a:rPr lang="en-US" smtClean="0"/>
              <a:t>22</a:t>
            </a:fld>
            <a:endParaRPr lang="en-US"/>
          </a:p>
        </p:txBody>
      </p:sp>
      <p:pic>
        <p:nvPicPr>
          <p:cNvPr id="6" name="Imagen 5">
            <a:extLst>
              <a:ext uri="{FF2B5EF4-FFF2-40B4-BE49-F238E27FC236}">
                <a16:creationId xmlns:a16="http://schemas.microsoft.com/office/drawing/2014/main" id="{8B663B06-81A0-9ECD-323D-90E99CFA0DEE}"/>
              </a:ext>
            </a:extLst>
          </p:cNvPr>
          <p:cNvPicPr>
            <a:picLocks noChangeAspect="1"/>
          </p:cNvPicPr>
          <p:nvPr/>
        </p:nvPicPr>
        <p:blipFill>
          <a:blip r:embed="rId2"/>
          <a:stretch>
            <a:fillRect/>
          </a:stretch>
        </p:blipFill>
        <p:spPr>
          <a:xfrm>
            <a:off x="6938800" y="2234607"/>
            <a:ext cx="3619500" cy="3657600"/>
          </a:xfrm>
          <a:prstGeom prst="rect">
            <a:avLst/>
          </a:prstGeom>
        </p:spPr>
      </p:pic>
      <p:sp>
        <p:nvSpPr>
          <p:cNvPr id="7" name="Título 1">
            <a:extLst>
              <a:ext uri="{FF2B5EF4-FFF2-40B4-BE49-F238E27FC236}">
                <a16:creationId xmlns:a16="http://schemas.microsoft.com/office/drawing/2014/main" id="{1C79FB59-7031-B2E5-A8AF-0294D58F670F}"/>
              </a:ext>
            </a:extLst>
          </p:cNvPr>
          <p:cNvSpPr>
            <a:spLocks noGrp="1"/>
          </p:cNvSpPr>
          <p:nvPr>
            <p:ph type="title"/>
          </p:nvPr>
        </p:nvSpPr>
        <p:spPr>
          <a:xfrm>
            <a:off x="581025" y="701675"/>
            <a:ext cx="11029950" cy="1014413"/>
          </a:xfrm>
        </p:spPr>
        <p:txBody>
          <a:bodyPr/>
          <a:lstStyle/>
          <a:p>
            <a:r>
              <a:rPr lang="es-AR"/>
              <a:t>Métricas </a:t>
            </a:r>
            <a:r>
              <a:rPr lang="es-AR" err="1"/>
              <a:t>rpo-rto</a:t>
            </a:r>
            <a:endParaRPr lang="es-AR"/>
          </a:p>
        </p:txBody>
      </p:sp>
    </p:spTree>
    <p:extLst>
      <p:ext uri="{BB962C8B-B14F-4D97-AF65-F5344CB8AC3E}">
        <p14:creationId xmlns:p14="http://schemas.microsoft.com/office/powerpoint/2010/main" val="31005479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DC9797-F601-2D41-6107-2072544FF36B}"/>
              </a:ext>
            </a:extLst>
          </p:cNvPr>
          <p:cNvSpPr>
            <a:spLocks noGrp="1"/>
          </p:cNvSpPr>
          <p:nvPr>
            <p:ph type="title"/>
          </p:nvPr>
        </p:nvSpPr>
        <p:spPr/>
        <p:txBody>
          <a:bodyPr/>
          <a:lstStyle/>
          <a:p>
            <a:r>
              <a:rPr lang="es-AR"/>
              <a:t>Pasos para implementar el </a:t>
            </a:r>
            <a:r>
              <a:rPr lang="es-AR" err="1"/>
              <a:t>bcp</a:t>
            </a:r>
            <a:endParaRPr lang="es-AR"/>
          </a:p>
        </p:txBody>
      </p:sp>
      <p:sp>
        <p:nvSpPr>
          <p:cNvPr id="3" name="Marcador de contenido 2">
            <a:extLst>
              <a:ext uri="{FF2B5EF4-FFF2-40B4-BE49-F238E27FC236}">
                <a16:creationId xmlns:a16="http://schemas.microsoft.com/office/drawing/2014/main" id="{66D81657-7F04-BD6D-EE7F-1470192AC534}"/>
              </a:ext>
            </a:extLst>
          </p:cNvPr>
          <p:cNvSpPr>
            <a:spLocks noGrp="1"/>
          </p:cNvSpPr>
          <p:nvPr>
            <p:ph idx="1"/>
          </p:nvPr>
        </p:nvSpPr>
        <p:spPr/>
        <p:txBody>
          <a:bodyPr>
            <a:normAutofit fontScale="85000" lnSpcReduction="20000"/>
          </a:bodyPr>
          <a:lstStyle/>
          <a:p>
            <a:r>
              <a:rPr lang="es-MX">
                <a:solidFill>
                  <a:schemeClr val="accent1"/>
                </a:solidFill>
              </a:rPr>
              <a:t>Del BIA, los análisis de criticidad y la estrategia de recuperación.</a:t>
            </a:r>
          </a:p>
          <a:p>
            <a:r>
              <a:rPr lang="es-MX">
                <a:solidFill>
                  <a:schemeClr val="accent1"/>
                </a:solidFill>
              </a:rPr>
              <a:t>Se deberá tratar todos los problemas concernientes al alcance de la continuidad del negocio relacionados con la interrupción de los procesos de negocios, incluyendo </a:t>
            </a:r>
            <a:r>
              <a:rPr lang="es-MX" err="1">
                <a:solidFill>
                  <a:schemeClr val="accent1"/>
                </a:solidFill>
              </a:rPr>
              <a:t>Ia</a:t>
            </a:r>
            <a:r>
              <a:rPr lang="es-MX">
                <a:solidFill>
                  <a:schemeClr val="accent1"/>
                </a:solidFill>
              </a:rPr>
              <a:t> recuperación después de un desastre.</a:t>
            </a:r>
          </a:p>
          <a:p>
            <a:r>
              <a:rPr lang="es-MX">
                <a:solidFill>
                  <a:schemeClr val="accent1"/>
                </a:solidFill>
              </a:rPr>
              <a:t> Los diferentes factores que se deben considerar cuando se desarrolla/revisa el plan son los siguientes: " Capacidad para actuar antes de que ocurran desastres, que cubra, el manejo de la respuesta a incidentes con el fin de resolver correctamente todos los incidentes relevantes que afecten los procesos de negocios.</a:t>
            </a:r>
          </a:p>
          <a:p>
            <a:r>
              <a:rPr lang="es-MX">
                <a:solidFill>
                  <a:schemeClr val="accent1"/>
                </a:solidFill>
              </a:rPr>
              <a:t>•	Procedimientos de evacuación</a:t>
            </a:r>
          </a:p>
          <a:p>
            <a:r>
              <a:rPr lang="es-MX">
                <a:solidFill>
                  <a:schemeClr val="accent1"/>
                </a:solidFill>
              </a:rPr>
              <a:t>•	Procedimientos para declarar un desastre (procedimientos de escalamiento y clasificación)</a:t>
            </a:r>
          </a:p>
          <a:p>
            <a:r>
              <a:rPr lang="es-MX">
                <a:solidFill>
                  <a:schemeClr val="accent1"/>
                </a:solidFill>
              </a:rPr>
              <a:t>•	Circunstancias bajo las cuales se debe declarar un desastre. </a:t>
            </a:r>
          </a:p>
          <a:p>
            <a:pPr lvl="1"/>
            <a:r>
              <a:rPr lang="es-MX">
                <a:solidFill>
                  <a:schemeClr val="accent1"/>
                </a:solidFill>
              </a:rPr>
              <a:t>No todas las interrupciones son desastres, pero un mínimo incidente que no se maneja a tiempo o de una manera adecuada, podría conducir a un desastre. Por ejemplo, el ataque de un </a:t>
            </a:r>
            <a:r>
              <a:rPr lang="es-MX" err="1">
                <a:solidFill>
                  <a:schemeClr val="accent1"/>
                </a:solidFill>
              </a:rPr>
              <a:t>vírus</a:t>
            </a:r>
            <a:r>
              <a:rPr lang="es-MX">
                <a:solidFill>
                  <a:schemeClr val="accent1"/>
                </a:solidFill>
              </a:rPr>
              <a:t> que no se reconoce y se ha mantenido por algún tiempo puede destruir toda la instalación de TI.</a:t>
            </a:r>
          </a:p>
          <a:p>
            <a:r>
              <a:rPr lang="es-MX">
                <a:solidFill>
                  <a:schemeClr val="accent1"/>
                </a:solidFill>
              </a:rPr>
              <a:t>•	La identificación clara de las </a:t>
            </a:r>
            <a:r>
              <a:rPr lang="es-MX" err="1">
                <a:solidFill>
                  <a:schemeClr val="accent1"/>
                </a:solidFill>
              </a:rPr>
              <a:t>responsabílídades</a:t>
            </a:r>
            <a:r>
              <a:rPr lang="es-MX">
                <a:solidFill>
                  <a:schemeClr val="accent1"/>
                </a:solidFill>
              </a:rPr>
              <a:t> en el plan" La identificación clara de las personas responsables para cada función en el plan " La identificación clara de la información sobre el contrato " La explicación paso a paso del proceso de recuperación " La identificación clara de los diferentes recursos que se requieren para la operación de recuperación y continuidad de la organización </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6B227910-0DE7-6E4D-298D-E955FD89BFC1}"/>
              </a:ext>
            </a:extLst>
          </p:cNvPr>
          <p:cNvSpPr>
            <a:spLocks noGrp="1"/>
          </p:cNvSpPr>
          <p:nvPr>
            <p:ph type="sldNum" sz="quarter" idx="12"/>
          </p:nvPr>
        </p:nvSpPr>
        <p:spPr/>
        <p:txBody>
          <a:bodyPr/>
          <a:lstStyle/>
          <a:p>
            <a:fld id="{0E40E506-8910-4A1D-9597-9E72BD293B97}" type="slidenum">
              <a:rPr lang="en-US" smtClean="0"/>
              <a:t>23</a:t>
            </a:fld>
            <a:endParaRPr lang="en-US"/>
          </a:p>
        </p:txBody>
      </p:sp>
    </p:spTree>
    <p:extLst>
      <p:ext uri="{BB962C8B-B14F-4D97-AF65-F5344CB8AC3E}">
        <p14:creationId xmlns:p14="http://schemas.microsoft.com/office/powerpoint/2010/main" val="34585529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8DD8F9AA-AB97-EA0E-C5EA-8F3A408BCBEE}"/>
              </a:ext>
            </a:extLst>
          </p:cNvPr>
          <p:cNvSpPr>
            <a:spLocks noGrp="1" noChangeArrowheads="1"/>
          </p:cNvSpPr>
          <p:nvPr>
            <p:ph type="title"/>
          </p:nvPr>
        </p:nvSpPr>
        <p:spPr>
          <a:xfrm>
            <a:off x="455503" y="587277"/>
            <a:ext cx="8420100" cy="1143000"/>
          </a:xfrm>
        </p:spPr>
        <p:txBody>
          <a:bodyPr/>
          <a:lstStyle/>
          <a:p>
            <a:pPr algn="l"/>
            <a:r>
              <a:rPr lang="es-ES_tradnl" altLang="es-AR"/>
              <a:t>Pasos a seguir ante un desastre</a:t>
            </a:r>
          </a:p>
        </p:txBody>
      </p:sp>
      <p:grpSp>
        <p:nvGrpSpPr>
          <p:cNvPr id="4" name="Grupo 3">
            <a:extLst>
              <a:ext uri="{FF2B5EF4-FFF2-40B4-BE49-F238E27FC236}">
                <a16:creationId xmlns:a16="http://schemas.microsoft.com/office/drawing/2014/main" id="{19BA8B0F-122B-392C-7D3A-B1470896F903}"/>
              </a:ext>
            </a:extLst>
          </p:cNvPr>
          <p:cNvGrpSpPr/>
          <p:nvPr/>
        </p:nvGrpSpPr>
        <p:grpSpPr>
          <a:xfrm>
            <a:off x="1421394" y="1919335"/>
            <a:ext cx="9171160" cy="4305710"/>
            <a:chOff x="1828800" y="1140333"/>
            <a:chExt cx="8610600" cy="4514343"/>
          </a:xfrm>
        </p:grpSpPr>
        <p:sp>
          <p:nvSpPr>
            <p:cNvPr id="5127" name="AutoShape 7">
              <a:extLst>
                <a:ext uri="{FF2B5EF4-FFF2-40B4-BE49-F238E27FC236}">
                  <a16:creationId xmlns:a16="http://schemas.microsoft.com/office/drawing/2014/main" id="{105D157D-C6A3-191F-9085-DEBE316757C1}"/>
                </a:ext>
              </a:extLst>
            </p:cNvPr>
            <p:cNvSpPr>
              <a:spLocks noChangeArrowheads="1"/>
            </p:cNvSpPr>
            <p:nvPr/>
          </p:nvSpPr>
          <p:spPr bwMode="auto">
            <a:xfrm>
              <a:off x="3505200" y="1676400"/>
              <a:ext cx="1828800" cy="1905000"/>
            </a:xfrm>
            <a:prstGeom prst="irregularSeal1">
              <a:avLst/>
            </a:prstGeom>
            <a:gradFill rotWithShape="0">
              <a:gsLst>
                <a:gs pos="0">
                  <a:srgbClr val="FF3300"/>
                </a:gs>
                <a:gs pos="100000">
                  <a:srgbClr val="FF3300">
                    <a:gamma/>
                    <a:shade val="46275"/>
                    <a:invGamma/>
                  </a:srgbClr>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5124" name="Text Box 4">
              <a:extLst>
                <a:ext uri="{FF2B5EF4-FFF2-40B4-BE49-F238E27FC236}">
                  <a16:creationId xmlns:a16="http://schemas.microsoft.com/office/drawing/2014/main" id="{099E059B-C29D-FF6C-E336-245BE11002AE}"/>
                </a:ext>
              </a:extLst>
            </p:cNvPr>
            <p:cNvSpPr txBox="1">
              <a:spLocks noChangeArrowheads="1"/>
            </p:cNvSpPr>
            <p:nvPr/>
          </p:nvSpPr>
          <p:spPr bwMode="auto">
            <a:xfrm>
              <a:off x="1828801" y="2971801"/>
              <a:ext cx="14398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2000" b="1"/>
                <a:t>Operación</a:t>
              </a:r>
            </a:p>
            <a:p>
              <a:r>
                <a:rPr lang="es-ES_tradnl" altLang="es-AR" sz="2000" b="1"/>
                <a:t> Normal</a:t>
              </a:r>
              <a:endParaRPr lang="es-ES_tradnl" altLang="es-AR" sz="2800"/>
            </a:p>
          </p:txBody>
        </p:sp>
        <p:sp>
          <p:nvSpPr>
            <p:cNvPr id="5126" name="AutoShape 6">
              <a:extLst>
                <a:ext uri="{FF2B5EF4-FFF2-40B4-BE49-F238E27FC236}">
                  <a16:creationId xmlns:a16="http://schemas.microsoft.com/office/drawing/2014/main" id="{CA1627D8-9383-C115-C931-568B1A0FE695}"/>
                </a:ext>
              </a:extLst>
            </p:cNvPr>
            <p:cNvSpPr>
              <a:spLocks noChangeArrowheads="1"/>
            </p:cNvSpPr>
            <p:nvPr/>
          </p:nvSpPr>
          <p:spPr bwMode="auto">
            <a:xfrm>
              <a:off x="1828800" y="2133600"/>
              <a:ext cx="1981200" cy="762000"/>
            </a:xfrm>
            <a:prstGeom prst="rightArrow">
              <a:avLst>
                <a:gd name="adj1" fmla="val 50000"/>
                <a:gd name="adj2" fmla="val 65000"/>
              </a:avLst>
            </a:prstGeom>
            <a:solidFill>
              <a:srgbClr val="6699FF"/>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6699FF"/>
              </a:extrusionClr>
              <a:contourClr>
                <a:srgbClr val="6699FF"/>
              </a:contourClr>
            </a:sp3d>
            <a:extLst>
              <a:ext uri="{AF507438-7753-43E0-B8FC-AC1667EBCBE1}">
                <a14:hiddenEffects xmlns:a14="http://schemas.microsoft.com/office/drawing/2010/main">
                  <a:effectLst>
                    <a:outerShdw dist="107763" dir="13500000" sx="125000" sy="125000" algn="br" rotWithShape="0">
                      <a:schemeClr val="bg2"/>
                    </a:outerShdw>
                  </a:effectLst>
                </a14:hiddenEffects>
              </a:ext>
            </a:extLst>
          </p:spPr>
          <p:txBody>
            <a:bodyPr wrap="none" anchor="ctr">
              <a:flatTx/>
            </a:bodyPr>
            <a:lstStyle/>
            <a:p>
              <a:endParaRPr lang="es-AR"/>
            </a:p>
          </p:txBody>
        </p:sp>
        <p:sp>
          <p:nvSpPr>
            <p:cNvPr id="5128" name="Text Box 8">
              <a:extLst>
                <a:ext uri="{FF2B5EF4-FFF2-40B4-BE49-F238E27FC236}">
                  <a16:creationId xmlns:a16="http://schemas.microsoft.com/office/drawing/2014/main" id="{3C019D92-87D6-761E-990C-B53AE67010E3}"/>
                </a:ext>
              </a:extLst>
            </p:cNvPr>
            <p:cNvSpPr txBox="1">
              <a:spLocks noChangeArrowheads="1"/>
            </p:cNvSpPr>
            <p:nvPr/>
          </p:nvSpPr>
          <p:spPr bwMode="auto">
            <a:xfrm>
              <a:off x="3429001" y="1140333"/>
              <a:ext cx="166885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s-ES_tradnl" altLang="es-AR" sz="3200"/>
                <a:t>Desastre</a:t>
              </a:r>
            </a:p>
          </p:txBody>
        </p:sp>
        <p:sp>
          <p:nvSpPr>
            <p:cNvPr id="5129" name="AutoShape 9">
              <a:extLst>
                <a:ext uri="{FF2B5EF4-FFF2-40B4-BE49-F238E27FC236}">
                  <a16:creationId xmlns:a16="http://schemas.microsoft.com/office/drawing/2014/main" id="{35DEB540-52CF-CF36-341E-C248032CF1AD}"/>
                </a:ext>
              </a:extLst>
            </p:cNvPr>
            <p:cNvSpPr>
              <a:spLocks noChangeArrowheads="1"/>
            </p:cNvSpPr>
            <p:nvPr/>
          </p:nvSpPr>
          <p:spPr bwMode="auto">
            <a:xfrm rot="554987">
              <a:off x="5257800" y="2438400"/>
              <a:ext cx="1828800" cy="762000"/>
            </a:xfrm>
            <a:prstGeom prst="rightArrow">
              <a:avLst>
                <a:gd name="adj1" fmla="val 50000"/>
                <a:gd name="adj2" fmla="val 60000"/>
              </a:avLst>
            </a:prstGeom>
            <a:solidFill>
              <a:srgbClr val="6699FF"/>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6699FF"/>
              </a:extrusionClr>
              <a:contourClr>
                <a:srgbClr val="6699FF"/>
              </a:contourClr>
            </a:sp3d>
            <a:extLst>
              <a:ext uri="{AF507438-7753-43E0-B8FC-AC1667EBCBE1}">
                <a14:hiddenEffects xmlns:a14="http://schemas.microsoft.com/office/drawing/2010/main">
                  <a:effectLst>
                    <a:outerShdw dist="107763" dir="13500000" sx="125000" sy="125000" algn="br" rotWithShape="0">
                      <a:schemeClr val="bg2"/>
                    </a:outerShdw>
                  </a:effectLst>
                </a14:hiddenEffects>
              </a:ext>
            </a:extLst>
          </p:spPr>
          <p:txBody>
            <a:bodyPr wrap="none" anchor="ctr">
              <a:flatTx/>
            </a:bodyPr>
            <a:lstStyle/>
            <a:p>
              <a:endParaRPr lang="es-AR"/>
            </a:p>
          </p:txBody>
        </p:sp>
        <p:sp>
          <p:nvSpPr>
            <p:cNvPr id="5130" name="Text Box 10">
              <a:extLst>
                <a:ext uri="{FF2B5EF4-FFF2-40B4-BE49-F238E27FC236}">
                  <a16:creationId xmlns:a16="http://schemas.microsoft.com/office/drawing/2014/main" id="{CDA35F39-1827-41DA-FE47-C9A29528D3E7}"/>
                </a:ext>
              </a:extLst>
            </p:cNvPr>
            <p:cNvSpPr txBox="1">
              <a:spLocks noChangeArrowheads="1"/>
            </p:cNvSpPr>
            <p:nvPr/>
          </p:nvSpPr>
          <p:spPr bwMode="auto">
            <a:xfrm>
              <a:off x="5638800" y="1752601"/>
              <a:ext cx="15938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2000" b="1"/>
                <a:t>Operación</a:t>
              </a:r>
            </a:p>
            <a:p>
              <a:r>
                <a:rPr lang="es-ES_tradnl" altLang="es-AR" sz="2000" b="1"/>
                <a:t>sin Sistema</a:t>
              </a:r>
              <a:endParaRPr lang="es-ES_tradnl" altLang="es-AR" sz="2800"/>
            </a:p>
          </p:txBody>
        </p:sp>
        <p:sp>
          <p:nvSpPr>
            <p:cNvPr id="5131" name="Text Box 11">
              <a:extLst>
                <a:ext uri="{FF2B5EF4-FFF2-40B4-BE49-F238E27FC236}">
                  <a16:creationId xmlns:a16="http://schemas.microsoft.com/office/drawing/2014/main" id="{B6A33D3A-C84E-78B7-6CF5-FE499E11BF37}"/>
                </a:ext>
              </a:extLst>
            </p:cNvPr>
            <p:cNvSpPr txBox="1">
              <a:spLocks noChangeArrowheads="1"/>
            </p:cNvSpPr>
            <p:nvPr/>
          </p:nvSpPr>
          <p:spPr bwMode="auto">
            <a:xfrm>
              <a:off x="8534401" y="1752601"/>
              <a:ext cx="14398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2000" b="1"/>
                <a:t>Operación</a:t>
              </a:r>
            </a:p>
            <a:p>
              <a:r>
                <a:rPr lang="es-ES_tradnl" altLang="es-AR" sz="2000" b="1"/>
                <a:t> Normal</a:t>
              </a:r>
              <a:endParaRPr lang="es-ES_tradnl" altLang="es-AR" sz="2800"/>
            </a:p>
          </p:txBody>
        </p:sp>
        <p:sp>
          <p:nvSpPr>
            <p:cNvPr id="5132" name="Text Box 12">
              <a:extLst>
                <a:ext uri="{FF2B5EF4-FFF2-40B4-BE49-F238E27FC236}">
                  <a16:creationId xmlns:a16="http://schemas.microsoft.com/office/drawing/2014/main" id="{EEBD6F18-F15D-84BD-52D2-7D435E1BF81E}"/>
                </a:ext>
              </a:extLst>
            </p:cNvPr>
            <p:cNvSpPr txBox="1">
              <a:spLocks noChangeArrowheads="1"/>
            </p:cNvSpPr>
            <p:nvPr/>
          </p:nvSpPr>
          <p:spPr bwMode="auto">
            <a:xfrm>
              <a:off x="7696200" y="4186407"/>
              <a:ext cx="155042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2000" b="1"/>
                <a:t>Operación</a:t>
              </a:r>
            </a:p>
            <a:p>
              <a:r>
                <a:rPr lang="es-ES_tradnl" altLang="es-AR" sz="2000" b="1"/>
                <a:t> Normal en</a:t>
              </a:r>
            </a:p>
            <a:p>
              <a:r>
                <a:rPr lang="es-ES_tradnl" altLang="es-AR" sz="2000" b="1"/>
                <a:t>desastre</a:t>
              </a:r>
              <a:endParaRPr lang="es-ES_tradnl" altLang="es-AR" sz="2800"/>
            </a:p>
          </p:txBody>
        </p:sp>
        <p:sp>
          <p:nvSpPr>
            <p:cNvPr id="5133" name="Text Box 13">
              <a:extLst>
                <a:ext uri="{FF2B5EF4-FFF2-40B4-BE49-F238E27FC236}">
                  <a16:creationId xmlns:a16="http://schemas.microsoft.com/office/drawing/2014/main" id="{0E65A5E2-E62D-46F1-88B8-4560E6623346}"/>
                </a:ext>
              </a:extLst>
            </p:cNvPr>
            <p:cNvSpPr txBox="1">
              <a:spLocks noChangeArrowheads="1"/>
            </p:cNvSpPr>
            <p:nvPr/>
          </p:nvSpPr>
          <p:spPr bwMode="auto">
            <a:xfrm>
              <a:off x="4191001" y="5257801"/>
              <a:ext cx="18653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2000" b="1"/>
                <a:t>Recuperación</a:t>
              </a:r>
              <a:endParaRPr lang="es-ES_tradnl" altLang="es-AR" sz="2800"/>
            </a:p>
          </p:txBody>
        </p:sp>
        <p:sp>
          <p:nvSpPr>
            <p:cNvPr id="5135" name="AutoShape 15">
              <a:extLst>
                <a:ext uri="{FF2B5EF4-FFF2-40B4-BE49-F238E27FC236}">
                  <a16:creationId xmlns:a16="http://schemas.microsoft.com/office/drawing/2014/main" id="{D673C09D-DBEF-4AB0-8957-0C08D729E121}"/>
                </a:ext>
              </a:extLst>
            </p:cNvPr>
            <p:cNvSpPr>
              <a:spLocks noChangeArrowheads="1"/>
            </p:cNvSpPr>
            <p:nvPr/>
          </p:nvSpPr>
          <p:spPr bwMode="auto">
            <a:xfrm rot="20397430">
              <a:off x="7086600" y="3276600"/>
              <a:ext cx="1828800" cy="762000"/>
            </a:xfrm>
            <a:prstGeom prst="rightArrow">
              <a:avLst>
                <a:gd name="adj1" fmla="val 50000"/>
                <a:gd name="adj2" fmla="val 60000"/>
              </a:avLst>
            </a:prstGeom>
            <a:solidFill>
              <a:srgbClr val="6699FF"/>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6699FF"/>
              </a:extrusionClr>
              <a:contourClr>
                <a:srgbClr val="6699FF"/>
              </a:contourClr>
            </a:sp3d>
            <a:extLst>
              <a:ext uri="{AF507438-7753-43E0-B8FC-AC1667EBCBE1}">
                <a14:hiddenEffects xmlns:a14="http://schemas.microsoft.com/office/drawing/2010/main">
                  <a:effectLst>
                    <a:outerShdw dist="107763" dir="13500000" sx="125000" sy="125000" algn="br" rotWithShape="0">
                      <a:schemeClr val="bg2"/>
                    </a:outerShdw>
                  </a:effectLst>
                </a14:hiddenEffects>
              </a:ext>
            </a:extLst>
          </p:spPr>
          <p:txBody>
            <a:bodyPr wrap="none" anchor="ctr">
              <a:flatTx/>
            </a:bodyPr>
            <a:lstStyle/>
            <a:p>
              <a:endParaRPr lang="es-AR"/>
            </a:p>
          </p:txBody>
        </p:sp>
        <p:sp>
          <p:nvSpPr>
            <p:cNvPr id="5136" name="AutoShape 16">
              <a:extLst>
                <a:ext uri="{FF2B5EF4-FFF2-40B4-BE49-F238E27FC236}">
                  <a16:creationId xmlns:a16="http://schemas.microsoft.com/office/drawing/2014/main" id="{E7AB7BA7-13F5-E5C7-22D2-4EE3E7AA0B36}"/>
                </a:ext>
              </a:extLst>
            </p:cNvPr>
            <p:cNvSpPr>
              <a:spLocks noChangeArrowheads="1"/>
            </p:cNvSpPr>
            <p:nvPr/>
          </p:nvSpPr>
          <p:spPr bwMode="auto">
            <a:xfrm>
              <a:off x="8686800" y="2286000"/>
              <a:ext cx="1752600" cy="762000"/>
            </a:xfrm>
            <a:prstGeom prst="rightArrow">
              <a:avLst>
                <a:gd name="adj1" fmla="val 50000"/>
                <a:gd name="adj2" fmla="val 57500"/>
              </a:avLst>
            </a:prstGeom>
            <a:solidFill>
              <a:srgbClr val="6699FF"/>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6699FF"/>
              </a:extrusionClr>
              <a:contourClr>
                <a:srgbClr val="6699FF"/>
              </a:contourClr>
            </a:sp3d>
            <a:extLst>
              <a:ext uri="{AF507438-7753-43E0-B8FC-AC1667EBCBE1}">
                <a14:hiddenEffects xmlns:a14="http://schemas.microsoft.com/office/drawing/2010/main">
                  <a:effectLst>
                    <a:outerShdw dist="107763" dir="13500000" sx="125000" sy="125000" algn="br" rotWithShape="0">
                      <a:schemeClr val="bg2"/>
                    </a:outerShdw>
                  </a:effectLst>
                </a14:hiddenEffects>
              </a:ext>
            </a:extLst>
          </p:spPr>
          <p:txBody>
            <a:bodyPr wrap="none" anchor="ctr">
              <a:flatTx/>
            </a:bodyPr>
            <a:lstStyle/>
            <a:p>
              <a:endParaRPr lang="es-AR"/>
            </a:p>
          </p:txBody>
        </p:sp>
        <p:sp>
          <p:nvSpPr>
            <p:cNvPr id="5137" name="AutoShape 17">
              <a:extLst>
                <a:ext uri="{FF2B5EF4-FFF2-40B4-BE49-F238E27FC236}">
                  <a16:creationId xmlns:a16="http://schemas.microsoft.com/office/drawing/2014/main" id="{2879AC48-BFC3-A38E-9983-6626B30CB9C8}"/>
                </a:ext>
              </a:extLst>
            </p:cNvPr>
            <p:cNvSpPr>
              <a:spLocks noChangeArrowheads="1"/>
            </p:cNvSpPr>
            <p:nvPr/>
          </p:nvSpPr>
          <p:spPr bwMode="auto">
            <a:xfrm>
              <a:off x="3352800" y="3886200"/>
              <a:ext cx="3581400" cy="1219200"/>
            </a:xfrm>
            <a:prstGeom prst="curvedUpArrow">
              <a:avLst>
                <a:gd name="adj1" fmla="val 58750"/>
                <a:gd name="adj2" fmla="val 117500"/>
                <a:gd name="adj3" fmla="val 33333"/>
              </a:avLst>
            </a:prstGeom>
            <a:solidFill>
              <a:schemeClr val="accent1"/>
            </a:solidFill>
            <a:ln w="9525">
              <a:solidFill>
                <a:schemeClr val="tx1"/>
              </a:solidFill>
              <a:miter lim="800000"/>
              <a:headEnd/>
              <a:tailEnd/>
            </a:ln>
            <a:effectLst>
              <a:outerShdw dist="107763" dir="8100000" algn="ctr" rotWithShape="0">
                <a:schemeClr val="bg2"/>
              </a:outerShdw>
            </a:effectLst>
          </p:spPr>
          <p:txBody>
            <a:bodyPr wrap="none" anchor="ctr"/>
            <a:lstStyle/>
            <a:p>
              <a:endParaRPr lang="es-AR"/>
            </a:p>
          </p:txBody>
        </p:sp>
      </p:grpSp>
      <p:sp>
        <p:nvSpPr>
          <p:cNvPr id="5" name="Marcador de número de diapositiva 4">
            <a:extLst>
              <a:ext uri="{FF2B5EF4-FFF2-40B4-BE49-F238E27FC236}">
                <a16:creationId xmlns:a16="http://schemas.microsoft.com/office/drawing/2014/main" id="{5428F441-390F-E71E-437A-3AE5ABA12A51}"/>
              </a:ext>
            </a:extLst>
          </p:cNvPr>
          <p:cNvSpPr>
            <a:spLocks noGrp="1"/>
          </p:cNvSpPr>
          <p:nvPr>
            <p:ph type="sldNum" sz="quarter" idx="12"/>
          </p:nvPr>
        </p:nvSpPr>
        <p:spPr/>
        <p:txBody>
          <a:bodyPr/>
          <a:lstStyle/>
          <a:p>
            <a:fld id="{0E40E506-8910-4A1D-9597-9E72BD293B97}"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000FF52-83ED-9453-66B1-22F6560E5CBA}"/>
              </a:ext>
            </a:extLst>
          </p:cNvPr>
          <p:cNvSpPr>
            <a:spLocks noGrp="1" noChangeArrowheads="1"/>
          </p:cNvSpPr>
          <p:nvPr>
            <p:ph type="title"/>
          </p:nvPr>
        </p:nvSpPr>
        <p:spPr>
          <a:xfrm>
            <a:off x="392127" y="662035"/>
            <a:ext cx="11304949" cy="1143000"/>
          </a:xfrm>
        </p:spPr>
        <p:txBody>
          <a:bodyPr/>
          <a:lstStyle/>
          <a:p>
            <a:pPr algn="l"/>
            <a:r>
              <a:rPr lang="es-ES_tradnl" altLang="es-AR"/>
              <a:t>Consecuencia de un desastre</a:t>
            </a:r>
          </a:p>
        </p:txBody>
      </p:sp>
      <p:sp>
        <p:nvSpPr>
          <p:cNvPr id="23555" name="Rectangle 3">
            <a:extLst>
              <a:ext uri="{FF2B5EF4-FFF2-40B4-BE49-F238E27FC236}">
                <a16:creationId xmlns:a16="http://schemas.microsoft.com/office/drawing/2014/main" id="{0E095DD3-7CED-C6B7-6684-29C3F8D9CB6A}"/>
              </a:ext>
            </a:extLst>
          </p:cNvPr>
          <p:cNvSpPr>
            <a:spLocks noGrp="1" noChangeArrowheads="1"/>
          </p:cNvSpPr>
          <p:nvPr>
            <p:ph type="body" idx="1"/>
          </p:nvPr>
        </p:nvSpPr>
        <p:spPr>
          <a:xfrm>
            <a:off x="1077361" y="4176665"/>
            <a:ext cx="9949759" cy="1447800"/>
          </a:xfrm>
        </p:spPr>
        <p:txBody>
          <a:bodyPr>
            <a:normAutofit/>
          </a:bodyPr>
          <a:lstStyle/>
          <a:p>
            <a:r>
              <a:rPr lang="es-ES_tradnl" altLang="es-AR" sz="3200">
                <a:solidFill>
                  <a:schemeClr val="accent1"/>
                </a:solidFill>
              </a:rPr>
              <a:t>Inoperatividad parcial o total del Centro de Cómputos.</a:t>
            </a:r>
          </a:p>
        </p:txBody>
      </p:sp>
      <p:graphicFrame>
        <p:nvGraphicFramePr>
          <p:cNvPr id="23556" name="Object 4">
            <a:extLst>
              <a:ext uri="{FF2B5EF4-FFF2-40B4-BE49-F238E27FC236}">
                <a16:creationId xmlns:a16="http://schemas.microsoft.com/office/drawing/2014/main" id="{DE9CCDC8-5763-8371-BA85-0A51ED116919}"/>
              </a:ext>
            </a:extLst>
          </p:cNvPr>
          <p:cNvGraphicFramePr>
            <a:graphicFrameLocks noChangeAspect="1"/>
          </p:cNvGraphicFramePr>
          <p:nvPr>
            <p:extLst>
              <p:ext uri="{D42A27DB-BD31-4B8C-83A1-F6EECF244321}">
                <p14:modId xmlns:p14="http://schemas.microsoft.com/office/powerpoint/2010/main" val="211852308"/>
              </p:ext>
            </p:extLst>
          </p:nvPr>
        </p:nvGraphicFramePr>
        <p:xfrm>
          <a:off x="3527756" y="2347865"/>
          <a:ext cx="2724150" cy="1828800"/>
        </p:xfrm>
        <a:graphic>
          <a:graphicData uri="http://schemas.openxmlformats.org/presentationml/2006/ole">
            <mc:AlternateContent xmlns:mc="http://schemas.openxmlformats.org/markup-compatibility/2006">
              <mc:Choice xmlns:v="urn:schemas-microsoft-com:vml" Requires="v">
                <p:oleObj name="Imagen" r:id="rId2" imgW="2724120" imgH="1828800" progId="MS_ClipArt_Gallery.2">
                  <p:embed/>
                </p:oleObj>
              </mc:Choice>
              <mc:Fallback>
                <p:oleObj name="Imagen" r:id="rId2" imgW="2724120" imgH="1828800" progId="MS_ClipArt_Gallery.2">
                  <p:embed/>
                  <p:pic>
                    <p:nvPicPr>
                      <p:cNvPr id="23556" name="Object 4">
                        <a:extLst>
                          <a:ext uri="{FF2B5EF4-FFF2-40B4-BE49-F238E27FC236}">
                            <a16:creationId xmlns:a16="http://schemas.microsoft.com/office/drawing/2014/main" id="{DE9CCDC8-5763-8371-BA85-0A51ED1169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7756" y="2347865"/>
                        <a:ext cx="2724150" cy="182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Marcador de número de diapositiva 3">
            <a:extLst>
              <a:ext uri="{FF2B5EF4-FFF2-40B4-BE49-F238E27FC236}">
                <a16:creationId xmlns:a16="http://schemas.microsoft.com/office/drawing/2014/main" id="{4B49445F-FB97-5ECF-15DA-DB40C12D4717}"/>
              </a:ext>
            </a:extLst>
          </p:cNvPr>
          <p:cNvSpPr>
            <a:spLocks noGrp="1"/>
          </p:cNvSpPr>
          <p:nvPr>
            <p:ph type="sldNum" sz="quarter" idx="12"/>
          </p:nvPr>
        </p:nvSpPr>
        <p:spPr/>
        <p:txBody>
          <a:bodyPr/>
          <a:lstStyle/>
          <a:p>
            <a:fld id="{0E40E506-8910-4A1D-9597-9E72BD293B97}"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4">
            <a:extLst>
              <a:ext uri="{FF2B5EF4-FFF2-40B4-BE49-F238E27FC236}">
                <a16:creationId xmlns:a16="http://schemas.microsoft.com/office/drawing/2014/main" id="{645CC53E-9479-0A2D-A701-71935FC2AC21}"/>
              </a:ext>
            </a:extLst>
          </p:cNvPr>
          <p:cNvSpPr>
            <a:spLocks noGrp="1"/>
          </p:cNvSpPr>
          <p:nvPr>
            <p:ph type="sldNum" sz="quarter" idx="11"/>
          </p:nvPr>
        </p:nvSpPr>
        <p:spPr>
          <a:xfrm>
            <a:off x="581191" y="5951811"/>
            <a:ext cx="11296955" cy="365125"/>
          </a:xfrm>
        </p:spPr>
        <p:txBody>
          <a:bodyPr/>
          <a:lstStyle/>
          <a:p>
            <a:pPr algn="r"/>
            <a:fld id="{22972D27-E9ED-4F86-9308-162EA2847EB8}" type="slidenum">
              <a:rPr lang="es-ES_tradnl" altLang="es-AR"/>
              <a:pPr algn="r"/>
              <a:t>26</a:t>
            </a:fld>
            <a:endParaRPr lang="es-ES_tradnl" altLang="es-AR">
              <a:latin typeface="Times New Roman" panose="02020603050405020304" pitchFamily="18" charset="0"/>
            </a:endParaRPr>
          </a:p>
        </p:txBody>
      </p:sp>
      <p:sp>
        <p:nvSpPr>
          <p:cNvPr id="6146" name="Rectangle 2">
            <a:extLst>
              <a:ext uri="{FF2B5EF4-FFF2-40B4-BE49-F238E27FC236}">
                <a16:creationId xmlns:a16="http://schemas.microsoft.com/office/drawing/2014/main" id="{2E02702D-0669-8135-5CF2-D132B7091AF6}"/>
              </a:ext>
            </a:extLst>
          </p:cNvPr>
          <p:cNvSpPr>
            <a:spLocks noGrp="1" noChangeArrowheads="1"/>
          </p:cNvSpPr>
          <p:nvPr>
            <p:ph type="title"/>
          </p:nvPr>
        </p:nvSpPr>
        <p:spPr>
          <a:xfrm>
            <a:off x="467762" y="771752"/>
            <a:ext cx="11184048" cy="950685"/>
          </a:xfrm>
        </p:spPr>
        <p:txBody>
          <a:bodyPr/>
          <a:lstStyle/>
          <a:p>
            <a:pPr algn="l"/>
            <a:r>
              <a:rPr lang="es-ES_tradnl" altLang="es-AR"/>
              <a:t>Qué hacer ante las contingencias (desastres)</a:t>
            </a:r>
          </a:p>
        </p:txBody>
      </p:sp>
      <p:sp>
        <p:nvSpPr>
          <p:cNvPr id="6147" name="Rectangle 3">
            <a:extLst>
              <a:ext uri="{FF2B5EF4-FFF2-40B4-BE49-F238E27FC236}">
                <a16:creationId xmlns:a16="http://schemas.microsoft.com/office/drawing/2014/main" id="{C7DB15AA-E2F2-729D-54E6-BA36221DB528}"/>
              </a:ext>
            </a:extLst>
          </p:cNvPr>
          <p:cNvSpPr>
            <a:spLocks noGrp="1" noChangeArrowheads="1"/>
          </p:cNvSpPr>
          <p:nvPr>
            <p:ph type="body" idx="1"/>
          </p:nvPr>
        </p:nvSpPr>
        <p:spPr>
          <a:xfrm>
            <a:off x="1885950" y="1066800"/>
            <a:ext cx="8420100" cy="5029200"/>
          </a:xfrm>
        </p:spPr>
        <p:txBody>
          <a:bodyPr/>
          <a:lstStyle/>
          <a:p>
            <a:pPr algn="ctr">
              <a:buClr>
                <a:srgbClr val="000066"/>
              </a:buClr>
              <a:buFont typeface="Monotype Sorts" pitchFamily="2" charset="2"/>
              <a:buNone/>
            </a:pPr>
            <a:r>
              <a:rPr lang="es-ES_tradnl" altLang="es-AR">
                <a:solidFill>
                  <a:schemeClr val="accent1"/>
                </a:solidFill>
              </a:rPr>
              <a:t>  </a:t>
            </a:r>
          </a:p>
          <a:p>
            <a:pPr>
              <a:buClr>
                <a:srgbClr val="000066"/>
              </a:buClr>
              <a:buFont typeface="Monotype Sorts" pitchFamily="2" charset="2"/>
              <a:buChar char="F"/>
            </a:pPr>
            <a:endParaRPr lang="es-ES_tradnl" altLang="es-AR">
              <a:solidFill>
                <a:schemeClr val="accent1"/>
              </a:solidFill>
            </a:endParaRPr>
          </a:p>
          <a:p>
            <a:pPr marL="0" indent="0">
              <a:buClr>
                <a:srgbClr val="000066"/>
              </a:buClr>
              <a:buNone/>
            </a:pPr>
            <a:r>
              <a:rPr lang="es-ES_tradnl" altLang="es-AR" sz="2400" b="1">
                <a:solidFill>
                  <a:schemeClr val="accent1"/>
                </a:solidFill>
              </a:rPr>
              <a:t>                                     Planificar</a:t>
            </a:r>
          </a:p>
          <a:p>
            <a:pPr>
              <a:buClr>
                <a:srgbClr val="000066"/>
              </a:buClr>
              <a:buFont typeface="Monotype Sorts" pitchFamily="2" charset="2"/>
              <a:buChar char="F"/>
            </a:pPr>
            <a:endParaRPr lang="es-ES_tradnl" altLang="es-AR">
              <a:solidFill>
                <a:schemeClr val="accent1"/>
              </a:solidFill>
            </a:endParaRPr>
          </a:p>
          <a:p>
            <a:pPr>
              <a:buClr>
                <a:srgbClr val="000066"/>
              </a:buClr>
              <a:buFont typeface="Monotype Sorts" pitchFamily="2" charset="2"/>
              <a:buChar char="F"/>
            </a:pPr>
            <a:endParaRPr lang="es-ES_tradnl" altLang="es-AR">
              <a:solidFill>
                <a:schemeClr val="accent1"/>
              </a:solidFill>
            </a:endParaRPr>
          </a:p>
          <a:p>
            <a:pPr>
              <a:buClr>
                <a:srgbClr val="000066"/>
              </a:buClr>
              <a:buFont typeface="Monotype Sorts" pitchFamily="2" charset="2"/>
              <a:buChar char="F"/>
            </a:pPr>
            <a:endParaRPr lang="es-ES_tradnl" altLang="es-AR">
              <a:solidFill>
                <a:schemeClr val="accent1"/>
              </a:solidFill>
            </a:endParaRPr>
          </a:p>
        </p:txBody>
      </p:sp>
      <p:sp>
        <p:nvSpPr>
          <p:cNvPr id="6148" name="Text Box 4">
            <a:extLst>
              <a:ext uri="{FF2B5EF4-FFF2-40B4-BE49-F238E27FC236}">
                <a16:creationId xmlns:a16="http://schemas.microsoft.com/office/drawing/2014/main" id="{332FB99B-7038-685E-8D3F-3433B0E6E171}"/>
              </a:ext>
            </a:extLst>
          </p:cNvPr>
          <p:cNvSpPr txBox="1">
            <a:spLocks noChangeArrowheads="1"/>
          </p:cNvSpPr>
          <p:nvPr/>
        </p:nvSpPr>
        <p:spPr bwMode="auto">
          <a:xfrm>
            <a:off x="1104523" y="4106635"/>
            <a:ext cx="1061971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s-ES_tradnl" altLang="es-AR" sz="2400">
                <a:solidFill>
                  <a:schemeClr val="accent1"/>
                </a:solidFill>
              </a:rPr>
              <a:t>Un </a:t>
            </a:r>
            <a:r>
              <a:rPr lang="es-ES_tradnl" altLang="es-AR" sz="2400" b="1">
                <a:solidFill>
                  <a:schemeClr val="accent1"/>
                </a:solidFill>
              </a:rPr>
              <a:t>Plan de Recuperación ante Desastres</a:t>
            </a:r>
            <a:r>
              <a:rPr lang="es-ES_tradnl" altLang="es-AR" sz="2400">
                <a:solidFill>
                  <a:schemeClr val="accent1"/>
                </a:solidFill>
              </a:rPr>
              <a:t> es un conjunto de </a:t>
            </a:r>
            <a:r>
              <a:rPr lang="es-ES_tradnl" altLang="es-AR" sz="2400" b="1" i="1">
                <a:solidFill>
                  <a:schemeClr val="accent1"/>
                </a:solidFill>
              </a:rPr>
              <a:t>decisiones</a:t>
            </a:r>
            <a:r>
              <a:rPr lang="es-ES_tradnl" altLang="es-AR" sz="2400">
                <a:solidFill>
                  <a:schemeClr val="accent1"/>
                </a:solidFill>
              </a:rPr>
              <a:t> y procedimientos coordinados a seguir </a:t>
            </a:r>
            <a:r>
              <a:rPr lang="es-ES_tradnl" altLang="es-AR" sz="2400" b="1" i="1">
                <a:solidFill>
                  <a:schemeClr val="accent1"/>
                </a:solidFill>
              </a:rPr>
              <a:t>inmediatamente</a:t>
            </a:r>
            <a:r>
              <a:rPr lang="es-ES_tradnl" altLang="es-AR" sz="2400">
                <a:solidFill>
                  <a:schemeClr val="accent1"/>
                </a:solidFill>
              </a:rPr>
              <a:t>, ante la ocurrencia de un </a:t>
            </a:r>
            <a:r>
              <a:rPr lang="es-ES_tradnl" altLang="es-AR" sz="2400" b="1" i="1">
                <a:solidFill>
                  <a:schemeClr val="accent1"/>
                </a:solidFill>
              </a:rPr>
              <a:t>desastre</a:t>
            </a:r>
            <a:r>
              <a:rPr lang="es-ES_tradnl" altLang="es-AR" sz="2400">
                <a:solidFill>
                  <a:schemeClr val="accent1"/>
                </a:solidFill>
              </a:rPr>
              <a:t>, con el propósito de lograr la continuidad del negocio en el menor tiempo posible.</a:t>
            </a:r>
            <a:endParaRPr lang="es-ES_tradnl" altLang="es-AR">
              <a:solidFill>
                <a:schemeClr val="accent1"/>
              </a:solidFill>
            </a:endParaRPr>
          </a:p>
        </p:txBody>
      </p:sp>
      <p:sp>
        <p:nvSpPr>
          <p:cNvPr id="6152" name="Text Box 8">
            <a:extLst>
              <a:ext uri="{FF2B5EF4-FFF2-40B4-BE49-F238E27FC236}">
                <a16:creationId xmlns:a16="http://schemas.microsoft.com/office/drawing/2014/main" id="{2EE9605D-C386-AA96-0E9B-FB6376B23B72}"/>
              </a:ext>
            </a:extLst>
          </p:cNvPr>
          <p:cNvSpPr txBox="1">
            <a:spLocks noChangeArrowheads="1"/>
          </p:cNvSpPr>
          <p:nvPr/>
        </p:nvSpPr>
        <p:spPr bwMode="auto">
          <a:xfrm>
            <a:off x="6232525" y="1722438"/>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tLang="es-AR"/>
          </a:p>
        </p:txBody>
      </p:sp>
      <p:sp>
        <p:nvSpPr>
          <p:cNvPr id="6153" name="AutoShape 9">
            <a:extLst>
              <a:ext uri="{FF2B5EF4-FFF2-40B4-BE49-F238E27FC236}">
                <a16:creationId xmlns:a16="http://schemas.microsoft.com/office/drawing/2014/main" id="{4E41666B-D141-02AA-7F83-915FA761EBF5}"/>
              </a:ext>
            </a:extLst>
          </p:cNvPr>
          <p:cNvSpPr>
            <a:spLocks noChangeArrowheads="1"/>
          </p:cNvSpPr>
          <p:nvPr/>
        </p:nvSpPr>
        <p:spPr bwMode="auto">
          <a:xfrm>
            <a:off x="4347927" y="1860550"/>
            <a:ext cx="2743200" cy="1295400"/>
          </a:xfrm>
          <a:prstGeom prst="downArrowCallout">
            <a:avLst>
              <a:gd name="adj1" fmla="val 52941"/>
              <a:gd name="adj2" fmla="val 52941"/>
              <a:gd name="adj3" fmla="val 16667"/>
              <a:gd name="adj4" fmla="val 66667"/>
            </a:avLst>
          </a:prstGeom>
          <a:noFill/>
          <a:ln w="57150">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4">
            <a:extLst>
              <a:ext uri="{FF2B5EF4-FFF2-40B4-BE49-F238E27FC236}">
                <a16:creationId xmlns:a16="http://schemas.microsoft.com/office/drawing/2014/main" id="{220521AA-BAED-6A93-34E9-A81008AC7777}"/>
              </a:ext>
            </a:extLst>
          </p:cNvPr>
          <p:cNvSpPr>
            <a:spLocks noGrp="1"/>
          </p:cNvSpPr>
          <p:nvPr>
            <p:ph type="sldNum" sz="quarter" idx="11"/>
          </p:nvPr>
        </p:nvSpPr>
        <p:spPr/>
        <p:txBody>
          <a:bodyPr/>
          <a:lstStyle/>
          <a:p>
            <a:fld id="{F91C944A-2150-4F64-BC57-959535D7556C}" type="slidenum">
              <a:rPr lang="es-ES_tradnl" altLang="es-AR"/>
              <a:pPr/>
              <a:t>27</a:t>
            </a:fld>
            <a:endParaRPr lang="es-ES_tradnl" altLang="es-AR">
              <a:latin typeface="Times New Roman" panose="02020603050405020304" pitchFamily="18" charset="0"/>
            </a:endParaRPr>
          </a:p>
        </p:txBody>
      </p:sp>
      <p:sp>
        <p:nvSpPr>
          <p:cNvPr id="8194" name="Rectangle 2">
            <a:extLst>
              <a:ext uri="{FF2B5EF4-FFF2-40B4-BE49-F238E27FC236}">
                <a16:creationId xmlns:a16="http://schemas.microsoft.com/office/drawing/2014/main" id="{9DEF836E-ABAB-AB70-5610-92BB945B72DD}"/>
              </a:ext>
            </a:extLst>
          </p:cNvPr>
          <p:cNvSpPr>
            <a:spLocks noGrp="1" noChangeArrowheads="1"/>
          </p:cNvSpPr>
          <p:nvPr>
            <p:ph type="title"/>
          </p:nvPr>
        </p:nvSpPr>
        <p:spPr>
          <a:xfrm>
            <a:off x="391059" y="643261"/>
            <a:ext cx="8420100" cy="1143000"/>
          </a:xfrm>
        </p:spPr>
        <p:txBody>
          <a:bodyPr/>
          <a:lstStyle/>
          <a:p>
            <a:pPr algn="l"/>
            <a:r>
              <a:rPr lang="es-ES_tradnl" altLang="es-AR"/>
              <a:t>Componentes del </a:t>
            </a:r>
            <a:r>
              <a:rPr lang="es-ES_tradnl" altLang="es-AR" err="1"/>
              <a:t>drp</a:t>
            </a:r>
            <a:endParaRPr lang="es-ES_tradnl" altLang="es-AR"/>
          </a:p>
        </p:txBody>
      </p:sp>
      <p:sp>
        <p:nvSpPr>
          <p:cNvPr id="8209" name="Text Box 17">
            <a:extLst>
              <a:ext uri="{FF2B5EF4-FFF2-40B4-BE49-F238E27FC236}">
                <a16:creationId xmlns:a16="http://schemas.microsoft.com/office/drawing/2014/main" id="{C22BE934-8882-05A5-B405-C7D7A8946A6D}"/>
              </a:ext>
            </a:extLst>
          </p:cNvPr>
          <p:cNvSpPr txBox="1">
            <a:spLocks noChangeArrowheads="1"/>
          </p:cNvSpPr>
          <p:nvPr/>
        </p:nvSpPr>
        <p:spPr bwMode="auto">
          <a:xfrm>
            <a:off x="1803400" y="1769254"/>
            <a:ext cx="1474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2400" b="1">
                <a:solidFill>
                  <a:schemeClr val="accent1"/>
                </a:solidFill>
              </a:rPr>
              <a:t>Desastre</a:t>
            </a:r>
            <a:endParaRPr lang="es-ES_tradnl" altLang="es-AR">
              <a:solidFill>
                <a:schemeClr val="accent1"/>
              </a:solidFill>
            </a:endParaRPr>
          </a:p>
        </p:txBody>
      </p:sp>
      <p:grpSp>
        <p:nvGrpSpPr>
          <p:cNvPr id="4" name="Grupo 3">
            <a:extLst>
              <a:ext uri="{FF2B5EF4-FFF2-40B4-BE49-F238E27FC236}">
                <a16:creationId xmlns:a16="http://schemas.microsoft.com/office/drawing/2014/main" id="{1C31F82F-4B79-9676-52C8-1C500A1F4358}"/>
              </a:ext>
            </a:extLst>
          </p:cNvPr>
          <p:cNvGrpSpPr/>
          <p:nvPr/>
        </p:nvGrpSpPr>
        <p:grpSpPr>
          <a:xfrm>
            <a:off x="1828800" y="2393140"/>
            <a:ext cx="8305800" cy="4267199"/>
            <a:chOff x="1828800" y="1524001"/>
            <a:chExt cx="8305800" cy="4267199"/>
          </a:xfrm>
        </p:grpSpPr>
        <p:sp>
          <p:nvSpPr>
            <p:cNvPr id="8201" name="Rectangle 9">
              <a:extLst>
                <a:ext uri="{FF2B5EF4-FFF2-40B4-BE49-F238E27FC236}">
                  <a16:creationId xmlns:a16="http://schemas.microsoft.com/office/drawing/2014/main" id="{40604C00-FF1A-0DA4-6B9F-7A41B0E3CC3E}"/>
                </a:ext>
              </a:extLst>
            </p:cNvPr>
            <p:cNvSpPr>
              <a:spLocks noChangeArrowheads="1"/>
            </p:cNvSpPr>
            <p:nvPr/>
          </p:nvSpPr>
          <p:spPr bwMode="auto">
            <a:xfrm>
              <a:off x="1828800" y="2057400"/>
              <a:ext cx="1600200" cy="9144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b="1"/>
                <a:t>Esquema de</a:t>
              </a:r>
            </a:p>
            <a:p>
              <a:r>
                <a:rPr lang="es-ES_tradnl" altLang="es-AR" b="1"/>
                <a:t>Respuesta</a:t>
              </a:r>
              <a:endParaRPr lang="es-ES_tradnl" altLang="es-AR"/>
            </a:p>
          </p:txBody>
        </p:sp>
        <p:sp>
          <p:nvSpPr>
            <p:cNvPr id="8202" name="Rectangle 10">
              <a:extLst>
                <a:ext uri="{FF2B5EF4-FFF2-40B4-BE49-F238E27FC236}">
                  <a16:creationId xmlns:a16="http://schemas.microsoft.com/office/drawing/2014/main" id="{C67A40E9-9FCB-C7F8-66BD-8A54151A58F4}"/>
                </a:ext>
              </a:extLst>
            </p:cNvPr>
            <p:cNvSpPr>
              <a:spLocks noChangeArrowheads="1"/>
            </p:cNvSpPr>
            <p:nvPr/>
          </p:nvSpPr>
          <p:spPr bwMode="auto">
            <a:xfrm>
              <a:off x="1828800" y="3429000"/>
              <a:ext cx="1600200" cy="9144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b="1"/>
                <a:t>Esquema de</a:t>
              </a:r>
            </a:p>
            <a:p>
              <a:r>
                <a:rPr lang="es-ES_tradnl" altLang="es-AR" b="1"/>
                <a:t>Notificación</a:t>
              </a:r>
            </a:p>
            <a:p>
              <a:r>
                <a:rPr lang="es-ES_tradnl" altLang="es-AR" b="1"/>
                <a:t>ante Siniestro</a:t>
              </a:r>
              <a:endParaRPr lang="es-ES_tradnl" altLang="es-AR"/>
            </a:p>
          </p:txBody>
        </p:sp>
        <p:sp>
          <p:nvSpPr>
            <p:cNvPr id="8203" name="Rectangle 11">
              <a:extLst>
                <a:ext uri="{FF2B5EF4-FFF2-40B4-BE49-F238E27FC236}">
                  <a16:creationId xmlns:a16="http://schemas.microsoft.com/office/drawing/2014/main" id="{BCCB9F54-1334-B3DF-91D6-021135DCD6CC}"/>
                </a:ext>
              </a:extLst>
            </p:cNvPr>
            <p:cNvSpPr>
              <a:spLocks noChangeArrowheads="1"/>
            </p:cNvSpPr>
            <p:nvPr/>
          </p:nvSpPr>
          <p:spPr bwMode="auto">
            <a:xfrm>
              <a:off x="4114800" y="2057400"/>
              <a:ext cx="1600200" cy="9144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b="1"/>
                <a:t>Esquema de</a:t>
              </a:r>
            </a:p>
            <a:p>
              <a:r>
                <a:rPr lang="es-ES_tradnl" altLang="es-AR" b="1"/>
                <a:t>Notificación</a:t>
              </a:r>
            </a:p>
            <a:p>
              <a:r>
                <a:rPr lang="es-ES_tradnl" altLang="es-AR" b="1"/>
                <a:t>ante Falla </a:t>
              </a:r>
              <a:r>
                <a:rPr lang="es-ES_tradnl" altLang="es-AR" b="1" err="1"/>
                <a:t>Téc</a:t>
              </a:r>
              <a:r>
                <a:rPr lang="es-ES_tradnl" altLang="es-AR" b="1"/>
                <a:t>.</a:t>
              </a:r>
              <a:endParaRPr lang="es-ES_tradnl" altLang="es-AR"/>
            </a:p>
          </p:txBody>
        </p:sp>
        <p:sp>
          <p:nvSpPr>
            <p:cNvPr id="8204" name="Rectangle 12">
              <a:extLst>
                <a:ext uri="{FF2B5EF4-FFF2-40B4-BE49-F238E27FC236}">
                  <a16:creationId xmlns:a16="http://schemas.microsoft.com/office/drawing/2014/main" id="{933304EE-F63A-58CE-5878-D36A7AA16BB3}"/>
                </a:ext>
              </a:extLst>
            </p:cNvPr>
            <p:cNvSpPr>
              <a:spLocks noChangeArrowheads="1"/>
            </p:cNvSpPr>
            <p:nvPr/>
          </p:nvSpPr>
          <p:spPr bwMode="auto">
            <a:xfrm>
              <a:off x="4114800" y="3429000"/>
              <a:ext cx="1600200" cy="9144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b="1"/>
                <a:t>Esquema de</a:t>
              </a:r>
            </a:p>
            <a:p>
              <a:r>
                <a:rPr lang="es-ES_tradnl" altLang="es-AR" b="1"/>
                <a:t>Evaluación</a:t>
              </a:r>
            </a:p>
            <a:p>
              <a:r>
                <a:rPr lang="es-ES_tradnl" altLang="es-AR" b="1"/>
                <a:t>Inicial del daño</a:t>
              </a:r>
              <a:endParaRPr lang="es-ES_tradnl" altLang="es-AR"/>
            </a:p>
          </p:txBody>
        </p:sp>
        <p:sp>
          <p:nvSpPr>
            <p:cNvPr id="8205" name="Rectangle 13">
              <a:extLst>
                <a:ext uri="{FF2B5EF4-FFF2-40B4-BE49-F238E27FC236}">
                  <a16:creationId xmlns:a16="http://schemas.microsoft.com/office/drawing/2014/main" id="{978F6AA7-7A37-A028-CE91-0664E55316C7}"/>
                </a:ext>
              </a:extLst>
            </p:cNvPr>
            <p:cNvSpPr>
              <a:spLocks noChangeArrowheads="1"/>
            </p:cNvSpPr>
            <p:nvPr/>
          </p:nvSpPr>
          <p:spPr bwMode="auto">
            <a:xfrm>
              <a:off x="6324600" y="2057400"/>
              <a:ext cx="1600200" cy="22098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b="1"/>
                <a:t>Esquema de</a:t>
              </a:r>
            </a:p>
            <a:p>
              <a:r>
                <a:rPr lang="es-ES_tradnl" altLang="es-AR" b="1"/>
                <a:t>Declaración</a:t>
              </a:r>
              <a:endParaRPr lang="es-ES_tradnl" altLang="es-AR"/>
            </a:p>
          </p:txBody>
        </p:sp>
        <p:sp>
          <p:nvSpPr>
            <p:cNvPr id="8206" name="Rectangle 14">
              <a:extLst>
                <a:ext uri="{FF2B5EF4-FFF2-40B4-BE49-F238E27FC236}">
                  <a16:creationId xmlns:a16="http://schemas.microsoft.com/office/drawing/2014/main" id="{C907B8E3-FD4E-9BBA-313B-AAD6112B95A1}"/>
                </a:ext>
              </a:extLst>
            </p:cNvPr>
            <p:cNvSpPr>
              <a:spLocks noChangeArrowheads="1"/>
            </p:cNvSpPr>
            <p:nvPr/>
          </p:nvSpPr>
          <p:spPr bwMode="auto">
            <a:xfrm>
              <a:off x="8534400" y="2057400"/>
              <a:ext cx="1600200" cy="9144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b="1"/>
                <a:t>Esquema de</a:t>
              </a:r>
            </a:p>
            <a:p>
              <a:r>
                <a:rPr lang="es-ES_tradnl" altLang="es-AR" b="1"/>
                <a:t>Recuperación</a:t>
              </a:r>
              <a:endParaRPr lang="es-ES_tradnl" altLang="es-AR"/>
            </a:p>
          </p:txBody>
        </p:sp>
        <p:sp>
          <p:nvSpPr>
            <p:cNvPr id="8207" name="Rectangle 15">
              <a:extLst>
                <a:ext uri="{FF2B5EF4-FFF2-40B4-BE49-F238E27FC236}">
                  <a16:creationId xmlns:a16="http://schemas.microsoft.com/office/drawing/2014/main" id="{3431CAAF-6D19-A663-587F-C5237BB16C93}"/>
                </a:ext>
              </a:extLst>
            </p:cNvPr>
            <p:cNvSpPr>
              <a:spLocks noChangeArrowheads="1"/>
            </p:cNvSpPr>
            <p:nvPr/>
          </p:nvSpPr>
          <p:spPr bwMode="auto">
            <a:xfrm>
              <a:off x="8534400" y="3429000"/>
              <a:ext cx="1600200" cy="9144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b="1"/>
                <a:t>Esquema de</a:t>
              </a:r>
            </a:p>
            <a:p>
              <a:r>
                <a:rPr lang="es-ES_tradnl" altLang="es-AR" b="1"/>
                <a:t>Operación</a:t>
              </a:r>
              <a:endParaRPr lang="es-ES_tradnl" altLang="es-AR"/>
            </a:p>
          </p:txBody>
        </p:sp>
        <p:sp>
          <p:nvSpPr>
            <p:cNvPr id="8208" name="Rectangle 16">
              <a:extLst>
                <a:ext uri="{FF2B5EF4-FFF2-40B4-BE49-F238E27FC236}">
                  <a16:creationId xmlns:a16="http://schemas.microsoft.com/office/drawing/2014/main" id="{F95AFD01-620C-A870-7996-5276B3060D6B}"/>
                </a:ext>
              </a:extLst>
            </p:cNvPr>
            <p:cNvSpPr>
              <a:spLocks noChangeArrowheads="1"/>
            </p:cNvSpPr>
            <p:nvPr/>
          </p:nvSpPr>
          <p:spPr bwMode="auto">
            <a:xfrm>
              <a:off x="8534400" y="4876800"/>
              <a:ext cx="1600200" cy="9144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b="1"/>
                <a:t>Esquema de</a:t>
              </a:r>
            </a:p>
            <a:p>
              <a:r>
                <a:rPr lang="es-ES_tradnl" altLang="es-AR" b="1"/>
                <a:t> Restauración</a:t>
              </a:r>
              <a:endParaRPr lang="es-ES_tradnl" altLang="es-AR"/>
            </a:p>
          </p:txBody>
        </p:sp>
        <p:sp>
          <p:nvSpPr>
            <p:cNvPr id="8210" name="AutoShape 18">
              <a:extLst>
                <a:ext uri="{FF2B5EF4-FFF2-40B4-BE49-F238E27FC236}">
                  <a16:creationId xmlns:a16="http://schemas.microsoft.com/office/drawing/2014/main" id="{49BD3199-ADBD-60FD-69BF-E598C10490F6}"/>
                </a:ext>
              </a:extLst>
            </p:cNvPr>
            <p:cNvSpPr>
              <a:spLocks noChangeArrowheads="1"/>
            </p:cNvSpPr>
            <p:nvPr/>
          </p:nvSpPr>
          <p:spPr bwMode="auto">
            <a:xfrm>
              <a:off x="2133600" y="1524001"/>
              <a:ext cx="914400" cy="366713"/>
            </a:xfrm>
            <a:prstGeom prst="down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11" name="AutoShape 19">
              <a:extLst>
                <a:ext uri="{FF2B5EF4-FFF2-40B4-BE49-F238E27FC236}">
                  <a16:creationId xmlns:a16="http://schemas.microsoft.com/office/drawing/2014/main" id="{FC3132DF-D181-D920-0E3B-840C9D041C62}"/>
                </a:ext>
              </a:extLst>
            </p:cNvPr>
            <p:cNvSpPr>
              <a:spLocks noChangeArrowheads="1"/>
            </p:cNvSpPr>
            <p:nvPr/>
          </p:nvSpPr>
          <p:spPr bwMode="auto">
            <a:xfrm>
              <a:off x="2133600" y="2971801"/>
              <a:ext cx="914400" cy="366713"/>
            </a:xfrm>
            <a:prstGeom prst="down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12" name="AutoShape 20">
              <a:extLst>
                <a:ext uri="{FF2B5EF4-FFF2-40B4-BE49-F238E27FC236}">
                  <a16:creationId xmlns:a16="http://schemas.microsoft.com/office/drawing/2014/main" id="{3BF5FB04-1572-9CC1-045D-45A0D38A6EAE}"/>
                </a:ext>
              </a:extLst>
            </p:cNvPr>
            <p:cNvSpPr>
              <a:spLocks noChangeArrowheads="1"/>
            </p:cNvSpPr>
            <p:nvPr/>
          </p:nvSpPr>
          <p:spPr bwMode="auto">
            <a:xfrm>
              <a:off x="4419600" y="2971801"/>
              <a:ext cx="914400" cy="366713"/>
            </a:xfrm>
            <a:prstGeom prst="down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13" name="AutoShape 21">
              <a:extLst>
                <a:ext uri="{FF2B5EF4-FFF2-40B4-BE49-F238E27FC236}">
                  <a16:creationId xmlns:a16="http://schemas.microsoft.com/office/drawing/2014/main" id="{5E09FE9C-0B5C-FED8-E1F6-7DE6133A822D}"/>
                </a:ext>
              </a:extLst>
            </p:cNvPr>
            <p:cNvSpPr>
              <a:spLocks noChangeArrowheads="1"/>
            </p:cNvSpPr>
            <p:nvPr/>
          </p:nvSpPr>
          <p:spPr bwMode="auto">
            <a:xfrm>
              <a:off x="8915400" y="2971801"/>
              <a:ext cx="914400" cy="366713"/>
            </a:xfrm>
            <a:prstGeom prst="down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14" name="AutoShape 22">
              <a:extLst>
                <a:ext uri="{FF2B5EF4-FFF2-40B4-BE49-F238E27FC236}">
                  <a16:creationId xmlns:a16="http://schemas.microsoft.com/office/drawing/2014/main" id="{2A736BDA-3453-ABB6-DEA1-306581BA99DF}"/>
                </a:ext>
              </a:extLst>
            </p:cNvPr>
            <p:cNvSpPr>
              <a:spLocks noChangeArrowheads="1"/>
            </p:cNvSpPr>
            <p:nvPr/>
          </p:nvSpPr>
          <p:spPr bwMode="auto">
            <a:xfrm>
              <a:off x="8915400" y="4343401"/>
              <a:ext cx="914400" cy="366713"/>
            </a:xfrm>
            <a:prstGeom prst="down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17" name="AutoShape 25">
              <a:extLst>
                <a:ext uri="{FF2B5EF4-FFF2-40B4-BE49-F238E27FC236}">
                  <a16:creationId xmlns:a16="http://schemas.microsoft.com/office/drawing/2014/main" id="{6E47C60F-C887-F08A-F877-43FA65A2CB12}"/>
                </a:ext>
              </a:extLst>
            </p:cNvPr>
            <p:cNvSpPr>
              <a:spLocks noChangeArrowheads="1"/>
            </p:cNvSpPr>
            <p:nvPr/>
          </p:nvSpPr>
          <p:spPr bwMode="auto">
            <a:xfrm>
              <a:off x="3429000" y="2133600"/>
              <a:ext cx="381000" cy="762000"/>
            </a:xfrm>
            <a:prstGeom prst="right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19" name="AutoShape 27">
              <a:extLst>
                <a:ext uri="{FF2B5EF4-FFF2-40B4-BE49-F238E27FC236}">
                  <a16:creationId xmlns:a16="http://schemas.microsoft.com/office/drawing/2014/main" id="{44A740D6-23CE-E320-D4F5-56BC4AFD2424}"/>
                </a:ext>
              </a:extLst>
            </p:cNvPr>
            <p:cNvSpPr>
              <a:spLocks noChangeArrowheads="1"/>
            </p:cNvSpPr>
            <p:nvPr/>
          </p:nvSpPr>
          <p:spPr bwMode="auto">
            <a:xfrm>
              <a:off x="5715000" y="2133600"/>
              <a:ext cx="381000" cy="762000"/>
            </a:xfrm>
            <a:prstGeom prst="right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20" name="AutoShape 28">
              <a:extLst>
                <a:ext uri="{FF2B5EF4-FFF2-40B4-BE49-F238E27FC236}">
                  <a16:creationId xmlns:a16="http://schemas.microsoft.com/office/drawing/2014/main" id="{43037B77-863A-89E1-6496-FF4EC18E292C}"/>
                </a:ext>
              </a:extLst>
            </p:cNvPr>
            <p:cNvSpPr>
              <a:spLocks noChangeArrowheads="1"/>
            </p:cNvSpPr>
            <p:nvPr/>
          </p:nvSpPr>
          <p:spPr bwMode="auto">
            <a:xfrm>
              <a:off x="7924800" y="2133600"/>
              <a:ext cx="381000" cy="762000"/>
            </a:xfrm>
            <a:prstGeom prst="right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21" name="AutoShape 29">
              <a:extLst>
                <a:ext uri="{FF2B5EF4-FFF2-40B4-BE49-F238E27FC236}">
                  <a16:creationId xmlns:a16="http://schemas.microsoft.com/office/drawing/2014/main" id="{2795912E-4FF3-83FC-31FF-A6085CEFF018}"/>
                </a:ext>
              </a:extLst>
            </p:cNvPr>
            <p:cNvSpPr>
              <a:spLocks noChangeArrowheads="1"/>
            </p:cNvSpPr>
            <p:nvPr/>
          </p:nvSpPr>
          <p:spPr bwMode="auto">
            <a:xfrm>
              <a:off x="3429000" y="3429000"/>
              <a:ext cx="381000" cy="762000"/>
            </a:xfrm>
            <a:prstGeom prst="right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8222" name="AutoShape 30">
              <a:extLst>
                <a:ext uri="{FF2B5EF4-FFF2-40B4-BE49-F238E27FC236}">
                  <a16:creationId xmlns:a16="http://schemas.microsoft.com/office/drawing/2014/main" id="{1123F7E4-B07D-85D4-4E16-4420C1CD5A10}"/>
                </a:ext>
              </a:extLst>
            </p:cNvPr>
            <p:cNvSpPr>
              <a:spLocks noChangeArrowheads="1"/>
            </p:cNvSpPr>
            <p:nvPr/>
          </p:nvSpPr>
          <p:spPr bwMode="auto">
            <a:xfrm>
              <a:off x="5715000" y="3505200"/>
              <a:ext cx="381000" cy="762000"/>
            </a:xfrm>
            <a:prstGeom prst="rightArrow">
              <a:avLst>
                <a:gd name="adj1" fmla="val 50000"/>
                <a:gd name="adj2"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4">
            <a:extLst>
              <a:ext uri="{FF2B5EF4-FFF2-40B4-BE49-F238E27FC236}">
                <a16:creationId xmlns:a16="http://schemas.microsoft.com/office/drawing/2014/main" id="{E0751AAD-2BBC-E7D2-B448-037F635CA735}"/>
              </a:ext>
            </a:extLst>
          </p:cNvPr>
          <p:cNvSpPr>
            <a:spLocks noGrp="1"/>
          </p:cNvSpPr>
          <p:nvPr>
            <p:ph type="sldNum" sz="quarter" idx="11"/>
          </p:nvPr>
        </p:nvSpPr>
        <p:spPr/>
        <p:txBody>
          <a:bodyPr/>
          <a:lstStyle/>
          <a:p>
            <a:fld id="{446E7820-5E12-47B4-BA64-820E868BEE70}" type="slidenum">
              <a:rPr lang="es-ES_tradnl" altLang="es-AR"/>
              <a:pPr/>
              <a:t>28</a:t>
            </a:fld>
            <a:endParaRPr lang="es-ES_tradnl" altLang="es-AR">
              <a:latin typeface="Times New Roman" panose="02020603050405020304" pitchFamily="18" charset="0"/>
            </a:endParaRPr>
          </a:p>
        </p:txBody>
      </p:sp>
      <p:sp>
        <p:nvSpPr>
          <p:cNvPr id="9218" name="Rectangle 2">
            <a:extLst>
              <a:ext uri="{FF2B5EF4-FFF2-40B4-BE49-F238E27FC236}">
                <a16:creationId xmlns:a16="http://schemas.microsoft.com/office/drawing/2014/main" id="{7B3A84D7-CD95-3A45-C549-575CF6DE72B4}"/>
              </a:ext>
            </a:extLst>
          </p:cNvPr>
          <p:cNvSpPr>
            <a:spLocks noGrp="1" noChangeArrowheads="1"/>
          </p:cNvSpPr>
          <p:nvPr>
            <p:ph type="title"/>
          </p:nvPr>
        </p:nvSpPr>
        <p:spPr>
          <a:xfrm>
            <a:off x="478098" y="578671"/>
            <a:ext cx="8420100" cy="1143000"/>
          </a:xfrm>
        </p:spPr>
        <p:txBody>
          <a:bodyPr/>
          <a:lstStyle/>
          <a:p>
            <a:pPr algn="l"/>
            <a:r>
              <a:rPr lang="es-ES_tradnl" altLang="es-AR"/>
              <a:t>Metodología integral del </a:t>
            </a:r>
            <a:r>
              <a:rPr lang="es-ES_tradnl" altLang="es-AR" err="1"/>
              <a:t>Drp</a:t>
            </a:r>
            <a:r>
              <a:rPr lang="es-ES_tradnl" altLang="es-AR"/>
              <a:t> </a:t>
            </a:r>
          </a:p>
        </p:txBody>
      </p:sp>
      <p:grpSp>
        <p:nvGrpSpPr>
          <p:cNvPr id="4" name="Grupo 3">
            <a:extLst>
              <a:ext uri="{FF2B5EF4-FFF2-40B4-BE49-F238E27FC236}">
                <a16:creationId xmlns:a16="http://schemas.microsoft.com/office/drawing/2014/main" id="{45F56642-13D9-1EF1-3C23-8CB43E849111}"/>
              </a:ext>
            </a:extLst>
          </p:cNvPr>
          <p:cNvGrpSpPr/>
          <p:nvPr/>
        </p:nvGrpSpPr>
        <p:grpSpPr>
          <a:xfrm>
            <a:off x="1285592" y="1859728"/>
            <a:ext cx="9515758" cy="4953000"/>
            <a:chOff x="1720850" y="1859728"/>
            <a:chExt cx="9080500" cy="4953000"/>
          </a:xfrm>
        </p:grpSpPr>
        <p:sp>
          <p:nvSpPr>
            <p:cNvPr id="9220" name="Rectangle 4">
              <a:extLst>
                <a:ext uri="{FF2B5EF4-FFF2-40B4-BE49-F238E27FC236}">
                  <a16:creationId xmlns:a16="http://schemas.microsoft.com/office/drawing/2014/main" id="{64503862-532C-EED4-A3BA-E2DE7C0C9AA2}"/>
                </a:ext>
              </a:extLst>
            </p:cNvPr>
            <p:cNvSpPr>
              <a:spLocks noChangeArrowheads="1"/>
            </p:cNvSpPr>
            <p:nvPr/>
          </p:nvSpPr>
          <p:spPr bwMode="auto">
            <a:xfrm>
              <a:off x="3867150" y="22407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Organización</a:t>
              </a:r>
              <a:endParaRPr lang="es-ES_tradnl" altLang="es-AR" sz="2400">
                <a:solidFill>
                  <a:srgbClr val="000066"/>
                </a:solidFill>
              </a:endParaRPr>
            </a:p>
          </p:txBody>
        </p:sp>
        <p:sp>
          <p:nvSpPr>
            <p:cNvPr id="9234" name="Rectangle 18">
              <a:extLst>
                <a:ext uri="{FF2B5EF4-FFF2-40B4-BE49-F238E27FC236}">
                  <a16:creationId xmlns:a16="http://schemas.microsoft.com/office/drawing/2014/main" id="{C9F1EA06-EE1B-4308-C47E-35F960EBEF74}"/>
                </a:ext>
              </a:extLst>
            </p:cNvPr>
            <p:cNvSpPr>
              <a:spLocks noChangeArrowheads="1"/>
            </p:cNvSpPr>
            <p:nvPr/>
          </p:nvSpPr>
          <p:spPr bwMode="auto">
            <a:xfrm>
              <a:off x="5600700" y="22407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Evaluación del</a:t>
              </a:r>
            </a:p>
            <a:p>
              <a:r>
                <a:rPr lang="es-ES_tradnl" altLang="es-AR" sz="1200" b="1">
                  <a:solidFill>
                    <a:srgbClr val="000066"/>
                  </a:solidFill>
                </a:rPr>
                <a:t>riesgo</a:t>
              </a:r>
              <a:endParaRPr lang="es-ES_tradnl" altLang="es-AR" sz="2400">
                <a:solidFill>
                  <a:srgbClr val="000066"/>
                </a:solidFill>
              </a:endParaRPr>
            </a:p>
          </p:txBody>
        </p:sp>
        <p:sp>
          <p:nvSpPr>
            <p:cNvPr id="9235" name="Rectangle 19">
              <a:extLst>
                <a:ext uri="{FF2B5EF4-FFF2-40B4-BE49-F238E27FC236}">
                  <a16:creationId xmlns:a16="http://schemas.microsoft.com/office/drawing/2014/main" id="{BA1A4791-DB72-943D-4D2B-0DC5B76CB636}"/>
                </a:ext>
              </a:extLst>
            </p:cNvPr>
            <p:cNvSpPr>
              <a:spLocks noChangeArrowheads="1"/>
            </p:cNvSpPr>
            <p:nvPr/>
          </p:nvSpPr>
          <p:spPr bwMode="auto">
            <a:xfrm>
              <a:off x="7251700" y="22407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Definición de</a:t>
              </a:r>
            </a:p>
            <a:p>
              <a:r>
                <a:rPr lang="es-ES_tradnl" altLang="es-AR" sz="1200" b="1">
                  <a:solidFill>
                    <a:srgbClr val="000066"/>
                  </a:solidFill>
                </a:rPr>
                <a:t>Estrategias de</a:t>
              </a:r>
            </a:p>
            <a:p>
              <a:r>
                <a:rPr lang="es-ES_tradnl" altLang="es-AR" sz="1200" b="1">
                  <a:solidFill>
                    <a:srgbClr val="000066"/>
                  </a:solidFill>
                </a:rPr>
                <a:t>Recuperación</a:t>
              </a:r>
            </a:p>
          </p:txBody>
        </p:sp>
        <p:sp>
          <p:nvSpPr>
            <p:cNvPr id="9236" name="Rectangle 20">
              <a:extLst>
                <a:ext uri="{FF2B5EF4-FFF2-40B4-BE49-F238E27FC236}">
                  <a16:creationId xmlns:a16="http://schemas.microsoft.com/office/drawing/2014/main" id="{EB852D04-7E55-8AF8-347A-7E0552378568}"/>
                </a:ext>
              </a:extLst>
            </p:cNvPr>
            <p:cNvSpPr>
              <a:spLocks noChangeArrowheads="1"/>
            </p:cNvSpPr>
            <p:nvPr/>
          </p:nvSpPr>
          <p:spPr bwMode="auto">
            <a:xfrm>
              <a:off x="2216150" y="37647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Respuesta</a:t>
              </a:r>
            </a:p>
            <a:p>
              <a:r>
                <a:rPr lang="es-ES_tradnl" altLang="es-AR" sz="1200" b="1">
                  <a:solidFill>
                    <a:srgbClr val="000066"/>
                  </a:solidFill>
                </a:rPr>
                <a:t>ante</a:t>
              </a:r>
            </a:p>
            <a:p>
              <a:r>
                <a:rPr lang="es-ES_tradnl" altLang="es-AR" sz="1200" b="1">
                  <a:solidFill>
                    <a:srgbClr val="000066"/>
                  </a:solidFill>
                </a:rPr>
                <a:t>emergencias</a:t>
              </a:r>
              <a:endParaRPr lang="es-ES_tradnl" altLang="es-AR" sz="2400">
                <a:solidFill>
                  <a:srgbClr val="000066"/>
                </a:solidFill>
              </a:endParaRPr>
            </a:p>
          </p:txBody>
        </p:sp>
        <p:sp>
          <p:nvSpPr>
            <p:cNvPr id="9237" name="Rectangle 21">
              <a:extLst>
                <a:ext uri="{FF2B5EF4-FFF2-40B4-BE49-F238E27FC236}">
                  <a16:creationId xmlns:a16="http://schemas.microsoft.com/office/drawing/2014/main" id="{E53472B4-998C-CEC3-B45A-5CF046EF26C2}"/>
                </a:ext>
              </a:extLst>
            </p:cNvPr>
            <p:cNvSpPr>
              <a:spLocks noChangeArrowheads="1"/>
            </p:cNvSpPr>
            <p:nvPr/>
          </p:nvSpPr>
          <p:spPr bwMode="auto">
            <a:xfrm>
              <a:off x="2216150" y="48315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Recuperación</a:t>
              </a:r>
            </a:p>
            <a:p>
              <a:r>
                <a:rPr lang="es-ES_tradnl" altLang="es-AR" sz="1200" b="1">
                  <a:solidFill>
                    <a:srgbClr val="000066"/>
                  </a:solidFill>
                </a:rPr>
                <a:t>del Centro</a:t>
              </a:r>
            </a:p>
            <a:p>
              <a:r>
                <a:rPr lang="es-ES_tradnl" altLang="es-AR" sz="1200" b="1">
                  <a:solidFill>
                    <a:srgbClr val="000066"/>
                  </a:solidFill>
                </a:rPr>
                <a:t>de Cómputos</a:t>
              </a:r>
              <a:endParaRPr lang="es-ES_tradnl" altLang="es-AR" sz="2400">
                <a:solidFill>
                  <a:srgbClr val="000066"/>
                </a:solidFill>
              </a:endParaRPr>
            </a:p>
          </p:txBody>
        </p:sp>
        <p:sp>
          <p:nvSpPr>
            <p:cNvPr id="9238" name="Rectangle 22">
              <a:extLst>
                <a:ext uri="{FF2B5EF4-FFF2-40B4-BE49-F238E27FC236}">
                  <a16:creationId xmlns:a16="http://schemas.microsoft.com/office/drawing/2014/main" id="{9CCF146D-90DC-CDF5-FD6F-9E31F4DE19DD}"/>
                </a:ext>
              </a:extLst>
            </p:cNvPr>
            <p:cNvSpPr>
              <a:spLocks noChangeArrowheads="1"/>
            </p:cNvSpPr>
            <p:nvPr/>
          </p:nvSpPr>
          <p:spPr bwMode="auto">
            <a:xfrm>
              <a:off x="2216150" y="58983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Procedimientos</a:t>
              </a:r>
            </a:p>
            <a:p>
              <a:r>
                <a:rPr lang="es-ES_tradnl" altLang="es-AR" sz="1200" b="1">
                  <a:solidFill>
                    <a:srgbClr val="000066"/>
                  </a:solidFill>
                </a:rPr>
                <a:t>de emergencias</a:t>
              </a:r>
            </a:p>
            <a:p>
              <a:r>
                <a:rPr lang="es-ES_tradnl" altLang="es-AR" sz="1200" b="1">
                  <a:solidFill>
                    <a:srgbClr val="000066"/>
                  </a:solidFill>
                </a:rPr>
                <a:t>usuarios finales</a:t>
              </a:r>
              <a:endParaRPr lang="es-ES_tradnl" altLang="es-AR" sz="2400">
                <a:solidFill>
                  <a:srgbClr val="000066"/>
                </a:solidFill>
              </a:endParaRPr>
            </a:p>
          </p:txBody>
        </p:sp>
        <p:sp>
          <p:nvSpPr>
            <p:cNvPr id="9239" name="Rectangle 23">
              <a:extLst>
                <a:ext uri="{FF2B5EF4-FFF2-40B4-BE49-F238E27FC236}">
                  <a16:creationId xmlns:a16="http://schemas.microsoft.com/office/drawing/2014/main" id="{0DC120C7-4725-9DC5-E077-2CE0081A0493}"/>
                </a:ext>
              </a:extLst>
            </p:cNvPr>
            <p:cNvSpPr>
              <a:spLocks noChangeArrowheads="1"/>
            </p:cNvSpPr>
            <p:nvPr/>
          </p:nvSpPr>
          <p:spPr bwMode="auto">
            <a:xfrm>
              <a:off x="3867150" y="4831528"/>
              <a:ext cx="140335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Desarrollo de</a:t>
              </a:r>
            </a:p>
            <a:p>
              <a:r>
                <a:rPr lang="es-ES_tradnl" altLang="es-AR" sz="1200" b="1">
                  <a:solidFill>
                    <a:srgbClr val="000066"/>
                  </a:solidFill>
                </a:rPr>
                <a:t>procedimientos</a:t>
              </a:r>
            </a:p>
            <a:p>
              <a:r>
                <a:rPr lang="es-ES_tradnl" altLang="es-AR" sz="1200" b="1">
                  <a:solidFill>
                    <a:srgbClr val="000066"/>
                  </a:solidFill>
                </a:rPr>
                <a:t>de mantenimiento</a:t>
              </a:r>
              <a:endParaRPr lang="es-ES_tradnl" altLang="es-AR" sz="2400">
                <a:solidFill>
                  <a:srgbClr val="000066"/>
                </a:solidFill>
              </a:endParaRPr>
            </a:p>
          </p:txBody>
        </p:sp>
        <p:sp>
          <p:nvSpPr>
            <p:cNvPr id="9240" name="Rectangle 24">
              <a:extLst>
                <a:ext uri="{FF2B5EF4-FFF2-40B4-BE49-F238E27FC236}">
                  <a16:creationId xmlns:a16="http://schemas.microsoft.com/office/drawing/2014/main" id="{B0D05F57-09A1-C244-E3A0-0C85225251B2}"/>
                </a:ext>
              </a:extLst>
            </p:cNvPr>
            <p:cNvSpPr>
              <a:spLocks noChangeArrowheads="1"/>
            </p:cNvSpPr>
            <p:nvPr/>
          </p:nvSpPr>
          <p:spPr bwMode="auto">
            <a:xfrm>
              <a:off x="7664450" y="55935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Capacitación</a:t>
              </a:r>
            </a:p>
            <a:p>
              <a:r>
                <a:rPr lang="es-ES_tradnl" altLang="es-AR" sz="1200" b="1">
                  <a:solidFill>
                    <a:srgbClr val="000066"/>
                  </a:solidFill>
                </a:rPr>
                <a:t>del personal</a:t>
              </a:r>
            </a:p>
            <a:p>
              <a:r>
                <a:rPr lang="es-ES_tradnl" altLang="es-AR" sz="1200" b="1">
                  <a:solidFill>
                    <a:srgbClr val="000066"/>
                  </a:solidFill>
                </a:rPr>
                <a:t>involucrado</a:t>
              </a:r>
              <a:endParaRPr lang="es-ES_tradnl" altLang="es-AR" sz="2400">
                <a:solidFill>
                  <a:srgbClr val="000066"/>
                </a:solidFill>
              </a:endParaRPr>
            </a:p>
          </p:txBody>
        </p:sp>
        <p:sp>
          <p:nvSpPr>
            <p:cNvPr id="9241" name="Rectangle 25">
              <a:extLst>
                <a:ext uri="{FF2B5EF4-FFF2-40B4-BE49-F238E27FC236}">
                  <a16:creationId xmlns:a16="http://schemas.microsoft.com/office/drawing/2014/main" id="{F5004639-AB6A-D659-7075-44F2C14DB752}"/>
                </a:ext>
              </a:extLst>
            </p:cNvPr>
            <p:cNvSpPr>
              <a:spLocks noChangeArrowheads="1"/>
            </p:cNvSpPr>
            <p:nvPr/>
          </p:nvSpPr>
          <p:spPr bwMode="auto">
            <a:xfrm>
              <a:off x="7664450" y="39171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Prueba de</a:t>
              </a:r>
            </a:p>
            <a:p>
              <a:r>
                <a:rPr lang="es-ES_tradnl" altLang="es-AR" sz="1200" b="1">
                  <a:solidFill>
                    <a:srgbClr val="000066"/>
                  </a:solidFill>
                </a:rPr>
                <a:t>Plan</a:t>
              </a:r>
              <a:endParaRPr lang="es-ES_tradnl" altLang="es-AR" sz="2400">
                <a:solidFill>
                  <a:srgbClr val="000066"/>
                </a:solidFill>
              </a:endParaRPr>
            </a:p>
          </p:txBody>
        </p:sp>
        <p:sp>
          <p:nvSpPr>
            <p:cNvPr id="9242" name="Rectangle 26">
              <a:extLst>
                <a:ext uri="{FF2B5EF4-FFF2-40B4-BE49-F238E27FC236}">
                  <a16:creationId xmlns:a16="http://schemas.microsoft.com/office/drawing/2014/main" id="{8AFB285C-1FE6-324D-8D2C-124B765F8966}"/>
                </a:ext>
              </a:extLst>
            </p:cNvPr>
            <p:cNvSpPr>
              <a:spLocks noChangeArrowheads="1"/>
            </p:cNvSpPr>
            <p:nvPr/>
          </p:nvSpPr>
          <p:spPr bwMode="auto">
            <a:xfrm>
              <a:off x="5765800" y="4831528"/>
              <a:ext cx="140335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Implementación</a:t>
              </a:r>
              <a:endParaRPr lang="es-ES_tradnl" altLang="es-AR" sz="2400">
                <a:solidFill>
                  <a:srgbClr val="000066"/>
                </a:solidFill>
              </a:endParaRPr>
            </a:p>
          </p:txBody>
        </p:sp>
        <p:sp>
          <p:nvSpPr>
            <p:cNvPr id="9243" name="Rectangle 27">
              <a:extLst>
                <a:ext uri="{FF2B5EF4-FFF2-40B4-BE49-F238E27FC236}">
                  <a16:creationId xmlns:a16="http://schemas.microsoft.com/office/drawing/2014/main" id="{DBD9C8B9-1D19-E9D0-717B-3F2889E46824}"/>
                </a:ext>
              </a:extLst>
            </p:cNvPr>
            <p:cNvSpPr>
              <a:spLocks noChangeArrowheads="1"/>
            </p:cNvSpPr>
            <p:nvPr/>
          </p:nvSpPr>
          <p:spPr bwMode="auto">
            <a:xfrm>
              <a:off x="9315450" y="4755328"/>
              <a:ext cx="1320800" cy="6858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s-ES_tradnl" altLang="es-AR" sz="1200" b="1">
                  <a:solidFill>
                    <a:srgbClr val="000066"/>
                  </a:solidFill>
                </a:rPr>
                <a:t>Aprobación</a:t>
              </a:r>
            </a:p>
            <a:p>
              <a:r>
                <a:rPr lang="es-ES_tradnl" altLang="es-AR" sz="1200" b="1">
                  <a:solidFill>
                    <a:srgbClr val="000066"/>
                  </a:solidFill>
                </a:rPr>
                <a:t>final del</a:t>
              </a:r>
            </a:p>
            <a:p>
              <a:r>
                <a:rPr lang="es-ES_tradnl" altLang="es-AR" sz="1200" b="1">
                  <a:solidFill>
                    <a:srgbClr val="000066"/>
                  </a:solidFill>
                </a:rPr>
                <a:t>Plan</a:t>
              </a:r>
              <a:endParaRPr lang="es-ES_tradnl" altLang="es-AR" sz="2400">
                <a:solidFill>
                  <a:srgbClr val="000066"/>
                </a:solidFill>
              </a:endParaRPr>
            </a:p>
          </p:txBody>
        </p:sp>
        <p:sp>
          <p:nvSpPr>
            <p:cNvPr id="9247" name="Line 31">
              <a:extLst>
                <a:ext uri="{FF2B5EF4-FFF2-40B4-BE49-F238E27FC236}">
                  <a16:creationId xmlns:a16="http://schemas.microsoft.com/office/drawing/2014/main" id="{46A92F7A-7E28-F3E6-D653-BB1FC487DD7A}"/>
                </a:ext>
              </a:extLst>
            </p:cNvPr>
            <p:cNvSpPr>
              <a:spLocks noChangeShapeType="1"/>
            </p:cNvSpPr>
            <p:nvPr/>
          </p:nvSpPr>
          <p:spPr bwMode="auto">
            <a:xfrm>
              <a:off x="5187950" y="2621728"/>
              <a:ext cx="41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48" name="Line 32">
              <a:extLst>
                <a:ext uri="{FF2B5EF4-FFF2-40B4-BE49-F238E27FC236}">
                  <a16:creationId xmlns:a16="http://schemas.microsoft.com/office/drawing/2014/main" id="{85E8656A-D212-3B1D-A011-C58BC9C0A897}"/>
                </a:ext>
              </a:extLst>
            </p:cNvPr>
            <p:cNvSpPr>
              <a:spLocks noChangeShapeType="1"/>
            </p:cNvSpPr>
            <p:nvPr/>
          </p:nvSpPr>
          <p:spPr bwMode="auto">
            <a:xfrm>
              <a:off x="6921500" y="2621728"/>
              <a:ext cx="33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49" name="Line 33">
              <a:extLst>
                <a:ext uri="{FF2B5EF4-FFF2-40B4-BE49-F238E27FC236}">
                  <a16:creationId xmlns:a16="http://schemas.microsoft.com/office/drawing/2014/main" id="{5D410E76-DB51-E709-BB78-F28F52C215E4}"/>
                </a:ext>
              </a:extLst>
            </p:cNvPr>
            <p:cNvSpPr>
              <a:spLocks noChangeShapeType="1"/>
            </p:cNvSpPr>
            <p:nvPr/>
          </p:nvSpPr>
          <p:spPr bwMode="auto">
            <a:xfrm>
              <a:off x="2876550" y="4450528"/>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50" name="Line 34">
              <a:extLst>
                <a:ext uri="{FF2B5EF4-FFF2-40B4-BE49-F238E27FC236}">
                  <a16:creationId xmlns:a16="http://schemas.microsoft.com/office/drawing/2014/main" id="{9FD1213C-E87B-5720-CCE3-803BFDD94B3B}"/>
                </a:ext>
              </a:extLst>
            </p:cNvPr>
            <p:cNvSpPr>
              <a:spLocks noChangeShapeType="1"/>
            </p:cNvSpPr>
            <p:nvPr/>
          </p:nvSpPr>
          <p:spPr bwMode="auto">
            <a:xfrm>
              <a:off x="2876550" y="5517328"/>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52" name="Line 36">
              <a:extLst>
                <a:ext uri="{FF2B5EF4-FFF2-40B4-BE49-F238E27FC236}">
                  <a16:creationId xmlns:a16="http://schemas.microsoft.com/office/drawing/2014/main" id="{0EC04824-7A7C-D587-F1A8-33D5BDA4199D}"/>
                </a:ext>
              </a:extLst>
            </p:cNvPr>
            <p:cNvSpPr>
              <a:spLocks noChangeShapeType="1"/>
            </p:cNvSpPr>
            <p:nvPr/>
          </p:nvSpPr>
          <p:spPr bwMode="auto">
            <a:xfrm>
              <a:off x="1968500" y="4145728"/>
              <a:ext cx="247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53" name="Line 37">
              <a:extLst>
                <a:ext uri="{FF2B5EF4-FFF2-40B4-BE49-F238E27FC236}">
                  <a16:creationId xmlns:a16="http://schemas.microsoft.com/office/drawing/2014/main" id="{665B245D-3452-DFDA-66BD-2B9F2B38A855}"/>
                </a:ext>
              </a:extLst>
            </p:cNvPr>
            <p:cNvSpPr>
              <a:spLocks noChangeShapeType="1"/>
            </p:cNvSpPr>
            <p:nvPr/>
          </p:nvSpPr>
          <p:spPr bwMode="auto">
            <a:xfrm>
              <a:off x="3536950" y="4145728"/>
              <a:ext cx="247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55" name="Line 39">
              <a:extLst>
                <a:ext uri="{FF2B5EF4-FFF2-40B4-BE49-F238E27FC236}">
                  <a16:creationId xmlns:a16="http://schemas.microsoft.com/office/drawing/2014/main" id="{B3961CEE-F667-D72A-3412-97F43D712E47}"/>
                </a:ext>
              </a:extLst>
            </p:cNvPr>
            <p:cNvSpPr>
              <a:spLocks noChangeShapeType="1"/>
            </p:cNvSpPr>
            <p:nvPr/>
          </p:nvSpPr>
          <p:spPr bwMode="auto">
            <a:xfrm>
              <a:off x="3536950" y="5136328"/>
              <a:ext cx="33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57" name="Line 41">
              <a:extLst>
                <a:ext uri="{FF2B5EF4-FFF2-40B4-BE49-F238E27FC236}">
                  <a16:creationId xmlns:a16="http://schemas.microsoft.com/office/drawing/2014/main" id="{E9F2E97D-487D-7559-6F47-6D890DC99A79}"/>
                </a:ext>
              </a:extLst>
            </p:cNvPr>
            <p:cNvSpPr>
              <a:spLocks noChangeShapeType="1"/>
            </p:cNvSpPr>
            <p:nvPr/>
          </p:nvSpPr>
          <p:spPr bwMode="auto">
            <a:xfrm>
              <a:off x="1968500" y="5136328"/>
              <a:ext cx="247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58" name="Line 42">
              <a:extLst>
                <a:ext uri="{FF2B5EF4-FFF2-40B4-BE49-F238E27FC236}">
                  <a16:creationId xmlns:a16="http://schemas.microsoft.com/office/drawing/2014/main" id="{74ECD80B-AD7B-E9BD-C151-173317AEC89D}"/>
                </a:ext>
              </a:extLst>
            </p:cNvPr>
            <p:cNvSpPr>
              <a:spLocks noChangeShapeType="1"/>
            </p:cNvSpPr>
            <p:nvPr/>
          </p:nvSpPr>
          <p:spPr bwMode="auto">
            <a:xfrm>
              <a:off x="1968500" y="6279328"/>
              <a:ext cx="247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59" name="Line 43">
              <a:extLst>
                <a:ext uri="{FF2B5EF4-FFF2-40B4-BE49-F238E27FC236}">
                  <a16:creationId xmlns:a16="http://schemas.microsoft.com/office/drawing/2014/main" id="{7330049C-0121-EC61-E57C-96F39404A28B}"/>
                </a:ext>
              </a:extLst>
            </p:cNvPr>
            <p:cNvSpPr>
              <a:spLocks noChangeShapeType="1"/>
            </p:cNvSpPr>
            <p:nvPr/>
          </p:nvSpPr>
          <p:spPr bwMode="auto">
            <a:xfrm>
              <a:off x="3536950" y="6279328"/>
              <a:ext cx="247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60" name="Line 44">
              <a:extLst>
                <a:ext uri="{FF2B5EF4-FFF2-40B4-BE49-F238E27FC236}">
                  <a16:creationId xmlns:a16="http://schemas.microsoft.com/office/drawing/2014/main" id="{0BB9C99C-4A0D-AA67-C7E7-3FEB0AFB6959}"/>
                </a:ext>
              </a:extLst>
            </p:cNvPr>
            <p:cNvSpPr>
              <a:spLocks noChangeShapeType="1"/>
            </p:cNvSpPr>
            <p:nvPr/>
          </p:nvSpPr>
          <p:spPr bwMode="auto">
            <a:xfrm>
              <a:off x="5270500" y="5136328"/>
              <a:ext cx="495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61" name="Line 45">
              <a:extLst>
                <a:ext uri="{FF2B5EF4-FFF2-40B4-BE49-F238E27FC236}">
                  <a16:creationId xmlns:a16="http://schemas.microsoft.com/office/drawing/2014/main" id="{88E5E9AC-B80C-5329-DA99-9A6EA00F42E7}"/>
                </a:ext>
              </a:extLst>
            </p:cNvPr>
            <p:cNvSpPr>
              <a:spLocks noChangeShapeType="1"/>
            </p:cNvSpPr>
            <p:nvPr/>
          </p:nvSpPr>
          <p:spPr bwMode="auto">
            <a:xfrm>
              <a:off x="7169150" y="5136328"/>
              <a:ext cx="247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64" name="Line 48">
              <a:extLst>
                <a:ext uri="{FF2B5EF4-FFF2-40B4-BE49-F238E27FC236}">
                  <a16:creationId xmlns:a16="http://schemas.microsoft.com/office/drawing/2014/main" id="{78F18259-C43B-34F0-62AD-66BC8F2B0D52}"/>
                </a:ext>
              </a:extLst>
            </p:cNvPr>
            <p:cNvSpPr>
              <a:spLocks noChangeShapeType="1"/>
            </p:cNvSpPr>
            <p:nvPr/>
          </p:nvSpPr>
          <p:spPr bwMode="auto">
            <a:xfrm flipH="1">
              <a:off x="7416800" y="5974528"/>
              <a:ext cx="247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65" name="Line 49">
              <a:extLst>
                <a:ext uri="{FF2B5EF4-FFF2-40B4-BE49-F238E27FC236}">
                  <a16:creationId xmlns:a16="http://schemas.microsoft.com/office/drawing/2014/main" id="{C8DC11C4-B543-E951-89E0-6339FF187095}"/>
                </a:ext>
              </a:extLst>
            </p:cNvPr>
            <p:cNvSpPr>
              <a:spLocks noChangeShapeType="1"/>
            </p:cNvSpPr>
            <p:nvPr/>
          </p:nvSpPr>
          <p:spPr bwMode="auto">
            <a:xfrm flipH="1">
              <a:off x="7416800" y="4298128"/>
              <a:ext cx="247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66" name="Line 50">
              <a:extLst>
                <a:ext uri="{FF2B5EF4-FFF2-40B4-BE49-F238E27FC236}">
                  <a16:creationId xmlns:a16="http://schemas.microsoft.com/office/drawing/2014/main" id="{359CA241-8215-B154-1708-D081C7893B11}"/>
                </a:ext>
              </a:extLst>
            </p:cNvPr>
            <p:cNvSpPr>
              <a:spLocks noChangeShapeType="1"/>
            </p:cNvSpPr>
            <p:nvPr/>
          </p:nvSpPr>
          <p:spPr bwMode="auto">
            <a:xfrm>
              <a:off x="7416800" y="4298128"/>
              <a:ext cx="0" cy="167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67" name="Line 51">
              <a:extLst>
                <a:ext uri="{FF2B5EF4-FFF2-40B4-BE49-F238E27FC236}">
                  <a16:creationId xmlns:a16="http://schemas.microsoft.com/office/drawing/2014/main" id="{291792EB-04CF-CD46-04E7-DBD3B7D38147}"/>
                </a:ext>
              </a:extLst>
            </p:cNvPr>
            <p:cNvSpPr>
              <a:spLocks noChangeShapeType="1"/>
            </p:cNvSpPr>
            <p:nvPr/>
          </p:nvSpPr>
          <p:spPr bwMode="auto">
            <a:xfrm>
              <a:off x="9150350" y="4298128"/>
              <a:ext cx="0" cy="167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68" name="Line 52">
              <a:extLst>
                <a:ext uri="{FF2B5EF4-FFF2-40B4-BE49-F238E27FC236}">
                  <a16:creationId xmlns:a16="http://schemas.microsoft.com/office/drawing/2014/main" id="{339E9683-FAFA-6F80-FC4B-A1C8DD02C644}"/>
                </a:ext>
              </a:extLst>
            </p:cNvPr>
            <p:cNvSpPr>
              <a:spLocks noChangeShapeType="1"/>
            </p:cNvSpPr>
            <p:nvPr/>
          </p:nvSpPr>
          <p:spPr bwMode="auto">
            <a:xfrm>
              <a:off x="8985250" y="4298128"/>
              <a:ext cx="1651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69" name="Line 53">
              <a:extLst>
                <a:ext uri="{FF2B5EF4-FFF2-40B4-BE49-F238E27FC236}">
                  <a16:creationId xmlns:a16="http://schemas.microsoft.com/office/drawing/2014/main" id="{DF5CA59C-6DCC-4CC4-9ACD-DA9BA5D693B8}"/>
                </a:ext>
              </a:extLst>
            </p:cNvPr>
            <p:cNvSpPr>
              <a:spLocks noChangeShapeType="1"/>
            </p:cNvSpPr>
            <p:nvPr/>
          </p:nvSpPr>
          <p:spPr bwMode="auto">
            <a:xfrm>
              <a:off x="8985250" y="5974528"/>
              <a:ext cx="1651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70" name="Line 54">
              <a:extLst>
                <a:ext uri="{FF2B5EF4-FFF2-40B4-BE49-F238E27FC236}">
                  <a16:creationId xmlns:a16="http://schemas.microsoft.com/office/drawing/2014/main" id="{3F29A50A-F7CD-A69A-B5C8-AD92656106B7}"/>
                </a:ext>
              </a:extLst>
            </p:cNvPr>
            <p:cNvSpPr>
              <a:spLocks noChangeShapeType="1"/>
            </p:cNvSpPr>
            <p:nvPr/>
          </p:nvSpPr>
          <p:spPr bwMode="auto">
            <a:xfrm>
              <a:off x="9150350" y="5136328"/>
              <a:ext cx="1651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71" name="Rectangle 55">
              <a:extLst>
                <a:ext uri="{FF2B5EF4-FFF2-40B4-BE49-F238E27FC236}">
                  <a16:creationId xmlns:a16="http://schemas.microsoft.com/office/drawing/2014/main" id="{EF147D13-F8EC-5F21-E155-692343BD452A}"/>
                </a:ext>
              </a:extLst>
            </p:cNvPr>
            <p:cNvSpPr>
              <a:spLocks noChangeArrowheads="1"/>
            </p:cNvSpPr>
            <p:nvPr/>
          </p:nvSpPr>
          <p:spPr bwMode="auto">
            <a:xfrm>
              <a:off x="5600700" y="3459928"/>
              <a:ext cx="5200650" cy="3124200"/>
            </a:xfrm>
            <a:prstGeom prst="rect">
              <a:avLst/>
            </a:prstGeom>
            <a:noFill/>
            <a:ln w="38100">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75" name="Text Box 59">
              <a:extLst>
                <a:ext uri="{FF2B5EF4-FFF2-40B4-BE49-F238E27FC236}">
                  <a16:creationId xmlns:a16="http://schemas.microsoft.com/office/drawing/2014/main" id="{931A7A9D-6859-94B4-4BA4-09ECD0062257}"/>
                </a:ext>
              </a:extLst>
            </p:cNvPr>
            <p:cNvSpPr txBox="1">
              <a:spLocks noChangeArrowheads="1"/>
            </p:cNvSpPr>
            <p:nvPr/>
          </p:nvSpPr>
          <p:spPr bwMode="auto">
            <a:xfrm>
              <a:off x="2187575" y="3458749"/>
              <a:ext cx="13131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1200" b="1"/>
                <a:t>Diseño del DRP</a:t>
              </a:r>
              <a:endParaRPr lang="es-ES_tradnl" altLang="es-AR" sz="2800"/>
            </a:p>
          </p:txBody>
        </p:sp>
        <p:sp>
          <p:nvSpPr>
            <p:cNvPr id="9276" name="Line 60">
              <a:extLst>
                <a:ext uri="{FF2B5EF4-FFF2-40B4-BE49-F238E27FC236}">
                  <a16:creationId xmlns:a16="http://schemas.microsoft.com/office/drawing/2014/main" id="{03D10FB3-5D7C-33EC-F886-605121923F1E}"/>
                </a:ext>
              </a:extLst>
            </p:cNvPr>
            <p:cNvSpPr>
              <a:spLocks noChangeShapeType="1"/>
            </p:cNvSpPr>
            <p:nvPr/>
          </p:nvSpPr>
          <p:spPr bwMode="auto">
            <a:xfrm>
              <a:off x="1968500" y="4145728"/>
              <a:ext cx="0" cy="213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77" name="Line 61">
              <a:extLst>
                <a:ext uri="{FF2B5EF4-FFF2-40B4-BE49-F238E27FC236}">
                  <a16:creationId xmlns:a16="http://schemas.microsoft.com/office/drawing/2014/main" id="{C3C5435A-5FFD-9C7C-AC77-CA1DDFBDC6BB}"/>
                </a:ext>
              </a:extLst>
            </p:cNvPr>
            <p:cNvSpPr>
              <a:spLocks noChangeShapeType="1"/>
            </p:cNvSpPr>
            <p:nvPr/>
          </p:nvSpPr>
          <p:spPr bwMode="auto">
            <a:xfrm>
              <a:off x="3784600" y="4145728"/>
              <a:ext cx="0" cy="213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78" name="Rectangle 62">
              <a:extLst>
                <a:ext uri="{FF2B5EF4-FFF2-40B4-BE49-F238E27FC236}">
                  <a16:creationId xmlns:a16="http://schemas.microsoft.com/office/drawing/2014/main" id="{C8550487-1734-7BD5-30D9-1060E7A9B42C}"/>
                </a:ext>
              </a:extLst>
            </p:cNvPr>
            <p:cNvSpPr>
              <a:spLocks noChangeArrowheads="1"/>
            </p:cNvSpPr>
            <p:nvPr/>
          </p:nvSpPr>
          <p:spPr bwMode="auto">
            <a:xfrm>
              <a:off x="3536950" y="1859728"/>
              <a:ext cx="5861050" cy="1371600"/>
            </a:xfrm>
            <a:prstGeom prst="rect">
              <a:avLst/>
            </a:prstGeom>
            <a:noFill/>
            <a:ln w="38100">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79" name="Text Box 63">
              <a:extLst>
                <a:ext uri="{FF2B5EF4-FFF2-40B4-BE49-F238E27FC236}">
                  <a16:creationId xmlns:a16="http://schemas.microsoft.com/office/drawing/2014/main" id="{95DD9710-DB50-D44B-66E1-225C3A82680A}"/>
                </a:ext>
              </a:extLst>
            </p:cNvPr>
            <p:cNvSpPr txBox="1">
              <a:spLocks noChangeArrowheads="1"/>
            </p:cNvSpPr>
            <p:nvPr/>
          </p:nvSpPr>
          <p:spPr bwMode="auto">
            <a:xfrm>
              <a:off x="8407400" y="1934441"/>
              <a:ext cx="7942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1400" b="1"/>
                <a:t>FASE 1</a:t>
              </a:r>
            </a:p>
          </p:txBody>
        </p:sp>
        <p:sp>
          <p:nvSpPr>
            <p:cNvPr id="9280" name="Rectangle 64">
              <a:extLst>
                <a:ext uri="{FF2B5EF4-FFF2-40B4-BE49-F238E27FC236}">
                  <a16:creationId xmlns:a16="http://schemas.microsoft.com/office/drawing/2014/main" id="{9B30D06E-22EB-4F59-32D0-8CB32BA57CFB}"/>
                </a:ext>
              </a:extLst>
            </p:cNvPr>
            <p:cNvSpPr>
              <a:spLocks noChangeArrowheads="1"/>
            </p:cNvSpPr>
            <p:nvPr/>
          </p:nvSpPr>
          <p:spPr bwMode="auto">
            <a:xfrm>
              <a:off x="1720850" y="3383728"/>
              <a:ext cx="3714750" cy="3429000"/>
            </a:xfrm>
            <a:prstGeom prst="rect">
              <a:avLst/>
            </a:prstGeom>
            <a:noFill/>
            <a:ln w="38100">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9281" name="Text Box 65">
              <a:extLst>
                <a:ext uri="{FF2B5EF4-FFF2-40B4-BE49-F238E27FC236}">
                  <a16:creationId xmlns:a16="http://schemas.microsoft.com/office/drawing/2014/main" id="{D3E49D73-5B67-18AC-1AAA-C9B1B1F2E7F0}"/>
                </a:ext>
              </a:extLst>
            </p:cNvPr>
            <p:cNvSpPr txBox="1">
              <a:spLocks noChangeArrowheads="1"/>
            </p:cNvSpPr>
            <p:nvPr/>
          </p:nvSpPr>
          <p:spPr bwMode="auto">
            <a:xfrm>
              <a:off x="4362450" y="3534641"/>
              <a:ext cx="7942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1400" b="1"/>
                <a:t>FASE 2</a:t>
              </a:r>
              <a:endParaRPr lang="es-ES_tradnl" altLang="es-AR" sz="2800"/>
            </a:p>
          </p:txBody>
        </p:sp>
        <p:sp>
          <p:nvSpPr>
            <p:cNvPr id="9282" name="Text Box 66">
              <a:extLst>
                <a:ext uri="{FF2B5EF4-FFF2-40B4-BE49-F238E27FC236}">
                  <a16:creationId xmlns:a16="http://schemas.microsoft.com/office/drawing/2014/main" id="{3A5D8F23-FC9E-0117-42EA-DF5F371F4ABB}"/>
                </a:ext>
              </a:extLst>
            </p:cNvPr>
            <p:cNvSpPr txBox="1">
              <a:spLocks noChangeArrowheads="1"/>
            </p:cNvSpPr>
            <p:nvPr/>
          </p:nvSpPr>
          <p:spPr bwMode="auto">
            <a:xfrm>
              <a:off x="9728200" y="3610841"/>
              <a:ext cx="7942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s-ES_tradnl" altLang="es-AR" sz="1400" b="1"/>
                <a:t>FASE 3</a:t>
              </a:r>
              <a:endParaRPr lang="es-ES_tradnl" altLang="es-AR" sz="280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4730446E-7F1B-98CE-2022-CB7349F50135}"/>
              </a:ext>
            </a:extLst>
          </p:cNvPr>
          <p:cNvSpPr>
            <a:spLocks noGrp="1"/>
          </p:cNvSpPr>
          <p:nvPr>
            <p:ph type="sldNum" sz="quarter" idx="11"/>
          </p:nvPr>
        </p:nvSpPr>
        <p:spPr/>
        <p:txBody>
          <a:bodyPr/>
          <a:lstStyle/>
          <a:p>
            <a:fld id="{32B0A0D9-AD64-4B04-80D9-AC03C05ADAFF}" type="slidenum">
              <a:rPr lang="es-ES_tradnl" altLang="es-AR"/>
              <a:pPr/>
              <a:t>29</a:t>
            </a:fld>
            <a:endParaRPr lang="es-ES_tradnl" altLang="es-AR">
              <a:latin typeface="Times New Roman" panose="02020603050405020304" pitchFamily="18" charset="0"/>
            </a:endParaRPr>
          </a:p>
        </p:txBody>
      </p:sp>
      <p:sp>
        <p:nvSpPr>
          <p:cNvPr id="10242" name="Rectangle 2">
            <a:extLst>
              <a:ext uri="{FF2B5EF4-FFF2-40B4-BE49-F238E27FC236}">
                <a16:creationId xmlns:a16="http://schemas.microsoft.com/office/drawing/2014/main" id="{18166FAD-C66C-4A3E-4460-833B68AFDB77}"/>
              </a:ext>
            </a:extLst>
          </p:cNvPr>
          <p:cNvSpPr>
            <a:spLocks noGrp="1" noChangeArrowheads="1"/>
          </p:cNvSpPr>
          <p:nvPr>
            <p:ph type="title"/>
          </p:nvPr>
        </p:nvSpPr>
        <p:spPr>
          <a:xfrm>
            <a:off x="458334" y="660659"/>
            <a:ext cx="8420100" cy="1143000"/>
          </a:xfrm>
        </p:spPr>
        <p:txBody>
          <a:bodyPr/>
          <a:lstStyle/>
          <a:p>
            <a:pPr algn="l"/>
            <a:r>
              <a:rPr lang="es-ES_tradnl" altLang="es-AR"/>
              <a:t>DRP - Organización</a:t>
            </a:r>
          </a:p>
        </p:txBody>
      </p:sp>
      <p:sp>
        <p:nvSpPr>
          <p:cNvPr id="10243" name="Rectangle 3">
            <a:extLst>
              <a:ext uri="{FF2B5EF4-FFF2-40B4-BE49-F238E27FC236}">
                <a16:creationId xmlns:a16="http://schemas.microsoft.com/office/drawing/2014/main" id="{AC4F308C-AB98-DD7F-C4E4-316D5DCB9874}"/>
              </a:ext>
            </a:extLst>
          </p:cNvPr>
          <p:cNvSpPr>
            <a:spLocks noGrp="1" noChangeArrowheads="1"/>
          </p:cNvSpPr>
          <p:nvPr>
            <p:ph type="body" sz="half" idx="1"/>
          </p:nvPr>
        </p:nvSpPr>
        <p:spPr>
          <a:xfrm>
            <a:off x="1041149" y="2674051"/>
            <a:ext cx="4127500" cy="3874606"/>
          </a:xfrm>
        </p:spPr>
        <p:txBody>
          <a:bodyPr>
            <a:normAutofit fontScale="92500" lnSpcReduction="20000"/>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b="1">
                <a:solidFill>
                  <a:schemeClr val="accent1"/>
                </a:solidFill>
              </a:rPr>
              <a:t>Completar el cronograma de trabajo</a:t>
            </a:r>
          </a:p>
          <a:p>
            <a:r>
              <a:rPr lang="es-ES_tradnl" altLang="es-AR" b="1">
                <a:solidFill>
                  <a:schemeClr val="accent1"/>
                </a:solidFill>
              </a:rPr>
              <a:t>Identificar, evaluar y recomendar las herramientas del proyecto</a:t>
            </a:r>
          </a:p>
          <a:p>
            <a:r>
              <a:rPr lang="es-ES_tradnl" altLang="es-AR" b="1">
                <a:solidFill>
                  <a:schemeClr val="accent1"/>
                </a:solidFill>
              </a:rPr>
              <a:t>Establecer, organizar y orientar al equipo de trabajo</a:t>
            </a:r>
          </a:p>
          <a:p>
            <a:r>
              <a:rPr lang="es-ES_tradnl" altLang="es-AR" b="1">
                <a:solidFill>
                  <a:schemeClr val="accent1"/>
                </a:solidFill>
              </a:rPr>
              <a:t>Definir Comité de Dirección y lideres de proyecto</a:t>
            </a:r>
          </a:p>
          <a:p>
            <a:r>
              <a:rPr lang="es-ES_tradnl" altLang="es-AR" b="1">
                <a:solidFill>
                  <a:schemeClr val="accent1"/>
                </a:solidFill>
              </a:rPr>
              <a:t>Llevar a cabo reuniones de orientación, estado del proyecto y control de calidad </a:t>
            </a:r>
            <a:endParaRPr lang="es-ES_tradnl" altLang="es-AR" sz="2800" b="1">
              <a:solidFill>
                <a:schemeClr val="accent1"/>
              </a:solidFill>
            </a:endParaRPr>
          </a:p>
          <a:p>
            <a:endParaRPr lang="es-ES_tradnl" altLang="es-AR" sz="2800" b="1">
              <a:solidFill>
                <a:schemeClr val="accent1"/>
              </a:solidFill>
            </a:endParaRPr>
          </a:p>
          <a:p>
            <a:pPr algn="ctr">
              <a:buFontTx/>
              <a:buNone/>
            </a:pPr>
            <a:endParaRPr lang="es-ES_tradnl" altLang="es-AR" sz="2800">
              <a:solidFill>
                <a:schemeClr val="accent1"/>
              </a:solidFill>
            </a:endParaRPr>
          </a:p>
        </p:txBody>
      </p:sp>
      <p:sp>
        <p:nvSpPr>
          <p:cNvPr id="10244" name="Rectangle 4">
            <a:extLst>
              <a:ext uri="{FF2B5EF4-FFF2-40B4-BE49-F238E27FC236}">
                <a16:creationId xmlns:a16="http://schemas.microsoft.com/office/drawing/2014/main" id="{F617AC2E-0AE5-1782-B25E-1E60A6FCED51}"/>
              </a:ext>
            </a:extLst>
          </p:cNvPr>
          <p:cNvSpPr>
            <a:spLocks noGrp="1" noChangeArrowheads="1"/>
          </p:cNvSpPr>
          <p:nvPr>
            <p:ph type="body" sz="half" idx="2"/>
          </p:nvPr>
        </p:nvSpPr>
        <p:spPr>
          <a:xfrm>
            <a:off x="5915811" y="1296665"/>
            <a:ext cx="4127500" cy="3601260"/>
          </a:xfrm>
        </p:spPr>
        <p:txBody>
          <a:bodyPr/>
          <a:lstStyle/>
          <a:p>
            <a:pPr algn="ctr">
              <a:lnSpc>
                <a:spcPct val="80000"/>
              </a:lnSpc>
              <a:buNone/>
            </a:pPr>
            <a:r>
              <a:rPr lang="es-ES_tradnl" altLang="es-AR" sz="2200" b="1">
                <a:solidFill>
                  <a:schemeClr val="accent1"/>
                </a:solidFill>
              </a:rPr>
              <a:t>Desarrollo</a:t>
            </a:r>
          </a:p>
          <a:p>
            <a:endParaRPr lang="es-ES_tradnl" altLang="es-AR" b="1">
              <a:solidFill>
                <a:schemeClr val="accent1"/>
              </a:solidFill>
            </a:endParaRPr>
          </a:p>
          <a:p>
            <a:r>
              <a:rPr lang="es-ES_tradnl" altLang="es-AR" b="1">
                <a:solidFill>
                  <a:schemeClr val="accent1"/>
                </a:solidFill>
              </a:rPr>
              <a:t>Programa de trabajo</a:t>
            </a:r>
          </a:p>
          <a:p>
            <a:r>
              <a:rPr lang="es-ES_tradnl" altLang="es-AR" b="1">
                <a:solidFill>
                  <a:schemeClr val="accent1"/>
                </a:solidFill>
              </a:rPr>
              <a:t>Informe de estado del proyecto</a:t>
            </a:r>
            <a:endParaRPr lang="es-ES_tradnl" altLang="es-AR" sz="2800">
              <a:solidFill>
                <a:schemeClr val="accen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136B9ABC-87B4-1610-89B6-8BE5DC8D334F}"/>
              </a:ext>
            </a:extLst>
          </p:cNvPr>
          <p:cNvSpPr>
            <a:spLocks noGrp="1"/>
          </p:cNvSpPr>
          <p:nvPr>
            <p:ph type="sldNum" sz="quarter" idx="11"/>
          </p:nvPr>
        </p:nvSpPr>
        <p:spPr/>
        <p:txBody>
          <a:bodyPr/>
          <a:lstStyle/>
          <a:p>
            <a:fld id="{80F32D1F-9EF1-4D3E-96C1-B7865DA3DA36}" type="slidenum">
              <a:rPr lang="es-ES_tradnl" altLang="es-AR"/>
              <a:pPr/>
              <a:t>30</a:t>
            </a:fld>
            <a:endParaRPr lang="es-ES_tradnl" altLang="es-AR">
              <a:latin typeface="Times New Roman" panose="02020603050405020304" pitchFamily="18" charset="0"/>
            </a:endParaRPr>
          </a:p>
        </p:txBody>
      </p:sp>
      <p:sp>
        <p:nvSpPr>
          <p:cNvPr id="11266" name="Rectangle 2">
            <a:extLst>
              <a:ext uri="{FF2B5EF4-FFF2-40B4-BE49-F238E27FC236}">
                <a16:creationId xmlns:a16="http://schemas.microsoft.com/office/drawing/2014/main" id="{AB533110-89E5-DCD2-D92D-CED327A285F8}"/>
              </a:ext>
            </a:extLst>
          </p:cNvPr>
          <p:cNvSpPr>
            <a:spLocks noGrp="1" noChangeArrowheads="1"/>
          </p:cNvSpPr>
          <p:nvPr>
            <p:ph type="title"/>
          </p:nvPr>
        </p:nvSpPr>
        <p:spPr>
          <a:xfrm>
            <a:off x="488887" y="697116"/>
            <a:ext cx="11588436" cy="1143000"/>
          </a:xfrm>
        </p:spPr>
        <p:txBody>
          <a:bodyPr/>
          <a:lstStyle/>
          <a:p>
            <a:pPr algn="l"/>
            <a:r>
              <a:rPr lang="es-ES_tradnl" altLang="es-AR"/>
              <a:t>DRP - Análisis de impacto en el negocio</a:t>
            </a:r>
          </a:p>
        </p:txBody>
      </p:sp>
      <p:sp>
        <p:nvSpPr>
          <p:cNvPr id="11270" name="Rectangle 6">
            <a:extLst>
              <a:ext uri="{FF2B5EF4-FFF2-40B4-BE49-F238E27FC236}">
                <a16:creationId xmlns:a16="http://schemas.microsoft.com/office/drawing/2014/main" id="{45FDF900-CCD2-100D-7006-210090D958B2}"/>
              </a:ext>
            </a:extLst>
          </p:cNvPr>
          <p:cNvSpPr>
            <a:spLocks noGrp="1" noChangeArrowheads="1"/>
          </p:cNvSpPr>
          <p:nvPr>
            <p:ph type="body" sz="half" idx="1"/>
          </p:nvPr>
        </p:nvSpPr>
        <p:spPr>
          <a:xfrm>
            <a:off x="1176950" y="1991760"/>
            <a:ext cx="4064251" cy="4783243"/>
          </a:xfrm>
        </p:spPr>
        <p:txBody>
          <a:bodyPr>
            <a:normAutofit/>
          </a:bodyPr>
          <a:lstStyle/>
          <a:p>
            <a:pPr algn="ctr">
              <a:buFontTx/>
              <a:buNone/>
            </a:pPr>
            <a:r>
              <a:rPr lang="es-ES_tradnl" altLang="es-AR" sz="2400" b="1">
                <a:solidFill>
                  <a:schemeClr val="accent1"/>
                </a:solidFill>
              </a:rPr>
              <a:t>Actividades claves</a:t>
            </a:r>
          </a:p>
          <a:p>
            <a:r>
              <a:rPr lang="es-ES_tradnl" altLang="es-AR" b="1">
                <a:solidFill>
                  <a:schemeClr val="accent1"/>
                </a:solidFill>
              </a:rPr>
              <a:t>Documentar ambiente del negocio</a:t>
            </a:r>
          </a:p>
          <a:p>
            <a:r>
              <a:rPr lang="es-ES_tradnl" altLang="es-AR" b="1">
                <a:solidFill>
                  <a:schemeClr val="accent1"/>
                </a:solidFill>
              </a:rPr>
              <a:t>Obtener inventario de recursos</a:t>
            </a:r>
          </a:p>
          <a:p>
            <a:r>
              <a:rPr lang="es-ES_tradnl" altLang="es-AR" b="1">
                <a:solidFill>
                  <a:schemeClr val="accent1"/>
                </a:solidFill>
              </a:rPr>
              <a:t>Documentar controles existentes</a:t>
            </a:r>
          </a:p>
          <a:p>
            <a:r>
              <a:rPr lang="es-ES_tradnl" altLang="es-AR" b="1">
                <a:solidFill>
                  <a:schemeClr val="accent1"/>
                </a:solidFill>
              </a:rPr>
              <a:t>Analizar las funciones del negocio</a:t>
            </a:r>
          </a:p>
          <a:p>
            <a:r>
              <a:rPr lang="es-ES_tradnl" altLang="es-AR" b="1">
                <a:solidFill>
                  <a:schemeClr val="accent1"/>
                </a:solidFill>
              </a:rPr>
              <a:t>Evaluar los recursos del negocio</a:t>
            </a:r>
          </a:p>
          <a:p>
            <a:r>
              <a:rPr lang="es-ES_tradnl" altLang="es-AR" b="1">
                <a:solidFill>
                  <a:schemeClr val="accent1"/>
                </a:solidFill>
              </a:rPr>
              <a:t>Documentar coberturas de seguro y servicios de back-up de equipo</a:t>
            </a:r>
          </a:p>
          <a:p>
            <a:r>
              <a:rPr lang="es-ES_tradnl" altLang="es-AR" b="1">
                <a:solidFill>
                  <a:schemeClr val="accent1"/>
                </a:solidFill>
              </a:rPr>
              <a:t>Documentar factores mitigantes de riesgo</a:t>
            </a:r>
            <a:endParaRPr lang="es-ES_tradnl" altLang="es-AR" sz="2400" b="1">
              <a:solidFill>
                <a:schemeClr val="accent1"/>
              </a:solidFill>
            </a:endParaRPr>
          </a:p>
        </p:txBody>
      </p:sp>
      <p:sp>
        <p:nvSpPr>
          <p:cNvPr id="11271" name="Rectangle 7">
            <a:extLst>
              <a:ext uri="{FF2B5EF4-FFF2-40B4-BE49-F238E27FC236}">
                <a16:creationId xmlns:a16="http://schemas.microsoft.com/office/drawing/2014/main" id="{9D249FA2-5058-D609-EF08-E41132B3B433}"/>
              </a:ext>
            </a:extLst>
          </p:cNvPr>
          <p:cNvSpPr>
            <a:spLocks noGrp="1" noChangeArrowheads="1"/>
          </p:cNvSpPr>
          <p:nvPr>
            <p:ph type="body" sz="half" idx="2"/>
          </p:nvPr>
        </p:nvSpPr>
        <p:spPr>
          <a:xfrm>
            <a:off x="6594877" y="1720158"/>
            <a:ext cx="4064251" cy="4783243"/>
          </a:xfrm>
        </p:spPr>
        <p:txBody>
          <a:bodyPr/>
          <a:lstStyle/>
          <a:p>
            <a:pPr algn="ctr">
              <a:buNone/>
            </a:pPr>
            <a:r>
              <a:rPr lang="es-ES_tradnl" altLang="es-AR" sz="2400" b="1">
                <a:solidFill>
                  <a:schemeClr val="accent1"/>
                </a:solidFill>
              </a:rPr>
              <a:t>Desarrollo</a:t>
            </a:r>
          </a:p>
          <a:p>
            <a:pPr>
              <a:buFontTx/>
              <a:buNone/>
            </a:pPr>
            <a:r>
              <a:rPr lang="es-ES_tradnl" altLang="es-AR" b="1">
                <a:solidFill>
                  <a:schemeClr val="accent1"/>
                </a:solidFill>
              </a:rPr>
              <a:t>Informe de evaluación del impacto de desastre con:</a:t>
            </a:r>
          </a:p>
          <a:p>
            <a:endParaRPr lang="es-ES_tradnl" altLang="es-AR" b="1">
              <a:solidFill>
                <a:schemeClr val="accent1"/>
              </a:solidFill>
            </a:endParaRPr>
          </a:p>
          <a:p>
            <a:pPr>
              <a:lnSpc>
                <a:spcPct val="80000"/>
              </a:lnSpc>
            </a:pPr>
            <a:r>
              <a:rPr lang="es-ES_tradnl" altLang="es-AR" b="1">
                <a:solidFill>
                  <a:schemeClr val="accent1"/>
                </a:solidFill>
              </a:rPr>
              <a:t>Evaluación de riesgos potenciales</a:t>
            </a:r>
          </a:p>
          <a:p>
            <a:pPr>
              <a:lnSpc>
                <a:spcPct val="80000"/>
              </a:lnSpc>
            </a:pPr>
            <a:r>
              <a:rPr lang="es-ES_tradnl" altLang="es-AR" b="1">
                <a:solidFill>
                  <a:schemeClr val="accent1"/>
                </a:solidFill>
              </a:rPr>
              <a:t>Recomendación de medidas preventivas</a:t>
            </a:r>
          </a:p>
          <a:p>
            <a:pPr>
              <a:lnSpc>
                <a:spcPct val="80000"/>
              </a:lnSpc>
            </a:pPr>
            <a:r>
              <a:rPr lang="es-ES_tradnl" altLang="es-AR" b="1">
                <a:solidFill>
                  <a:schemeClr val="accent1"/>
                </a:solidFill>
              </a:rPr>
              <a:t>Nivel de criticidad por función</a:t>
            </a:r>
          </a:p>
          <a:p>
            <a:pPr>
              <a:lnSpc>
                <a:spcPct val="80000"/>
              </a:lnSpc>
            </a:pPr>
            <a:r>
              <a:rPr lang="es-ES_tradnl" altLang="es-AR" b="1">
                <a:solidFill>
                  <a:schemeClr val="accent1"/>
                </a:solidFill>
              </a:rPr>
              <a:t>Impacto económico</a:t>
            </a:r>
          </a:p>
          <a:p>
            <a:pPr>
              <a:lnSpc>
                <a:spcPct val="80000"/>
              </a:lnSpc>
            </a:pPr>
            <a:r>
              <a:rPr lang="es-ES_tradnl" altLang="es-AR" b="1">
                <a:solidFill>
                  <a:schemeClr val="accent1"/>
                </a:solidFill>
              </a:rPr>
              <a:t>Impacto sobre intangibles</a:t>
            </a:r>
          </a:p>
          <a:p>
            <a:pPr>
              <a:lnSpc>
                <a:spcPct val="80000"/>
              </a:lnSpc>
            </a:pPr>
            <a:r>
              <a:rPr lang="es-ES_tradnl" altLang="es-AR" b="1">
                <a:solidFill>
                  <a:schemeClr val="accent1"/>
                </a:solidFill>
              </a:rPr>
              <a:t>Tiempo máximo de interrupción tolerable.</a:t>
            </a:r>
            <a:endParaRPr lang="es-ES_tradnl" altLang="es-AR" sz="2400" b="1">
              <a:solidFill>
                <a:schemeClr val="accen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E259238F-ED69-E768-4982-1EB4B25EE554}"/>
              </a:ext>
            </a:extLst>
          </p:cNvPr>
          <p:cNvSpPr>
            <a:spLocks noGrp="1"/>
          </p:cNvSpPr>
          <p:nvPr>
            <p:ph type="sldNum" sz="quarter" idx="11"/>
          </p:nvPr>
        </p:nvSpPr>
        <p:spPr/>
        <p:txBody>
          <a:bodyPr/>
          <a:lstStyle/>
          <a:p>
            <a:fld id="{E78A6ADC-CBA9-4FCC-8EE2-ECAFC2207731}" type="slidenum">
              <a:rPr lang="es-ES_tradnl" altLang="es-AR"/>
              <a:pPr/>
              <a:t>31</a:t>
            </a:fld>
            <a:endParaRPr lang="es-ES_tradnl" altLang="es-AR">
              <a:latin typeface="Times New Roman" panose="02020603050405020304" pitchFamily="18" charset="0"/>
            </a:endParaRPr>
          </a:p>
        </p:txBody>
      </p:sp>
      <p:sp>
        <p:nvSpPr>
          <p:cNvPr id="12290" name="Rectangle 2">
            <a:extLst>
              <a:ext uri="{FF2B5EF4-FFF2-40B4-BE49-F238E27FC236}">
                <a16:creationId xmlns:a16="http://schemas.microsoft.com/office/drawing/2014/main" id="{19B08132-5669-8768-FE70-14C990C49DA1}"/>
              </a:ext>
            </a:extLst>
          </p:cNvPr>
          <p:cNvSpPr>
            <a:spLocks noGrp="1" noChangeArrowheads="1"/>
          </p:cNvSpPr>
          <p:nvPr>
            <p:ph type="title"/>
          </p:nvPr>
        </p:nvSpPr>
        <p:spPr>
          <a:xfrm>
            <a:off x="404011" y="772559"/>
            <a:ext cx="9959189" cy="1143000"/>
          </a:xfrm>
        </p:spPr>
        <p:txBody>
          <a:bodyPr/>
          <a:lstStyle/>
          <a:p>
            <a:pPr algn="l"/>
            <a:r>
              <a:rPr lang="es-ES_tradnl" altLang="es-AR"/>
              <a:t>DRP - Definición de estrategias de recuperación</a:t>
            </a:r>
          </a:p>
        </p:txBody>
      </p:sp>
      <p:sp>
        <p:nvSpPr>
          <p:cNvPr id="12292" name="Rectangle 4">
            <a:extLst>
              <a:ext uri="{FF2B5EF4-FFF2-40B4-BE49-F238E27FC236}">
                <a16:creationId xmlns:a16="http://schemas.microsoft.com/office/drawing/2014/main" id="{5A505E68-DCE2-5EA4-1341-354271AA954F}"/>
              </a:ext>
            </a:extLst>
          </p:cNvPr>
          <p:cNvSpPr>
            <a:spLocks noGrp="1" noChangeArrowheads="1"/>
          </p:cNvSpPr>
          <p:nvPr>
            <p:ph type="body" sz="half" idx="1"/>
          </p:nvPr>
        </p:nvSpPr>
        <p:spPr>
          <a:xfrm>
            <a:off x="404011" y="1850795"/>
            <a:ext cx="5400958" cy="4248977"/>
          </a:xfrm>
        </p:spPr>
        <p:txBody>
          <a:bodyPr/>
          <a:lstStyle/>
          <a:p>
            <a:pPr algn="ctr">
              <a:buFontTx/>
              <a:buNone/>
            </a:pPr>
            <a:r>
              <a:rPr lang="es-ES_tradnl" altLang="es-AR" sz="2400" b="1">
                <a:solidFill>
                  <a:schemeClr val="accent1"/>
                </a:solidFill>
              </a:rPr>
              <a:t>Actividades claves</a:t>
            </a:r>
          </a:p>
          <a:p>
            <a:endParaRPr lang="es-ES_tradnl" altLang="es-AR" sz="2400" b="1">
              <a:solidFill>
                <a:schemeClr val="accent1"/>
              </a:solidFill>
            </a:endParaRPr>
          </a:p>
          <a:p>
            <a:r>
              <a:rPr lang="es-ES_tradnl" altLang="es-AR" b="1">
                <a:solidFill>
                  <a:schemeClr val="accent1"/>
                </a:solidFill>
              </a:rPr>
              <a:t>Confirmar los niveles de interrupción y de servicios</a:t>
            </a:r>
          </a:p>
          <a:p>
            <a:r>
              <a:rPr lang="es-ES_tradnl" altLang="es-AR" b="1">
                <a:solidFill>
                  <a:schemeClr val="accent1"/>
                </a:solidFill>
              </a:rPr>
              <a:t>Desarrollar estrategias para recuperar los recursos críticos</a:t>
            </a:r>
          </a:p>
          <a:p>
            <a:r>
              <a:rPr lang="es-ES_tradnl" altLang="es-AR" b="1">
                <a:solidFill>
                  <a:schemeClr val="accent1"/>
                </a:solidFill>
              </a:rPr>
              <a:t>Identificar los proyectos complementarios</a:t>
            </a:r>
          </a:p>
          <a:p>
            <a:r>
              <a:rPr lang="es-ES_tradnl" altLang="es-AR" b="1">
                <a:solidFill>
                  <a:schemeClr val="accent1"/>
                </a:solidFill>
              </a:rPr>
              <a:t>Efectuar recomendaciones pertinentes</a:t>
            </a:r>
            <a:endParaRPr lang="es-ES_tradnl" altLang="es-AR" sz="2400">
              <a:solidFill>
                <a:schemeClr val="accent1"/>
              </a:solidFill>
            </a:endParaRPr>
          </a:p>
          <a:p>
            <a:endParaRPr lang="es-ES_tradnl" altLang="es-AR" sz="2800">
              <a:solidFill>
                <a:schemeClr val="accent1"/>
              </a:solidFill>
            </a:endParaRPr>
          </a:p>
        </p:txBody>
      </p:sp>
      <p:sp>
        <p:nvSpPr>
          <p:cNvPr id="12293" name="Rectangle 5">
            <a:extLst>
              <a:ext uri="{FF2B5EF4-FFF2-40B4-BE49-F238E27FC236}">
                <a16:creationId xmlns:a16="http://schemas.microsoft.com/office/drawing/2014/main" id="{E495BCBD-3DB3-4821-7A6A-648AFF54EE1A}"/>
              </a:ext>
            </a:extLst>
          </p:cNvPr>
          <p:cNvSpPr>
            <a:spLocks noGrp="1" noChangeArrowheads="1"/>
          </p:cNvSpPr>
          <p:nvPr>
            <p:ph type="body" sz="half" idx="2"/>
          </p:nvPr>
        </p:nvSpPr>
        <p:spPr>
          <a:xfrm>
            <a:off x="6209850" y="2067959"/>
            <a:ext cx="5400958" cy="4248977"/>
          </a:xfrm>
        </p:spPr>
        <p:txBody>
          <a:bodyPr>
            <a:normAutofit/>
          </a:bodyPr>
          <a:lstStyle/>
          <a:p>
            <a:pPr algn="ctr">
              <a:buNone/>
            </a:pPr>
            <a:r>
              <a:rPr lang="es-ES_tradnl" altLang="es-AR" sz="2400" b="1">
                <a:solidFill>
                  <a:schemeClr val="accent1"/>
                </a:solidFill>
              </a:rPr>
              <a:t>Desarrollo</a:t>
            </a:r>
          </a:p>
          <a:p>
            <a:pPr algn="ctr">
              <a:buFontTx/>
              <a:buNone/>
            </a:pPr>
            <a:endParaRPr lang="es-ES_tradnl" altLang="es-AR" sz="2400" b="1">
              <a:solidFill>
                <a:schemeClr val="accent1"/>
              </a:solidFill>
            </a:endParaRPr>
          </a:p>
          <a:p>
            <a:pPr>
              <a:buFontTx/>
              <a:buNone/>
            </a:pPr>
            <a:r>
              <a:rPr lang="es-ES_tradnl" altLang="es-AR" b="1">
                <a:solidFill>
                  <a:schemeClr val="accent1"/>
                </a:solidFill>
              </a:rPr>
              <a:t>Informe de estrategia de recuperación con:</a:t>
            </a:r>
          </a:p>
          <a:p>
            <a:pPr>
              <a:buFontTx/>
              <a:buNone/>
            </a:pPr>
            <a:endParaRPr lang="es-ES_tradnl" altLang="es-AR" b="1">
              <a:solidFill>
                <a:schemeClr val="accent1"/>
              </a:solidFill>
            </a:endParaRPr>
          </a:p>
          <a:p>
            <a:r>
              <a:rPr lang="es-ES_tradnl" altLang="es-AR" b="1">
                <a:solidFill>
                  <a:schemeClr val="accent1"/>
                </a:solidFill>
              </a:rPr>
              <a:t>Descripción de las estrategias alternativas propuestas, su comparación funcional y técnica</a:t>
            </a:r>
          </a:p>
          <a:p>
            <a:r>
              <a:rPr lang="es-ES_tradnl" altLang="es-AR" b="1">
                <a:solidFill>
                  <a:schemeClr val="accent1"/>
                </a:solidFill>
              </a:rPr>
              <a:t>Valorización comparativa de estrategias</a:t>
            </a:r>
          </a:p>
          <a:p>
            <a:r>
              <a:rPr lang="es-ES_tradnl" altLang="es-AR" b="1">
                <a:solidFill>
                  <a:schemeClr val="accent1"/>
                </a:solidFill>
              </a:rPr>
              <a:t>Listado de proyectos complementarios recomendados</a:t>
            </a:r>
          </a:p>
          <a:p>
            <a:r>
              <a:rPr lang="es-ES_tradnl" altLang="es-AR" b="1">
                <a:solidFill>
                  <a:schemeClr val="accent1"/>
                </a:solidFill>
              </a:rPr>
              <a:t>Recomendaciones generales</a:t>
            </a:r>
            <a:endParaRPr lang="es-ES_tradnl" altLang="es-AR" sz="2400">
              <a:solidFill>
                <a:schemeClr val="accent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26C767FF-FB88-76E7-9568-BC60E0EDD5C8}"/>
              </a:ext>
            </a:extLst>
          </p:cNvPr>
          <p:cNvSpPr>
            <a:spLocks noGrp="1"/>
          </p:cNvSpPr>
          <p:nvPr>
            <p:ph type="sldNum" sz="quarter" idx="11"/>
          </p:nvPr>
        </p:nvSpPr>
        <p:spPr/>
        <p:txBody>
          <a:bodyPr/>
          <a:lstStyle/>
          <a:p>
            <a:fld id="{5C4FCCCA-753F-4D22-ABAE-B4E31A8CFA72}" type="slidenum">
              <a:rPr lang="es-ES_tradnl" altLang="es-AR"/>
              <a:pPr/>
              <a:t>32</a:t>
            </a:fld>
            <a:endParaRPr lang="es-ES_tradnl" altLang="es-AR">
              <a:latin typeface="Times New Roman" panose="02020603050405020304" pitchFamily="18" charset="0"/>
            </a:endParaRPr>
          </a:p>
        </p:txBody>
      </p:sp>
      <p:sp>
        <p:nvSpPr>
          <p:cNvPr id="13314" name="Rectangle 2">
            <a:extLst>
              <a:ext uri="{FF2B5EF4-FFF2-40B4-BE49-F238E27FC236}">
                <a16:creationId xmlns:a16="http://schemas.microsoft.com/office/drawing/2014/main" id="{E7D5D3BA-7CE5-8AE0-E6C0-8DA95B59BF28}"/>
              </a:ext>
            </a:extLst>
          </p:cNvPr>
          <p:cNvSpPr>
            <a:spLocks noGrp="1" noChangeArrowheads="1"/>
          </p:cNvSpPr>
          <p:nvPr>
            <p:ph type="title"/>
          </p:nvPr>
        </p:nvSpPr>
        <p:spPr>
          <a:xfrm>
            <a:off x="470780" y="697117"/>
            <a:ext cx="8420100" cy="1143000"/>
          </a:xfrm>
        </p:spPr>
        <p:txBody>
          <a:bodyPr/>
          <a:lstStyle/>
          <a:p>
            <a:pPr algn="l"/>
            <a:r>
              <a:rPr lang="es-ES_tradnl" altLang="es-AR"/>
              <a:t>DRP - Respuesta ante emergencias</a:t>
            </a:r>
          </a:p>
        </p:txBody>
      </p:sp>
      <p:sp>
        <p:nvSpPr>
          <p:cNvPr id="13316" name="Rectangle 4">
            <a:extLst>
              <a:ext uri="{FF2B5EF4-FFF2-40B4-BE49-F238E27FC236}">
                <a16:creationId xmlns:a16="http://schemas.microsoft.com/office/drawing/2014/main" id="{37F769B3-F6B5-31BE-5B5F-B16CC0899A78}"/>
              </a:ext>
            </a:extLst>
          </p:cNvPr>
          <p:cNvSpPr>
            <a:spLocks noGrp="1" noChangeArrowheads="1"/>
          </p:cNvSpPr>
          <p:nvPr>
            <p:ph type="body" sz="half" idx="1"/>
          </p:nvPr>
        </p:nvSpPr>
        <p:spPr>
          <a:xfrm>
            <a:off x="908176" y="1774473"/>
            <a:ext cx="4133850" cy="5105400"/>
          </a:xfrm>
        </p:spPr>
        <p:txBody>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b="1">
                <a:solidFill>
                  <a:schemeClr val="accent1"/>
                </a:solidFill>
              </a:rPr>
              <a:t>Desarrollar diagramas de decisión y asignación de responsabilidades</a:t>
            </a:r>
          </a:p>
          <a:p>
            <a:r>
              <a:rPr lang="es-ES_tradnl" altLang="es-AR" b="1">
                <a:solidFill>
                  <a:schemeClr val="accent1"/>
                </a:solidFill>
              </a:rPr>
              <a:t>Generar requerimientos de evaluación y decisión</a:t>
            </a:r>
          </a:p>
          <a:p>
            <a:r>
              <a:rPr lang="es-ES_tradnl" altLang="es-AR" b="1">
                <a:solidFill>
                  <a:schemeClr val="accent1"/>
                </a:solidFill>
              </a:rPr>
              <a:t>Establecer mecanismos de comunicación y coordinación</a:t>
            </a:r>
          </a:p>
          <a:p>
            <a:r>
              <a:rPr lang="es-ES_tradnl" altLang="es-AR" b="1">
                <a:solidFill>
                  <a:schemeClr val="accent1"/>
                </a:solidFill>
              </a:rPr>
              <a:t>Desarrollar procedimientos a seguir</a:t>
            </a:r>
          </a:p>
          <a:p>
            <a:r>
              <a:rPr lang="es-ES_tradnl" altLang="es-AR" b="1">
                <a:solidFill>
                  <a:schemeClr val="accent1"/>
                </a:solidFill>
              </a:rPr>
              <a:t>Documentar los procedimientos para el equipo de recuperación</a:t>
            </a:r>
            <a:endParaRPr lang="es-ES_tradnl" altLang="es-AR" sz="2400">
              <a:solidFill>
                <a:schemeClr val="accent1"/>
              </a:solidFill>
            </a:endParaRPr>
          </a:p>
        </p:txBody>
      </p:sp>
      <p:sp>
        <p:nvSpPr>
          <p:cNvPr id="13317" name="Rectangle 5">
            <a:extLst>
              <a:ext uri="{FF2B5EF4-FFF2-40B4-BE49-F238E27FC236}">
                <a16:creationId xmlns:a16="http://schemas.microsoft.com/office/drawing/2014/main" id="{5FC800E4-6128-6883-C48D-07B55A131A35}"/>
              </a:ext>
            </a:extLst>
          </p:cNvPr>
          <p:cNvSpPr>
            <a:spLocks noGrp="1" noChangeArrowheads="1"/>
          </p:cNvSpPr>
          <p:nvPr>
            <p:ph type="body" sz="half" idx="2"/>
          </p:nvPr>
        </p:nvSpPr>
        <p:spPr>
          <a:xfrm>
            <a:off x="5758461" y="1752600"/>
            <a:ext cx="4133850" cy="5105400"/>
          </a:xfrm>
        </p:spPr>
        <p:txBody>
          <a:bodyPr/>
          <a:lstStyle/>
          <a:p>
            <a:pPr algn="ctr">
              <a:buFontTx/>
              <a:buNone/>
            </a:pPr>
            <a:r>
              <a:rPr lang="es-ES_tradnl" altLang="es-AR" sz="2400" b="1">
                <a:solidFill>
                  <a:schemeClr val="accent1"/>
                </a:solidFill>
              </a:rPr>
              <a:t>Desarrollo</a:t>
            </a:r>
          </a:p>
          <a:p>
            <a:pPr algn="ctr">
              <a:buFontTx/>
              <a:buNone/>
            </a:pPr>
            <a:endParaRPr lang="es-ES_tradnl" altLang="es-AR" sz="2400" b="1">
              <a:solidFill>
                <a:schemeClr val="accent1"/>
              </a:solidFill>
            </a:endParaRPr>
          </a:p>
          <a:p>
            <a:pPr>
              <a:lnSpc>
                <a:spcPct val="110000"/>
              </a:lnSpc>
              <a:buFontTx/>
              <a:buNone/>
            </a:pPr>
            <a:r>
              <a:rPr lang="es-ES_tradnl" altLang="es-AR" b="1">
                <a:solidFill>
                  <a:schemeClr val="accent1"/>
                </a:solidFill>
              </a:rPr>
              <a:t>Plan de respuesta ante desastres con:</a:t>
            </a:r>
          </a:p>
          <a:p>
            <a:pPr>
              <a:lnSpc>
                <a:spcPct val="110000"/>
              </a:lnSpc>
              <a:buFontTx/>
              <a:buNone/>
            </a:pPr>
            <a:endParaRPr lang="es-ES_tradnl" altLang="es-AR" b="1">
              <a:solidFill>
                <a:schemeClr val="accent1"/>
              </a:solidFill>
            </a:endParaRPr>
          </a:p>
          <a:p>
            <a:pPr>
              <a:lnSpc>
                <a:spcPct val="110000"/>
              </a:lnSpc>
            </a:pPr>
            <a:r>
              <a:rPr lang="es-ES_tradnl" altLang="es-AR" b="1">
                <a:solidFill>
                  <a:schemeClr val="accent1"/>
                </a:solidFill>
              </a:rPr>
              <a:t>Esquema de respuesta ante emergencias en el CPD- procesamiento de datos-</a:t>
            </a:r>
          </a:p>
          <a:p>
            <a:pPr>
              <a:lnSpc>
                <a:spcPct val="110000"/>
              </a:lnSpc>
            </a:pPr>
            <a:r>
              <a:rPr lang="es-ES_tradnl" altLang="es-AR" b="1">
                <a:solidFill>
                  <a:schemeClr val="accent1"/>
                </a:solidFill>
              </a:rPr>
              <a:t>Esquema de notificación</a:t>
            </a:r>
          </a:p>
          <a:p>
            <a:pPr>
              <a:lnSpc>
                <a:spcPct val="110000"/>
              </a:lnSpc>
            </a:pPr>
            <a:r>
              <a:rPr lang="es-ES_tradnl" altLang="es-AR" b="1">
                <a:solidFill>
                  <a:schemeClr val="accent1"/>
                </a:solidFill>
              </a:rPr>
              <a:t>Esquema de evaluación del daño</a:t>
            </a:r>
          </a:p>
          <a:p>
            <a:pPr>
              <a:lnSpc>
                <a:spcPct val="110000"/>
              </a:lnSpc>
            </a:pPr>
            <a:r>
              <a:rPr lang="es-ES_tradnl" altLang="es-AR" b="1">
                <a:solidFill>
                  <a:schemeClr val="accent1"/>
                </a:solidFill>
              </a:rPr>
              <a:t>Esquema de declaración</a:t>
            </a:r>
            <a:endParaRPr lang="es-ES_tradnl" altLang="es-AR" sz="2400" b="1">
              <a:solidFill>
                <a:schemeClr val="accent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62CA7EC9-081F-4001-C094-B3F950436E04}"/>
              </a:ext>
            </a:extLst>
          </p:cNvPr>
          <p:cNvSpPr>
            <a:spLocks noGrp="1"/>
          </p:cNvSpPr>
          <p:nvPr>
            <p:ph type="sldNum" sz="quarter" idx="11"/>
          </p:nvPr>
        </p:nvSpPr>
        <p:spPr/>
        <p:txBody>
          <a:bodyPr/>
          <a:lstStyle/>
          <a:p>
            <a:fld id="{E1A9DE9E-E1B0-414D-AD81-66D32A8DE984}" type="slidenum">
              <a:rPr lang="es-ES_tradnl" altLang="es-AR"/>
              <a:pPr/>
              <a:t>33</a:t>
            </a:fld>
            <a:endParaRPr lang="es-ES_tradnl" altLang="es-AR">
              <a:latin typeface="Times New Roman" panose="02020603050405020304" pitchFamily="18" charset="0"/>
            </a:endParaRPr>
          </a:p>
        </p:txBody>
      </p:sp>
      <p:sp>
        <p:nvSpPr>
          <p:cNvPr id="14338" name="Rectangle 2">
            <a:extLst>
              <a:ext uri="{FF2B5EF4-FFF2-40B4-BE49-F238E27FC236}">
                <a16:creationId xmlns:a16="http://schemas.microsoft.com/office/drawing/2014/main" id="{07271D39-43CB-5032-116A-BAD9E00EB9A5}"/>
              </a:ext>
            </a:extLst>
          </p:cNvPr>
          <p:cNvSpPr>
            <a:spLocks noGrp="1" noChangeArrowheads="1"/>
          </p:cNvSpPr>
          <p:nvPr>
            <p:ph type="title"/>
          </p:nvPr>
        </p:nvSpPr>
        <p:spPr>
          <a:xfrm>
            <a:off x="479833" y="679010"/>
            <a:ext cx="11226297" cy="1143000"/>
          </a:xfrm>
        </p:spPr>
        <p:txBody>
          <a:bodyPr/>
          <a:lstStyle/>
          <a:p>
            <a:pPr algn="l"/>
            <a:r>
              <a:rPr lang="es-ES_tradnl" altLang="es-AR"/>
              <a:t>DRP - Recuperación del Centro de Cómputos</a:t>
            </a:r>
          </a:p>
        </p:txBody>
      </p:sp>
      <p:sp>
        <p:nvSpPr>
          <p:cNvPr id="14339" name="Rectangle 3">
            <a:extLst>
              <a:ext uri="{FF2B5EF4-FFF2-40B4-BE49-F238E27FC236}">
                <a16:creationId xmlns:a16="http://schemas.microsoft.com/office/drawing/2014/main" id="{FD03A0F9-7A48-0298-A294-6C3CF291B2B9}"/>
              </a:ext>
            </a:extLst>
          </p:cNvPr>
          <p:cNvSpPr>
            <a:spLocks noGrp="1" noChangeArrowheads="1"/>
          </p:cNvSpPr>
          <p:nvPr>
            <p:ph type="body" sz="half" idx="1"/>
          </p:nvPr>
        </p:nvSpPr>
        <p:spPr>
          <a:xfrm>
            <a:off x="1249378" y="2004584"/>
            <a:ext cx="3955610" cy="4378109"/>
          </a:xfrm>
        </p:spPr>
        <p:txBody>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sz="1700" b="1">
                <a:solidFill>
                  <a:schemeClr val="accent1"/>
                </a:solidFill>
              </a:rPr>
              <a:t>Generar requerimientos de evaluación</a:t>
            </a:r>
          </a:p>
          <a:p>
            <a:r>
              <a:rPr lang="es-ES_tradnl" altLang="es-AR" sz="1700" b="1">
                <a:solidFill>
                  <a:schemeClr val="accent1"/>
                </a:solidFill>
              </a:rPr>
              <a:t>Desarrollar requerimientos de migración</a:t>
            </a:r>
          </a:p>
          <a:p>
            <a:r>
              <a:rPr lang="es-ES_tradnl" altLang="es-AR" sz="1700" b="1">
                <a:solidFill>
                  <a:schemeClr val="accent1"/>
                </a:solidFill>
              </a:rPr>
              <a:t>Identificar los requerimientos operativos</a:t>
            </a:r>
          </a:p>
          <a:p>
            <a:r>
              <a:rPr lang="es-ES_tradnl" altLang="es-AR" sz="1700" b="1">
                <a:solidFill>
                  <a:schemeClr val="accent1"/>
                </a:solidFill>
              </a:rPr>
              <a:t>Desarrollar procedimientos de restauración</a:t>
            </a:r>
          </a:p>
          <a:p>
            <a:r>
              <a:rPr lang="es-ES_tradnl" altLang="es-AR" sz="1700" b="1">
                <a:solidFill>
                  <a:schemeClr val="accent1"/>
                </a:solidFill>
              </a:rPr>
              <a:t>Documentar los procedimientos para el equipo de recuperación</a:t>
            </a:r>
          </a:p>
        </p:txBody>
      </p:sp>
      <p:sp>
        <p:nvSpPr>
          <p:cNvPr id="14340" name="Rectangle 4">
            <a:extLst>
              <a:ext uri="{FF2B5EF4-FFF2-40B4-BE49-F238E27FC236}">
                <a16:creationId xmlns:a16="http://schemas.microsoft.com/office/drawing/2014/main" id="{50EB4A99-4DE4-B846-8CF6-59A4B8690065}"/>
              </a:ext>
            </a:extLst>
          </p:cNvPr>
          <p:cNvSpPr>
            <a:spLocks noGrp="1" noChangeArrowheads="1"/>
          </p:cNvSpPr>
          <p:nvPr>
            <p:ph type="body" sz="half" idx="2"/>
          </p:nvPr>
        </p:nvSpPr>
        <p:spPr>
          <a:xfrm>
            <a:off x="6092981" y="1461376"/>
            <a:ext cx="4133850" cy="5105400"/>
          </a:xfrm>
        </p:spPr>
        <p:txBody>
          <a:bodyPr/>
          <a:lstStyle/>
          <a:p>
            <a:pPr algn="ctr">
              <a:buFontTx/>
              <a:buNone/>
            </a:pPr>
            <a:r>
              <a:rPr lang="es-ES_tradnl" altLang="es-AR" sz="2400" b="1">
                <a:solidFill>
                  <a:schemeClr val="accent1"/>
                </a:solidFill>
              </a:rPr>
              <a:t>Desarrollo</a:t>
            </a:r>
          </a:p>
          <a:p>
            <a:pPr algn="ctr">
              <a:buFontTx/>
              <a:buNone/>
            </a:pPr>
            <a:endParaRPr lang="es-ES_tradnl" altLang="es-AR" sz="2400" b="1">
              <a:solidFill>
                <a:schemeClr val="accent1"/>
              </a:solidFill>
            </a:endParaRPr>
          </a:p>
          <a:p>
            <a:pPr>
              <a:buFontTx/>
              <a:buNone/>
            </a:pPr>
            <a:r>
              <a:rPr lang="es-ES_tradnl" altLang="es-AR" b="1">
                <a:solidFill>
                  <a:schemeClr val="accent1"/>
                </a:solidFill>
              </a:rPr>
              <a:t>Plan de recuperación de desastre para el C.C.</a:t>
            </a:r>
          </a:p>
          <a:p>
            <a:pPr>
              <a:buFontTx/>
              <a:buNone/>
            </a:pPr>
            <a:endParaRPr lang="es-ES_tradnl" altLang="es-AR" b="1">
              <a:solidFill>
                <a:schemeClr val="accent1"/>
              </a:solidFill>
            </a:endParaRPr>
          </a:p>
          <a:p>
            <a:r>
              <a:rPr lang="es-ES_tradnl" altLang="es-AR" b="1">
                <a:solidFill>
                  <a:schemeClr val="accent1"/>
                </a:solidFill>
              </a:rPr>
              <a:t>Procedimiento para los equipos de recuperación en lo referente a:</a:t>
            </a:r>
          </a:p>
          <a:p>
            <a:pPr lvl="1"/>
            <a:r>
              <a:rPr lang="es-ES_tradnl" altLang="es-AR" b="1">
                <a:solidFill>
                  <a:schemeClr val="accent1"/>
                </a:solidFill>
              </a:rPr>
              <a:t>Migración</a:t>
            </a:r>
          </a:p>
          <a:p>
            <a:pPr lvl="1"/>
            <a:r>
              <a:rPr lang="es-ES_tradnl" altLang="es-AR" b="1">
                <a:solidFill>
                  <a:schemeClr val="accent1"/>
                </a:solidFill>
              </a:rPr>
              <a:t>Operaciones</a:t>
            </a:r>
          </a:p>
          <a:p>
            <a:pPr lvl="1"/>
            <a:r>
              <a:rPr lang="es-ES_tradnl" altLang="es-AR" b="1">
                <a:solidFill>
                  <a:schemeClr val="accent1"/>
                </a:solidFill>
              </a:rPr>
              <a:t>Restauración</a:t>
            </a:r>
            <a:endParaRPr lang="es-ES_tradnl" altLang="es-AR" sz="2400">
              <a:solidFill>
                <a:schemeClr val="accent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4E296928-C18C-BA04-1A3A-BFA980C8700F}"/>
              </a:ext>
            </a:extLst>
          </p:cNvPr>
          <p:cNvSpPr>
            <a:spLocks noGrp="1"/>
          </p:cNvSpPr>
          <p:nvPr>
            <p:ph type="sldNum" sz="quarter" idx="11"/>
          </p:nvPr>
        </p:nvSpPr>
        <p:spPr>
          <a:xfrm>
            <a:off x="581191" y="5951811"/>
            <a:ext cx="10943869" cy="365125"/>
          </a:xfrm>
        </p:spPr>
        <p:txBody>
          <a:bodyPr/>
          <a:lstStyle/>
          <a:p>
            <a:pPr algn="r"/>
            <a:fld id="{B7E53D2B-C748-40AF-807D-50A1892CBBC6}" type="slidenum">
              <a:rPr lang="es-ES_tradnl" altLang="es-AR"/>
              <a:pPr algn="r"/>
              <a:t>34</a:t>
            </a:fld>
            <a:endParaRPr lang="es-ES_tradnl" altLang="es-AR">
              <a:latin typeface="Times New Roman" panose="02020603050405020304" pitchFamily="18" charset="0"/>
            </a:endParaRPr>
          </a:p>
        </p:txBody>
      </p:sp>
      <p:sp>
        <p:nvSpPr>
          <p:cNvPr id="15362" name="Rectangle 2">
            <a:extLst>
              <a:ext uri="{FF2B5EF4-FFF2-40B4-BE49-F238E27FC236}">
                <a16:creationId xmlns:a16="http://schemas.microsoft.com/office/drawing/2014/main" id="{0DEB6D94-41EF-B7C6-3CAC-28B7066BB9FA}"/>
              </a:ext>
            </a:extLst>
          </p:cNvPr>
          <p:cNvSpPr>
            <a:spLocks noGrp="1" noChangeArrowheads="1"/>
          </p:cNvSpPr>
          <p:nvPr>
            <p:ph type="title"/>
          </p:nvPr>
        </p:nvSpPr>
        <p:spPr>
          <a:xfrm>
            <a:off x="581191" y="700131"/>
            <a:ext cx="11443580" cy="1143000"/>
          </a:xfrm>
        </p:spPr>
        <p:txBody>
          <a:bodyPr/>
          <a:lstStyle/>
          <a:p>
            <a:pPr algn="l"/>
            <a:r>
              <a:rPr lang="es-ES_tradnl" altLang="es-AR"/>
              <a:t>DRP - Procedimientos de emergencias de usuarios</a:t>
            </a:r>
          </a:p>
        </p:txBody>
      </p:sp>
      <p:sp>
        <p:nvSpPr>
          <p:cNvPr id="15364" name="Rectangle 4">
            <a:extLst>
              <a:ext uri="{FF2B5EF4-FFF2-40B4-BE49-F238E27FC236}">
                <a16:creationId xmlns:a16="http://schemas.microsoft.com/office/drawing/2014/main" id="{213C5922-162B-81DD-F53D-132E98892A6B}"/>
              </a:ext>
            </a:extLst>
          </p:cNvPr>
          <p:cNvSpPr>
            <a:spLocks noGrp="1" noChangeArrowheads="1"/>
          </p:cNvSpPr>
          <p:nvPr>
            <p:ph type="body" sz="half" idx="1"/>
          </p:nvPr>
        </p:nvSpPr>
        <p:spPr>
          <a:xfrm>
            <a:off x="1422280" y="1612599"/>
            <a:ext cx="4309449" cy="4569744"/>
          </a:xfrm>
        </p:spPr>
        <p:txBody>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b="1">
                <a:solidFill>
                  <a:schemeClr val="accent1"/>
                </a:solidFill>
              </a:rPr>
              <a:t>Desarrollar lineamientos de los procedimientos de trabajo bajo condiciones de mínima, de registros alternativos y de retorno al ambiente normal</a:t>
            </a:r>
          </a:p>
          <a:p>
            <a:r>
              <a:rPr lang="es-ES_tradnl" altLang="es-AR" b="1">
                <a:solidFill>
                  <a:schemeClr val="accent1"/>
                </a:solidFill>
              </a:rPr>
              <a:t>Documentar los procedimientos para el equipo de recuperación</a:t>
            </a:r>
            <a:endParaRPr lang="es-ES_tradnl" altLang="es-AR" sz="2400" b="1">
              <a:solidFill>
                <a:schemeClr val="accent1"/>
              </a:solidFill>
            </a:endParaRPr>
          </a:p>
        </p:txBody>
      </p:sp>
      <p:sp>
        <p:nvSpPr>
          <p:cNvPr id="15365" name="Rectangle 5">
            <a:extLst>
              <a:ext uri="{FF2B5EF4-FFF2-40B4-BE49-F238E27FC236}">
                <a16:creationId xmlns:a16="http://schemas.microsoft.com/office/drawing/2014/main" id="{88EE5809-3100-5972-BCAA-281A0E24CFD9}"/>
              </a:ext>
            </a:extLst>
          </p:cNvPr>
          <p:cNvSpPr>
            <a:spLocks noGrp="1" noChangeArrowheads="1"/>
          </p:cNvSpPr>
          <p:nvPr>
            <p:ph type="body" sz="half" idx="2"/>
          </p:nvPr>
        </p:nvSpPr>
        <p:spPr>
          <a:xfrm>
            <a:off x="6572817" y="1297372"/>
            <a:ext cx="3666652" cy="4277850"/>
          </a:xfrm>
        </p:spPr>
        <p:txBody>
          <a:bodyPr/>
          <a:lstStyle/>
          <a:p>
            <a:pPr algn="ctr">
              <a:buFontTx/>
              <a:buNone/>
            </a:pPr>
            <a:r>
              <a:rPr lang="es-ES_tradnl" altLang="es-AR" sz="2400" b="1">
                <a:solidFill>
                  <a:schemeClr val="accent1"/>
                </a:solidFill>
              </a:rPr>
              <a:t>Desarrollo</a:t>
            </a:r>
          </a:p>
          <a:p>
            <a:pPr algn="ctr">
              <a:buFontTx/>
              <a:buNone/>
            </a:pPr>
            <a:endParaRPr lang="es-ES_tradnl" altLang="es-AR" sz="2400" b="1">
              <a:solidFill>
                <a:schemeClr val="accent1"/>
              </a:solidFill>
            </a:endParaRPr>
          </a:p>
          <a:p>
            <a:r>
              <a:rPr lang="es-ES_tradnl" altLang="es-AR" b="1">
                <a:solidFill>
                  <a:schemeClr val="accent1"/>
                </a:solidFill>
              </a:rPr>
              <a:t>Procedimientos de trabajo durante la emergencia y de retorno al procesamiento normal</a:t>
            </a:r>
            <a:endParaRPr lang="es-ES_tradnl" altLang="es-AR" sz="2400" b="1">
              <a:solidFill>
                <a:schemeClr val="accent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53E8994F-9B40-C317-F252-A61285E77D5D}"/>
              </a:ext>
            </a:extLst>
          </p:cNvPr>
          <p:cNvSpPr>
            <a:spLocks noGrp="1"/>
          </p:cNvSpPr>
          <p:nvPr>
            <p:ph type="sldNum" sz="quarter" idx="11"/>
          </p:nvPr>
        </p:nvSpPr>
        <p:spPr>
          <a:xfrm>
            <a:off x="581191" y="5951811"/>
            <a:ext cx="11188313" cy="365125"/>
          </a:xfrm>
        </p:spPr>
        <p:txBody>
          <a:bodyPr/>
          <a:lstStyle/>
          <a:p>
            <a:pPr algn="r"/>
            <a:fld id="{46F77D9A-CCC1-423A-A884-F05F4D2BB44D}" type="slidenum">
              <a:rPr lang="es-ES_tradnl" altLang="es-AR"/>
              <a:pPr algn="r"/>
              <a:t>35</a:t>
            </a:fld>
            <a:endParaRPr lang="es-ES_tradnl" altLang="es-AR">
              <a:latin typeface="Times New Roman" panose="02020603050405020304" pitchFamily="18" charset="0"/>
            </a:endParaRPr>
          </a:p>
        </p:txBody>
      </p:sp>
      <p:sp>
        <p:nvSpPr>
          <p:cNvPr id="16386" name="Rectangle 2">
            <a:extLst>
              <a:ext uri="{FF2B5EF4-FFF2-40B4-BE49-F238E27FC236}">
                <a16:creationId xmlns:a16="http://schemas.microsoft.com/office/drawing/2014/main" id="{D12A7F6A-9E02-7D23-2ACC-54E9E8F6A894}"/>
              </a:ext>
            </a:extLst>
          </p:cNvPr>
          <p:cNvSpPr>
            <a:spLocks noGrp="1" noChangeArrowheads="1"/>
          </p:cNvSpPr>
          <p:nvPr>
            <p:ph type="title"/>
          </p:nvPr>
        </p:nvSpPr>
        <p:spPr>
          <a:xfrm>
            <a:off x="581190" y="541064"/>
            <a:ext cx="10871443" cy="1143000"/>
          </a:xfrm>
        </p:spPr>
        <p:txBody>
          <a:bodyPr/>
          <a:lstStyle/>
          <a:p>
            <a:pPr algn="l"/>
            <a:r>
              <a:rPr lang="es-ES_tradnl" altLang="es-AR"/>
              <a:t>DRP - Desarrollo de Procedimientos de </a:t>
            </a:r>
            <a:r>
              <a:rPr lang="es-ES_tradnl" altLang="es-AR" err="1"/>
              <a:t>MantENIMIENTO</a:t>
            </a:r>
            <a:endParaRPr lang="es-ES_tradnl" altLang="es-AR"/>
          </a:p>
        </p:txBody>
      </p:sp>
      <p:sp>
        <p:nvSpPr>
          <p:cNvPr id="16388" name="Rectangle 4">
            <a:extLst>
              <a:ext uri="{FF2B5EF4-FFF2-40B4-BE49-F238E27FC236}">
                <a16:creationId xmlns:a16="http://schemas.microsoft.com/office/drawing/2014/main" id="{7C59208F-DC08-DA95-90CC-1E6BF991E08D}"/>
              </a:ext>
            </a:extLst>
          </p:cNvPr>
          <p:cNvSpPr>
            <a:spLocks noGrp="1" noChangeArrowheads="1"/>
          </p:cNvSpPr>
          <p:nvPr>
            <p:ph type="body" sz="half" idx="1"/>
          </p:nvPr>
        </p:nvSpPr>
        <p:spPr>
          <a:xfrm>
            <a:off x="1885950" y="1868781"/>
            <a:ext cx="4133850" cy="5105400"/>
          </a:xfrm>
        </p:spPr>
        <p:txBody>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b="1">
                <a:solidFill>
                  <a:schemeClr val="accent1"/>
                </a:solidFill>
              </a:rPr>
              <a:t>Desarrollar los procedimientos para la actualización del plan</a:t>
            </a:r>
          </a:p>
          <a:p>
            <a:r>
              <a:rPr lang="es-ES_tradnl" altLang="es-AR" b="1">
                <a:solidFill>
                  <a:schemeClr val="accent1"/>
                </a:solidFill>
              </a:rPr>
              <a:t>Desarrollar una estrategia para la realización de pruebas</a:t>
            </a:r>
          </a:p>
          <a:p>
            <a:r>
              <a:rPr lang="es-ES_tradnl" altLang="es-AR" b="1">
                <a:solidFill>
                  <a:schemeClr val="accent1"/>
                </a:solidFill>
              </a:rPr>
              <a:t>Desarrollar los materiales de capacitación</a:t>
            </a:r>
          </a:p>
          <a:p>
            <a:r>
              <a:rPr lang="es-ES_tradnl" altLang="es-AR" b="1">
                <a:solidFill>
                  <a:schemeClr val="accent1"/>
                </a:solidFill>
              </a:rPr>
              <a:t>Desarrollar la matriz de responsabilidad de tareas</a:t>
            </a:r>
            <a:endParaRPr lang="es-ES_tradnl" altLang="es-AR" sz="2400" b="1">
              <a:solidFill>
                <a:schemeClr val="accent1"/>
              </a:solidFill>
            </a:endParaRPr>
          </a:p>
        </p:txBody>
      </p:sp>
      <p:sp>
        <p:nvSpPr>
          <p:cNvPr id="16389" name="Rectangle 5">
            <a:extLst>
              <a:ext uri="{FF2B5EF4-FFF2-40B4-BE49-F238E27FC236}">
                <a16:creationId xmlns:a16="http://schemas.microsoft.com/office/drawing/2014/main" id="{CC9F8D1D-A0E7-6C6F-F61C-7C8DEB55C81F}"/>
              </a:ext>
            </a:extLst>
          </p:cNvPr>
          <p:cNvSpPr>
            <a:spLocks noGrp="1" noChangeArrowheads="1"/>
          </p:cNvSpPr>
          <p:nvPr>
            <p:ph type="body" sz="half" idx="2"/>
          </p:nvPr>
        </p:nvSpPr>
        <p:spPr>
          <a:xfrm>
            <a:off x="6353270" y="1461375"/>
            <a:ext cx="4133850" cy="5105400"/>
          </a:xfrm>
        </p:spPr>
        <p:txBody>
          <a:bodyPr/>
          <a:lstStyle/>
          <a:p>
            <a:pPr algn="ctr">
              <a:buFontTx/>
              <a:buNone/>
            </a:pPr>
            <a:r>
              <a:rPr lang="es-ES_tradnl" altLang="es-AR" sz="2400" b="1">
                <a:solidFill>
                  <a:schemeClr val="accent1"/>
                </a:solidFill>
              </a:rPr>
              <a:t>Desarrollo</a:t>
            </a:r>
          </a:p>
          <a:p>
            <a:pPr algn="ctr">
              <a:buFontTx/>
              <a:buNone/>
            </a:pPr>
            <a:endParaRPr lang="es-ES_tradnl" altLang="es-AR" sz="2400" b="1">
              <a:solidFill>
                <a:schemeClr val="accent1"/>
              </a:solidFill>
            </a:endParaRPr>
          </a:p>
          <a:p>
            <a:r>
              <a:rPr lang="es-ES_tradnl" altLang="es-AR" b="1">
                <a:solidFill>
                  <a:schemeClr val="accent1"/>
                </a:solidFill>
              </a:rPr>
              <a:t>Materiales de capacitación</a:t>
            </a:r>
          </a:p>
          <a:p>
            <a:r>
              <a:rPr lang="es-ES_tradnl" altLang="es-AR" b="1">
                <a:solidFill>
                  <a:schemeClr val="accent1"/>
                </a:solidFill>
              </a:rPr>
              <a:t>Plan de estrategias para la prueba</a:t>
            </a:r>
          </a:p>
          <a:p>
            <a:r>
              <a:rPr lang="es-ES_tradnl" altLang="es-AR" b="1">
                <a:solidFill>
                  <a:schemeClr val="accent1"/>
                </a:solidFill>
              </a:rPr>
              <a:t>Plan y procedimientos de actualización y mantenimiento del plan de recuperación</a:t>
            </a:r>
            <a:endParaRPr lang="es-ES_tradnl" altLang="es-AR" sz="2400">
              <a:solidFill>
                <a:schemeClr val="accen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E9555649-66E4-68A6-1C60-952B2034ECEC}"/>
              </a:ext>
            </a:extLst>
          </p:cNvPr>
          <p:cNvSpPr>
            <a:spLocks noGrp="1"/>
          </p:cNvSpPr>
          <p:nvPr>
            <p:ph type="sldNum" sz="quarter" idx="11"/>
          </p:nvPr>
        </p:nvSpPr>
        <p:spPr/>
        <p:txBody>
          <a:bodyPr/>
          <a:lstStyle/>
          <a:p>
            <a:fld id="{C1EA145C-2267-48CA-B27E-9392C89691D7}" type="slidenum">
              <a:rPr lang="es-ES_tradnl" altLang="es-AR"/>
              <a:pPr/>
              <a:t>36</a:t>
            </a:fld>
            <a:endParaRPr lang="es-ES_tradnl" altLang="es-AR">
              <a:latin typeface="Times New Roman" panose="02020603050405020304" pitchFamily="18" charset="0"/>
            </a:endParaRPr>
          </a:p>
        </p:txBody>
      </p:sp>
      <p:sp>
        <p:nvSpPr>
          <p:cNvPr id="17410" name="Rectangle 2">
            <a:extLst>
              <a:ext uri="{FF2B5EF4-FFF2-40B4-BE49-F238E27FC236}">
                <a16:creationId xmlns:a16="http://schemas.microsoft.com/office/drawing/2014/main" id="{F1580D98-8488-4E0D-7CF2-0038D04D2DB1}"/>
              </a:ext>
            </a:extLst>
          </p:cNvPr>
          <p:cNvSpPr>
            <a:spLocks noGrp="1" noChangeArrowheads="1"/>
          </p:cNvSpPr>
          <p:nvPr>
            <p:ph type="title"/>
          </p:nvPr>
        </p:nvSpPr>
        <p:spPr>
          <a:xfrm>
            <a:off x="581192" y="633742"/>
            <a:ext cx="8420100" cy="1143000"/>
          </a:xfrm>
        </p:spPr>
        <p:txBody>
          <a:bodyPr/>
          <a:lstStyle/>
          <a:p>
            <a:pPr algn="l"/>
            <a:r>
              <a:rPr lang="es-ES_tradnl" altLang="es-AR"/>
              <a:t>DRP - Implementación</a:t>
            </a:r>
          </a:p>
        </p:txBody>
      </p:sp>
      <p:sp>
        <p:nvSpPr>
          <p:cNvPr id="17411" name="Rectangle 3">
            <a:extLst>
              <a:ext uri="{FF2B5EF4-FFF2-40B4-BE49-F238E27FC236}">
                <a16:creationId xmlns:a16="http://schemas.microsoft.com/office/drawing/2014/main" id="{AF217DEB-5BCB-597B-E3EA-D1F52E3D54CB}"/>
              </a:ext>
            </a:extLst>
          </p:cNvPr>
          <p:cNvSpPr>
            <a:spLocks noGrp="1" noChangeArrowheads="1"/>
          </p:cNvSpPr>
          <p:nvPr>
            <p:ph type="body" sz="half" idx="1"/>
          </p:nvPr>
        </p:nvSpPr>
        <p:spPr>
          <a:xfrm>
            <a:off x="1234101" y="1118858"/>
            <a:ext cx="4133850" cy="5105400"/>
          </a:xfrm>
        </p:spPr>
        <p:txBody>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b="1">
                <a:solidFill>
                  <a:schemeClr val="accent1"/>
                </a:solidFill>
              </a:rPr>
              <a:t>Desarrollar el programa de trabajo</a:t>
            </a:r>
          </a:p>
          <a:p>
            <a:r>
              <a:rPr lang="es-ES_tradnl" altLang="es-AR" b="1">
                <a:solidFill>
                  <a:schemeClr val="accent1"/>
                </a:solidFill>
              </a:rPr>
              <a:t>Identificar, evaluar y recomendar los métodos apropiados</a:t>
            </a:r>
          </a:p>
          <a:p>
            <a:r>
              <a:rPr lang="es-ES_tradnl" altLang="es-AR" b="1">
                <a:solidFill>
                  <a:schemeClr val="accent1"/>
                </a:solidFill>
              </a:rPr>
              <a:t>Establecer, organizar y orientar al equipo de trabajo que tenga a cargo la implementación</a:t>
            </a:r>
            <a:endParaRPr lang="es-ES_tradnl" altLang="es-AR" sz="2400" b="1">
              <a:solidFill>
                <a:schemeClr val="accent1"/>
              </a:solidFill>
            </a:endParaRPr>
          </a:p>
        </p:txBody>
      </p:sp>
      <p:sp>
        <p:nvSpPr>
          <p:cNvPr id="17412" name="Rectangle 4">
            <a:extLst>
              <a:ext uri="{FF2B5EF4-FFF2-40B4-BE49-F238E27FC236}">
                <a16:creationId xmlns:a16="http://schemas.microsoft.com/office/drawing/2014/main" id="{380CEBEF-EB05-8940-0788-E7EEB44B08AC}"/>
              </a:ext>
            </a:extLst>
          </p:cNvPr>
          <p:cNvSpPr>
            <a:spLocks noGrp="1" noChangeArrowheads="1"/>
          </p:cNvSpPr>
          <p:nvPr>
            <p:ph type="body" sz="half" idx="2"/>
          </p:nvPr>
        </p:nvSpPr>
        <p:spPr>
          <a:xfrm>
            <a:off x="5683313" y="1752600"/>
            <a:ext cx="4133850" cy="5105400"/>
          </a:xfrm>
        </p:spPr>
        <p:txBody>
          <a:bodyPr/>
          <a:lstStyle/>
          <a:p>
            <a:pPr algn="ctr">
              <a:buFontTx/>
              <a:buNone/>
            </a:pPr>
            <a:r>
              <a:rPr lang="es-ES_tradnl" altLang="es-AR" sz="2400" b="1">
                <a:solidFill>
                  <a:schemeClr val="accent1"/>
                </a:solidFill>
              </a:rPr>
              <a:t>Desarrollo</a:t>
            </a:r>
          </a:p>
          <a:p>
            <a:pPr algn="ctr">
              <a:buFontTx/>
              <a:buNone/>
            </a:pPr>
            <a:endParaRPr lang="es-ES_tradnl" altLang="es-AR" sz="2400" b="1">
              <a:solidFill>
                <a:schemeClr val="accent1"/>
              </a:solidFill>
            </a:endParaRPr>
          </a:p>
          <a:p>
            <a:r>
              <a:rPr lang="es-ES_tradnl" altLang="es-AR" b="1">
                <a:solidFill>
                  <a:schemeClr val="accent1"/>
                </a:solidFill>
              </a:rPr>
              <a:t>Plan de trabajo para la implementación</a:t>
            </a:r>
          </a:p>
          <a:p>
            <a:r>
              <a:rPr lang="es-ES_tradnl" altLang="es-AR" b="1">
                <a:solidFill>
                  <a:schemeClr val="accent1"/>
                </a:solidFill>
              </a:rPr>
              <a:t>Recomendación de metodología apropiada</a:t>
            </a:r>
          </a:p>
          <a:p>
            <a:r>
              <a:rPr lang="es-ES_tradnl" altLang="es-AR" b="1">
                <a:solidFill>
                  <a:schemeClr val="accent1"/>
                </a:solidFill>
              </a:rPr>
              <a:t>Reunión de orientación</a:t>
            </a:r>
          </a:p>
          <a:p>
            <a:r>
              <a:rPr lang="es-ES_tradnl" altLang="es-AR" b="1">
                <a:solidFill>
                  <a:schemeClr val="accent1"/>
                </a:solidFill>
              </a:rPr>
              <a:t>Informes de estado de avance y control de calidad</a:t>
            </a:r>
            <a:endParaRPr lang="es-ES_tradnl" altLang="es-AR" sz="2400" b="1">
              <a:solidFill>
                <a:schemeClr val="accent1"/>
              </a:solidFill>
            </a:endParaRPr>
          </a:p>
          <a:p>
            <a:pPr algn="ctr">
              <a:buFontTx/>
              <a:buNone/>
            </a:pPr>
            <a:endParaRPr lang="es-ES_tradnl" altLang="es-AR" sz="2400" b="1">
              <a:solidFill>
                <a:schemeClr val="accent1"/>
              </a:solidFill>
            </a:endParaRPr>
          </a:p>
          <a:p>
            <a:pPr algn="ctr">
              <a:buFontTx/>
              <a:buNone/>
            </a:pPr>
            <a:endParaRPr lang="es-ES_tradnl" altLang="es-AR" sz="2800">
              <a:solidFill>
                <a:schemeClr val="accent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E85490EB-0BCE-B558-4F88-58FC380C6102}"/>
              </a:ext>
            </a:extLst>
          </p:cNvPr>
          <p:cNvSpPr>
            <a:spLocks noGrp="1"/>
          </p:cNvSpPr>
          <p:nvPr>
            <p:ph type="sldNum" sz="quarter" idx="11"/>
          </p:nvPr>
        </p:nvSpPr>
        <p:spPr/>
        <p:txBody>
          <a:bodyPr/>
          <a:lstStyle/>
          <a:p>
            <a:fld id="{0B2339AF-CD15-454B-A4AB-4835847D9C2C}" type="slidenum">
              <a:rPr lang="es-ES_tradnl" altLang="es-AR"/>
              <a:pPr/>
              <a:t>37</a:t>
            </a:fld>
            <a:endParaRPr lang="es-ES_tradnl" altLang="es-AR">
              <a:latin typeface="Times New Roman" panose="02020603050405020304" pitchFamily="18" charset="0"/>
            </a:endParaRPr>
          </a:p>
        </p:txBody>
      </p:sp>
      <p:sp>
        <p:nvSpPr>
          <p:cNvPr id="18434" name="Rectangle 2">
            <a:extLst>
              <a:ext uri="{FF2B5EF4-FFF2-40B4-BE49-F238E27FC236}">
                <a16:creationId xmlns:a16="http://schemas.microsoft.com/office/drawing/2014/main" id="{299435E2-8BD0-8B18-BE58-8C3B78013187}"/>
              </a:ext>
            </a:extLst>
          </p:cNvPr>
          <p:cNvSpPr>
            <a:spLocks noGrp="1" noChangeArrowheads="1"/>
          </p:cNvSpPr>
          <p:nvPr>
            <p:ph type="title"/>
          </p:nvPr>
        </p:nvSpPr>
        <p:spPr>
          <a:xfrm>
            <a:off x="581192" y="642796"/>
            <a:ext cx="8420100" cy="1143000"/>
          </a:xfrm>
        </p:spPr>
        <p:txBody>
          <a:bodyPr/>
          <a:lstStyle/>
          <a:p>
            <a:pPr algn="l"/>
            <a:r>
              <a:rPr lang="es-ES_tradnl" altLang="es-AR" err="1"/>
              <a:t>Drp</a:t>
            </a:r>
            <a:r>
              <a:rPr lang="es-ES_tradnl" altLang="es-AR"/>
              <a:t> - Prueba del Plan</a:t>
            </a:r>
          </a:p>
        </p:txBody>
      </p:sp>
      <p:sp>
        <p:nvSpPr>
          <p:cNvPr id="18436" name="Rectangle 4">
            <a:extLst>
              <a:ext uri="{FF2B5EF4-FFF2-40B4-BE49-F238E27FC236}">
                <a16:creationId xmlns:a16="http://schemas.microsoft.com/office/drawing/2014/main" id="{FC975082-28C5-40E6-CB8E-BCB13B5EAABD}"/>
              </a:ext>
            </a:extLst>
          </p:cNvPr>
          <p:cNvSpPr>
            <a:spLocks noGrp="1" noChangeArrowheads="1"/>
          </p:cNvSpPr>
          <p:nvPr>
            <p:ph type="body" sz="half" idx="1"/>
          </p:nvPr>
        </p:nvSpPr>
        <p:spPr>
          <a:xfrm>
            <a:off x="1686774" y="1452323"/>
            <a:ext cx="4133850" cy="5105400"/>
          </a:xfrm>
        </p:spPr>
        <p:txBody>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b="1">
                <a:solidFill>
                  <a:schemeClr val="accent1"/>
                </a:solidFill>
              </a:rPr>
              <a:t>Planificar la prueba</a:t>
            </a:r>
          </a:p>
          <a:p>
            <a:r>
              <a:rPr lang="es-ES_tradnl" altLang="es-AR" b="1">
                <a:solidFill>
                  <a:schemeClr val="accent1"/>
                </a:solidFill>
              </a:rPr>
              <a:t>Llevar a cabo la prueba</a:t>
            </a:r>
          </a:p>
          <a:p>
            <a:r>
              <a:rPr lang="es-ES_tradnl" altLang="es-AR" b="1">
                <a:solidFill>
                  <a:schemeClr val="accent1"/>
                </a:solidFill>
              </a:rPr>
              <a:t>Evaluar la prueba</a:t>
            </a:r>
          </a:p>
          <a:p>
            <a:r>
              <a:rPr lang="es-ES_tradnl" altLang="es-AR" b="1">
                <a:solidFill>
                  <a:schemeClr val="accent1"/>
                </a:solidFill>
              </a:rPr>
              <a:t>Revisar el plan de recuperación</a:t>
            </a:r>
            <a:endParaRPr lang="es-ES_tradnl" altLang="es-AR" sz="2400" b="1">
              <a:solidFill>
                <a:schemeClr val="accent1"/>
              </a:solidFill>
            </a:endParaRPr>
          </a:p>
        </p:txBody>
      </p:sp>
      <p:sp>
        <p:nvSpPr>
          <p:cNvPr id="18437" name="Rectangle 5">
            <a:extLst>
              <a:ext uri="{FF2B5EF4-FFF2-40B4-BE49-F238E27FC236}">
                <a16:creationId xmlns:a16="http://schemas.microsoft.com/office/drawing/2014/main" id="{40EA8E84-EDEC-A019-3528-11F035261677}"/>
              </a:ext>
            </a:extLst>
          </p:cNvPr>
          <p:cNvSpPr>
            <a:spLocks noGrp="1" noChangeArrowheads="1"/>
          </p:cNvSpPr>
          <p:nvPr>
            <p:ph type="body" sz="half" idx="2"/>
          </p:nvPr>
        </p:nvSpPr>
        <p:spPr>
          <a:xfrm>
            <a:off x="6270366" y="876300"/>
            <a:ext cx="4133850" cy="5105400"/>
          </a:xfrm>
        </p:spPr>
        <p:txBody>
          <a:bodyPr/>
          <a:lstStyle/>
          <a:p>
            <a:pPr algn="ctr">
              <a:buFontTx/>
              <a:buNone/>
            </a:pPr>
            <a:r>
              <a:rPr lang="es-ES_tradnl" altLang="es-AR" sz="2400" b="1">
                <a:solidFill>
                  <a:schemeClr val="accent1"/>
                </a:solidFill>
              </a:rPr>
              <a:t>Productos</a:t>
            </a:r>
          </a:p>
          <a:p>
            <a:pPr algn="ctr">
              <a:buFontTx/>
              <a:buNone/>
            </a:pPr>
            <a:endParaRPr lang="es-ES_tradnl" altLang="es-AR" sz="2400" b="1">
              <a:solidFill>
                <a:schemeClr val="accent1"/>
              </a:solidFill>
            </a:endParaRPr>
          </a:p>
          <a:p>
            <a:r>
              <a:rPr lang="es-ES_tradnl" altLang="es-AR" b="1">
                <a:solidFill>
                  <a:schemeClr val="accent1"/>
                </a:solidFill>
              </a:rPr>
              <a:t>Plan de recuperación probado</a:t>
            </a:r>
            <a:endParaRPr lang="es-ES_tradnl" altLang="es-AR" sz="2400" b="1">
              <a:solidFill>
                <a:schemeClr val="accen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1F118342-6294-78B0-B496-2132086ED87C}"/>
              </a:ext>
            </a:extLst>
          </p:cNvPr>
          <p:cNvSpPr>
            <a:spLocks noGrp="1"/>
          </p:cNvSpPr>
          <p:nvPr>
            <p:ph type="sldNum" sz="quarter" idx="11"/>
          </p:nvPr>
        </p:nvSpPr>
        <p:spPr/>
        <p:txBody>
          <a:bodyPr/>
          <a:lstStyle/>
          <a:p>
            <a:fld id="{45653F3D-6683-46C0-9624-A893F360DF4A}" type="slidenum">
              <a:rPr lang="es-ES_tradnl" altLang="es-AR"/>
              <a:pPr/>
              <a:t>38</a:t>
            </a:fld>
            <a:endParaRPr lang="es-ES_tradnl" altLang="es-AR">
              <a:latin typeface="Times New Roman" panose="02020603050405020304" pitchFamily="18" charset="0"/>
            </a:endParaRPr>
          </a:p>
        </p:txBody>
      </p:sp>
      <p:sp>
        <p:nvSpPr>
          <p:cNvPr id="19458" name="Rectangle 2">
            <a:extLst>
              <a:ext uri="{FF2B5EF4-FFF2-40B4-BE49-F238E27FC236}">
                <a16:creationId xmlns:a16="http://schemas.microsoft.com/office/drawing/2014/main" id="{E69CD094-5E00-4874-147D-CF953A1F2387}"/>
              </a:ext>
            </a:extLst>
          </p:cNvPr>
          <p:cNvSpPr>
            <a:spLocks noGrp="1" noChangeArrowheads="1"/>
          </p:cNvSpPr>
          <p:nvPr>
            <p:ph type="title"/>
          </p:nvPr>
        </p:nvSpPr>
        <p:spPr>
          <a:xfrm>
            <a:off x="443620" y="691977"/>
            <a:ext cx="8420100" cy="1143000"/>
          </a:xfrm>
        </p:spPr>
        <p:txBody>
          <a:bodyPr/>
          <a:lstStyle/>
          <a:p>
            <a:pPr algn="l"/>
            <a:r>
              <a:rPr lang="es-ES_tradnl" altLang="es-AR"/>
              <a:t>DRP - Capacitación del Personal</a:t>
            </a:r>
          </a:p>
        </p:txBody>
      </p:sp>
      <p:sp>
        <p:nvSpPr>
          <p:cNvPr id="19459" name="Rectangle 3">
            <a:extLst>
              <a:ext uri="{FF2B5EF4-FFF2-40B4-BE49-F238E27FC236}">
                <a16:creationId xmlns:a16="http://schemas.microsoft.com/office/drawing/2014/main" id="{FA45BF3D-B57D-D419-7E9F-A8E76ECB9C4B}"/>
              </a:ext>
            </a:extLst>
          </p:cNvPr>
          <p:cNvSpPr>
            <a:spLocks noGrp="1" noChangeArrowheads="1"/>
          </p:cNvSpPr>
          <p:nvPr>
            <p:ph type="body" sz="half" idx="1"/>
          </p:nvPr>
        </p:nvSpPr>
        <p:spPr>
          <a:xfrm>
            <a:off x="1161674" y="1126409"/>
            <a:ext cx="4133850" cy="5105400"/>
          </a:xfrm>
        </p:spPr>
        <p:txBody>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b="1">
                <a:solidFill>
                  <a:schemeClr val="accent1"/>
                </a:solidFill>
              </a:rPr>
              <a:t>Llevar a cabo la capacitación de los equipos de recuperación</a:t>
            </a:r>
          </a:p>
          <a:p>
            <a:r>
              <a:rPr lang="es-ES_tradnl" altLang="es-AR" b="1">
                <a:solidFill>
                  <a:schemeClr val="accent1"/>
                </a:solidFill>
              </a:rPr>
              <a:t>Llevar a cabo una concientización del personal</a:t>
            </a:r>
            <a:endParaRPr lang="es-ES_tradnl" altLang="es-AR" sz="2400">
              <a:solidFill>
                <a:schemeClr val="accent1"/>
              </a:solidFill>
            </a:endParaRPr>
          </a:p>
        </p:txBody>
      </p:sp>
      <p:sp>
        <p:nvSpPr>
          <p:cNvPr id="19460" name="Rectangle 4">
            <a:extLst>
              <a:ext uri="{FF2B5EF4-FFF2-40B4-BE49-F238E27FC236}">
                <a16:creationId xmlns:a16="http://schemas.microsoft.com/office/drawing/2014/main" id="{26F562CC-D66A-A0A9-C23D-CAA4EEC51BDC}"/>
              </a:ext>
            </a:extLst>
          </p:cNvPr>
          <p:cNvSpPr>
            <a:spLocks noGrp="1" noChangeArrowheads="1"/>
          </p:cNvSpPr>
          <p:nvPr>
            <p:ph type="body" sz="half" idx="2"/>
          </p:nvPr>
        </p:nvSpPr>
        <p:spPr>
          <a:xfrm>
            <a:off x="5547512" y="764271"/>
            <a:ext cx="4133850" cy="5105400"/>
          </a:xfrm>
        </p:spPr>
        <p:txBody>
          <a:bodyPr/>
          <a:lstStyle/>
          <a:p>
            <a:pPr algn="ctr">
              <a:buFontTx/>
              <a:buNone/>
            </a:pPr>
            <a:r>
              <a:rPr lang="es-ES_tradnl" altLang="es-AR" sz="2400" b="1">
                <a:solidFill>
                  <a:schemeClr val="accent1"/>
                </a:solidFill>
              </a:rPr>
              <a:t>Productos</a:t>
            </a:r>
          </a:p>
          <a:p>
            <a:pPr algn="ctr">
              <a:buFontTx/>
              <a:buNone/>
            </a:pPr>
            <a:endParaRPr lang="es-ES_tradnl" altLang="es-AR" sz="2400" b="1">
              <a:solidFill>
                <a:schemeClr val="accent1"/>
              </a:solidFill>
            </a:endParaRPr>
          </a:p>
          <a:p>
            <a:r>
              <a:rPr lang="es-ES_tradnl" altLang="es-AR" b="1">
                <a:solidFill>
                  <a:schemeClr val="accent1"/>
                </a:solidFill>
              </a:rPr>
              <a:t>Personal capacitado en el plan de recuperación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7313CDF2-09AD-D02D-087A-2C4E1BAD15B2}"/>
              </a:ext>
            </a:extLst>
          </p:cNvPr>
          <p:cNvSpPr>
            <a:spLocks noGrp="1"/>
          </p:cNvSpPr>
          <p:nvPr>
            <p:ph type="sldNum" sz="quarter" idx="11"/>
          </p:nvPr>
        </p:nvSpPr>
        <p:spPr/>
        <p:txBody>
          <a:bodyPr/>
          <a:lstStyle/>
          <a:p>
            <a:fld id="{5633EBC6-3213-4538-9562-493A15BD6BAF}" type="slidenum">
              <a:rPr lang="es-ES_tradnl" altLang="es-AR"/>
              <a:pPr/>
              <a:t>39</a:t>
            </a:fld>
            <a:endParaRPr lang="es-ES_tradnl" altLang="es-AR">
              <a:latin typeface="Times New Roman" panose="02020603050405020304" pitchFamily="18" charset="0"/>
            </a:endParaRPr>
          </a:p>
        </p:txBody>
      </p:sp>
      <p:sp>
        <p:nvSpPr>
          <p:cNvPr id="20482" name="Rectangle 2">
            <a:extLst>
              <a:ext uri="{FF2B5EF4-FFF2-40B4-BE49-F238E27FC236}">
                <a16:creationId xmlns:a16="http://schemas.microsoft.com/office/drawing/2014/main" id="{3E24321E-6CFA-C1A5-EF20-8B0969349346}"/>
              </a:ext>
            </a:extLst>
          </p:cNvPr>
          <p:cNvSpPr>
            <a:spLocks noGrp="1" noChangeArrowheads="1"/>
          </p:cNvSpPr>
          <p:nvPr>
            <p:ph type="title"/>
          </p:nvPr>
        </p:nvSpPr>
        <p:spPr>
          <a:xfrm>
            <a:off x="434567" y="679010"/>
            <a:ext cx="11090494" cy="1143000"/>
          </a:xfrm>
        </p:spPr>
        <p:txBody>
          <a:bodyPr/>
          <a:lstStyle/>
          <a:p>
            <a:pPr algn="l"/>
            <a:r>
              <a:rPr lang="es-ES_tradnl" altLang="es-AR"/>
              <a:t>DRP - Aprobación final del Plan</a:t>
            </a:r>
          </a:p>
        </p:txBody>
      </p:sp>
      <p:sp>
        <p:nvSpPr>
          <p:cNvPr id="20484" name="Rectangle 4">
            <a:extLst>
              <a:ext uri="{FF2B5EF4-FFF2-40B4-BE49-F238E27FC236}">
                <a16:creationId xmlns:a16="http://schemas.microsoft.com/office/drawing/2014/main" id="{946CAFF9-EC79-8659-C209-08969A241EDC}"/>
              </a:ext>
            </a:extLst>
          </p:cNvPr>
          <p:cNvSpPr>
            <a:spLocks noGrp="1" noChangeArrowheads="1"/>
          </p:cNvSpPr>
          <p:nvPr>
            <p:ph type="body" sz="half" idx="1"/>
          </p:nvPr>
        </p:nvSpPr>
        <p:spPr>
          <a:xfrm>
            <a:off x="1885950" y="1669605"/>
            <a:ext cx="4133850" cy="5105400"/>
          </a:xfrm>
        </p:spPr>
        <p:txBody>
          <a:bodyPr/>
          <a:lstStyle/>
          <a:p>
            <a:pPr algn="ctr">
              <a:buFontTx/>
              <a:buNone/>
            </a:pPr>
            <a:r>
              <a:rPr lang="es-ES_tradnl" altLang="es-AR" sz="2400" b="1">
                <a:solidFill>
                  <a:schemeClr val="accent1"/>
                </a:solidFill>
              </a:rPr>
              <a:t>Actividades claves</a:t>
            </a:r>
          </a:p>
          <a:p>
            <a:pPr algn="ctr">
              <a:buFontTx/>
              <a:buNone/>
            </a:pPr>
            <a:endParaRPr lang="es-ES_tradnl" altLang="es-AR" sz="2400" b="1">
              <a:solidFill>
                <a:schemeClr val="accent1"/>
              </a:solidFill>
            </a:endParaRPr>
          </a:p>
          <a:p>
            <a:r>
              <a:rPr lang="es-ES_tradnl" altLang="es-AR" b="1">
                <a:solidFill>
                  <a:schemeClr val="accent1"/>
                </a:solidFill>
              </a:rPr>
              <a:t>Aprobación de la Gerencia</a:t>
            </a:r>
          </a:p>
          <a:p>
            <a:r>
              <a:rPr lang="es-ES_tradnl" altLang="es-AR" b="1">
                <a:solidFill>
                  <a:schemeClr val="accent1"/>
                </a:solidFill>
              </a:rPr>
              <a:t>Publicar el  Plan de Recuperación</a:t>
            </a:r>
          </a:p>
          <a:p>
            <a:r>
              <a:rPr lang="es-ES_tradnl" altLang="es-AR" b="1">
                <a:solidFill>
                  <a:schemeClr val="accent1"/>
                </a:solidFill>
              </a:rPr>
              <a:t>Desarrollar la presentación del Plan de Recuperación</a:t>
            </a:r>
            <a:endParaRPr lang="es-ES_tradnl" altLang="es-AR" sz="2400" b="1">
              <a:solidFill>
                <a:schemeClr val="accent1"/>
              </a:solidFill>
            </a:endParaRPr>
          </a:p>
        </p:txBody>
      </p:sp>
      <p:sp>
        <p:nvSpPr>
          <p:cNvPr id="20485" name="Rectangle 5">
            <a:extLst>
              <a:ext uri="{FF2B5EF4-FFF2-40B4-BE49-F238E27FC236}">
                <a16:creationId xmlns:a16="http://schemas.microsoft.com/office/drawing/2014/main" id="{737904ED-5362-6309-DD98-FAC6AA747F82}"/>
              </a:ext>
            </a:extLst>
          </p:cNvPr>
          <p:cNvSpPr>
            <a:spLocks noGrp="1" noChangeArrowheads="1"/>
          </p:cNvSpPr>
          <p:nvPr>
            <p:ph type="body" sz="half" idx="2"/>
          </p:nvPr>
        </p:nvSpPr>
        <p:spPr>
          <a:xfrm>
            <a:off x="6096000" y="1343680"/>
            <a:ext cx="4133850" cy="5105400"/>
          </a:xfrm>
        </p:spPr>
        <p:txBody>
          <a:bodyPr/>
          <a:lstStyle/>
          <a:p>
            <a:pPr algn="ctr">
              <a:buFontTx/>
              <a:buNone/>
            </a:pPr>
            <a:r>
              <a:rPr lang="es-ES_tradnl" altLang="es-AR" sz="2400" b="1">
                <a:solidFill>
                  <a:schemeClr val="accent1"/>
                </a:solidFill>
              </a:rPr>
              <a:t>Productos</a:t>
            </a:r>
          </a:p>
          <a:p>
            <a:pPr algn="ctr">
              <a:buFontTx/>
              <a:buNone/>
            </a:pPr>
            <a:endParaRPr lang="es-ES_tradnl" altLang="es-AR" sz="2400" b="1">
              <a:solidFill>
                <a:schemeClr val="accent1"/>
              </a:solidFill>
            </a:endParaRPr>
          </a:p>
          <a:p>
            <a:r>
              <a:rPr lang="es-ES_tradnl" altLang="es-AR" b="1">
                <a:solidFill>
                  <a:schemeClr val="accent1"/>
                </a:solidFill>
              </a:rPr>
              <a:t>Plan de Recuperación </a:t>
            </a:r>
          </a:p>
          <a:p>
            <a:r>
              <a:rPr lang="es-ES_tradnl" altLang="es-AR" b="1">
                <a:solidFill>
                  <a:schemeClr val="accent1"/>
                </a:solidFill>
              </a:rPr>
              <a:t>Presentación Final</a:t>
            </a:r>
            <a:endParaRPr lang="es-ES_tradnl" altLang="es-AR" sz="2400" b="1">
              <a:solidFill>
                <a:schemeClr val="accen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4">
            <a:extLst>
              <a:ext uri="{FF2B5EF4-FFF2-40B4-BE49-F238E27FC236}">
                <a16:creationId xmlns:a16="http://schemas.microsoft.com/office/drawing/2014/main" id="{06FD21DC-C8B3-D2D4-8606-E9F8B2B193A9}"/>
              </a:ext>
            </a:extLst>
          </p:cNvPr>
          <p:cNvSpPr>
            <a:spLocks noGrp="1"/>
          </p:cNvSpPr>
          <p:nvPr>
            <p:ph type="sldNum" sz="quarter" idx="11"/>
          </p:nvPr>
        </p:nvSpPr>
        <p:spPr/>
        <p:txBody>
          <a:bodyPr/>
          <a:lstStyle/>
          <a:p>
            <a:fld id="{DCD4A37A-2091-4947-98FB-27A48B41E123}" type="slidenum">
              <a:rPr lang="es-ES_tradnl" altLang="es-AR"/>
              <a:pPr/>
              <a:t>40</a:t>
            </a:fld>
            <a:endParaRPr lang="es-ES_tradnl" altLang="es-AR">
              <a:latin typeface="Times New Roman" panose="02020603050405020304" pitchFamily="18" charset="0"/>
            </a:endParaRPr>
          </a:p>
        </p:txBody>
      </p:sp>
      <p:sp>
        <p:nvSpPr>
          <p:cNvPr id="22530" name="Rectangle 2">
            <a:extLst>
              <a:ext uri="{FF2B5EF4-FFF2-40B4-BE49-F238E27FC236}">
                <a16:creationId xmlns:a16="http://schemas.microsoft.com/office/drawing/2014/main" id="{469697F7-F716-D466-8FB3-F03F84568F8B}"/>
              </a:ext>
            </a:extLst>
          </p:cNvPr>
          <p:cNvSpPr>
            <a:spLocks noGrp="1" noChangeArrowheads="1"/>
          </p:cNvSpPr>
          <p:nvPr>
            <p:ph type="title"/>
          </p:nvPr>
        </p:nvSpPr>
        <p:spPr>
          <a:xfrm>
            <a:off x="581192" y="541064"/>
            <a:ext cx="8420100" cy="1143000"/>
          </a:xfrm>
        </p:spPr>
        <p:txBody>
          <a:bodyPr/>
          <a:lstStyle/>
          <a:p>
            <a:pPr algn="l"/>
            <a:r>
              <a:rPr lang="es-ES_tradnl" altLang="es-AR"/>
              <a:t>Factores de éxito de un DRP</a:t>
            </a:r>
          </a:p>
        </p:txBody>
      </p:sp>
      <p:sp>
        <p:nvSpPr>
          <p:cNvPr id="22531" name="Rectangle 3">
            <a:extLst>
              <a:ext uri="{FF2B5EF4-FFF2-40B4-BE49-F238E27FC236}">
                <a16:creationId xmlns:a16="http://schemas.microsoft.com/office/drawing/2014/main" id="{F2DCDBF7-20DA-2E99-A634-7A54F6B47EC0}"/>
              </a:ext>
            </a:extLst>
          </p:cNvPr>
          <p:cNvSpPr>
            <a:spLocks noGrp="1" noChangeArrowheads="1"/>
          </p:cNvSpPr>
          <p:nvPr>
            <p:ph type="body" idx="1"/>
          </p:nvPr>
        </p:nvSpPr>
        <p:spPr>
          <a:xfrm>
            <a:off x="977775" y="1978929"/>
            <a:ext cx="10818890" cy="5007959"/>
          </a:xfrm>
        </p:spPr>
        <p:txBody>
          <a:bodyPr>
            <a:normAutofit/>
          </a:bodyPr>
          <a:lstStyle/>
          <a:p>
            <a:pPr algn="ctr">
              <a:buFontTx/>
              <a:buNone/>
            </a:pPr>
            <a:r>
              <a:rPr lang="es-ES_tradnl" altLang="es-AR" sz="2400" b="1">
                <a:solidFill>
                  <a:schemeClr val="accent1"/>
                </a:solidFill>
              </a:rPr>
              <a:t>Compromiso de la Alta Gerencia con el DRP</a:t>
            </a:r>
            <a:endParaRPr lang="es-ES_tradnl" altLang="es-AR" sz="2400">
              <a:solidFill>
                <a:schemeClr val="accent1"/>
              </a:solidFill>
            </a:endParaRPr>
          </a:p>
          <a:p>
            <a:pPr>
              <a:buFontTx/>
              <a:buNone/>
            </a:pPr>
            <a:endParaRPr lang="es-ES_tradnl" altLang="es-AR" sz="2400">
              <a:solidFill>
                <a:schemeClr val="accent1"/>
              </a:solidFill>
            </a:endParaRPr>
          </a:p>
          <a:p>
            <a:pPr>
              <a:buFontTx/>
              <a:buNone/>
            </a:pPr>
            <a:endParaRPr lang="es-ES_tradnl" altLang="es-AR" sz="2400">
              <a:solidFill>
                <a:schemeClr val="accent1"/>
              </a:solidFill>
            </a:endParaRPr>
          </a:p>
          <a:p>
            <a:pPr algn="ctr">
              <a:buFontTx/>
              <a:buNone/>
            </a:pPr>
            <a:r>
              <a:rPr lang="es-ES_tradnl" altLang="es-AR" sz="2400" b="1">
                <a:solidFill>
                  <a:schemeClr val="accent1"/>
                </a:solidFill>
              </a:rPr>
              <a:t>Evaluación continua de los riesgos del negocio</a:t>
            </a:r>
            <a:endParaRPr lang="es-ES_tradnl" altLang="es-AR" sz="2400">
              <a:solidFill>
                <a:schemeClr val="accent1"/>
              </a:solidFill>
            </a:endParaRPr>
          </a:p>
          <a:p>
            <a:pPr>
              <a:buFontTx/>
              <a:buNone/>
            </a:pPr>
            <a:r>
              <a:rPr lang="es-ES_tradnl" altLang="es-AR" sz="2400">
                <a:solidFill>
                  <a:schemeClr val="accent1"/>
                </a:solidFill>
              </a:rPr>
              <a:t>Las </a:t>
            </a:r>
            <a:r>
              <a:rPr lang="es-ES_tradnl" altLang="es-AR" sz="2400" b="1">
                <a:solidFill>
                  <a:schemeClr val="accent1"/>
                </a:solidFill>
              </a:rPr>
              <a:t>claves</a:t>
            </a:r>
            <a:r>
              <a:rPr lang="es-ES_tradnl" altLang="es-AR" sz="2400">
                <a:solidFill>
                  <a:schemeClr val="accent1"/>
                </a:solidFill>
              </a:rPr>
              <a:t> del compromiso son:</a:t>
            </a:r>
          </a:p>
          <a:p>
            <a:pPr lvl="1"/>
            <a:r>
              <a:rPr lang="es-ES_tradnl" altLang="es-AR" sz="2000" b="1">
                <a:solidFill>
                  <a:schemeClr val="accent1"/>
                </a:solidFill>
              </a:rPr>
              <a:t>Reevaluar la estrategia de recuperación ante cambios detectados en el negocio</a:t>
            </a:r>
          </a:p>
          <a:p>
            <a:pPr lvl="1"/>
            <a:r>
              <a:rPr lang="es-ES_tradnl" altLang="es-AR" sz="2000" b="1">
                <a:solidFill>
                  <a:schemeClr val="accent1"/>
                </a:solidFill>
              </a:rPr>
              <a:t>Capacitar a todo el personal</a:t>
            </a:r>
          </a:p>
          <a:p>
            <a:pPr lvl="1"/>
            <a:r>
              <a:rPr lang="es-ES_tradnl" altLang="es-AR" sz="2000" b="1">
                <a:solidFill>
                  <a:schemeClr val="accent1"/>
                </a:solidFill>
              </a:rPr>
              <a:t>Probar periódicamente el DRP</a:t>
            </a:r>
          </a:p>
          <a:p>
            <a:pPr lvl="1"/>
            <a:r>
              <a:rPr lang="es-ES_tradnl" altLang="es-AR" sz="2000" b="1">
                <a:solidFill>
                  <a:schemeClr val="accent1"/>
                </a:solidFill>
              </a:rPr>
              <a:t>Mantener el DRP actualizado</a:t>
            </a:r>
            <a:endParaRPr lang="es-ES_tradnl" altLang="es-AR">
              <a:solidFill>
                <a:schemeClr val="accent1"/>
              </a:solidFill>
            </a:endParaRPr>
          </a:p>
          <a:p>
            <a:endParaRPr lang="es-ES_tradnl" altLang="es-AR">
              <a:solidFill>
                <a:schemeClr val="accent1"/>
              </a:solidFill>
            </a:endParaRPr>
          </a:p>
        </p:txBody>
      </p:sp>
      <p:sp>
        <p:nvSpPr>
          <p:cNvPr id="22532" name="AutoShape 4">
            <a:extLst>
              <a:ext uri="{FF2B5EF4-FFF2-40B4-BE49-F238E27FC236}">
                <a16:creationId xmlns:a16="http://schemas.microsoft.com/office/drawing/2014/main" id="{E1E1E9D1-855D-6C55-3F51-18EF8DDFE468}"/>
              </a:ext>
            </a:extLst>
          </p:cNvPr>
          <p:cNvSpPr>
            <a:spLocks noChangeArrowheads="1"/>
          </p:cNvSpPr>
          <p:nvPr/>
        </p:nvSpPr>
        <p:spPr bwMode="auto">
          <a:xfrm>
            <a:off x="5313963" y="2589992"/>
            <a:ext cx="1073257" cy="934015"/>
          </a:xfrm>
          <a:prstGeom prst="downArrow">
            <a:avLst>
              <a:gd name="adj1" fmla="val 50000"/>
              <a:gd name="adj2" fmla="val 2884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solidFill>
                <a:schemeClr val="accent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C9F6A3-5442-12CB-9D40-99E45322B68C}"/>
              </a:ext>
            </a:extLst>
          </p:cNvPr>
          <p:cNvSpPr>
            <a:spLocks noGrp="1"/>
          </p:cNvSpPr>
          <p:nvPr>
            <p:ph type="title"/>
          </p:nvPr>
        </p:nvSpPr>
        <p:spPr/>
        <p:txBody>
          <a:bodyPr/>
          <a:lstStyle/>
          <a:p>
            <a:r>
              <a:rPr lang="es-MX"/>
              <a:t>parámetros adicionales</a:t>
            </a:r>
            <a:endParaRPr lang="es-AR"/>
          </a:p>
        </p:txBody>
      </p:sp>
      <p:sp>
        <p:nvSpPr>
          <p:cNvPr id="3" name="Marcador de contenido 2">
            <a:extLst>
              <a:ext uri="{FF2B5EF4-FFF2-40B4-BE49-F238E27FC236}">
                <a16:creationId xmlns:a16="http://schemas.microsoft.com/office/drawing/2014/main" id="{AFA5EB61-6C48-CBE6-A08A-F3F050DE5ACB}"/>
              </a:ext>
            </a:extLst>
          </p:cNvPr>
          <p:cNvSpPr>
            <a:spLocks noGrp="1"/>
          </p:cNvSpPr>
          <p:nvPr>
            <p:ph idx="1"/>
          </p:nvPr>
        </p:nvSpPr>
        <p:spPr/>
        <p:txBody>
          <a:bodyPr/>
          <a:lstStyle/>
          <a:p>
            <a:r>
              <a:rPr lang="es-MX">
                <a:solidFill>
                  <a:schemeClr val="accent1"/>
                </a:solidFill>
              </a:rPr>
              <a:t>Ventana de interrupción-El período de tiempo máximo- que puede esperar la organización desde el punto de fallo hasta la restauración de los servicios/aplicaciones críticas.  Después de ese tiempo, las pérdidas progresivas ocasionadas por dicha interrupción son imposibles de costear.</a:t>
            </a:r>
          </a:p>
          <a:p>
            <a:r>
              <a:rPr lang="es-MX" b="1">
                <a:solidFill>
                  <a:schemeClr val="accent1"/>
                </a:solidFill>
              </a:rPr>
              <a:t>Objetivo de prestación de servicio (SDO</a:t>
            </a:r>
            <a:r>
              <a:rPr lang="es-MX">
                <a:solidFill>
                  <a:schemeClr val="accent1"/>
                </a:solidFill>
              </a:rPr>
              <a:t>)-Nivel de servicios que se deben alcanzar durante el modo de proceso alterno hasta que vuelva a la situación normal. Se relaciona directamente con las necesidades del negocio. </a:t>
            </a:r>
          </a:p>
          <a:p>
            <a:r>
              <a:rPr lang="es-MX" b="1">
                <a:solidFill>
                  <a:schemeClr val="accent1"/>
                </a:solidFill>
              </a:rPr>
              <a:t>Interrupción máximo tolerable  </a:t>
            </a:r>
            <a:r>
              <a:rPr lang="es-MX">
                <a:solidFill>
                  <a:schemeClr val="accent1"/>
                </a:solidFill>
              </a:rPr>
              <a:t>durante el que la organización puede continuar el proceso en modo alterno. Después de este punto, pueden surgir diferentes problemas. especialmente si el SDO alterno es más bajo que el SDO usual, y la información en espera de actualización puede ser incontrolable. </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A1954F30-7F56-773C-FCBA-6AFF2750579A}"/>
              </a:ext>
            </a:extLst>
          </p:cNvPr>
          <p:cNvSpPr>
            <a:spLocks noGrp="1"/>
          </p:cNvSpPr>
          <p:nvPr>
            <p:ph type="sldNum" sz="quarter" idx="12"/>
          </p:nvPr>
        </p:nvSpPr>
        <p:spPr/>
        <p:txBody>
          <a:bodyPr/>
          <a:lstStyle/>
          <a:p>
            <a:fld id="{0E40E506-8910-4A1D-9597-9E72BD293B97}" type="slidenum">
              <a:rPr lang="en-US" smtClean="0"/>
              <a:t>41</a:t>
            </a:fld>
            <a:endParaRPr lang="en-US"/>
          </a:p>
        </p:txBody>
      </p:sp>
    </p:spTree>
    <p:extLst>
      <p:ext uri="{BB962C8B-B14F-4D97-AF65-F5344CB8AC3E}">
        <p14:creationId xmlns:p14="http://schemas.microsoft.com/office/powerpoint/2010/main" val="17699695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029A2D-10A3-9E02-E3C5-A2446D6D53B4}"/>
              </a:ext>
            </a:extLst>
          </p:cNvPr>
          <p:cNvSpPr>
            <a:spLocks noGrp="1"/>
          </p:cNvSpPr>
          <p:nvPr>
            <p:ph type="title"/>
          </p:nvPr>
        </p:nvSpPr>
        <p:spPr/>
        <p:txBody>
          <a:bodyPr/>
          <a:lstStyle/>
          <a:p>
            <a:r>
              <a:rPr lang="es-AR"/>
              <a:t>ESTRATEGIAS DE RECUPERACIÓN </a:t>
            </a:r>
          </a:p>
        </p:txBody>
      </p:sp>
      <p:sp>
        <p:nvSpPr>
          <p:cNvPr id="3" name="Marcador de contenido 2">
            <a:extLst>
              <a:ext uri="{FF2B5EF4-FFF2-40B4-BE49-F238E27FC236}">
                <a16:creationId xmlns:a16="http://schemas.microsoft.com/office/drawing/2014/main" id="{447FFC3B-449C-59FE-844D-69E9AFC22067}"/>
              </a:ext>
            </a:extLst>
          </p:cNvPr>
          <p:cNvSpPr>
            <a:spLocks noGrp="1"/>
          </p:cNvSpPr>
          <p:nvPr>
            <p:ph idx="1"/>
          </p:nvPr>
        </p:nvSpPr>
        <p:spPr/>
        <p:txBody>
          <a:bodyPr/>
          <a:lstStyle/>
          <a:p>
            <a:r>
              <a:rPr lang="es-MX">
                <a:solidFill>
                  <a:schemeClr val="accent1"/>
                </a:solidFill>
              </a:rPr>
              <a:t>Es necesario desarrollar diferentes estrategias y presentar todas las alternativas a 1a alta gerencia, debe seleccionar la estrategia más apropiada entre las alternativas que se proporcionan y aceptar e1 riesgo residual inherente. Se deberán utilizar las estrategias seleccionadas para desarrollar posteriormente el plan de continuidad del negocio (BCP). </a:t>
            </a:r>
          </a:p>
          <a:p>
            <a:pPr marL="0" indent="0">
              <a:buNone/>
            </a:pPr>
            <a:r>
              <a:rPr lang="es-MX" b="1">
                <a:solidFill>
                  <a:schemeClr val="accent1"/>
                </a:solidFill>
              </a:rPr>
              <a:t>La selección de una estrategia de recuperación dependería de: </a:t>
            </a:r>
          </a:p>
          <a:p>
            <a:r>
              <a:rPr lang="es-MX">
                <a:solidFill>
                  <a:schemeClr val="accent1"/>
                </a:solidFill>
              </a:rPr>
              <a:t>La criticidad del proceso de negocio y las aplicaciones que respaldan los procesos.</a:t>
            </a:r>
          </a:p>
          <a:p>
            <a:r>
              <a:rPr lang="es-AR">
                <a:solidFill>
                  <a:schemeClr val="accent1"/>
                </a:solidFill>
              </a:rPr>
              <a:t>El costo.</a:t>
            </a:r>
            <a:endParaRPr lang="es-MX">
              <a:solidFill>
                <a:schemeClr val="accent1"/>
              </a:solidFill>
            </a:endParaRPr>
          </a:p>
          <a:p>
            <a:r>
              <a:rPr lang="es-MX">
                <a:solidFill>
                  <a:schemeClr val="accent1"/>
                </a:solidFill>
              </a:rPr>
              <a:t>El tiempo requerido para la recuperación.</a:t>
            </a:r>
          </a:p>
          <a:p>
            <a:r>
              <a:rPr lang="es-MX">
                <a:solidFill>
                  <a:schemeClr val="accent1"/>
                </a:solidFill>
              </a:rPr>
              <a:t>La seguridad.</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55AB5CD9-BC47-59E4-124C-723AB56D0DA8}"/>
              </a:ext>
            </a:extLst>
          </p:cNvPr>
          <p:cNvSpPr>
            <a:spLocks noGrp="1"/>
          </p:cNvSpPr>
          <p:nvPr>
            <p:ph type="sldNum" sz="quarter" idx="12"/>
          </p:nvPr>
        </p:nvSpPr>
        <p:spPr/>
        <p:txBody>
          <a:bodyPr/>
          <a:lstStyle/>
          <a:p>
            <a:fld id="{0E40E506-8910-4A1D-9597-9E72BD293B97}" type="slidenum">
              <a:rPr lang="en-US" smtClean="0"/>
              <a:t>42</a:t>
            </a:fld>
            <a:endParaRPr lang="en-US"/>
          </a:p>
        </p:txBody>
      </p:sp>
    </p:spTree>
    <p:extLst>
      <p:ext uri="{BB962C8B-B14F-4D97-AF65-F5344CB8AC3E}">
        <p14:creationId xmlns:p14="http://schemas.microsoft.com/office/powerpoint/2010/main" val="41782708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08F911-BB40-9AB9-321D-64D98C4B8995}"/>
              </a:ext>
            </a:extLst>
          </p:cNvPr>
          <p:cNvSpPr>
            <a:spLocks noGrp="1"/>
          </p:cNvSpPr>
          <p:nvPr>
            <p:ph type="title"/>
          </p:nvPr>
        </p:nvSpPr>
        <p:spPr/>
        <p:txBody>
          <a:bodyPr/>
          <a:lstStyle/>
          <a:p>
            <a:r>
              <a:rPr lang="es-AR"/>
              <a:t>ESTRATEGIAS DE RECUPERACIÓN </a:t>
            </a:r>
          </a:p>
        </p:txBody>
      </p:sp>
      <p:sp>
        <p:nvSpPr>
          <p:cNvPr id="3" name="Marcador de contenido 2">
            <a:extLst>
              <a:ext uri="{FF2B5EF4-FFF2-40B4-BE49-F238E27FC236}">
                <a16:creationId xmlns:a16="http://schemas.microsoft.com/office/drawing/2014/main" id="{C0A2B93C-E78B-D972-C12A-747E2765ED8B}"/>
              </a:ext>
            </a:extLst>
          </p:cNvPr>
          <p:cNvSpPr>
            <a:spLocks noGrp="1"/>
          </p:cNvSpPr>
          <p:nvPr>
            <p:ph idx="1"/>
          </p:nvPr>
        </p:nvSpPr>
        <p:spPr>
          <a:xfrm>
            <a:off x="663059" y="1944914"/>
            <a:ext cx="10409329" cy="3921732"/>
          </a:xfrm>
        </p:spPr>
        <p:txBody>
          <a:bodyPr/>
          <a:lstStyle/>
          <a:p>
            <a:pPr marL="0" indent="0" algn="ctr">
              <a:buNone/>
            </a:pPr>
            <a:r>
              <a:rPr lang="es-MX" b="1">
                <a:solidFill>
                  <a:schemeClr val="accent1"/>
                </a:solidFill>
              </a:rPr>
              <a:t>Existen muchas estrategias alternas</a:t>
            </a:r>
          </a:p>
          <a:p>
            <a:pPr algn="ctr"/>
            <a:r>
              <a:rPr lang="es-MX">
                <a:solidFill>
                  <a:schemeClr val="accent1"/>
                </a:solidFill>
              </a:rPr>
              <a:t>Hot sites</a:t>
            </a:r>
          </a:p>
          <a:p>
            <a:pPr algn="ctr"/>
            <a:r>
              <a:rPr lang="es-MX" err="1">
                <a:solidFill>
                  <a:schemeClr val="accent1"/>
                </a:solidFill>
              </a:rPr>
              <a:t>Warm</a:t>
            </a:r>
            <a:r>
              <a:rPr lang="es-MX">
                <a:solidFill>
                  <a:schemeClr val="accent1"/>
                </a:solidFill>
              </a:rPr>
              <a:t> sites</a:t>
            </a:r>
          </a:p>
          <a:p>
            <a:pPr algn="ctr"/>
            <a:r>
              <a:rPr lang="es-MX" err="1">
                <a:solidFill>
                  <a:schemeClr val="accent1"/>
                </a:solidFill>
              </a:rPr>
              <a:t>Cold</a:t>
            </a:r>
            <a:r>
              <a:rPr lang="es-MX">
                <a:solidFill>
                  <a:schemeClr val="accent1"/>
                </a:solidFill>
              </a:rPr>
              <a:t> sites</a:t>
            </a:r>
          </a:p>
          <a:p>
            <a:pPr algn="ctr"/>
            <a:r>
              <a:rPr lang="es-MX">
                <a:solidFill>
                  <a:schemeClr val="accent1"/>
                </a:solidFill>
              </a:rPr>
              <a:t>Instalaciones duplicadas de procesamiento de </a:t>
            </a:r>
            <a:r>
              <a:rPr lang="es-MX" err="1">
                <a:solidFill>
                  <a:schemeClr val="accent1"/>
                </a:solidFill>
              </a:rPr>
              <a:t>infomación</a:t>
            </a:r>
            <a:r>
              <a:rPr lang="es-MX">
                <a:solidFill>
                  <a:schemeClr val="accent1"/>
                </a:solidFill>
              </a:rPr>
              <a:t> </a:t>
            </a:r>
          </a:p>
          <a:p>
            <a:pPr algn="ctr"/>
            <a:r>
              <a:rPr lang="es-MX">
                <a:solidFill>
                  <a:schemeClr val="accent1"/>
                </a:solidFill>
              </a:rPr>
              <a:t>Sitios móviles </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C6A6C7C0-34F3-9E06-1DE5-7747069777C2}"/>
              </a:ext>
            </a:extLst>
          </p:cNvPr>
          <p:cNvSpPr>
            <a:spLocks noGrp="1"/>
          </p:cNvSpPr>
          <p:nvPr>
            <p:ph type="sldNum" sz="quarter" idx="12"/>
          </p:nvPr>
        </p:nvSpPr>
        <p:spPr/>
        <p:txBody>
          <a:bodyPr/>
          <a:lstStyle/>
          <a:p>
            <a:fld id="{0E40E506-8910-4A1D-9597-9E72BD293B97}" type="slidenum">
              <a:rPr lang="en-US" smtClean="0"/>
              <a:t>43</a:t>
            </a:fld>
            <a:endParaRPr lang="en-US"/>
          </a:p>
        </p:txBody>
      </p:sp>
    </p:spTree>
    <p:extLst>
      <p:ext uri="{BB962C8B-B14F-4D97-AF65-F5344CB8AC3E}">
        <p14:creationId xmlns:p14="http://schemas.microsoft.com/office/powerpoint/2010/main" val="25888454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E97183-BF95-8B7B-A43E-37B21A9A42FC}"/>
              </a:ext>
            </a:extLst>
          </p:cNvPr>
          <p:cNvSpPr>
            <a:spLocks noGrp="1"/>
          </p:cNvSpPr>
          <p:nvPr>
            <p:ph type="title"/>
          </p:nvPr>
        </p:nvSpPr>
        <p:spPr/>
        <p:txBody>
          <a:bodyPr/>
          <a:lstStyle/>
          <a:p>
            <a:r>
              <a:rPr lang="es-MX"/>
              <a:t>Hot sites</a:t>
            </a:r>
            <a:endParaRPr lang="es-AR"/>
          </a:p>
        </p:txBody>
      </p:sp>
      <p:sp>
        <p:nvSpPr>
          <p:cNvPr id="3" name="Marcador de contenido 2">
            <a:extLst>
              <a:ext uri="{FF2B5EF4-FFF2-40B4-BE49-F238E27FC236}">
                <a16:creationId xmlns:a16="http://schemas.microsoft.com/office/drawing/2014/main" id="{F0DB838C-AA14-F7B4-9199-D7331275B684}"/>
              </a:ext>
            </a:extLst>
          </p:cNvPr>
          <p:cNvSpPr>
            <a:spLocks noGrp="1"/>
          </p:cNvSpPr>
          <p:nvPr>
            <p:ph idx="1"/>
          </p:nvPr>
        </p:nvSpPr>
        <p:spPr/>
        <p:txBody>
          <a:bodyPr>
            <a:normAutofit/>
          </a:bodyPr>
          <a:lstStyle/>
          <a:p>
            <a:pPr marL="0" indent="0" algn="ctr">
              <a:buNone/>
            </a:pPr>
            <a:r>
              <a:rPr lang="es-MX" sz="2400">
                <a:solidFill>
                  <a:schemeClr val="accent1"/>
                </a:solidFill>
                <a:ea typeface="+mn-lt"/>
                <a:cs typeface="+mn-lt"/>
              </a:rPr>
              <a:t>Es un sitio de contingencia que cuenta con infraestructura tecnológica, sistemas y recursos previamente instalados y configurados, preparados para asumir las operaciones de un centro de procesamiento de datos principal ante una interrupción crítica. Su objetivo es garantizar la continuidad operativa y minimizar los tiempos de recuperación de los servicios y la información institucional.</a:t>
            </a:r>
            <a:endParaRPr lang="es-ES"/>
          </a:p>
          <a:p>
            <a:pPr marL="0" indent="0" algn="ctr">
              <a:buNone/>
            </a:pPr>
            <a:r>
              <a:rPr lang="es-MX" sz="2400">
                <a:solidFill>
                  <a:schemeClr val="accent1"/>
                </a:solidFill>
              </a:rPr>
              <a:t>Son instalaciones con el espacio y la infraestructura básica y todos los equipos de TI y comunicaciones que se requieren para respaldar las aplicaciones críticas, junto con todo el mobiliario y equipos de oficina para uso del personal.</a:t>
            </a:r>
            <a:endParaRPr lang="es-AR" sz="2400">
              <a:solidFill>
                <a:schemeClr val="accent1"/>
              </a:solidFill>
            </a:endParaRPr>
          </a:p>
        </p:txBody>
      </p:sp>
      <p:sp>
        <p:nvSpPr>
          <p:cNvPr id="4" name="Marcador de número de diapositiva 3">
            <a:extLst>
              <a:ext uri="{FF2B5EF4-FFF2-40B4-BE49-F238E27FC236}">
                <a16:creationId xmlns:a16="http://schemas.microsoft.com/office/drawing/2014/main" id="{7047A195-4E79-2188-CBBA-16375572F51B}"/>
              </a:ext>
            </a:extLst>
          </p:cNvPr>
          <p:cNvSpPr>
            <a:spLocks noGrp="1"/>
          </p:cNvSpPr>
          <p:nvPr>
            <p:ph type="sldNum" sz="quarter" idx="12"/>
          </p:nvPr>
        </p:nvSpPr>
        <p:spPr/>
        <p:txBody>
          <a:bodyPr/>
          <a:lstStyle/>
          <a:p>
            <a:fld id="{0E40E506-8910-4A1D-9597-9E72BD293B97}" type="slidenum">
              <a:rPr lang="en-US" smtClean="0"/>
              <a:t>44</a:t>
            </a:fld>
            <a:endParaRPr lang="en-US"/>
          </a:p>
        </p:txBody>
      </p:sp>
    </p:spTree>
    <p:extLst>
      <p:ext uri="{BB962C8B-B14F-4D97-AF65-F5344CB8AC3E}">
        <p14:creationId xmlns:p14="http://schemas.microsoft.com/office/powerpoint/2010/main" val="870155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D6BD3C-398A-2375-975F-97093FB95D79}"/>
              </a:ext>
            </a:extLst>
          </p:cNvPr>
          <p:cNvSpPr>
            <a:spLocks noGrp="1"/>
          </p:cNvSpPr>
          <p:nvPr>
            <p:ph type="title"/>
          </p:nvPr>
        </p:nvSpPr>
        <p:spPr/>
        <p:txBody>
          <a:bodyPr/>
          <a:lstStyle/>
          <a:p>
            <a:r>
              <a:rPr lang="es-AR" err="1"/>
              <a:t>warm</a:t>
            </a:r>
            <a:r>
              <a:rPr lang="es-AR"/>
              <a:t> sites</a:t>
            </a:r>
          </a:p>
        </p:txBody>
      </p:sp>
      <p:sp>
        <p:nvSpPr>
          <p:cNvPr id="3" name="Marcador de contenido 2">
            <a:extLst>
              <a:ext uri="{FF2B5EF4-FFF2-40B4-BE49-F238E27FC236}">
                <a16:creationId xmlns:a16="http://schemas.microsoft.com/office/drawing/2014/main" id="{5D948982-7F55-B404-93B3-B694940C50DC}"/>
              </a:ext>
            </a:extLst>
          </p:cNvPr>
          <p:cNvSpPr>
            <a:spLocks noGrp="1"/>
          </p:cNvSpPr>
          <p:nvPr>
            <p:ph idx="1"/>
          </p:nvPr>
        </p:nvSpPr>
        <p:spPr/>
        <p:txBody>
          <a:bodyPr>
            <a:normAutofit/>
          </a:bodyPr>
          <a:lstStyle/>
          <a:p>
            <a:pPr marL="0" indent="0" algn="just">
              <a:buNone/>
            </a:pPr>
            <a:r>
              <a:rPr lang="es-MX" sz="2000">
                <a:solidFill>
                  <a:schemeClr val="accent1"/>
                </a:solidFill>
                <a:ea typeface="+mn-lt"/>
                <a:cs typeface="+mn-lt"/>
              </a:rPr>
              <a:t>Es un sitio de contingencia que dispone de infraestructura tecnológica y equipamiento parcialmente configurados, que requieren tareas adicionales de instalación, actualización o recuperación de datos para asumir las operaciones del centro de procesamiento principal. Su objetivo es facilitar la continuidad operativa y reducir los tiempos de recuperación ante interrupciones de los servicios tecnológicos.</a:t>
            </a:r>
            <a:endParaRPr lang="es-MX" sz="2000" dirty="0">
              <a:solidFill>
                <a:schemeClr val="accent1"/>
              </a:solidFill>
            </a:endParaRPr>
          </a:p>
          <a:p>
            <a:pPr marL="0" indent="0" algn="just">
              <a:buNone/>
            </a:pPr>
            <a:r>
              <a:rPr lang="es-MX" sz="2000">
                <a:solidFill>
                  <a:schemeClr val="accent1"/>
                </a:solidFill>
              </a:rPr>
              <a:t>Son infraestructuras completas, </a:t>
            </a:r>
            <a:r>
              <a:rPr lang="es-MX" sz="2000" b="1">
                <a:solidFill>
                  <a:schemeClr val="accent1"/>
                </a:solidFill>
              </a:rPr>
              <a:t>pero parcialmente configuradas en términos de TI</a:t>
            </a:r>
            <a:r>
              <a:rPr lang="es-MX" sz="2000">
                <a:solidFill>
                  <a:schemeClr val="accent1"/>
                </a:solidFill>
              </a:rPr>
              <a:t>, usualmente con conexiones de red y equipamiento periférico esencial como controladores y dispositivos (Drives) para la carga de cintas y discos. </a:t>
            </a:r>
            <a:endParaRPr lang="es-MX">
              <a:solidFill>
                <a:schemeClr val="accent1"/>
              </a:solidFill>
            </a:endParaRPr>
          </a:p>
          <a:p>
            <a:pPr marL="0" indent="0" algn="just">
              <a:buNone/>
            </a:pPr>
            <a:r>
              <a:rPr lang="es-MX" sz="2000" dirty="0">
                <a:solidFill>
                  <a:schemeClr val="accent1"/>
                </a:solidFill>
              </a:rPr>
              <a:t>Es posible que los equipos tengan menor capacidad que los de la producción normal, pero siguen siendo adecuados para sustentar las aplicaciones críticas en el interín. Por lo general, los empleados serían transferidos al </a:t>
            </a:r>
            <a:r>
              <a:rPr lang="es-MX" sz="2000" dirty="0" err="1">
                <a:solidFill>
                  <a:schemeClr val="accent1"/>
                </a:solidFill>
              </a:rPr>
              <a:t>warm</a:t>
            </a:r>
            <a:r>
              <a:rPr lang="es-MX" sz="2000" dirty="0">
                <a:solidFill>
                  <a:schemeClr val="accent1"/>
                </a:solidFill>
              </a:rPr>
              <a:t> site</a:t>
            </a:r>
            <a:r>
              <a:rPr lang="es-AR" sz="2000" dirty="0">
                <a:solidFill>
                  <a:schemeClr val="accent1"/>
                </a:solidFill>
                <a:latin typeface="*Microsoft Sans Serif-65866-Identity-H"/>
              </a:rPr>
              <a:t>.</a:t>
            </a:r>
          </a:p>
        </p:txBody>
      </p:sp>
      <p:sp>
        <p:nvSpPr>
          <p:cNvPr id="4" name="Marcador de número de diapositiva 3">
            <a:extLst>
              <a:ext uri="{FF2B5EF4-FFF2-40B4-BE49-F238E27FC236}">
                <a16:creationId xmlns:a16="http://schemas.microsoft.com/office/drawing/2014/main" id="{362CEF52-337D-362D-5C7E-B281591105F8}"/>
              </a:ext>
            </a:extLst>
          </p:cNvPr>
          <p:cNvSpPr>
            <a:spLocks noGrp="1"/>
          </p:cNvSpPr>
          <p:nvPr>
            <p:ph type="sldNum" sz="quarter" idx="12"/>
          </p:nvPr>
        </p:nvSpPr>
        <p:spPr/>
        <p:txBody>
          <a:bodyPr/>
          <a:lstStyle/>
          <a:p>
            <a:fld id="{0E40E506-8910-4A1D-9597-9E72BD293B97}" type="slidenum">
              <a:rPr lang="en-US" smtClean="0"/>
              <a:t>45</a:t>
            </a:fld>
            <a:endParaRPr lang="en-US"/>
          </a:p>
        </p:txBody>
      </p:sp>
    </p:spTree>
    <p:extLst>
      <p:ext uri="{BB962C8B-B14F-4D97-AF65-F5344CB8AC3E}">
        <p14:creationId xmlns:p14="http://schemas.microsoft.com/office/powerpoint/2010/main" val="22030640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69BFE3-A805-57E2-C3BE-64FC7C9FAF92}"/>
              </a:ext>
            </a:extLst>
          </p:cNvPr>
          <p:cNvSpPr>
            <a:spLocks noGrp="1"/>
          </p:cNvSpPr>
          <p:nvPr>
            <p:ph type="title"/>
          </p:nvPr>
        </p:nvSpPr>
        <p:spPr/>
        <p:txBody>
          <a:bodyPr/>
          <a:lstStyle/>
          <a:p>
            <a:r>
              <a:rPr lang="es-AR" err="1"/>
              <a:t>cold</a:t>
            </a:r>
            <a:r>
              <a:rPr lang="es-AR"/>
              <a:t> sites</a:t>
            </a:r>
          </a:p>
        </p:txBody>
      </p:sp>
      <p:sp>
        <p:nvSpPr>
          <p:cNvPr id="3" name="Marcador de contenido 2">
            <a:extLst>
              <a:ext uri="{FF2B5EF4-FFF2-40B4-BE49-F238E27FC236}">
                <a16:creationId xmlns:a16="http://schemas.microsoft.com/office/drawing/2014/main" id="{BAD30E2F-B49E-6C9D-D66F-ADC2EA865A00}"/>
              </a:ext>
            </a:extLst>
          </p:cNvPr>
          <p:cNvSpPr>
            <a:spLocks noGrp="1"/>
          </p:cNvSpPr>
          <p:nvPr>
            <p:ph idx="1"/>
          </p:nvPr>
        </p:nvSpPr>
        <p:spPr/>
        <p:txBody>
          <a:bodyPr>
            <a:normAutofit fontScale="92500" lnSpcReduction="20000"/>
          </a:bodyPr>
          <a:lstStyle/>
          <a:p>
            <a:pPr marL="0" indent="0" algn="just">
              <a:buNone/>
            </a:pPr>
            <a:r>
              <a:rPr lang="es-MX" sz="2400">
                <a:solidFill>
                  <a:schemeClr val="accent1"/>
                </a:solidFill>
                <a:ea typeface="+mn-lt"/>
                <a:cs typeface="+mn-lt"/>
              </a:rPr>
              <a:t>Es un sitio de contingencia que dispone de instalaciones físicas y servicios básicos para alojar la infraestructura tecnológica, pero carece del equipamiento y de los sistemas previamente instalados y configurados. Su puesta en funcionamiento requiere la incorporación de los recursos tecnológicos necesarios, por lo que presenta mayores tiempos de recuperación ante una interrupción del centro de procesamiento principal.</a:t>
            </a:r>
            <a:endParaRPr lang="es-MX" sz="2400" dirty="0">
              <a:solidFill>
                <a:schemeClr val="accent1"/>
              </a:solidFill>
            </a:endParaRPr>
          </a:p>
          <a:p>
            <a:pPr marL="0" indent="0" algn="just">
              <a:buNone/>
            </a:pPr>
            <a:r>
              <a:rPr lang="es-MX" sz="2400">
                <a:solidFill>
                  <a:schemeClr val="accent1"/>
                </a:solidFill>
              </a:rPr>
              <a:t>Son instalaciones con el espacio apropiado y la infraestructura básica adecuada para apoyar la reanudación de las operaciones, pero sin incluir ninguno de los equipos de TI o comunicaciones, programas, datos o soporte de oficina. </a:t>
            </a:r>
            <a:endParaRPr lang="es-MX">
              <a:solidFill>
                <a:schemeClr val="accent1"/>
              </a:solidFill>
            </a:endParaRPr>
          </a:p>
          <a:p>
            <a:pPr marL="0" indent="0" algn="just">
              <a:buNone/>
            </a:pPr>
            <a:r>
              <a:rPr lang="es-MX" sz="2400" dirty="0">
                <a:solidFill>
                  <a:schemeClr val="accent1"/>
                </a:solidFill>
              </a:rPr>
              <a:t>Un plan que especifique que se utilizará un </a:t>
            </a:r>
            <a:r>
              <a:rPr lang="es-MX" sz="2400" dirty="0" err="1">
                <a:solidFill>
                  <a:schemeClr val="accent1"/>
                </a:solidFill>
              </a:rPr>
              <a:t>cold</a:t>
            </a:r>
            <a:r>
              <a:rPr lang="es-MX" sz="2400" dirty="0">
                <a:solidFill>
                  <a:schemeClr val="accent1"/>
                </a:solidFill>
              </a:rPr>
              <a:t> site también debe incluir disposiciones para adquirir e instalar hardware, software y equipos de oficina necesarios para apoyar las aplicaciones críticas cuando se active el plan. </a:t>
            </a:r>
          </a:p>
        </p:txBody>
      </p:sp>
      <p:sp>
        <p:nvSpPr>
          <p:cNvPr id="4" name="Marcador de número de diapositiva 3">
            <a:extLst>
              <a:ext uri="{FF2B5EF4-FFF2-40B4-BE49-F238E27FC236}">
                <a16:creationId xmlns:a16="http://schemas.microsoft.com/office/drawing/2014/main" id="{5641EB7C-10D2-2CA6-CFBC-9CEF9AF587BC}"/>
              </a:ext>
            </a:extLst>
          </p:cNvPr>
          <p:cNvSpPr>
            <a:spLocks noGrp="1"/>
          </p:cNvSpPr>
          <p:nvPr>
            <p:ph type="sldNum" sz="quarter" idx="12"/>
          </p:nvPr>
        </p:nvSpPr>
        <p:spPr/>
        <p:txBody>
          <a:bodyPr/>
          <a:lstStyle/>
          <a:p>
            <a:fld id="{0E40E506-8910-4A1D-9597-9E72BD293B97}" type="slidenum">
              <a:rPr lang="en-US" smtClean="0"/>
              <a:t>46</a:t>
            </a:fld>
            <a:endParaRPr lang="en-US"/>
          </a:p>
        </p:txBody>
      </p:sp>
    </p:spTree>
    <p:extLst>
      <p:ext uri="{BB962C8B-B14F-4D97-AF65-F5344CB8AC3E}">
        <p14:creationId xmlns:p14="http://schemas.microsoft.com/office/powerpoint/2010/main" val="6114436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E0FE89-90EE-7A5E-8B5F-FCDFAD19A0CD}"/>
              </a:ext>
            </a:extLst>
          </p:cNvPr>
          <p:cNvSpPr>
            <a:spLocks noGrp="1"/>
          </p:cNvSpPr>
          <p:nvPr>
            <p:ph type="title"/>
          </p:nvPr>
        </p:nvSpPr>
        <p:spPr/>
        <p:txBody>
          <a:bodyPr/>
          <a:lstStyle/>
          <a:p>
            <a:r>
              <a:rPr lang="es-AR"/>
              <a:t>sitios duplicados (</a:t>
            </a:r>
            <a:r>
              <a:rPr lang="es-AR" err="1"/>
              <a:t>Mirrored</a:t>
            </a:r>
            <a:r>
              <a:rPr lang="es-AR"/>
              <a:t>)</a:t>
            </a:r>
          </a:p>
        </p:txBody>
      </p:sp>
      <p:sp>
        <p:nvSpPr>
          <p:cNvPr id="3" name="Marcador de contenido 2">
            <a:extLst>
              <a:ext uri="{FF2B5EF4-FFF2-40B4-BE49-F238E27FC236}">
                <a16:creationId xmlns:a16="http://schemas.microsoft.com/office/drawing/2014/main" id="{7020A9C0-CF9C-06A1-90D3-1575F6338AAF}"/>
              </a:ext>
            </a:extLst>
          </p:cNvPr>
          <p:cNvSpPr>
            <a:spLocks noGrp="1"/>
          </p:cNvSpPr>
          <p:nvPr>
            <p:ph idx="1"/>
          </p:nvPr>
        </p:nvSpPr>
        <p:spPr/>
        <p:txBody>
          <a:bodyPr>
            <a:normAutofit/>
          </a:bodyPr>
          <a:lstStyle/>
          <a:p>
            <a:r>
              <a:rPr lang="es-MX" sz="2400">
                <a:solidFill>
                  <a:schemeClr val="accent1"/>
                </a:solidFill>
              </a:rPr>
              <a:t>Los sitios duplicados (</a:t>
            </a:r>
            <a:r>
              <a:rPr lang="es-MX" sz="2400" err="1">
                <a:solidFill>
                  <a:schemeClr val="accent1"/>
                </a:solidFill>
              </a:rPr>
              <a:t>Mirrored</a:t>
            </a:r>
            <a:r>
              <a:rPr lang="es-MX" sz="2400">
                <a:solidFill>
                  <a:schemeClr val="accent1"/>
                </a:solidFill>
              </a:rPr>
              <a:t>) son sitios completamente redundantes con replicación de datos en tiempo real desde el sitio de producción. </a:t>
            </a:r>
          </a:p>
          <a:p>
            <a:r>
              <a:rPr lang="es-MX" sz="2400">
                <a:solidFill>
                  <a:schemeClr val="accent1"/>
                </a:solidFill>
              </a:rPr>
              <a:t>Estos sitios cuentan con todos los equipos y el personal, además pueden asumir procesamientos críticos sin interrupciones que puedan percibir los usuarios,</a:t>
            </a:r>
            <a:endParaRPr lang="es-AR" sz="2400">
              <a:solidFill>
                <a:schemeClr val="accent1"/>
              </a:solidFill>
            </a:endParaRPr>
          </a:p>
        </p:txBody>
      </p:sp>
      <p:sp>
        <p:nvSpPr>
          <p:cNvPr id="4" name="Marcador de número de diapositiva 3">
            <a:extLst>
              <a:ext uri="{FF2B5EF4-FFF2-40B4-BE49-F238E27FC236}">
                <a16:creationId xmlns:a16="http://schemas.microsoft.com/office/drawing/2014/main" id="{808C614B-53C8-4613-6A1C-F85D94D8716C}"/>
              </a:ext>
            </a:extLst>
          </p:cNvPr>
          <p:cNvSpPr>
            <a:spLocks noGrp="1"/>
          </p:cNvSpPr>
          <p:nvPr>
            <p:ph type="sldNum" sz="quarter" idx="12"/>
          </p:nvPr>
        </p:nvSpPr>
        <p:spPr/>
        <p:txBody>
          <a:bodyPr/>
          <a:lstStyle/>
          <a:p>
            <a:fld id="{0E40E506-8910-4A1D-9597-9E72BD293B97}" type="slidenum">
              <a:rPr lang="en-US" smtClean="0"/>
              <a:t>47</a:t>
            </a:fld>
            <a:endParaRPr lang="en-US"/>
          </a:p>
        </p:txBody>
      </p:sp>
    </p:spTree>
    <p:extLst>
      <p:ext uri="{BB962C8B-B14F-4D97-AF65-F5344CB8AC3E}">
        <p14:creationId xmlns:p14="http://schemas.microsoft.com/office/powerpoint/2010/main" val="35416413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9AFCB2-1C64-E9E7-A250-E2C11C998297}"/>
              </a:ext>
            </a:extLst>
          </p:cNvPr>
          <p:cNvSpPr>
            <a:spLocks noGrp="1"/>
          </p:cNvSpPr>
          <p:nvPr>
            <p:ph type="title"/>
          </p:nvPr>
        </p:nvSpPr>
        <p:spPr/>
        <p:txBody>
          <a:bodyPr/>
          <a:lstStyle/>
          <a:p>
            <a:r>
              <a:rPr lang="es-AR"/>
              <a:t>Acuerdos recíprocos </a:t>
            </a:r>
          </a:p>
        </p:txBody>
      </p:sp>
      <p:sp>
        <p:nvSpPr>
          <p:cNvPr id="3" name="Marcador de contenido 2">
            <a:extLst>
              <a:ext uri="{FF2B5EF4-FFF2-40B4-BE49-F238E27FC236}">
                <a16:creationId xmlns:a16="http://schemas.microsoft.com/office/drawing/2014/main" id="{873ED158-2F0C-B45B-6DD7-7F9A0D704EEB}"/>
              </a:ext>
            </a:extLst>
          </p:cNvPr>
          <p:cNvSpPr>
            <a:spLocks noGrp="1"/>
          </p:cNvSpPr>
          <p:nvPr>
            <p:ph idx="1"/>
          </p:nvPr>
        </p:nvSpPr>
        <p:spPr/>
        <p:txBody>
          <a:bodyPr>
            <a:normAutofit/>
          </a:bodyPr>
          <a:lstStyle/>
          <a:p>
            <a:r>
              <a:rPr lang="es-MX" sz="2000">
                <a:solidFill>
                  <a:schemeClr val="accent1"/>
                </a:solidFill>
              </a:rPr>
              <a:t>Los cuerdos recíprocos con otras organizaciones.</a:t>
            </a:r>
          </a:p>
          <a:p>
            <a:pPr lvl="1"/>
            <a:r>
              <a:rPr lang="es-MX" sz="2000">
                <a:solidFill>
                  <a:schemeClr val="accent1"/>
                </a:solidFill>
              </a:rPr>
              <a:t>Aunque es un método usado con poca frecuencia, describe el acuerdo entre dos o más organizaciones con equipos o aplicaciones únicos. Bajo las condiciones típicas del acuerdo, los participantes se comprometen a proporcionarse asistencia en caso de que surja una emergencia. </a:t>
            </a:r>
          </a:p>
          <a:p>
            <a:pPr lvl="1"/>
            <a:endParaRPr lang="es-AR" sz="2000">
              <a:solidFill>
                <a:schemeClr val="accent1"/>
              </a:solidFill>
            </a:endParaRPr>
          </a:p>
        </p:txBody>
      </p:sp>
      <p:sp>
        <p:nvSpPr>
          <p:cNvPr id="4" name="Marcador de número de diapositiva 3">
            <a:extLst>
              <a:ext uri="{FF2B5EF4-FFF2-40B4-BE49-F238E27FC236}">
                <a16:creationId xmlns:a16="http://schemas.microsoft.com/office/drawing/2014/main" id="{91C56F1C-F1F3-A331-D2A5-88A68D0C911B}"/>
              </a:ext>
            </a:extLst>
          </p:cNvPr>
          <p:cNvSpPr>
            <a:spLocks noGrp="1"/>
          </p:cNvSpPr>
          <p:nvPr>
            <p:ph type="sldNum" sz="quarter" idx="12"/>
          </p:nvPr>
        </p:nvSpPr>
        <p:spPr/>
        <p:txBody>
          <a:bodyPr/>
          <a:lstStyle/>
          <a:p>
            <a:fld id="{0E40E506-8910-4A1D-9597-9E72BD293B97}" type="slidenum">
              <a:rPr lang="en-US" smtClean="0"/>
              <a:t>48</a:t>
            </a:fld>
            <a:endParaRPr lang="en-US"/>
          </a:p>
        </p:txBody>
      </p:sp>
    </p:spTree>
    <p:extLst>
      <p:ext uri="{BB962C8B-B14F-4D97-AF65-F5344CB8AC3E}">
        <p14:creationId xmlns:p14="http://schemas.microsoft.com/office/powerpoint/2010/main" val="6855857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8E1F93-CD24-9B92-28F5-D1AD2DEFB054}"/>
              </a:ext>
            </a:extLst>
          </p:cNvPr>
          <p:cNvSpPr>
            <a:spLocks noGrp="1"/>
          </p:cNvSpPr>
          <p:nvPr>
            <p:ph type="title"/>
          </p:nvPr>
        </p:nvSpPr>
        <p:spPr/>
        <p:txBody>
          <a:bodyPr/>
          <a:lstStyle/>
          <a:p>
            <a:r>
              <a:rPr lang="es-MX"/>
              <a:t>Diferentes opciones</a:t>
            </a:r>
            <a:endParaRPr lang="es-AR"/>
          </a:p>
        </p:txBody>
      </p:sp>
      <p:sp>
        <p:nvSpPr>
          <p:cNvPr id="3" name="Marcador de contenido 2">
            <a:extLst>
              <a:ext uri="{FF2B5EF4-FFF2-40B4-BE49-F238E27FC236}">
                <a16:creationId xmlns:a16="http://schemas.microsoft.com/office/drawing/2014/main" id="{92483567-34B0-6B6C-B76D-4CA05A6AECC7}"/>
              </a:ext>
            </a:extLst>
          </p:cNvPr>
          <p:cNvSpPr>
            <a:spLocks noGrp="1"/>
          </p:cNvSpPr>
          <p:nvPr>
            <p:ph idx="1"/>
          </p:nvPr>
        </p:nvSpPr>
        <p:spPr/>
        <p:txBody>
          <a:bodyPr>
            <a:normAutofit/>
          </a:bodyPr>
          <a:lstStyle/>
          <a:p>
            <a:r>
              <a:rPr lang="es-MX" sz="2400">
                <a:solidFill>
                  <a:schemeClr val="accent1"/>
                </a:solidFill>
              </a:rPr>
              <a:t>Las alternativas que proporcionan el tiempo de recuperación más breve requieren la mayor parte de los recursos dedicados de forma permanente, y por lo tanto incurren en el costo continuo más elevado para la compañía. </a:t>
            </a:r>
          </a:p>
          <a:p>
            <a:r>
              <a:rPr lang="es-MX" sz="2400">
                <a:solidFill>
                  <a:schemeClr val="accent1"/>
                </a:solidFill>
              </a:rPr>
              <a:t>Al comparar los costos de negocio asociados a la interrupción de procesos críticos </a:t>
            </a:r>
          </a:p>
          <a:p>
            <a:r>
              <a:rPr lang="es-MX" sz="2400">
                <a:solidFill>
                  <a:schemeClr val="accent1"/>
                </a:solidFill>
              </a:rPr>
              <a:t>(desarrollados en el BIA) con el costo de las diferentes opciones de procesamiento alternativo, la gerencia establecerá un RTO óptimo y seleccionará una alternativa de recuperación apropiada. </a:t>
            </a:r>
            <a:endParaRPr lang="es-AR" sz="2400">
              <a:solidFill>
                <a:schemeClr val="accent1"/>
              </a:solidFill>
            </a:endParaRPr>
          </a:p>
          <a:p>
            <a:endParaRPr lang="es-AR" sz="2400"/>
          </a:p>
        </p:txBody>
      </p:sp>
      <p:sp>
        <p:nvSpPr>
          <p:cNvPr id="4" name="Marcador de número de diapositiva 3">
            <a:extLst>
              <a:ext uri="{FF2B5EF4-FFF2-40B4-BE49-F238E27FC236}">
                <a16:creationId xmlns:a16="http://schemas.microsoft.com/office/drawing/2014/main" id="{780EC8F3-59B7-59BD-FF21-31267F2E79A4}"/>
              </a:ext>
            </a:extLst>
          </p:cNvPr>
          <p:cNvSpPr>
            <a:spLocks noGrp="1"/>
          </p:cNvSpPr>
          <p:nvPr>
            <p:ph type="sldNum" sz="quarter" idx="12"/>
          </p:nvPr>
        </p:nvSpPr>
        <p:spPr/>
        <p:txBody>
          <a:bodyPr/>
          <a:lstStyle/>
          <a:p>
            <a:fld id="{0E40E506-8910-4A1D-9597-9E72BD293B97}" type="slidenum">
              <a:rPr lang="en-US" smtClean="0"/>
              <a:t>49</a:t>
            </a:fld>
            <a:endParaRPr lang="en-US"/>
          </a:p>
        </p:txBody>
      </p:sp>
    </p:spTree>
    <p:extLst>
      <p:ext uri="{BB962C8B-B14F-4D97-AF65-F5344CB8AC3E}">
        <p14:creationId xmlns:p14="http://schemas.microsoft.com/office/powerpoint/2010/main" val="42079702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51D0E7-BFB5-2288-55A7-BA8302A394AB}"/>
              </a:ext>
            </a:extLst>
          </p:cNvPr>
          <p:cNvSpPr>
            <a:spLocks noGrp="1"/>
          </p:cNvSpPr>
          <p:nvPr>
            <p:ph type="title"/>
          </p:nvPr>
        </p:nvSpPr>
        <p:spPr/>
        <p:txBody>
          <a:bodyPr/>
          <a:lstStyle/>
          <a:p>
            <a:r>
              <a:rPr lang="es-MX"/>
              <a:t>Cláusulas contractuales </a:t>
            </a:r>
            <a:endParaRPr lang="es-AR"/>
          </a:p>
        </p:txBody>
      </p:sp>
      <p:sp>
        <p:nvSpPr>
          <p:cNvPr id="3" name="Marcador de contenido 2">
            <a:extLst>
              <a:ext uri="{FF2B5EF4-FFF2-40B4-BE49-F238E27FC236}">
                <a16:creationId xmlns:a16="http://schemas.microsoft.com/office/drawing/2014/main" id="{81DC78B2-09A7-69C7-79DA-0C3655DD18E9}"/>
              </a:ext>
            </a:extLst>
          </p:cNvPr>
          <p:cNvSpPr>
            <a:spLocks noGrp="1"/>
          </p:cNvSpPr>
          <p:nvPr>
            <p:ph idx="1"/>
          </p:nvPr>
        </p:nvSpPr>
        <p:spPr/>
        <p:txBody>
          <a:bodyPr>
            <a:noAutofit/>
          </a:bodyPr>
          <a:lstStyle/>
          <a:p>
            <a:pPr marL="0" indent="0">
              <a:buNone/>
            </a:pPr>
            <a:r>
              <a:rPr lang="es-MX" sz="2000" b="1">
                <a:solidFill>
                  <a:schemeClr val="accent1"/>
                </a:solidFill>
              </a:rPr>
              <a:t>Las cláusulas contractuales para el uso de sitios de terceros deben cubrir lo siguiente: </a:t>
            </a:r>
          </a:p>
          <a:p>
            <a:r>
              <a:rPr lang="es-MX" sz="2000" b="1">
                <a:solidFill>
                  <a:schemeClr val="accent1"/>
                </a:solidFill>
              </a:rPr>
              <a:t>Configuraciones </a:t>
            </a:r>
            <a:r>
              <a:rPr lang="es-MX" sz="2000">
                <a:solidFill>
                  <a:schemeClr val="accent1"/>
                </a:solidFill>
              </a:rPr>
              <a:t>¿Son las configuraciones de hardware y software de la instalación adecuadas para satisfacer las necesidades de la compañía? ¿Existen disposiciones para actualizar las configuraciones y realizar pruebas para asegurar que las configuraciones permanezcan adecuadas en el tiempo?</a:t>
            </a:r>
          </a:p>
          <a:p>
            <a:r>
              <a:rPr lang="es-MX" sz="2000" b="1">
                <a:solidFill>
                  <a:schemeClr val="accent1"/>
                </a:solidFill>
              </a:rPr>
              <a:t>Desastre </a:t>
            </a:r>
            <a:r>
              <a:rPr lang="es-MX" sz="2000">
                <a:solidFill>
                  <a:schemeClr val="accent1"/>
                </a:solidFill>
              </a:rPr>
              <a:t>¿Es la definición de desastre lo suficientemente amplia para satisfacer las necesidades anticipadas?</a:t>
            </a:r>
          </a:p>
          <a:p>
            <a:r>
              <a:rPr lang="es-MX" sz="2000" b="1">
                <a:solidFill>
                  <a:schemeClr val="accent1"/>
                </a:solidFill>
              </a:rPr>
              <a:t>Acceso </a:t>
            </a:r>
            <a:r>
              <a:rPr lang="es-MX" sz="2000">
                <a:solidFill>
                  <a:schemeClr val="accent1"/>
                </a:solidFill>
              </a:rPr>
              <a:t>¿Es del uso exclusivo de la instalación o tiene el cliente que compartir el espacio disponible si múltiples clientes declaran un desastre simultáneamente? ¿ Tiene la compañía aseguramiento garantizado de que contará con acceso adecuado al sitio y los recursos después de un desastre? ¿Especifica el acuerdo de manera satisfactoria cómo se resolverán los conflictos relacionados con el acceso? </a:t>
            </a:r>
            <a:endParaRPr lang="es-AR" sz="2000">
              <a:solidFill>
                <a:schemeClr val="accent1"/>
              </a:solidFill>
            </a:endParaRPr>
          </a:p>
        </p:txBody>
      </p:sp>
      <p:sp>
        <p:nvSpPr>
          <p:cNvPr id="4" name="Marcador de número de diapositiva 3">
            <a:extLst>
              <a:ext uri="{FF2B5EF4-FFF2-40B4-BE49-F238E27FC236}">
                <a16:creationId xmlns:a16="http://schemas.microsoft.com/office/drawing/2014/main" id="{1ADACB41-7C5B-4D7F-4BD8-7118F475B833}"/>
              </a:ext>
            </a:extLst>
          </p:cNvPr>
          <p:cNvSpPr>
            <a:spLocks noGrp="1"/>
          </p:cNvSpPr>
          <p:nvPr>
            <p:ph type="sldNum" sz="quarter" idx="12"/>
          </p:nvPr>
        </p:nvSpPr>
        <p:spPr/>
        <p:txBody>
          <a:bodyPr/>
          <a:lstStyle/>
          <a:p>
            <a:fld id="{0E40E506-8910-4A1D-9597-9E72BD293B97}" type="slidenum">
              <a:rPr lang="en-US" smtClean="0"/>
              <a:t>50</a:t>
            </a:fld>
            <a:endParaRPr lang="en-US"/>
          </a:p>
        </p:txBody>
      </p:sp>
    </p:spTree>
    <p:extLst>
      <p:ext uri="{BB962C8B-B14F-4D97-AF65-F5344CB8AC3E}">
        <p14:creationId xmlns:p14="http://schemas.microsoft.com/office/powerpoint/2010/main" val="42002512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14EF8F-8486-B391-0B78-323E1457EFAE}"/>
              </a:ext>
            </a:extLst>
          </p:cNvPr>
          <p:cNvSpPr>
            <a:spLocks noGrp="1"/>
          </p:cNvSpPr>
          <p:nvPr>
            <p:ph type="title"/>
          </p:nvPr>
        </p:nvSpPr>
        <p:spPr/>
        <p:txBody>
          <a:bodyPr/>
          <a:lstStyle/>
          <a:p>
            <a:r>
              <a:rPr lang="es-MX"/>
              <a:t>Cláusulas contractuales </a:t>
            </a:r>
            <a:endParaRPr lang="es-AR"/>
          </a:p>
        </p:txBody>
      </p:sp>
      <p:sp>
        <p:nvSpPr>
          <p:cNvPr id="3" name="Marcador de contenido 2">
            <a:extLst>
              <a:ext uri="{FF2B5EF4-FFF2-40B4-BE49-F238E27FC236}">
                <a16:creationId xmlns:a16="http://schemas.microsoft.com/office/drawing/2014/main" id="{BEB2AF8D-EC6A-2474-CDD0-B7D3A3485F68}"/>
              </a:ext>
            </a:extLst>
          </p:cNvPr>
          <p:cNvSpPr>
            <a:spLocks noGrp="1"/>
          </p:cNvSpPr>
          <p:nvPr>
            <p:ph idx="1"/>
          </p:nvPr>
        </p:nvSpPr>
        <p:spPr>
          <a:xfrm>
            <a:off x="581192" y="2477541"/>
            <a:ext cx="11029615" cy="3678303"/>
          </a:xfrm>
        </p:spPr>
        <p:txBody>
          <a:bodyPr>
            <a:noAutofit/>
          </a:bodyPr>
          <a:lstStyle/>
          <a:p>
            <a:r>
              <a:rPr lang="es-MX" sz="2200" b="1">
                <a:solidFill>
                  <a:schemeClr val="accent1"/>
                </a:solidFill>
              </a:rPr>
              <a:t>Prioridad </a:t>
            </a:r>
            <a:r>
              <a:rPr lang="es-MX" sz="2200">
                <a:solidFill>
                  <a:schemeClr val="accent1"/>
                </a:solidFill>
              </a:rPr>
              <a:t>¿Proporciona el acuerdo a la compañía una prioridad satisfactoria después de un desastre? </a:t>
            </a:r>
          </a:p>
          <a:p>
            <a:r>
              <a:rPr lang="es-MX" sz="2200" b="1">
                <a:solidFill>
                  <a:schemeClr val="accent1"/>
                </a:solidFill>
              </a:rPr>
              <a:t>Disponibilidad </a:t>
            </a:r>
            <a:r>
              <a:rPr lang="es-MX" sz="2200">
                <a:solidFill>
                  <a:schemeClr val="accent1"/>
                </a:solidFill>
              </a:rPr>
              <a:t>¿La compañía podrá disponer de la instalación sin retrasos cuando sea necesario?</a:t>
            </a:r>
          </a:p>
          <a:p>
            <a:r>
              <a:rPr lang="es-MX" sz="2200" b="1">
                <a:solidFill>
                  <a:schemeClr val="accent1"/>
                </a:solidFill>
              </a:rPr>
              <a:t>Rapidez en la disponibilidad </a:t>
            </a:r>
            <a:r>
              <a:rPr lang="es-MX" sz="2200">
                <a:solidFill>
                  <a:schemeClr val="accent1"/>
                </a:solidFill>
              </a:rPr>
              <a:t>¿Con qué rapidez se podrán disponer de las instalaciones luego del desastre?</a:t>
            </a:r>
          </a:p>
          <a:p>
            <a:r>
              <a:rPr lang="es-MX" sz="2200" b="1">
                <a:solidFill>
                  <a:schemeClr val="accent1"/>
                </a:solidFill>
              </a:rPr>
              <a:t>Suscriptores por sitio </a:t>
            </a:r>
            <a:r>
              <a:rPr lang="es-MX" sz="2200">
                <a:solidFill>
                  <a:schemeClr val="accent1"/>
                </a:solidFill>
              </a:rPr>
              <a:t>¿El acuerdo limita el número de suscriptores por sitio? </a:t>
            </a:r>
          </a:p>
          <a:p>
            <a:r>
              <a:rPr lang="es-MX" sz="2200" b="1">
                <a:solidFill>
                  <a:schemeClr val="accent1"/>
                </a:solidFill>
              </a:rPr>
              <a:t>Suscriptores por área </a:t>
            </a:r>
            <a:r>
              <a:rPr lang="es-MX" sz="2200">
                <a:solidFill>
                  <a:schemeClr val="accent1"/>
                </a:solidFill>
              </a:rPr>
              <a:t>¿El acuerdo limita el número de suscriptores en un edificio o área?</a:t>
            </a:r>
          </a:p>
          <a:p>
            <a:endParaRPr lang="es-AR" sz="2200">
              <a:solidFill>
                <a:schemeClr val="accent1"/>
              </a:solidFill>
            </a:endParaRPr>
          </a:p>
        </p:txBody>
      </p:sp>
      <p:sp>
        <p:nvSpPr>
          <p:cNvPr id="4" name="Marcador de número de diapositiva 3">
            <a:extLst>
              <a:ext uri="{FF2B5EF4-FFF2-40B4-BE49-F238E27FC236}">
                <a16:creationId xmlns:a16="http://schemas.microsoft.com/office/drawing/2014/main" id="{04CE134B-10BF-7A66-F9AC-2B679568AFA0}"/>
              </a:ext>
            </a:extLst>
          </p:cNvPr>
          <p:cNvSpPr>
            <a:spLocks noGrp="1"/>
          </p:cNvSpPr>
          <p:nvPr>
            <p:ph type="sldNum" sz="quarter" idx="12"/>
          </p:nvPr>
        </p:nvSpPr>
        <p:spPr/>
        <p:txBody>
          <a:bodyPr/>
          <a:lstStyle/>
          <a:p>
            <a:fld id="{0E40E506-8910-4A1D-9597-9E72BD293B97}" type="slidenum">
              <a:rPr lang="en-US" smtClean="0"/>
              <a:t>51</a:t>
            </a:fld>
            <a:endParaRPr lang="en-US"/>
          </a:p>
        </p:txBody>
      </p:sp>
    </p:spTree>
    <p:extLst>
      <p:ext uri="{BB962C8B-B14F-4D97-AF65-F5344CB8AC3E}">
        <p14:creationId xmlns:p14="http://schemas.microsoft.com/office/powerpoint/2010/main" val="3306301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20A0EA-1DAC-CCD9-CB85-DE1D2390656D}"/>
              </a:ext>
            </a:extLst>
          </p:cNvPr>
          <p:cNvSpPr>
            <a:spLocks noGrp="1"/>
          </p:cNvSpPr>
          <p:nvPr>
            <p:ph type="title"/>
          </p:nvPr>
        </p:nvSpPr>
        <p:spPr/>
        <p:txBody>
          <a:bodyPr/>
          <a:lstStyle/>
          <a:p>
            <a:r>
              <a:rPr lang="es-MX"/>
              <a:t>Cláusulas contractuales </a:t>
            </a:r>
            <a:endParaRPr lang="es-AR"/>
          </a:p>
        </p:txBody>
      </p:sp>
      <p:sp>
        <p:nvSpPr>
          <p:cNvPr id="3" name="Marcador de contenido 2">
            <a:extLst>
              <a:ext uri="{FF2B5EF4-FFF2-40B4-BE49-F238E27FC236}">
                <a16:creationId xmlns:a16="http://schemas.microsoft.com/office/drawing/2014/main" id="{44388C4A-D7BF-37CE-6ED6-B8D2A380D4FD}"/>
              </a:ext>
            </a:extLst>
          </p:cNvPr>
          <p:cNvSpPr>
            <a:spLocks noGrp="1"/>
          </p:cNvSpPr>
          <p:nvPr>
            <p:ph idx="1"/>
          </p:nvPr>
        </p:nvSpPr>
        <p:spPr/>
        <p:txBody>
          <a:bodyPr vert="horz" lIns="91440" tIns="45720" rIns="91440" bIns="45720" rtlCol="0" anchor="ctr">
            <a:noAutofit/>
          </a:bodyPr>
          <a:lstStyle/>
          <a:p>
            <a:r>
              <a:rPr lang="es-MX" sz="2200" b="1">
                <a:solidFill>
                  <a:schemeClr val="accent1"/>
                </a:solidFill>
              </a:rPr>
              <a:t>Preferencia </a:t>
            </a:r>
            <a:r>
              <a:rPr lang="es-MX" sz="2200">
                <a:solidFill>
                  <a:schemeClr val="accent1"/>
                </a:solidFill>
              </a:rPr>
              <a:t>¿ Quién obtiene un trato preferencial en caso de desastres colectivos o regionales? ¿Existe algún respaldo para las instalaciones de copias de respaldo? ¿Es del uso exclusivo de la instalación o el cliente tiene que compartir el espacio disponible si múltiples clientes declaran un desastre simultáneamente? ¿ Tiene el vendedor a su disposición más de una instalación para uso del suscriptor?</a:t>
            </a:r>
          </a:p>
          <a:p>
            <a:r>
              <a:rPr lang="es-MX" sz="2200" b="1">
                <a:solidFill>
                  <a:schemeClr val="accent1"/>
                </a:solidFill>
              </a:rPr>
              <a:t>Seguro </a:t>
            </a:r>
            <a:r>
              <a:rPr lang="es-MX" sz="2200">
                <a:solidFill>
                  <a:schemeClr val="accent1"/>
                </a:solidFill>
              </a:rPr>
              <a:t>¿Existe en el sitio de respaldo una cobertura de seguro adecuada para los empleados de la compañía? ¿El seguro existente hará un reembolso de esas cuotas? </a:t>
            </a:r>
          </a:p>
          <a:p>
            <a:pPr algn="l"/>
            <a:r>
              <a:rPr lang="es-MX" sz="2200" b="1">
                <a:solidFill>
                  <a:schemeClr val="accent1"/>
                </a:solidFill>
              </a:rPr>
              <a:t>Período de uso </a:t>
            </a:r>
            <a:r>
              <a:rPr lang="es-MX" sz="2200">
                <a:solidFill>
                  <a:schemeClr val="accent1"/>
                </a:solidFill>
              </a:rPr>
              <a:t>¿Por cuánto tiempo se podrá utilizar la instalación? ¿Es suficiente este período? ¿Qué tipo de soporte técnico proporcionará el operador del sitio? ¿Es éste el </a:t>
            </a:r>
            <a:r>
              <a:rPr lang="es-AR" sz="2200">
                <a:solidFill>
                  <a:schemeClr val="accent1"/>
                </a:solidFill>
              </a:rPr>
              <a:t>adecuado?</a:t>
            </a:r>
          </a:p>
        </p:txBody>
      </p:sp>
      <p:sp>
        <p:nvSpPr>
          <p:cNvPr id="4" name="Marcador de número de diapositiva 3">
            <a:extLst>
              <a:ext uri="{FF2B5EF4-FFF2-40B4-BE49-F238E27FC236}">
                <a16:creationId xmlns:a16="http://schemas.microsoft.com/office/drawing/2014/main" id="{4FB520AC-8A9E-8483-5ACE-7062398F80DE}"/>
              </a:ext>
            </a:extLst>
          </p:cNvPr>
          <p:cNvSpPr>
            <a:spLocks noGrp="1"/>
          </p:cNvSpPr>
          <p:nvPr>
            <p:ph type="sldNum" sz="quarter" idx="12"/>
          </p:nvPr>
        </p:nvSpPr>
        <p:spPr/>
        <p:txBody>
          <a:bodyPr/>
          <a:lstStyle/>
          <a:p>
            <a:fld id="{0E40E506-8910-4A1D-9597-9E72BD293B97}" type="slidenum">
              <a:rPr lang="en-US" smtClean="0"/>
              <a:t>52</a:t>
            </a:fld>
            <a:endParaRPr lang="en-US"/>
          </a:p>
        </p:txBody>
      </p:sp>
    </p:spTree>
    <p:extLst>
      <p:ext uri="{BB962C8B-B14F-4D97-AF65-F5344CB8AC3E}">
        <p14:creationId xmlns:p14="http://schemas.microsoft.com/office/powerpoint/2010/main" val="36359954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05DCCD-11F0-EBF8-1147-9560D6BAFEC0}"/>
              </a:ext>
            </a:extLst>
          </p:cNvPr>
          <p:cNvSpPr>
            <a:spLocks noGrp="1"/>
          </p:cNvSpPr>
          <p:nvPr>
            <p:ph type="title"/>
          </p:nvPr>
        </p:nvSpPr>
        <p:spPr/>
        <p:txBody>
          <a:bodyPr/>
          <a:lstStyle/>
          <a:p>
            <a:r>
              <a:rPr lang="es-MX"/>
              <a:t>Cláusulas contractuales </a:t>
            </a:r>
            <a:endParaRPr lang="es-AR"/>
          </a:p>
        </p:txBody>
      </p:sp>
      <p:sp>
        <p:nvSpPr>
          <p:cNvPr id="3" name="Marcador de contenido 2">
            <a:extLst>
              <a:ext uri="{FF2B5EF4-FFF2-40B4-BE49-F238E27FC236}">
                <a16:creationId xmlns:a16="http://schemas.microsoft.com/office/drawing/2014/main" id="{CBA94E2C-4861-1EF8-F76F-191614F62B1C}"/>
              </a:ext>
            </a:extLst>
          </p:cNvPr>
          <p:cNvSpPr>
            <a:spLocks noGrp="1"/>
          </p:cNvSpPr>
          <p:nvPr>
            <p:ph idx="1"/>
          </p:nvPr>
        </p:nvSpPr>
        <p:spPr/>
        <p:txBody>
          <a:bodyPr>
            <a:normAutofit/>
          </a:bodyPr>
          <a:lstStyle/>
          <a:p>
            <a:pPr algn="l"/>
            <a:r>
              <a:rPr lang="es-MX" sz="1800" b="1">
                <a:solidFill>
                  <a:schemeClr val="accent1"/>
                </a:solidFill>
              </a:rPr>
              <a:t>Comunicaciones </a:t>
            </a:r>
            <a:r>
              <a:rPr lang="es-MX" sz="1800">
                <a:solidFill>
                  <a:schemeClr val="accent1"/>
                </a:solidFill>
              </a:rPr>
              <a:t>¿Son adecuadas las comunicaciones</a:t>
            </a:r>
            <a:r>
              <a:rPr lang="es-MX">
                <a:solidFill>
                  <a:schemeClr val="accent1"/>
                </a:solidFill>
              </a:rPr>
              <a:t>? ¿Son suficientes las conexiones para comunicaciones a los sitios</a:t>
            </a:r>
          </a:p>
          <a:p>
            <a:pPr algn="l"/>
            <a:r>
              <a:rPr lang="es-MX">
                <a:solidFill>
                  <a:schemeClr val="accent1"/>
                </a:solidFill>
              </a:rPr>
              <a:t>de respaldo como para permitir una comunicación ilimitada con el sitio alterno, en caso de que sea necesario?</a:t>
            </a:r>
          </a:p>
          <a:p>
            <a:pPr algn="l"/>
            <a:r>
              <a:rPr lang="es-MX" b="1">
                <a:solidFill>
                  <a:schemeClr val="accent1"/>
                </a:solidFill>
              </a:rPr>
              <a:t>Garantías </a:t>
            </a:r>
            <a:r>
              <a:rPr lang="es-MX">
                <a:solidFill>
                  <a:schemeClr val="accent1"/>
                </a:solidFill>
              </a:rPr>
              <a:t>¿Qué garantías puede ofrecer el vendedor en cuanto a la disponibilidad del sitio y calidad de las instalaciones? ¿Existen restricciones de responsabilidad (por lo general las hay) y la compañía está dispuesta a aceptarlas?</a:t>
            </a:r>
          </a:p>
          <a:p>
            <a:pPr algn="l"/>
            <a:r>
              <a:rPr lang="es-MX" b="1">
                <a:solidFill>
                  <a:schemeClr val="accent1"/>
                </a:solidFill>
              </a:rPr>
              <a:t>Auditoría </a:t>
            </a:r>
            <a:r>
              <a:rPr lang="es-MX">
                <a:solidFill>
                  <a:schemeClr val="accent1"/>
                </a:solidFill>
              </a:rPr>
              <a:t>¿Existe alguna cláusula sobre derecho a auditorías que permita realizar una auditoría del sitio con el fin de evaluar la seguridad lógica, física y ambiental?</a:t>
            </a:r>
            <a:endParaRPr lang="es-AR">
              <a:solidFill>
                <a:schemeClr val="accent1"/>
              </a:solidFill>
            </a:endParaRPr>
          </a:p>
          <a:p>
            <a:endParaRPr lang="es-AR"/>
          </a:p>
        </p:txBody>
      </p:sp>
      <p:sp>
        <p:nvSpPr>
          <p:cNvPr id="4" name="Marcador de número de diapositiva 3">
            <a:extLst>
              <a:ext uri="{FF2B5EF4-FFF2-40B4-BE49-F238E27FC236}">
                <a16:creationId xmlns:a16="http://schemas.microsoft.com/office/drawing/2014/main" id="{19E1DF8A-038E-CD70-D3AD-A5B8C4DE3833}"/>
              </a:ext>
            </a:extLst>
          </p:cNvPr>
          <p:cNvSpPr>
            <a:spLocks noGrp="1"/>
          </p:cNvSpPr>
          <p:nvPr>
            <p:ph type="sldNum" sz="quarter" idx="12"/>
          </p:nvPr>
        </p:nvSpPr>
        <p:spPr/>
        <p:txBody>
          <a:bodyPr/>
          <a:lstStyle/>
          <a:p>
            <a:fld id="{0E40E506-8910-4A1D-9597-9E72BD293B97}" type="slidenum">
              <a:rPr lang="en-US" smtClean="0"/>
              <a:t>53</a:t>
            </a:fld>
            <a:endParaRPr lang="en-US"/>
          </a:p>
        </p:txBody>
      </p:sp>
    </p:spTree>
    <p:extLst>
      <p:ext uri="{BB962C8B-B14F-4D97-AF65-F5344CB8AC3E}">
        <p14:creationId xmlns:p14="http://schemas.microsoft.com/office/powerpoint/2010/main" val="17045741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37915-CB72-6B76-6EF9-8481A0426C68}"/>
              </a:ext>
            </a:extLst>
          </p:cNvPr>
          <p:cNvSpPr>
            <a:spLocks noGrp="1"/>
          </p:cNvSpPr>
          <p:nvPr>
            <p:ph type="title"/>
          </p:nvPr>
        </p:nvSpPr>
        <p:spPr/>
        <p:txBody>
          <a:bodyPr/>
          <a:lstStyle/>
          <a:p>
            <a:r>
              <a:rPr lang="es-MX"/>
              <a:t>Cláusulas contractuales </a:t>
            </a:r>
            <a:endParaRPr lang="es-AR"/>
          </a:p>
        </p:txBody>
      </p:sp>
      <p:sp>
        <p:nvSpPr>
          <p:cNvPr id="3" name="Marcador de contenido 2">
            <a:extLst>
              <a:ext uri="{FF2B5EF4-FFF2-40B4-BE49-F238E27FC236}">
                <a16:creationId xmlns:a16="http://schemas.microsoft.com/office/drawing/2014/main" id="{0D3763DD-310E-5452-E599-DE07F05C30ED}"/>
              </a:ext>
            </a:extLst>
          </p:cNvPr>
          <p:cNvSpPr>
            <a:spLocks noGrp="1"/>
          </p:cNvSpPr>
          <p:nvPr>
            <p:ph idx="1"/>
          </p:nvPr>
        </p:nvSpPr>
        <p:spPr>
          <a:xfrm>
            <a:off x="581192" y="2642959"/>
            <a:ext cx="11029615" cy="3678303"/>
          </a:xfrm>
        </p:spPr>
        <p:txBody>
          <a:bodyPr>
            <a:noAutofit/>
          </a:bodyPr>
          <a:lstStyle/>
          <a:p>
            <a:r>
              <a:rPr lang="es-MX" sz="2000" b="1">
                <a:solidFill>
                  <a:schemeClr val="accent1"/>
                </a:solidFill>
              </a:rPr>
              <a:t>Prueba </a:t>
            </a:r>
            <a:r>
              <a:rPr lang="es-MX" sz="2000">
                <a:solidFill>
                  <a:schemeClr val="accent1"/>
                </a:solidFill>
              </a:rPr>
              <a:t>¿Cuáles son los derechos de prueba que incluye el contrato? Verifique con la compañía de seguros si existe algún descuento en las primas debido a la disponibilidad de sitios de </a:t>
            </a:r>
            <a:r>
              <a:rPr lang="es-AR" sz="2000">
                <a:solidFill>
                  <a:schemeClr val="accent1"/>
                </a:solidFill>
              </a:rPr>
              <a:t>respaldo.</a:t>
            </a:r>
          </a:p>
          <a:p>
            <a:r>
              <a:rPr lang="es-MX" sz="2000" b="1">
                <a:solidFill>
                  <a:schemeClr val="accent1"/>
                </a:solidFill>
              </a:rPr>
              <a:t>Confiabilidad </a:t>
            </a:r>
            <a:r>
              <a:rPr lang="es-MX" sz="2000">
                <a:solidFill>
                  <a:schemeClr val="accent1"/>
                </a:solidFill>
              </a:rPr>
              <a:t>¿Puede el proveedor certificar la confiabilidad del(los) sitio(s) que se ofrece(n)? Lo ideal es que el vendedor cuente con un suministro permanente de energía (UPS), suscriptores limitados, una gerencia técnica adecuada y garantías de compatibilidad de hardware y software de </a:t>
            </a:r>
            <a:r>
              <a:rPr lang="es-AR" sz="2000">
                <a:solidFill>
                  <a:schemeClr val="accent1"/>
                </a:solidFill>
              </a:rPr>
              <a:t>computadoras.</a:t>
            </a:r>
          </a:p>
          <a:p>
            <a:r>
              <a:rPr lang="es-MX" sz="2000" b="1">
                <a:solidFill>
                  <a:schemeClr val="accent1"/>
                </a:solidFill>
              </a:rPr>
              <a:t>Seguridad </a:t>
            </a:r>
            <a:r>
              <a:rPr lang="es-MX" sz="2000">
                <a:solidFill>
                  <a:schemeClr val="accent1"/>
                </a:solidFill>
              </a:rPr>
              <a:t>¿Puede la compañía asegurar adecuadamente el sitio a fin de cumplir con su política de seguridad?</a:t>
            </a:r>
            <a:endParaRPr lang="es-AR" sz="2000">
              <a:solidFill>
                <a:schemeClr val="accent1"/>
              </a:solidFill>
            </a:endParaRPr>
          </a:p>
        </p:txBody>
      </p:sp>
      <p:sp>
        <p:nvSpPr>
          <p:cNvPr id="4" name="Marcador de número de diapositiva 3">
            <a:extLst>
              <a:ext uri="{FF2B5EF4-FFF2-40B4-BE49-F238E27FC236}">
                <a16:creationId xmlns:a16="http://schemas.microsoft.com/office/drawing/2014/main" id="{2150F2F8-A10A-0049-547E-47FEA71CA2D8}"/>
              </a:ext>
            </a:extLst>
          </p:cNvPr>
          <p:cNvSpPr>
            <a:spLocks noGrp="1"/>
          </p:cNvSpPr>
          <p:nvPr>
            <p:ph type="sldNum" sz="quarter" idx="12"/>
          </p:nvPr>
        </p:nvSpPr>
        <p:spPr/>
        <p:txBody>
          <a:bodyPr/>
          <a:lstStyle/>
          <a:p>
            <a:fld id="{0E40E506-8910-4A1D-9597-9E72BD293B97}" type="slidenum">
              <a:rPr lang="en-US" smtClean="0"/>
              <a:t>54</a:t>
            </a:fld>
            <a:endParaRPr lang="en-US"/>
          </a:p>
        </p:txBody>
      </p:sp>
    </p:spTree>
    <p:extLst>
      <p:ext uri="{BB962C8B-B14F-4D97-AF65-F5344CB8AC3E}">
        <p14:creationId xmlns:p14="http://schemas.microsoft.com/office/powerpoint/2010/main" val="18965511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CBC98A8-9C8C-8912-4569-80C23EB011D6}"/>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85" name="Title 1">
            <a:extLst>
              <a:ext uri="{FF2B5EF4-FFF2-40B4-BE49-F238E27FC236}">
                <a16:creationId xmlns:a16="http://schemas.microsoft.com/office/drawing/2014/main" id="{D0C82B2A-0D97-4C8D-9679-E52CD92D0CAE}"/>
              </a:ext>
            </a:extLst>
          </p:cNvPr>
          <p:cNvSpPr>
            <a:spLocks noGrp="1"/>
          </p:cNvSpPr>
          <p:nvPr>
            <p:ph type="title"/>
          </p:nvPr>
        </p:nvSpPr>
        <p:spPr>
          <a:xfrm>
            <a:off x="1274322" y="1085610"/>
            <a:ext cx="4494179" cy="553998"/>
          </a:xfrm>
        </p:spPr>
        <p:txBody>
          <a:bodyPr>
            <a:normAutofit fontScale="90000"/>
          </a:bodyPr>
          <a:lstStyle/>
          <a:p>
            <a:pPr algn="ctr"/>
            <a:r>
              <a:rPr lang="es-AR" sz="3500" b="1" spc="300">
                <a:latin typeface="Amasis MT Pro Medium" panose="02040604050005020304" pitchFamily="18" charset="0"/>
              </a:rPr>
              <a:t>Dudas ?</a:t>
            </a:r>
            <a:endParaRPr lang="en-US" sz="3500" b="1" spc="300">
              <a:latin typeface="Amasis MT Pro Medium" panose="02040604050005020304" pitchFamily="18" charset="0"/>
            </a:endParaRPr>
          </a:p>
        </p:txBody>
      </p:sp>
      <p:pic>
        <p:nvPicPr>
          <p:cNvPr id="17" name="Marcador de contenido 16" descr="Sala de alumnos levantando la mano frente a un profesor">
            <a:extLst>
              <a:ext uri="{FF2B5EF4-FFF2-40B4-BE49-F238E27FC236}">
                <a16:creationId xmlns:a16="http://schemas.microsoft.com/office/drawing/2014/main" id="{B1BF6732-AAB2-4368-81BD-4FF4065C2917}"/>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1494046" y="1901291"/>
            <a:ext cx="5276499" cy="3594100"/>
          </a:xfrm>
          <a:noFill/>
        </p:spPr>
      </p:pic>
      <p:sp>
        <p:nvSpPr>
          <p:cNvPr id="6" name="CuadroTexto 5">
            <a:extLst>
              <a:ext uri="{FF2B5EF4-FFF2-40B4-BE49-F238E27FC236}">
                <a16:creationId xmlns:a16="http://schemas.microsoft.com/office/drawing/2014/main" id="{D9AE80C0-B675-8279-4262-B98445D72064}"/>
              </a:ext>
            </a:extLst>
          </p:cNvPr>
          <p:cNvSpPr txBox="1"/>
          <p:nvPr/>
        </p:nvSpPr>
        <p:spPr>
          <a:xfrm>
            <a:off x="2102809" y="5696714"/>
            <a:ext cx="6094378" cy="600164"/>
          </a:xfrm>
          <a:prstGeom prst="rect">
            <a:avLst/>
          </a:prstGeom>
          <a:noFill/>
        </p:spPr>
        <p:txBody>
          <a:bodyPr wrap="square">
            <a:spAutoFit/>
          </a:bodyPr>
          <a:lstStyle/>
          <a:p>
            <a:r>
              <a:rPr lang="en-US" sz="3300" b="1" cap="all" spc="300" err="1">
                <a:solidFill>
                  <a:schemeClr val="accent1">
                    <a:lumMod val="75000"/>
                  </a:schemeClr>
                </a:solidFill>
                <a:latin typeface="Amasis MT Pro Medium" panose="02040604050005020304" pitchFamily="18" charset="0"/>
                <a:ea typeface="+mj-ea"/>
                <a:cs typeface="+mj-cs"/>
              </a:rPr>
              <a:t>Comentarios</a:t>
            </a:r>
            <a:r>
              <a:rPr lang="en-US" sz="3300" b="1" cap="all" spc="300">
                <a:solidFill>
                  <a:schemeClr val="accent1">
                    <a:lumMod val="75000"/>
                  </a:schemeClr>
                </a:solidFill>
                <a:latin typeface="Amasis MT Pro Medium" panose="02040604050005020304" pitchFamily="18" charset="0"/>
                <a:ea typeface="+mj-ea"/>
                <a:cs typeface="+mj-cs"/>
              </a:rPr>
              <a:t>?</a:t>
            </a:r>
            <a:endParaRPr lang="es-AR" sz="3300" b="1" cap="all" spc="300">
              <a:solidFill>
                <a:schemeClr val="accent1">
                  <a:lumMod val="75000"/>
                </a:schemeClr>
              </a:solidFill>
              <a:latin typeface="Amasis MT Pro Medium" panose="02040604050005020304" pitchFamily="18" charset="0"/>
              <a:ea typeface="+mj-ea"/>
              <a:cs typeface="+mj-cs"/>
            </a:endParaRPr>
          </a:p>
        </p:txBody>
      </p:sp>
      <p:sp>
        <p:nvSpPr>
          <p:cNvPr id="2" name="Title 1">
            <a:extLst>
              <a:ext uri="{FF2B5EF4-FFF2-40B4-BE49-F238E27FC236}">
                <a16:creationId xmlns:a16="http://schemas.microsoft.com/office/drawing/2014/main" id="{CB79A6AB-6996-D6D3-6AEF-1360E76EA5DE}"/>
              </a:ext>
            </a:extLst>
          </p:cNvPr>
          <p:cNvSpPr txBox="1">
            <a:spLocks/>
          </p:cNvSpPr>
          <p:nvPr/>
        </p:nvSpPr>
        <p:spPr>
          <a:xfrm>
            <a:off x="6426740" y="3338418"/>
            <a:ext cx="4494179" cy="553998"/>
          </a:xfrm>
          <a:prstGeom prst="rect">
            <a:avLst/>
          </a:prstGeom>
        </p:spPr>
        <p:txBody>
          <a:bodyPr vert="horz" lIns="91440" tIns="45720" rIns="91440" bIns="45720" rtlCol="0" anchor="t">
            <a:normAutofit fontScale="25000" lnSpcReduction="2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algn="ctr"/>
            <a:r>
              <a:rPr lang="en-US" sz="13300" b="1" spc="300" err="1">
                <a:solidFill>
                  <a:schemeClr val="accent1">
                    <a:lumMod val="75000"/>
                  </a:schemeClr>
                </a:solidFill>
                <a:latin typeface="Amasis MT Pro Medium" panose="02040604050005020304" pitchFamily="18" charset="0"/>
              </a:rPr>
              <a:t>Preguntas</a:t>
            </a:r>
            <a:r>
              <a:rPr lang="en-US" sz="13300" b="1" spc="300">
                <a:solidFill>
                  <a:schemeClr val="accent1">
                    <a:lumMod val="75000"/>
                  </a:schemeClr>
                </a:solidFill>
                <a:latin typeface="Amasis MT Pro Medium" panose="02040604050005020304" pitchFamily="18" charset="0"/>
              </a:rPr>
              <a:t>?</a:t>
            </a:r>
            <a:br>
              <a:rPr lang="en-US" sz="3500" b="1" spc="300">
                <a:latin typeface="Amasis MT Pro Medium" panose="02040604050005020304" pitchFamily="18" charset="0"/>
              </a:rPr>
            </a:br>
            <a:br>
              <a:rPr lang="en-US" sz="3500" b="1" spc="300">
                <a:solidFill>
                  <a:schemeClr val="accent1"/>
                </a:solidFill>
                <a:latin typeface="Amasis MT Pro Medium" panose="02040604050005020304" pitchFamily="18" charset="0"/>
              </a:rPr>
            </a:br>
            <a:endParaRPr lang="en-US" sz="3500" b="1" spc="300">
              <a:solidFill>
                <a:schemeClr val="accent1"/>
              </a:solidFill>
              <a:latin typeface="Amasis MT Pro Medium" panose="02040604050005020304" pitchFamily="18" charset="0"/>
            </a:endParaRPr>
          </a:p>
        </p:txBody>
      </p:sp>
      <p:sp>
        <p:nvSpPr>
          <p:cNvPr id="4" name="Marcador de número de diapositiva 3">
            <a:extLst>
              <a:ext uri="{FF2B5EF4-FFF2-40B4-BE49-F238E27FC236}">
                <a16:creationId xmlns:a16="http://schemas.microsoft.com/office/drawing/2014/main" id="{E482AEE7-04F6-7996-CFE3-C285A1FAC175}"/>
              </a:ext>
            </a:extLst>
          </p:cNvPr>
          <p:cNvSpPr>
            <a:spLocks noGrp="1"/>
          </p:cNvSpPr>
          <p:nvPr>
            <p:ph type="sldNum" sz="quarter" idx="12"/>
          </p:nvPr>
        </p:nvSpPr>
        <p:spPr/>
        <p:txBody>
          <a:bodyPr/>
          <a:lstStyle/>
          <a:p>
            <a:fld id="{0E40E506-8910-4A1D-9597-9E72BD293B97}" type="slidenum">
              <a:rPr lang="en-US" smtClean="0"/>
              <a:t>55</a:t>
            </a:fld>
            <a:endParaRPr lang="en-US"/>
          </a:p>
        </p:txBody>
      </p:sp>
    </p:spTree>
    <p:extLst>
      <p:ext uri="{BB962C8B-B14F-4D97-AF65-F5344CB8AC3E}">
        <p14:creationId xmlns:p14="http://schemas.microsoft.com/office/powerpoint/2010/main" val="226480781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19299BB7DBAB604CBF92CED6F341956D" ma:contentTypeVersion="3" ma:contentTypeDescription="Crear nuevo documento." ma:contentTypeScope="" ma:versionID="9afc5c629d1fa4daa758eae5c0ffce08">
  <xsd:schema xmlns:xsd="http://www.w3.org/2001/XMLSchema" xmlns:xs="http://www.w3.org/2001/XMLSchema" xmlns:p="http://schemas.microsoft.com/office/2006/metadata/properties" xmlns:ns2="0fd8070d-56ff-4b43-b705-64ae6a394890" targetNamespace="http://schemas.microsoft.com/office/2006/metadata/properties" ma:root="true" ma:fieldsID="e452753519e258a995a8d5047b5119ca" ns2:_="">
    <xsd:import namespace="0fd8070d-56ff-4b43-b705-64ae6a39489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d8070d-56ff-4b43-b705-64ae6a3948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2B6A9BD-8735-4D68-8DF6-5A9BA762FD0A}">
  <ds:schemaRefs>
    <ds:schemaRef ds:uri="http://schemas.microsoft.com/sharepoint/v3/contenttype/forms"/>
  </ds:schemaRefs>
</ds:datastoreItem>
</file>

<file path=customXml/itemProps2.xml><?xml version="1.0" encoding="utf-8"?>
<ds:datastoreItem xmlns:ds="http://schemas.openxmlformats.org/officeDocument/2006/customXml" ds:itemID="{6AEE8B97-B56D-42AE-A9E1-5D6D65E1E147}">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78A7BEA-9E44-4ECF-87EF-4EEDAC87B7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d8070d-56ff-4b43-b705-64ae6a3948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Panorámica</PresentationFormat>
  <Slides>55</Slides>
  <Notes>2</Notes>
  <HiddenSlides>0</HiddenSlides>
  <ScaleCrop>false</ScaleCrop>
  <HeadingPairs>
    <vt:vector size="4" baseType="variant">
      <vt:variant>
        <vt:lpstr>Tema</vt:lpstr>
      </vt:variant>
      <vt:variant>
        <vt:i4>1</vt:i4>
      </vt:variant>
      <vt:variant>
        <vt:lpstr>Títulos de diapositiva</vt:lpstr>
      </vt:variant>
      <vt:variant>
        <vt:i4>55</vt:i4>
      </vt:variant>
    </vt:vector>
  </HeadingPairs>
  <TitlesOfParts>
    <vt:vector size="56" baseType="lpstr">
      <vt:lpstr>Dividend</vt:lpstr>
      <vt:lpstr>Presentación de PowerPoint</vt:lpstr>
      <vt:lpstr>Factores a considerar en la implementación de un Plan de Contingencia</vt:lpstr>
      <vt:lpstr>Conceptos básicos</vt:lpstr>
      <vt:lpstr>Planes</vt:lpstr>
      <vt:lpstr>Bcp VS. DRP</vt:lpstr>
      <vt:lpstr>Bcp VS. DRP</vt:lpstr>
      <vt:lpstr>BCP</vt:lpstr>
      <vt:lpstr>BCP</vt:lpstr>
      <vt:lpstr>BCP</vt:lpstr>
      <vt:lpstr>Tipos de contingencias - desastres</vt:lpstr>
      <vt:lpstr>PLANIFICACIÓN DE CONTINUIDAD DEL NEGOCIO DE TI </vt:lpstr>
      <vt:lpstr>PLANIFICACIÓN DE CONTINUIDAD DEL NEGOCIO DE TI </vt:lpstr>
      <vt:lpstr>PLANIFICACIÓN DE CONTINUIDAD DEL NEGOCIO DE TI </vt:lpstr>
      <vt:lpstr>PLANIFICACIÓN DE CONTINUIDAD DEL NEGOCIO DE TI </vt:lpstr>
      <vt:lpstr>PLANIFICACIÓN DE CONTINUIDAD DEL NEGOCIO DE TI </vt:lpstr>
      <vt:lpstr>Métricas rpo-rto</vt:lpstr>
      <vt:lpstr>Métricas rpo-rto</vt:lpstr>
      <vt:lpstr>Métricas rpo-rto</vt:lpstr>
      <vt:lpstr>RTO Vs. RPO</vt:lpstr>
      <vt:lpstr>Presentación de PowerPoint</vt:lpstr>
      <vt:lpstr>relación entre el RPO y el RTO</vt:lpstr>
      <vt:lpstr>Métricas rpo-rto</vt:lpstr>
      <vt:lpstr>Pasos para implementar el bcp</vt:lpstr>
      <vt:lpstr>Pasos a seguir ante un desastre</vt:lpstr>
      <vt:lpstr>Consecuencia de un desastre</vt:lpstr>
      <vt:lpstr>Qué hacer ante las contingencias (desastres)</vt:lpstr>
      <vt:lpstr>Componentes del drp</vt:lpstr>
      <vt:lpstr>Metodología integral del Drp </vt:lpstr>
      <vt:lpstr>DRP - Organización</vt:lpstr>
      <vt:lpstr>DRP - Análisis de impacto en el negocio</vt:lpstr>
      <vt:lpstr>DRP - Definición de estrategias de recuperación</vt:lpstr>
      <vt:lpstr>DRP - Respuesta ante emergencias</vt:lpstr>
      <vt:lpstr>DRP - Recuperación del Centro de Cómputos</vt:lpstr>
      <vt:lpstr>DRP - Procedimientos de emergencias de usuarios</vt:lpstr>
      <vt:lpstr>DRP - Desarrollo de Procedimientos de MantENIMIENTO</vt:lpstr>
      <vt:lpstr>DRP - Implementación</vt:lpstr>
      <vt:lpstr>Drp - Prueba del Plan</vt:lpstr>
      <vt:lpstr>DRP - Capacitación del Personal</vt:lpstr>
      <vt:lpstr>DRP - Aprobación final del Plan</vt:lpstr>
      <vt:lpstr>Factores de éxito de un DRP</vt:lpstr>
      <vt:lpstr>parámetros adicionales</vt:lpstr>
      <vt:lpstr>ESTRATEGIAS DE RECUPERACIÓN </vt:lpstr>
      <vt:lpstr>ESTRATEGIAS DE RECUPERACIÓN </vt:lpstr>
      <vt:lpstr>Hot sites</vt:lpstr>
      <vt:lpstr>warm sites</vt:lpstr>
      <vt:lpstr>cold sites</vt:lpstr>
      <vt:lpstr>sitios duplicados (Mirrored)</vt:lpstr>
      <vt:lpstr>Acuerdos recíprocos </vt:lpstr>
      <vt:lpstr>Diferentes opciones</vt:lpstr>
      <vt:lpstr>Cláusulas contractuales </vt:lpstr>
      <vt:lpstr>Cláusulas contractuales </vt:lpstr>
      <vt:lpstr>Cláusulas contractuales </vt:lpstr>
      <vt:lpstr>Cláusulas contractuales </vt:lpstr>
      <vt:lpstr>Cláusulas contractuales </vt:lpstr>
      <vt:lpstr>Dudas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Daldin Susana</dc:creator>
  <cp:revision>11</cp:revision>
  <dcterms:created xsi:type="dcterms:W3CDTF">2024-10-23T17:17:02Z</dcterms:created>
  <dcterms:modified xsi:type="dcterms:W3CDTF">2026-10-19T18:09:36Z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0x01010019299BB7DBAB604CBF92CED6F341956D</vt:lpwstr>
  </property>
</Properties>
</file>