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4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1332" y="603313"/>
            <a:ext cx="6134734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7359" y="502030"/>
            <a:ext cx="6203950" cy="747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577" y="1782762"/>
            <a:ext cx="7592059" cy="4272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7E7E7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piranirisk.com/es/blog/importancia-plan-recuperacion-desastres-dr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novis.com.mx/blog/sap/como-crear-un-disaster-recovery-plan-drp-para-sap-11887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canvia.com/disaster-recovery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9049"/>
            <a:ext cx="12192000" cy="6629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00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130"/>
              </a:spcBef>
            </a:pPr>
            <a:r>
              <a:rPr dirty="0"/>
              <a:t>Temas</a:t>
            </a:r>
            <a:r>
              <a:rPr spc="2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spc="-10" dirty="0"/>
              <a:t>desarrollar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3425" y="2228850"/>
            <a:ext cx="133350" cy="3209925"/>
            <a:chOff x="733425" y="2228850"/>
            <a:chExt cx="133350" cy="3209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5" y="2228850"/>
              <a:ext cx="133350" cy="1238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25" y="4229100"/>
              <a:ext cx="133350" cy="133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425" y="3248025"/>
              <a:ext cx="133350" cy="133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425" y="5305425"/>
              <a:ext cx="133350" cy="1333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88110" y="2019935"/>
            <a:ext cx="6827520" cy="35515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Plan</a:t>
            </a:r>
            <a:r>
              <a:rPr sz="3200" b="1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recuperación</a:t>
            </a:r>
            <a:r>
              <a:rPr sz="3200" b="1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desastres</a:t>
            </a:r>
            <a:r>
              <a:rPr sz="3200" b="1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(DRP)</a:t>
            </a:r>
            <a:endParaRPr sz="3200">
              <a:latin typeface="Calibri"/>
              <a:cs typeface="Calibri"/>
            </a:endParaRPr>
          </a:p>
          <a:p>
            <a:pPr marL="12700" marR="1913889">
              <a:lnSpc>
                <a:spcPct val="207300"/>
              </a:lnSpc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Pasos</a:t>
            </a:r>
            <a:r>
              <a:rPr sz="3200" b="1" spc="-1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para</a:t>
            </a:r>
            <a:r>
              <a:rPr sz="3200" b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implementar</a:t>
            </a:r>
            <a:r>
              <a:rPr sz="3200" b="1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DRP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Beneficios</a:t>
            </a:r>
            <a:r>
              <a:rPr sz="3200" b="1" spc="-11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DRP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Síntesis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4594" y="2346070"/>
            <a:ext cx="8417560" cy="20440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478915" marR="5080" indent="-1466850">
              <a:lnSpc>
                <a:spcPct val="100499"/>
              </a:lnSpc>
              <a:spcBef>
                <a:spcPts val="70"/>
              </a:spcBef>
            </a:pPr>
            <a:r>
              <a:rPr sz="6600" dirty="0"/>
              <a:t>Plan</a:t>
            </a:r>
            <a:r>
              <a:rPr sz="6600" spc="-40" dirty="0"/>
              <a:t> </a:t>
            </a:r>
            <a:r>
              <a:rPr sz="6600" dirty="0"/>
              <a:t>de</a:t>
            </a:r>
            <a:r>
              <a:rPr sz="6600" spc="-55" dirty="0"/>
              <a:t> </a:t>
            </a:r>
            <a:r>
              <a:rPr sz="6600" dirty="0"/>
              <a:t>recuperación</a:t>
            </a:r>
            <a:r>
              <a:rPr sz="6600" spc="-35" dirty="0"/>
              <a:t> </a:t>
            </a:r>
            <a:r>
              <a:rPr sz="6600" spc="-25" dirty="0"/>
              <a:t>de </a:t>
            </a:r>
            <a:r>
              <a:rPr sz="6600" dirty="0"/>
              <a:t>desastres</a:t>
            </a:r>
            <a:r>
              <a:rPr sz="6600" spc="-105" dirty="0"/>
              <a:t> </a:t>
            </a:r>
            <a:r>
              <a:rPr sz="6600" spc="-10" dirty="0"/>
              <a:t>(DRP)</a:t>
            </a:r>
            <a:endParaRPr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792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30"/>
              </a:spcBef>
            </a:pPr>
            <a:r>
              <a:rPr dirty="0"/>
              <a:t>DRP</a:t>
            </a:r>
            <a:r>
              <a:rPr spc="45" dirty="0"/>
              <a:t> </a:t>
            </a:r>
            <a:r>
              <a:rPr dirty="0"/>
              <a:t>(</a:t>
            </a:r>
            <a:r>
              <a:rPr i="1" dirty="0">
                <a:latin typeface="Calibri"/>
                <a:cs typeface="Calibri"/>
              </a:rPr>
              <a:t>Disaster</a:t>
            </a:r>
            <a:r>
              <a:rPr i="1" spc="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Recovery</a:t>
            </a:r>
            <a:r>
              <a:rPr i="1" spc="114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Plan</a:t>
            </a:r>
            <a:r>
              <a:rPr spc="-10" dirty="0"/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075" y="1876361"/>
            <a:ext cx="7529576" cy="4300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3464" y="6184265"/>
            <a:ext cx="425132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alibri"/>
                <a:cs typeface="Calibri"/>
              </a:rPr>
              <a:t>Fuente</a:t>
            </a:r>
            <a:r>
              <a:rPr sz="800" spc="16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</a:t>
            </a:r>
            <a:r>
              <a:rPr sz="800" spc="17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imagen:</a:t>
            </a:r>
            <a:r>
              <a:rPr sz="800" spc="100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https://</a:t>
            </a:r>
            <a:r>
              <a:rPr sz="800" spc="-10" dirty="0">
                <a:latin typeface="Calibri"/>
                <a:cs typeface="Calibri"/>
                <a:hlinkClick r:id="rId4"/>
              </a:rPr>
              <a:t>www.piranirisk.com/es/blog/importancia-plan-recuperacion-desastres-</a:t>
            </a:r>
            <a:r>
              <a:rPr sz="800" spc="-25" dirty="0">
                <a:latin typeface="Calibri"/>
                <a:cs typeface="Calibri"/>
                <a:hlinkClick r:id="rId4"/>
              </a:rPr>
              <a:t>drp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365" y="1605216"/>
            <a:ext cx="8026400" cy="125793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algn="ctr">
              <a:lnSpc>
                <a:spcPts val="3229"/>
              </a:lnSpc>
              <a:spcBef>
                <a:spcPts val="210"/>
              </a:spcBef>
            </a:pP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Es</a:t>
            </a:r>
            <a:r>
              <a:rPr sz="2700" spc="-55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un</a:t>
            </a:r>
            <a:r>
              <a:rPr sz="2700" spc="-4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enfoque</a:t>
            </a:r>
            <a:r>
              <a:rPr sz="2700" spc="-4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estructurado</a:t>
            </a:r>
            <a:r>
              <a:rPr sz="2700" spc="-4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y</a:t>
            </a:r>
            <a:r>
              <a:rPr sz="2700" spc="-7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documentado</a:t>
            </a:r>
            <a:r>
              <a:rPr sz="2700" spc="-4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que</a:t>
            </a:r>
            <a:r>
              <a:rPr sz="2700" spc="2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E9691F"/>
                </a:solidFill>
                <a:latin typeface="Calibri"/>
                <a:cs typeface="Calibri"/>
              </a:rPr>
              <a:t>describe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cómo</a:t>
            </a:r>
            <a:r>
              <a:rPr sz="2700" b="1" spc="-85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una</a:t>
            </a:r>
            <a:r>
              <a:rPr sz="2700" b="1" spc="-40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organización</a:t>
            </a:r>
            <a:r>
              <a:rPr sz="2700" b="1" spc="-10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puede</a:t>
            </a:r>
            <a:r>
              <a:rPr sz="2700" b="1" spc="-70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reanudar</a:t>
            </a:r>
            <a:r>
              <a:rPr sz="2700" b="1" spc="-45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el</a:t>
            </a:r>
            <a:r>
              <a:rPr sz="2700" b="1" spc="-50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E9691F"/>
                </a:solidFill>
                <a:latin typeface="Calibri"/>
                <a:cs typeface="Calibri"/>
              </a:rPr>
              <a:t>trabajo </a:t>
            </a:r>
            <a:r>
              <a:rPr sz="2700" b="1" dirty="0">
                <a:solidFill>
                  <a:srgbClr val="E9691F"/>
                </a:solidFill>
                <a:latin typeface="Calibri"/>
                <a:cs typeface="Calibri"/>
              </a:rPr>
              <a:t>rápidamente</a:t>
            </a:r>
            <a:r>
              <a:rPr sz="2700" b="1" spc="-5" dirty="0">
                <a:solidFill>
                  <a:srgbClr val="E9691F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después</a:t>
            </a:r>
            <a:r>
              <a:rPr sz="2700" spc="-55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de</a:t>
            </a:r>
            <a:r>
              <a:rPr sz="2700" spc="-45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un</a:t>
            </a:r>
            <a:r>
              <a:rPr sz="2700" spc="-5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incidente</a:t>
            </a:r>
            <a:r>
              <a:rPr sz="2700" spc="-5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2322"/>
                </a:solidFill>
                <a:latin typeface="Calibri"/>
                <a:cs typeface="Calibri"/>
              </a:rPr>
              <a:t>no</a:t>
            </a:r>
            <a:r>
              <a:rPr sz="2700" spc="-50" dirty="0">
                <a:solidFill>
                  <a:srgbClr val="242322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2322"/>
                </a:solidFill>
                <a:latin typeface="Calibri"/>
                <a:cs typeface="Calibri"/>
              </a:rPr>
              <a:t>planificado</a:t>
            </a:r>
            <a:r>
              <a:rPr sz="2700" b="1" spc="-10" dirty="0">
                <a:solidFill>
                  <a:srgbClr val="CC122B"/>
                </a:solidFill>
                <a:latin typeface="Calibri"/>
                <a:cs typeface="Calibri"/>
              </a:rPr>
              <a:t>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9375" y="3105086"/>
            <a:ext cx="4291076" cy="31671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76119" y="6458902"/>
            <a:ext cx="4225925" cy="2336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Calibri"/>
                <a:cs typeface="Calibri"/>
              </a:rPr>
              <a:t>Fuente</a:t>
            </a:r>
            <a:r>
              <a:rPr sz="650" spc="310" dirty="0">
                <a:latin typeface="Calibri"/>
                <a:cs typeface="Calibri"/>
              </a:rPr>
              <a:t>  </a:t>
            </a:r>
            <a:r>
              <a:rPr sz="650" dirty="0">
                <a:latin typeface="Calibri"/>
                <a:cs typeface="Calibri"/>
              </a:rPr>
              <a:t>de</a:t>
            </a:r>
            <a:r>
              <a:rPr sz="650" spc="425" dirty="0">
                <a:latin typeface="Calibri"/>
                <a:cs typeface="Calibri"/>
              </a:rPr>
              <a:t> </a:t>
            </a:r>
            <a:r>
              <a:rPr sz="650" dirty="0">
                <a:latin typeface="Calibri"/>
                <a:cs typeface="Calibri"/>
              </a:rPr>
              <a:t>imagen:</a:t>
            </a:r>
            <a:r>
              <a:rPr sz="650" spc="335" dirty="0">
                <a:latin typeface="Calibri"/>
                <a:cs typeface="Calibri"/>
              </a:rPr>
              <a:t>  </a:t>
            </a:r>
            <a:r>
              <a:rPr sz="650" dirty="0">
                <a:latin typeface="Calibri"/>
                <a:cs typeface="Calibri"/>
              </a:rPr>
              <a:t>https://es.dreamstime.com/drp-fondo-del-concepto-de-negocio-plan-recuperaci%C3%B3n-</a:t>
            </a:r>
            <a:r>
              <a:rPr sz="650" spc="-10" dirty="0">
                <a:latin typeface="Calibri"/>
                <a:cs typeface="Calibri"/>
              </a:rPr>
              <a:t>ante-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50" spc="10" dirty="0">
                <a:latin typeface="Calibri"/>
                <a:cs typeface="Calibri"/>
              </a:rPr>
              <a:t>desastres-ilustraci%C3%B3n-vectori</a:t>
            </a:r>
            <a:r>
              <a:rPr sz="650" spc="245" dirty="0">
                <a:latin typeface="Calibri"/>
                <a:cs typeface="Calibri"/>
              </a:rPr>
              <a:t>  </a:t>
            </a:r>
            <a:r>
              <a:rPr sz="650" dirty="0">
                <a:latin typeface="Calibri"/>
                <a:cs typeface="Calibri"/>
              </a:rPr>
              <a:t>al-</a:t>
            </a:r>
            <a:r>
              <a:rPr sz="650" spc="10" dirty="0">
                <a:latin typeface="Calibri"/>
                <a:cs typeface="Calibri"/>
              </a:rPr>
              <a:t>con-palabras-clave-e-iconos-para-banner-</a:t>
            </a:r>
            <a:r>
              <a:rPr sz="650" spc="-10" dirty="0">
                <a:latin typeface="Calibri"/>
                <a:cs typeface="Calibri"/>
              </a:rPr>
              <a:t>image197309450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DRP</a:t>
            </a:r>
            <a:r>
              <a:rPr spc="45" dirty="0"/>
              <a:t> </a:t>
            </a:r>
            <a:r>
              <a:rPr dirty="0"/>
              <a:t>(</a:t>
            </a:r>
            <a:r>
              <a:rPr i="1" dirty="0">
                <a:latin typeface="Calibri"/>
                <a:cs typeface="Calibri"/>
              </a:rPr>
              <a:t>Disaster</a:t>
            </a:r>
            <a:r>
              <a:rPr i="1" spc="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Recovery</a:t>
            </a:r>
            <a:r>
              <a:rPr i="1" spc="114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Plan</a:t>
            </a:r>
            <a:r>
              <a:rPr spc="-10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950" y="0"/>
            <a:ext cx="11830050" cy="6858000"/>
            <a:chOff x="361950" y="0"/>
            <a:chExt cx="118300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950" y="0"/>
              <a:ext cx="1183005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1562100"/>
              <a:ext cx="6858000" cy="494347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066289" y="6580505"/>
            <a:ext cx="487680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alibri"/>
                <a:cs typeface="Calibri"/>
              </a:rPr>
              <a:t>Fuente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800" dirty="0">
                <a:latin typeface="Calibri"/>
                <a:cs typeface="Calibri"/>
              </a:rPr>
              <a:t>de</a:t>
            </a:r>
            <a:r>
              <a:rPr sz="800" spc="19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imagen:</a:t>
            </a:r>
            <a:r>
              <a:rPr sz="800" spc="125" dirty="0">
                <a:latin typeface="Calibri"/>
                <a:cs typeface="Calibri"/>
              </a:rPr>
              <a:t> </a:t>
            </a:r>
            <a:r>
              <a:rPr sz="800" spc="-10" dirty="0">
                <a:latin typeface="Calibri"/>
                <a:cs typeface="Calibri"/>
              </a:rPr>
              <a:t>https://</a:t>
            </a:r>
            <a:r>
              <a:rPr sz="800" spc="-10" dirty="0">
                <a:latin typeface="Calibri"/>
                <a:cs typeface="Calibri"/>
                <a:hlinkClick r:id="rId4"/>
              </a:rPr>
              <a:t>www.novis.com.mx/blog/sap/como-crear-un-disaster-recovery-plan-drp-para-sap-11887/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792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30"/>
              </a:spcBef>
            </a:pPr>
            <a:r>
              <a:rPr dirty="0"/>
              <a:t>DRP</a:t>
            </a:r>
            <a:r>
              <a:rPr spc="45" dirty="0"/>
              <a:t> </a:t>
            </a:r>
            <a:r>
              <a:rPr dirty="0"/>
              <a:t>(</a:t>
            </a:r>
            <a:r>
              <a:rPr i="1" dirty="0">
                <a:latin typeface="Calibri"/>
                <a:cs typeface="Calibri"/>
              </a:rPr>
              <a:t>Disaster</a:t>
            </a:r>
            <a:r>
              <a:rPr i="1" spc="4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Recovery</a:t>
            </a:r>
            <a:r>
              <a:rPr i="1" spc="114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Plan</a:t>
            </a:r>
            <a:r>
              <a:rPr spc="-1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9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Consecuencias</a:t>
            </a:r>
            <a:r>
              <a:rPr spc="35" dirty="0"/>
              <a:t> </a:t>
            </a:r>
            <a:r>
              <a:rPr dirty="0"/>
              <a:t>no</a:t>
            </a:r>
            <a:r>
              <a:rPr spc="95" dirty="0"/>
              <a:t> </a:t>
            </a:r>
            <a:r>
              <a:rPr dirty="0"/>
              <a:t>tener</a:t>
            </a:r>
            <a:r>
              <a:rPr spc="70" dirty="0"/>
              <a:t> </a:t>
            </a:r>
            <a:r>
              <a:rPr spc="-25" dirty="0"/>
              <a:t>DRP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2587" y="2478151"/>
            <a:ext cx="2197735" cy="2035175"/>
            <a:chOff x="382587" y="2478151"/>
            <a:chExt cx="2197735" cy="2035175"/>
          </a:xfrm>
        </p:grpSpPr>
        <p:sp>
          <p:nvSpPr>
            <p:cNvPr id="4" name="object 4"/>
            <p:cNvSpPr/>
            <p:nvPr/>
          </p:nvSpPr>
          <p:spPr>
            <a:xfrm>
              <a:off x="395287" y="2490851"/>
              <a:ext cx="2172335" cy="2009775"/>
            </a:xfrm>
            <a:custGeom>
              <a:avLst/>
              <a:gdLst/>
              <a:ahLst/>
              <a:cxnLst/>
              <a:rect l="l" t="t" r="r" b="b"/>
              <a:pathLst>
                <a:path w="2172335" h="2009775">
                  <a:moveTo>
                    <a:pt x="1669224" y="0"/>
                  </a:moveTo>
                  <a:lnTo>
                    <a:pt x="502437" y="0"/>
                  </a:lnTo>
                  <a:lnTo>
                    <a:pt x="0" y="1004824"/>
                  </a:lnTo>
                  <a:lnTo>
                    <a:pt x="502437" y="2009775"/>
                  </a:lnTo>
                  <a:lnTo>
                    <a:pt x="1669224" y="2009775"/>
                  </a:lnTo>
                  <a:lnTo>
                    <a:pt x="2171763" y="1004824"/>
                  </a:lnTo>
                  <a:lnTo>
                    <a:pt x="1669224" y="0"/>
                  </a:lnTo>
                  <a:close/>
                </a:path>
              </a:pathLst>
            </a:custGeom>
            <a:solidFill>
              <a:srgbClr val="04A3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5287" y="2490851"/>
              <a:ext cx="2172335" cy="2009775"/>
            </a:xfrm>
            <a:custGeom>
              <a:avLst/>
              <a:gdLst/>
              <a:ahLst/>
              <a:cxnLst/>
              <a:rect l="l" t="t" r="r" b="b"/>
              <a:pathLst>
                <a:path w="2172335" h="2009775">
                  <a:moveTo>
                    <a:pt x="0" y="1004824"/>
                  </a:moveTo>
                  <a:lnTo>
                    <a:pt x="502437" y="0"/>
                  </a:lnTo>
                  <a:lnTo>
                    <a:pt x="1669224" y="0"/>
                  </a:lnTo>
                  <a:lnTo>
                    <a:pt x="2171763" y="1004824"/>
                  </a:lnTo>
                  <a:lnTo>
                    <a:pt x="1669224" y="2009775"/>
                  </a:lnTo>
                  <a:lnTo>
                    <a:pt x="502437" y="2009775"/>
                  </a:lnTo>
                  <a:lnTo>
                    <a:pt x="0" y="1004824"/>
                  </a:lnTo>
                  <a:close/>
                </a:path>
              </a:pathLst>
            </a:custGeom>
            <a:ln w="25400">
              <a:solidFill>
                <a:srgbClr val="004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75347" y="3156648"/>
            <a:ext cx="120396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Pérdida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costos</a:t>
            </a:r>
            <a:r>
              <a:rPr sz="2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fijos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40001" y="3478276"/>
            <a:ext cx="2197100" cy="2035175"/>
            <a:chOff x="2040001" y="3478276"/>
            <a:chExt cx="2197100" cy="2035175"/>
          </a:xfrm>
        </p:grpSpPr>
        <p:sp>
          <p:nvSpPr>
            <p:cNvPr id="8" name="object 8"/>
            <p:cNvSpPr/>
            <p:nvPr/>
          </p:nvSpPr>
          <p:spPr>
            <a:xfrm>
              <a:off x="2052701" y="3490976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1669161" y="0"/>
                  </a:moveTo>
                  <a:lnTo>
                    <a:pt x="502412" y="0"/>
                  </a:lnTo>
                  <a:lnTo>
                    <a:pt x="0" y="1004824"/>
                  </a:lnTo>
                  <a:lnTo>
                    <a:pt x="502412" y="2009775"/>
                  </a:lnTo>
                  <a:lnTo>
                    <a:pt x="1669161" y="2009775"/>
                  </a:lnTo>
                  <a:lnTo>
                    <a:pt x="2171700" y="1004824"/>
                  </a:lnTo>
                  <a:lnTo>
                    <a:pt x="1669161" y="0"/>
                  </a:lnTo>
                  <a:close/>
                </a:path>
              </a:pathLst>
            </a:custGeom>
            <a:solidFill>
              <a:srgbClr val="9F79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52701" y="3490976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0" y="1004824"/>
                  </a:moveTo>
                  <a:lnTo>
                    <a:pt x="502412" y="0"/>
                  </a:lnTo>
                  <a:lnTo>
                    <a:pt x="1669161" y="0"/>
                  </a:lnTo>
                  <a:lnTo>
                    <a:pt x="2171700" y="1004824"/>
                  </a:lnTo>
                  <a:lnTo>
                    <a:pt x="1669161" y="2009775"/>
                  </a:lnTo>
                  <a:lnTo>
                    <a:pt x="502412" y="2009775"/>
                  </a:lnTo>
                  <a:lnTo>
                    <a:pt x="0" y="1004824"/>
                  </a:lnTo>
                  <a:close/>
                </a:path>
              </a:pathLst>
            </a:custGeom>
            <a:ln w="25400">
              <a:solidFill>
                <a:srgbClr val="402E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50795" y="4161853"/>
            <a:ext cx="116459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2240" marR="5080" indent="-129539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Pérdida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ingresos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06876" y="2478151"/>
            <a:ext cx="2197100" cy="2035175"/>
            <a:chOff x="3706876" y="2478151"/>
            <a:chExt cx="2197100" cy="2035175"/>
          </a:xfrm>
        </p:grpSpPr>
        <p:sp>
          <p:nvSpPr>
            <p:cNvPr id="12" name="object 12"/>
            <p:cNvSpPr/>
            <p:nvPr/>
          </p:nvSpPr>
          <p:spPr>
            <a:xfrm>
              <a:off x="3719576" y="2490851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1669161" y="0"/>
                  </a:moveTo>
                  <a:lnTo>
                    <a:pt x="502412" y="0"/>
                  </a:lnTo>
                  <a:lnTo>
                    <a:pt x="0" y="1004824"/>
                  </a:lnTo>
                  <a:lnTo>
                    <a:pt x="502412" y="2009775"/>
                  </a:lnTo>
                  <a:lnTo>
                    <a:pt x="1669161" y="2009775"/>
                  </a:lnTo>
                  <a:lnTo>
                    <a:pt x="2171700" y="1004824"/>
                  </a:lnTo>
                  <a:lnTo>
                    <a:pt x="1669161" y="0"/>
                  </a:lnTo>
                  <a:close/>
                </a:path>
              </a:pathLst>
            </a:custGeom>
            <a:solidFill>
              <a:srgbClr val="E969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19576" y="2490851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0" y="1004824"/>
                  </a:moveTo>
                  <a:lnTo>
                    <a:pt x="502412" y="0"/>
                  </a:lnTo>
                  <a:lnTo>
                    <a:pt x="1669161" y="0"/>
                  </a:lnTo>
                  <a:lnTo>
                    <a:pt x="2171700" y="1004824"/>
                  </a:lnTo>
                  <a:lnTo>
                    <a:pt x="1669161" y="2009775"/>
                  </a:lnTo>
                  <a:lnTo>
                    <a:pt x="502412" y="2009775"/>
                  </a:lnTo>
                  <a:lnTo>
                    <a:pt x="0" y="1004824"/>
                  </a:lnTo>
                  <a:close/>
                </a:path>
              </a:pathLst>
            </a:custGeom>
            <a:ln w="25400">
              <a:solidFill>
                <a:srgbClr val="61280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22369" y="3156648"/>
            <a:ext cx="1165860" cy="6400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4625" marR="5080" indent="-16256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Pérdida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clientes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373751" y="3478276"/>
            <a:ext cx="2197100" cy="2035175"/>
            <a:chOff x="5373751" y="3478276"/>
            <a:chExt cx="2197100" cy="2035175"/>
          </a:xfrm>
        </p:grpSpPr>
        <p:sp>
          <p:nvSpPr>
            <p:cNvPr id="16" name="object 16"/>
            <p:cNvSpPr/>
            <p:nvPr/>
          </p:nvSpPr>
          <p:spPr>
            <a:xfrm>
              <a:off x="5386451" y="3490976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1669160" y="0"/>
                  </a:moveTo>
                  <a:lnTo>
                    <a:pt x="502412" y="0"/>
                  </a:lnTo>
                  <a:lnTo>
                    <a:pt x="0" y="1004824"/>
                  </a:lnTo>
                  <a:lnTo>
                    <a:pt x="502412" y="2009775"/>
                  </a:lnTo>
                  <a:lnTo>
                    <a:pt x="1669160" y="2009775"/>
                  </a:lnTo>
                  <a:lnTo>
                    <a:pt x="2171700" y="1004824"/>
                  </a:lnTo>
                  <a:lnTo>
                    <a:pt x="1669160" y="0"/>
                  </a:lnTo>
                  <a:close/>
                </a:path>
              </a:pathLst>
            </a:custGeom>
            <a:solidFill>
              <a:srgbClr val="F0A1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86451" y="3490976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0" y="1004824"/>
                  </a:moveTo>
                  <a:lnTo>
                    <a:pt x="502412" y="0"/>
                  </a:lnTo>
                  <a:lnTo>
                    <a:pt x="1669160" y="0"/>
                  </a:lnTo>
                  <a:lnTo>
                    <a:pt x="2171700" y="1004824"/>
                  </a:lnTo>
                  <a:lnTo>
                    <a:pt x="1669160" y="2009775"/>
                  </a:lnTo>
                  <a:lnTo>
                    <a:pt x="502412" y="2009775"/>
                  </a:lnTo>
                  <a:lnTo>
                    <a:pt x="0" y="1004824"/>
                  </a:lnTo>
                  <a:close/>
                </a:path>
              </a:pathLst>
            </a:custGeom>
            <a:ln w="25400">
              <a:solidFill>
                <a:srgbClr val="6642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89625" y="4161853"/>
            <a:ext cx="117284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4445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Pérdida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reputación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50151" y="2478151"/>
            <a:ext cx="2197100" cy="2035175"/>
            <a:chOff x="7050151" y="2478151"/>
            <a:chExt cx="2197100" cy="2035175"/>
          </a:xfrm>
        </p:grpSpPr>
        <p:sp>
          <p:nvSpPr>
            <p:cNvPr id="20" name="object 20"/>
            <p:cNvSpPr/>
            <p:nvPr/>
          </p:nvSpPr>
          <p:spPr>
            <a:xfrm>
              <a:off x="7062851" y="2490851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1669160" y="0"/>
                  </a:moveTo>
                  <a:lnTo>
                    <a:pt x="502412" y="0"/>
                  </a:lnTo>
                  <a:lnTo>
                    <a:pt x="0" y="1004824"/>
                  </a:lnTo>
                  <a:lnTo>
                    <a:pt x="502412" y="2009775"/>
                  </a:lnTo>
                  <a:lnTo>
                    <a:pt x="1669160" y="2009775"/>
                  </a:lnTo>
                  <a:lnTo>
                    <a:pt x="2171700" y="1004824"/>
                  </a:lnTo>
                  <a:lnTo>
                    <a:pt x="1669160" y="0"/>
                  </a:lnTo>
                  <a:close/>
                </a:path>
              </a:pathLst>
            </a:custGeom>
            <a:solidFill>
              <a:srgbClr val="484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62851" y="2490851"/>
              <a:ext cx="2171700" cy="2009775"/>
            </a:xfrm>
            <a:custGeom>
              <a:avLst/>
              <a:gdLst/>
              <a:ahLst/>
              <a:cxnLst/>
              <a:rect l="l" t="t" r="r" b="b"/>
              <a:pathLst>
                <a:path w="2171700" h="2009775">
                  <a:moveTo>
                    <a:pt x="0" y="1004824"/>
                  </a:moveTo>
                  <a:lnTo>
                    <a:pt x="502412" y="0"/>
                  </a:lnTo>
                  <a:lnTo>
                    <a:pt x="1669160" y="0"/>
                  </a:lnTo>
                  <a:lnTo>
                    <a:pt x="2171700" y="1004824"/>
                  </a:lnTo>
                  <a:lnTo>
                    <a:pt x="1669160" y="2009775"/>
                  </a:lnTo>
                  <a:lnTo>
                    <a:pt x="502412" y="2009775"/>
                  </a:lnTo>
                  <a:lnTo>
                    <a:pt x="0" y="1004824"/>
                  </a:lnTo>
                  <a:close/>
                </a:path>
              </a:pathLst>
            </a:custGeom>
            <a:ln w="25400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88808" y="3004248"/>
            <a:ext cx="1318260" cy="9448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27940" algn="just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Pérdida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reposición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reparación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6637" y="2854578"/>
            <a:ext cx="10125075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Pasos</a:t>
            </a:r>
            <a:r>
              <a:rPr sz="6600" spc="-40" dirty="0"/>
              <a:t> </a:t>
            </a:r>
            <a:r>
              <a:rPr sz="6600" dirty="0"/>
              <a:t>para</a:t>
            </a:r>
            <a:r>
              <a:rPr sz="6600" spc="-90" dirty="0"/>
              <a:t> </a:t>
            </a:r>
            <a:r>
              <a:rPr sz="6600" dirty="0"/>
              <a:t>implementar</a:t>
            </a:r>
            <a:r>
              <a:rPr sz="6600" spc="-40" dirty="0"/>
              <a:t> </a:t>
            </a:r>
            <a:r>
              <a:rPr sz="6600" spc="-25" dirty="0"/>
              <a:t>DRP</a:t>
            </a:r>
            <a:endParaRPr sz="6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0"/>
            <a:ext cx="1183005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30"/>
              </a:spcBef>
            </a:pPr>
            <a:r>
              <a:rPr dirty="0"/>
              <a:t>Pasos</a:t>
            </a:r>
            <a:r>
              <a:rPr spc="60" dirty="0"/>
              <a:t> </a:t>
            </a:r>
            <a:r>
              <a:rPr dirty="0"/>
              <a:t>para</a:t>
            </a:r>
            <a:r>
              <a:rPr spc="55" dirty="0"/>
              <a:t> </a:t>
            </a:r>
            <a:r>
              <a:rPr dirty="0"/>
              <a:t>implementar</a:t>
            </a:r>
            <a:r>
              <a:rPr spc="75" dirty="0"/>
              <a:t> </a:t>
            </a:r>
            <a:r>
              <a:rPr spc="-25" dirty="0"/>
              <a:t>DRP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1571625"/>
            <a:ext cx="6162675" cy="4686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74440" y="6546215"/>
            <a:ext cx="30829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Fuente</a:t>
            </a:r>
            <a:r>
              <a:rPr sz="900" spc="4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de</a:t>
            </a:r>
            <a:r>
              <a:rPr sz="900" spc="5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la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imagen:</a:t>
            </a:r>
            <a:r>
              <a:rPr sz="900" spc="3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https://</a:t>
            </a:r>
            <a:r>
              <a:rPr sz="900" spc="-10" dirty="0">
                <a:latin typeface="Calibri"/>
                <a:cs typeface="Calibri"/>
                <a:hlinkClick r:id="rId4"/>
              </a:rPr>
              <a:t>www.canvia.com/disaster-recovery/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165" y="2854578"/>
            <a:ext cx="5248275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Beneficios</a:t>
            </a:r>
            <a:r>
              <a:rPr sz="6600" spc="-25" dirty="0"/>
              <a:t> DRP</a:t>
            </a:r>
            <a:endParaRPr sz="6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Beneficios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907" y="1696348"/>
            <a:ext cx="5833110" cy="4413885"/>
          </a:xfrm>
          <a:prstGeom prst="rect">
            <a:avLst/>
          </a:prstGeom>
        </p:spPr>
        <p:txBody>
          <a:bodyPr vert="horz" wrap="square" lIns="0" tIns="249554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964"/>
              </a:spcBef>
              <a:buClr>
                <a:srgbClr val="04A3C9"/>
              </a:buClr>
              <a:buSzPct val="84375"/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Ventaja</a:t>
            </a:r>
            <a:r>
              <a:rPr sz="3200" b="1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competitiva.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870"/>
              </a:spcBef>
              <a:buClr>
                <a:srgbClr val="04A3C9"/>
              </a:buClr>
              <a:buSzPct val="84375"/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Manejo</a:t>
            </a:r>
            <a:r>
              <a:rPr sz="3200" b="1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eficiente</a:t>
            </a:r>
            <a:r>
              <a:rPr sz="32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costos.</a:t>
            </a:r>
            <a:endParaRPr sz="3200">
              <a:latin typeface="Calibri"/>
              <a:cs typeface="Calibri"/>
            </a:endParaRPr>
          </a:p>
          <a:p>
            <a:pPr marL="469900" marR="457834" indent="-457834">
              <a:lnSpc>
                <a:spcPct val="150600"/>
              </a:lnSpc>
              <a:buClr>
                <a:srgbClr val="04A3C9"/>
              </a:buClr>
              <a:buSzPct val="84375"/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Reducir</a:t>
            </a:r>
            <a:r>
              <a:rPr sz="3200" b="1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pérdidas</a:t>
            </a:r>
            <a:r>
              <a:rPr sz="3200" b="1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por</a:t>
            </a:r>
            <a:r>
              <a:rPr sz="3200" b="1" spc="-7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falta 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de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actividad.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945"/>
              </a:spcBef>
              <a:buClr>
                <a:srgbClr val="04A3C9"/>
              </a:buClr>
              <a:buSzPct val="84375"/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Mayor</a:t>
            </a:r>
            <a:r>
              <a:rPr sz="3200" b="1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retención</a:t>
            </a:r>
            <a:r>
              <a:rPr sz="32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clientes.</a:t>
            </a:r>
            <a:endParaRPr sz="3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1939"/>
              </a:spcBef>
              <a:buClr>
                <a:srgbClr val="04A3C9"/>
              </a:buClr>
              <a:buSzPct val="84375"/>
              <a:buFont typeface="Wingdings"/>
              <a:buChar char=""/>
              <a:tabLst>
                <a:tab pos="469900" algn="l"/>
              </a:tabLst>
            </a:pP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Mejor</a:t>
            </a:r>
            <a:r>
              <a:rPr sz="3200" b="1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escalabilidad</a:t>
            </a:r>
            <a:r>
              <a:rPr sz="3200" b="1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3200" b="1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7E7E7E"/>
                </a:solidFill>
                <a:latin typeface="Calibri"/>
                <a:cs typeface="Calibri"/>
              </a:rPr>
              <a:t>negocio.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2225" y="3285997"/>
            <a:ext cx="2881376" cy="19098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71920" y="5227954"/>
            <a:ext cx="2625725" cy="1282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latin typeface="Calibri"/>
                <a:cs typeface="Calibri"/>
              </a:rPr>
              <a:t>Fuente</a:t>
            </a:r>
            <a:r>
              <a:rPr sz="650" spc="420" dirty="0">
                <a:latin typeface="Calibri"/>
                <a:cs typeface="Calibri"/>
              </a:rPr>
              <a:t> </a:t>
            </a:r>
            <a:r>
              <a:rPr sz="650" dirty="0">
                <a:latin typeface="Calibri"/>
                <a:cs typeface="Calibri"/>
              </a:rPr>
              <a:t>de</a:t>
            </a:r>
            <a:r>
              <a:rPr sz="650" spc="200" dirty="0">
                <a:latin typeface="Calibri"/>
                <a:cs typeface="Calibri"/>
              </a:rPr>
              <a:t> </a:t>
            </a:r>
            <a:r>
              <a:rPr sz="650" dirty="0">
                <a:latin typeface="Calibri"/>
                <a:cs typeface="Calibri"/>
              </a:rPr>
              <a:t>imagen:</a:t>
            </a:r>
            <a:r>
              <a:rPr sz="650" spc="440" dirty="0">
                <a:latin typeface="Calibri"/>
                <a:cs typeface="Calibri"/>
              </a:rPr>
              <a:t> </a:t>
            </a:r>
            <a:r>
              <a:rPr sz="650" dirty="0">
                <a:latin typeface="Calibri"/>
                <a:cs typeface="Calibri"/>
              </a:rPr>
              <a:t>https://hystax.com</a:t>
            </a:r>
            <a:r>
              <a:rPr sz="650" spc="30" dirty="0">
                <a:latin typeface="Calibri"/>
                <a:cs typeface="Calibri"/>
              </a:rPr>
              <a:t> </a:t>
            </a:r>
            <a:r>
              <a:rPr sz="650" dirty="0">
                <a:latin typeface="Calibri"/>
                <a:cs typeface="Calibri"/>
              </a:rPr>
              <a:t>/es/disaster-recovery-to-</a:t>
            </a:r>
            <a:r>
              <a:rPr sz="650" spc="-10" dirty="0">
                <a:latin typeface="Calibri"/>
                <a:cs typeface="Calibri"/>
              </a:rPr>
              <a:t>alibaba/</a:t>
            </a:r>
            <a:endParaRPr sz="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6309" y="2854578"/>
            <a:ext cx="266319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spc="-10" dirty="0"/>
              <a:t>Síntesis</a:t>
            </a:r>
            <a:endParaRPr sz="6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381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Síntesis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dirty="0"/>
              <a:t>Un</a:t>
            </a:r>
            <a:r>
              <a:rPr spc="365" dirty="0"/>
              <a:t>  </a:t>
            </a:r>
            <a:r>
              <a:rPr dirty="0"/>
              <a:t>plan</a:t>
            </a:r>
            <a:r>
              <a:rPr spc="360" dirty="0"/>
              <a:t>  </a:t>
            </a:r>
            <a:r>
              <a:rPr dirty="0"/>
              <a:t>de</a:t>
            </a:r>
            <a:r>
              <a:rPr spc="370" dirty="0"/>
              <a:t>  </a:t>
            </a:r>
            <a:r>
              <a:rPr dirty="0"/>
              <a:t>recuperación</a:t>
            </a:r>
            <a:r>
              <a:rPr spc="365" dirty="0"/>
              <a:t>  </a:t>
            </a:r>
            <a:r>
              <a:rPr dirty="0"/>
              <a:t>de</a:t>
            </a:r>
            <a:r>
              <a:rPr spc="370" dirty="0"/>
              <a:t>  </a:t>
            </a:r>
            <a:r>
              <a:rPr dirty="0"/>
              <a:t>desastres</a:t>
            </a:r>
            <a:r>
              <a:rPr spc="340" dirty="0"/>
              <a:t>  </a:t>
            </a:r>
            <a:r>
              <a:rPr dirty="0"/>
              <a:t>(DRP)</a:t>
            </a:r>
            <a:r>
              <a:rPr spc="370" dirty="0"/>
              <a:t>  </a:t>
            </a:r>
            <a:r>
              <a:rPr dirty="0"/>
              <a:t>es</a:t>
            </a:r>
            <a:r>
              <a:rPr spc="340" dirty="0"/>
              <a:t>  </a:t>
            </a:r>
            <a:r>
              <a:rPr dirty="0"/>
              <a:t>un</a:t>
            </a:r>
            <a:r>
              <a:rPr spc="370" dirty="0"/>
              <a:t>  </a:t>
            </a:r>
            <a:r>
              <a:rPr spc="-10" dirty="0"/>
              <a:t>enfoque </a:t>
            </a:r>
            <a:r>
              <a:rPr dirty="0"/>
              <a:t>documentado</a:t>
            </a:r>
            <a:r>
              <a:rPr spc="295" dirty="0"/>
              <a:t> </a:t>
            </a:r>
            <a:r>
              <a:rPr dirty="0"/>
              <a:t>y</a:t>
            </a:r>
            <a:r>
              <a:rPr spc="285" dirty="0"/>
              <a:t> </a:t>
            </a:r>
            <a:r>
              <a:rPr dirty="0"/>
              <a:t>estructurado</a:t>
            </a:r>
            <a:r>
              <a:rPr spc="275" dirty="0"/>
              <a:t> </a:t>
            </a:r>
            <a:r>
              <a:rPr dirty="0"/>
              <a:t>que</a:t>
            </a:r>
            <a:r>
              <a:rPr spc="265" dirty="0"/>
              <a:t> </a:t>
            </a:r>
            <a:r>
              <a:rPr dirty="0"/>
              <a:t>describe</a:t>
            </a:r>
            <a:r>
              <a:rPr spc="280" dirty="0"/>
              <a:t> </a:t>
            </a:r>
            <a:r>
              <a:rPr dirty="0"/>
              <a:t>la</a:t>
            </a:r>
            <a:r>
              <a:rPr spc="245" dirty="0"/>
              <a:t> </a:t>
            </a:r>
            <a:r>
              <a:rPr dirty="0"/>
              <a:t>manera</a:t>
            </a:r>
            <a:r>
              <a:rPr spc="295" dirty="0"/>
              <a:t> </a:t>
            </a:r>
            <a:r>
              <a:rPr dirty="0"/>
              <a:t>de</a:t>
            </a:r>
            <a:r>
              <a:rPr spc="305" dirty="0"/>
              <a:t> </a:t>
            </a:r>
            <a:r>
              <a:rPr dirty="0"/>
              <a:t>reanudar</a:t>
            </a:r>
            <a:r>
              <a:rPr spc="305" dirty="0"/>
              <a:t> </a:t>
            </a:r>
            <a:r>
              <a:rPr spc="-25" dirty="0"/>
              <a:t>el </a:t>
            </a:r>
            <a:r>
              <a:rPr dirty="0"/>
              <a:t>trabajo</a:t>
            </a:r>
            <a:r>
              <a:rPr spc="190" dirty="0"/>
              <a:t> </a:t>
            </a:r>
            <a:r>
              <a:rPr dirty="0"/>
              <a:t>rápidamente</a:t>
            </a:r>
            <a:r>
              <a:rPr spc="165" dirty="0"/>
              <a:t> </a:t>
            </a:r>
            <a:r>
              <a:rPr dirty="0"/>
              <a:t>en</a:t>
            </a:r>
            <a:r>
              <a:rPr spc="140" dirty="0"/>
              <a:t> </a:t>
            </a:r>
            <a:r>
              <a:rPr dirty="0"/>
              <a:t>una</a:t>
            </a:r>
            <a:r>
              <a:rPr spc="155" dirty="0"/>
              <a:t> </a:t>
            </a:r>
            <a:r>
              <a:rPr dirty="0"/>
              <a:t>organización</a:t>
            </a:r>
            <a:r>
              <a:rPr spc="210" dirty="0"/>
              <a:t> </a:t>
            </a:r>
            <a:r>
              <a:rPr dirty="0"/>
              <a:t>después</a:t>
            </a:r>
            <a:r>
              <a:rPr spc="170" dirty="0"/>
              <a:t> </a:t>
            </a:r>
            <a:r>
              <a:rPr dirty="0"/>
              <a:t>de</a:t>
            </a:r>
            <a:r>
              <a:rPr spc="210" dirty="0"/>
              <a:t> </a:t>
            </a:r>
            <a:r>
              <a:rPr dirty="0"/>
              <a:t>un</a:t>
            </a:r>
            <a:r>
              <a:rPr spc="200" dirty="0"/>
              <a:t> </a:t>
            </a:r>
            <a:r>
              <a:rPr dirty="0"/>
              <a:t>incidente</a:t>
            </a:r>
            <a:r>
              <a:rPr spc="170" dirty="0"/>
              <a:t> </a:t>
            </a:r>
            <a:r>
              <a:rPr spc="-25" dirty="0"/>
              <a:t>no </a:t>
            </a:r>
            <a:r>
              <a:rPr dirty="0"/>
              <a:t>planificado.</a:t>
            </a:r>
            <a:r>
              <a:rPr spc="130" dirty="0"/>
              <a:t> </a:t>
            </a:r>
            <a:r>
              <a:rPr dirty="0"/>
              <a:t>Algunos</a:t>
            </a:r>
            <a:r>
              <a:rPr spc="160" dirty="0"/>
              <a:t> </a:t>
            </a:r>
            <a:r>
              <a:rPr dirty="0"/>
              <a:t>de</a:t>
            </a:r>
            <a:r>
              <a:rPr spc="160" dirty="0"/>
              <a:t> </a:t>
            </a:r>
            <a:r>
              <a:rPr dirty="0"/>
              <a:t>los</a:t>
            </a:r>
            <a:r>
              <a:rPr spc="120" dirty="0"/>
              <a:t> </a:t>
            </a:r>
            <a:r>
              <a:rPr dirty="0"/>
              <a:t>incidentes</a:t>
            </a:r>
            <a:r>
              <a:rPr spc="160" dirty="0"/>
              <a:t> </a:t>
            </a:r>
            <a:r>
              <a:rPr dirty="0"/>
              <a:t>pueden</a:t>
            </a:r>
            <a:r>
              <a:rPr spc="125" dirty="0"/>
              <a:t> </a:t>
            </a:r>
            <a:r>
              <a:rPr dirty="0"/>
              <a:t>ser</a:t>
            </a:r>
            <a:r>
              <a:rPr spc="150" dirty="0"/>
              <a:t> </a:t>
            </a:r>
            <a:r>
              <a:rPr dirty="0"/>
              <a:t>desastres</a:t>
            </a:r>
            <a:r>
              <a:rPr spc="105" dirty="0"/>
              <a:t> </a:t>
            </a:r>
            <a:r>
              <a:rPr spc="-10" dirty="0"/>
              <a:t>naturales, </a:t>
            </a:r>
            <a:r>
              <a:rPr dirty="0"/>
              <a:t>robos,</a:t>
            </a:r>
            <a:r>
              <a:rPr spc="-35" dirty="0"/>
              <a:t> </a:t>
            </a:r>
            <a:r>
              <a:rPr dirty="0"/>
              <a:t>ciberataques,</a:t>
            </a:r>
            <a:r>
              <a:rPr spc="-10" dirty="0"/>
              <a:t> </a:t>
            </a:r>
            <a:r>
              <a:rPr dirty="0"/>
              <a:t>fallos</a:t>
            </a:r>
            <a:r>
              <a:rPr spc="-4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energía,</a:t>
            </a:r>
            <a:r>
              <a:rPr spc="-25" dirty="0"/>
              <a:t> </a:t>
            </a:r>
            <a:r>
              <a:rPr dirty="0"/>
              <a:t>entre</a:t>
            </a:r>
            <a:r>
              <a:rPr spc="-70" dirty="0"/>
              <a:t> </a:t>
            </a:r>
            <a:r>
              <a:rPr spc="-10" dirty="0"/>
              <a:t>otros.</a:t>
            </a:r>
          </a:p>
          <a:p>
            <a:pPr marL="12700" marR="9525" algn="just">
              <a:lnSpc>
                <a:spcPct val="100000"/>
              </a:lnSpc>
              <a:spcBef>
                <a:spcPts val="2325"/>
              </a:spcBef>
            </a:pPr>
            <a:r>
              <a:rPr dirty="0"/>
              <a:t>Dentro</a:t>
            </a:r>
            <a:r>
              <a:rPr spc="215" dirty="0"/>
              <a:t> </a:t>
            </a:r>
            <a:r>
              <a:rPr dirty="0"/>
              <a:t>de</a:t>
            </a:r>
            <a:r>
              <a:rPr spc="229" dirty="0"/>
              <a:t> </a:t>
            </a:r>
            <a:r>
              <a:rPr dirty="0"/>
              <a:t>las</a:t>
            </a:r>
            <a:r>
              <a:rPr spc="185" dirty="0"/>
              <a:t> </a:t>
            </a:r>
            <a:r>
              <a:rPr dirty="0"/>
              <a:t>consecuencias</a:t>
            </a:r>
            <a:r>
              <a:rPr spc="225" dirty="0"/>
              <a:t> </a:t>
            </a:r>
            <a:r>
              <a:rPr dirty="0"/>
              <a:t>de</a:t>
            </a:r>
            <a:r>
              <a:rPr spc="229" dirty="0"/>
              <a:t> </a:t>
            </a:r>
            <a:r>
              <a:rPr dirty="0"/>
              <a:t>no</a:t>
            </a:r>
            <a:r>
              <a:rPr spc="225" dirty="0"/>
              <a:t> </a:t>
            </a:r>
            <a:r>
              <a:rPr dirty="0"/>
              <a:t>tener</a:t>
            </a:r>
            <a:r>
              <a:rPr spc="175" dirty="0"/>
              <a:t> </a:t>
            </a:r>
            <a:r>
              <a:rPr dirty="0"/>
              <a:t>DRP</a:t>
            </a:r>
            <a:r>
              <a:rPr spc="180" dirty="0"/>
              <a:t> </a:t>
            </a:r>
            <a:r>
              <a:rPr dirty="0"/>
              <a:t>se</a:t>
            </a:r>
            <a:r>
              <a:rPr spc="175" dirty="0"/>
              <a:t> </a:t>
            </a:r>
            <a:r>
              <a:rPr dirty="0"/>
              <a:t>encuentran:</a:t>
            </a:r>
            <a:r>
              <a:rPr spc="204" dirty="0"/>
              <a:t> </a:t>
            </a:r>
            <a:r>
              <a:rPr spc="-10" dirty="0"/>
              <a:t>pérdida </a:t>
            </a:r>
            <a:r>
              <a:rPr dirty="0"/>
              <a:t>de</a:t>
            </a:r>
            <a:r>
              <a:rPr spc="360" dirty="0"/>
              <a:t> </a:t>
            </a:r>
            <a:r>
              <a:rPr dirty="0"/>
              <a:t>costos</a:t>
            </a:r>
            <a:r>
              <a:rPr spc="315" dirty="0"/>
              <a:t> </a:t>
            </a:r>
            <a:r>
              <a:rPr dirty="0"/>
              <a:t>fijos,</a:t>
            </a:r>
            <a:r>
              <a:rPr spc="330" dirty="0"/>
              <a:t> </a:t>
            </a:r>
            <a:r>
              <a:rPr dirty="0"/>
              <a:t>pérdida</a:t>
            </a:r>
            <a:r>
              <a:rPr spc="300" dirty="0"/>
              <a:t> </a:t>
            </a:r>
            <a:r>
              <a:rPr dirty="0"/>
              <a:t>de</a:t>
            </a:r>
            <a:r>
              <a:rPr spc="360" dirty="0"/>
              <a:t> </a:t>
            </a:r>
            <a:r>
              <a:rPr dirty="0"/>
              <a:t>ingresos,</a:t>
            </a:r>
            <a:r>
              <a:rPr spc="360" dirty="0"/>
              <a:t> </a:t>
            </a:r>
            <a:r>
              <a:rPr dirty="0"/>
              <a:t>pérdida</a:t>
            </a:r>
            <a:r>
              <a:rPr spc="305" dirty="0"/>
              <a:t> </a:t>
            </a:r>
            <a:r>
              <a:rPr dirty="0"/>
              <a:t>de</a:t>
            </a:r>
            <a:r>
              <a:rPr spc="360" dirty="0"/>
              <a:t> </a:t>
            </a:r>
            <a:r>
              <a:rPr dirty="0"/>
              <a:t>clientes,</a:t>
            </a:r>
            <a:r>
              <a:rPr spc="370" dirty="0"/>
              <a:t> </a:t>
            </a:r>
            <a:r>
              <a:rPr dirty="0"/>
              <a:t>pérdida</a:t>
            </a:r>
            <a:r>
              <a:rPr spc="300" dirty="0"/>
              <a:t> </a:t>
            </a:r>
            <a:r>
              <a:rPr spc="-25" dirty="0"/>
              <a:t>de </a:t>
            </a:r>
            <a:r>
              <a:rPr dirty="0"/>
              <a:t>reputación</a:t>
            </a:r>
            <a:r>
              <a:rPr spc="-20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pérdida</a:t>
            </a:r>
            <a:r>
              <a:rPr spc="-45" dirty="0"/>
              <a:t> </a:t>
            </a:r>
            <a:r>
              <a:rPr dirty="0"/>
              <a:t>por</a:t>
            </a:r>
            <a:r>
              <a:rPr spc="-35" dirty="0"/>
              <a:t> </a:t>
            </a:r>
            <a:r>
              <a:rPr dirty="0"/>
              <a:t>reposición</a:t>
            </a:r>
            <a:r>
              <a:rPr spc="-15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spc="-10" dirty="0"/>
              <a:t>reparación.</a:t>
            </a:r>
          </a:p>
          <a:p>
            <a:pPr marL="12700" marR="13335" algn="just">
              <a:lnSpc>
                <a:spcPct val="100000"/>
              </a:lnSpc>
              <a:spcBef>
                <a:spcPts val="2275"/>
              </a:spcBef>
            </a:pPr>
            <a:r>
              <a:rPr dirty="0"/>
              <a:t>Los</a:t>
            </a:r>
            <a:r>
              <a:rPr spc="225" dirty="0"/>
              <a:t> </a:t>
            </a:r>
            <a:r>
              <a:rPr dirty="0"/>
              <a:t>pasos</a:t>
            </a:r>
            <a:r>
              <a:rPr spc="225" dirty="0"/>
              <a:t> </a:t>
            </a:r>
            <a:r>
              <a:rPr dirty="0"/>
              <a:t>para</a:t>
            </a:r>
            <a:r>
              <a:rPr spc="250" dirty="0"/>
              <a:t> </a:t>
            </a:r>
            <a:r>
              <a:rPr dirty="0"/>
              <a:t>implementar</a:t>
            </a:r>
            <a:r>
              <a:rPr spc="295" dirty="0"/>
              <a:t> </a:t>
            </a:r>
            <a:r>
              <a:rPr dirty="0"/>
              <a:t>un</a:t>
            </a:r>
            <a:r>
              <a:rPr spc="275" dirty="0"/>
              <a:t> </a:t>
            </a:r>
            <a:r>
              <a:rPr dirty="0"/>
              <a:t>DRP</a:t>
            </a:r>
            <a:r>
              <a:rPr spc="235" dirty="0"/>
              <a:t> </a:t>
            </a:r>
            <a:r>
              <a:rPr dirty="0"/>
              <a:t>son</a:t>
            </a:r>
            <a:r>
              <a:rPr spc="250" dirty="0"/>
              <a:t> </a:t>
            </a:r>
            <a:r>
              <a:rPr dirty="0"/>
              <a:t>la</a:t>
            </a:r>
            <a:r>
              <a:rPr spc="215" dirty="0"/>
              <a:t> </a:t>
            </a:r>
            <a:r>
              <a:rPr dirty="0"/>
              <a:t>identificación</a:t>
            </a:r>
            <a:r>
              <a:rPr spc="240" dirty="0"/>
              <a:t> </a:t>
            </a:r>
            <a:r>
              <a:rPr dirty="0"/>
              <a:t>de</a:t>
            </a:r>
            <a:r>
              <a:rPr spc="285" dirty="0"/>
              <a:t> </a:t>
            </a:r>
            <a:r>
              <a:rPr spc="-10" dirty="0"/>
              <a:t>posibles </a:t>
            </a:r>
            <a:r>
              <a:rPr dirty="0"/>
              <a:t>desastres,</a:t>
            </a:r>
            <a:r>
              <a:rPr spc="135" dirty="0"/>
              <a:t> </a:t>
            </a:r>
            <a:r>
              <a:rPr dirty="0"/>
              <a:t>el</a:t>
            </a:r>
            <a:r>
              <a:rPr spc="90" dirty="0"/>
              <a:t> </a:t>
            </a:r>
            <a:r>
              <a:rPr dirty="0"/>
              <a:t>establecimiento</a:t>
            </a:r>
            <a:r>
              <a:rPr spc="100" dirty="0"/>
              <a:t> </a:t>
            </a:r>
            <a:r>
              <a:rPr dirty="0"/>
              <a:t>de</a:t>
            </a:r>
            <a:r>
              <a:rPr spc="160" dirty="0"/>
              <a:t> </a:t>
            </a:r>
            <a:r>
              <a:rPr dirty="0"/>
              <a:t>objetivos</a:t>
            </a:r>
            <a:r>
              <a:rPr spc="105" dirty="0"/>
              <a:t> </a:t>
            </a:r>
            <a:r>
              <a:rPr dirty="0"/>
              <a:t>de</a:t>
            </a:r>
            <a:r>
              <a:rPr spc="160" dirty="0"/>
              <a:t> </a:t>
            </a:r>
            <a:r>
              <a:rPr dirty="0"/>
              <a:t>tiempo</a:t>
            </a:r>
            <a:r>
              <a:rPr spc="130" dirty="0"/>
              <a:t> </a:t>
            </a:r>
            <a:r>
              <a:rPr dirty="0"/>
              <a:t>de</a:t>
            </a:r>
            <a:r>
              <a:rPr spc="155" dirty="0"/>
              <a:t> </a:t>
            </a:r>
            <a:r>
              <a:rPr spc="-10" dirty="0"/>
              <a:t>recuperación, </a:t>
            </a:r>
            <a:r>
              <a:rPr dirty="0"/>
              <a:t>el</a:t>
            </a:r>
            <a:r>
              <a:rPr spc="270" dirty="0"/>
              <a:t>  </a:t>
            </a:r>
            <a:r>
              <a:rPr dirty="0"/>
              <a:t>desarrollo</a:t>
            </a:r>
            <a:r>
              <a:rPr spc="300" dirty="0"/>
              <a:t>  </a:t>
            </a:r>
            <a:r>
              <a:rPr dirty="0"/>
              <a:t>de</a:t>
            </a:r>
            <a:r>
              <a:rPr spc="310" dirty="0"/>
              <a:t>  </a:t>
            </a:r>
            <a:r>
              <a:rPr dirty="0"/>
              <a:t>Recursos</a:t>
            </a:r>
            <a:r>
              <a:rPr spc="285" dirty="0"/>
              <a:t>  </a:t>
            </a:r>
            <a:r>
              <a:rPr dirty="0"/>
              <a:t>de</a:t>
            </a:r>
            <a:r>
              <a:rPr spc="310" dirty="0"/>
              <a:t>  </a:t>
            </a:r>
            <a:r>
              <a:rPr dirty="0"/>
              <a:t>Recuperación,</a:t>
            </a:r>
            <a:r>
              <a:rPr spc="290" dirty="0"/>
              <a:t>  </a:t>
            </a:r>
            <a:r>
              <a:rPr dirty="0"/>
              <a:t>la</a:t>
            </a:r>
            <a:r>
              <a:rPr spc="275" dirty="0"/>
              <a:t>  </a:t>
            </a:r>
            <a:r>
              <a:rPr dirty="0"/>
              <a:t>comunicación</a:t>
            </a:r>
            <a:r>
              <a:rPr spc="290" dirty="0"/>
              <a:t>  </a:t>
            </a:r>
            <a:r>
              <a:rPr spc="-50" dirty="0"/>
              <a:t>y </a:t>
            </a:r>
            <a:r>
              <a:rPr dirty="0"/>
              <a:t>notificación</a:t>
            </a:r>
            <a:r>
              <a:rPr spc="-40" dirty="0"/>
              <a:t> </a:t>
            </a:r>
            <a:r>
              <a:rPr dirty="0"/>
              <a:t>y</a:t>
            </a:r>
            <a:r>
              <a:rPr spc="-10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dirty="0"/>
              <a:t>actualización</a:t>
            </a:r>
            <a:r>
              <a:rPr spc="-35" dirty="0"/>
              <a:t> </a:t>
            </a:r>
            <a:r>
              <a:rPr spc="-10" dirty="0"/>
              <a:t>continua.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1500" y="1895475"/>
            <a:ext cx="133350" cy="3152775"/>
            <a:chOff x="571500" y="1895475"/>
            <a:chExt cx="133350" cy="31527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1895475"/>
              <a:ext cx="133350" cy="133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714750"/>
              <a:ext cx="133350" cy="133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00" y="4914900"/>
              <a:ext cx="133350" cy="1333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901" y="2854578"/>
            <a:ext cx="5915660" cy="10331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600" dirty="0"/>
              <a:t>¡Muchas</a:t>
            </a:r>
            <a:r>
              <a:rPr sz="6600" spc="-80" dirty="0"/>
              <a:t> </a:t>
            </a:r>
            <a:r>
              <a:rPr sz="6600" spc="-10" dirty="0"/>
              <a:t>gracias!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9299BB7DBAB604CBF92CED6F341956D" ma:contentTypeVersion="3" ma:contentTypeDescription="Crear nuevo documento." ma:contentTypeScope="" ma:versionID="9afc5c629d1fa4daa758eae5c0ffce08">
  <xsd:schema xmlns:xsd="http://www.w3.org/2001/XMLSchema" xmlns:xs="http://www.w3.org/2001/XMLSchema" xmlns:p="http://schemas.microsoft.com/office/2006/metadata/properties" xmlns:ns2="0fd8070d-56ff-4b43-b705-64ae6a394890" targetNamespace="http://schemas.microsoft.com/office/2006/metadata/properties" ma:root="true" ma:fieldsID="e452753519e258a995a8d5047b5119ca" ns2:_="">
    <xsd:import namespace="0fd8070d-56ff-4b43-b705-64ae6a3948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070d-56ff-4b43-b705-64ae6a3948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B1FD2-7F33-4584-A40E-7850FA00966A}"/>
</file>

<file path=customXml/itemProps2.xml><?xml version="1.0" encoding="utf-8"?>
<ds:datastoreItem xmlns:ds="http://schemas.openxmlformats.org/officeDocument/2006/customXml" ds:itemID="{9BC52B17-38D5-4CCE-BC54-16F3BF722371}"/>
</file>

<file path=customXml/itemProps3.xml><?xml version="1.0" encoding="utf-8"?>
<ds:datastoreItem xmlns:ds="http://schemas.openxmlformats.org/officeDocument/2006/customXml" ds:itemID="{A1CE2744-45E0-4A0E-AF0B-45AE0C6F584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347</Words>
  <Application>Microsoft Office PowerPoint</Application>
  <PresentationFormat>Panorámica</PresentationFormat>
  <Paragraphs>37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Calibri</vt:lpstr>
      <vt:lpstr>Wingdings</vt:lpstr>
      <vt:lpstr>Office Theme</vt:lpstr>
      <vt:lpstr>Presentación de PowerPoint</vt:lpstr>
      <vt:lpstr>Temas a desarrollar</vt:lpstr>
      <vt:lpstr>Plan de recuperación de desastres (DRP)</vt:lpstr>
      <vt:lpstr>DRP (Disaster Recovery Plan)</vt:lpstr>
      <vt:lpstr>DRP (Disaster Recovery Plan)</vt:lpstr>
      <vt:lpstr>DRP (Disaster Recovery Plan)</vt:lpstr>
      <vt:lpstr>Consecuencias no tener DRP</vt:lpstr>
      <vt:lpstr>Pasos para implementar DRP</vt:lpstr>
      <vt:lpstr>Pasos para implementar DRP</vt:lpstr>
      <vt:lpstr>Beneficios DRP</vt:lpstr>
      <vt:lpstr>Beneficios</vt:lpstr>
      <vt:lpstr>Síntesis</vt:lpstr>
      <vt:lpstr>Síntesis</vt:lpstr>
      <vt:lpstr>¡Muchas 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Daldin Susana</dc:creator>
  <cp:lastModifiedBy>Daldin Susana</cp:lastModifiedBy>
  <cp:revision>1</cp:revision>
  <dcterms:created xsi:type="dcterms:W3CDTF">2025-09-29T15:44:09Z</dcterms:created>
  <dcterms:modified xsi:type="dcterms:W3CDTF">2026-09-22T10:04:33Z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LastSaved">
    <vt:filetime>2025-09-29T00:00:00Z</vt:filetime>
  </property>
  <property fmtid="{D5CDD505-2E9C-101B-9397-08002B2CF9AE}" pid="4" name="ContentTypeId">
    <vt:lpwstr>0x01010019299BB7DBAB604CBF92CED6F341956D</vt:lpwstr>
  </property>
</Properties>
</file>