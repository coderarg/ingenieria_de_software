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8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A5301D-B4B7-31BA-A218-F04322B26CB0}" v="7" dt="2026-08-31T15:52:58.5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4.xml" Id="rId8" /><Relationship Type="http://schemas.openxmlformats.org/officeDocument/2006/relationships/slide" Target="slides/slide9.xml" Id="rId13" /><Relationship Type="http://schemas.openxmlformats.org/officeDocument/2006/relationships/slide" Target="slides/slide14.xml" Id="rId18" /><Relationship Type="http://schemas.openxmlformats.org/officeDocument/2006/relationships/presProps" Target="presProps.xml" Id="rId26" /><Relationship Type="http://schemas.openxmlformats.org/officeDocument/2006/relationships/customXml" Target="../customXml/item3.xml" Id="rId3" /><Relationship Type="http://schemas.openxmlformats.org/officeDocument/2006/relationships/slide" Target="slides/slide17.xml" Id="rId21" /><Relationship Type="http://schemas.openxmlformats.org/officeDocument/2006/relationships/slide" Target="slides/slide3.xml" Id="rId7" /><Relationship Type="http://schemas.openxmlformats.org/officeDocument/2006/relationships/slide" Target="slides/slide8.xml" Id="rId12" /><Relationship Type="http://schemas.openxmlformats.org/officeDocument/2006/relationships/slide" Target="slides/slide13.xml" Id="rId17" /><Relationship Type="http://schemas.openxmlformats.org/officeDocument/2006/relationships/slide" Target="slides/slide21.xml" Id="rId25" /><Relationship Type="http://schemas.openxmlformats.org/officeDocument/2006/relationships/customXml" Target="../customXml/item2.xml" Id="rId2" /><Relationship Type="http://schemas.openxmlformats.org/officeDocument/2006/relationships/slide" Target="slides/slide12.xml" Id="rId16" /><Relationship Type="http://schemas.openxmlformats.org/officeDocument/2006/relationships/slide" Target="slides/slide16.xml" Id="rId20" /><Relationship Type="http://schemas.openxmlformats.org/officeDocument/2006/relationships/tableStyles" Target="tableStyles.xml" Id="rId29" /><Relationship Type="http://schemas.openxmlformats.org/officeDocument/2006/relationships/customXml" Target="../customXml/item1.xml" Id="rId1" /><Relationship Type="http://schemas.openxmlformats.org/officeDocument/2006/relationships/slide" Target="slides/slide2.xml" Id="rId6" /><Relationship Type="http://schemas.openxmlformats.org/officeDocument/2006/relationships/slide" Target="slides/slide7.xml" Id="rId11" /><Relationship Type="http://schemas.openxmlformats.org/officeDocument/2006/relationships/slide" Target="slides/slide20.xml" Id="rId24" /><Relationship Type="http://schemas.openxmlformats.org/officeDocument/2006/relationships/slide" Target="slides/slide1.xml" Id="rId5" /><Relationship Type="http://schemas.openxmlformats.org/officeDocument/2006/relationships/slide" Target="slides/slide11.xml" Id="rId15" /><Relationship Type="http://schemas.openxmlformats.org/officeDocument/2006/relationships/slide" Target="slides/slide19.xml" Id="rId23" /><Relationship Type="http://schemas.openxmlformats.org/officeDocument/2006/relationships/theme" Target="theme/theme1.xml" Id="rId28" /><Relationship Type="http://schemas.openxmlformats.org/officeDocument/2006/relationships/slide" Target="slides/slide6.xml" Id="rId10" /><Relationship Type="http://schemas.openxmlformats.org/officeDocument/2006/relationships/slide" Target="slides/slide15.xml" Id="rId19" /><Relationship Type="http://schemas.microsoft.com/office/2015/10/relationships/revisionInfo" Target="revisionInfo.xml" Id="rId31" /><Relationship Type="http://schemas.openxmlformats.org/officeDocument/2006/relationships/slideMaster" Target="slideMasters/slideMaster1.xml" Id="rId4" /><Relationship Type="http://schemas.openxmlformats.org/officeDocument/2006/relationships/slide" Target="slides/slide5.xml" Id="rId9" /><Relationship Type="http://schemas.openxmlformats.org/officeDocument/2006/relationships/slide" Target="slides/slide10.xml" Id="rId14" /><Relationship Type="http://schemas.openxmlformats.org/officeDocument/2006/relationships/slide" Target="slides/slide18.xml" Id="rId22" /><Relationship Type="http://schemas.openxmlformats.org/officeDocument/2006/relationships/viewProps" Target="viewProps.xml" Id="rId27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1950" y="0"/>
            <a:ext cx="1183005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4019" y="274955"/>
            <a:ext cx="7994967" cy="1242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0" y="1804098"/>
            <a:ext cx="8081009" cy="432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49"/>
            <a:ext cx="12192000" cy="66293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899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130"/>
              </a:spcBef>
            </a:pPr>
            <a:r>
              <a:t>Temas</a:t>
            </a:r>
            <a:r>
              <a:rPr spc="10"/>
              <a:t> </a:t>
            </a:r>
            <a:r>
              <a:t>a</a:t>
            </a:r>
            <a:r>
              <a:rPr spc="95"/>
              <a:t> </a:t>
            </a:r>
            <a:r>
              <a:rPr spc="-10"/>
              <a:t>desarrollar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00100" y="1857375"/>
            <a:ext cx="123825" cy="4581525"/>
            <a:chOff x="800100" y="1857375"/>
            <a:chExt cx="123825" cy="45815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1857375"/>
              <a:ext cx="123825" cy="1238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" y="2838450"/>
              <a:ext cx="123825" cy="1333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100" y="3829050"/>
              <a:ext cx="123825" cy="1238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0100" y="4829175"/>
              <a:ext cx="123825" cy="1333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0100" y="6305550"/>
              <a:ext cx="123825" cy="1333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02333" y="1647189"/>
            <a:ext cx="5909945" cy="49434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>
                <a:solidFill>
                  <a:srgbClr val="7E7E7E"/>
                </a:solidFill>
                <a:latin typeface="Calibri"/>
                <a:cs typeface="Calibri"/>
              </a:rPr>
              <a:t>Requerimientos</a:t>
            </a:r>
            <a:r>
              <a:rPr sz="3200" b="1" spc="-9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>
                <a:solidFill>
                  <a:srgbClr val="7E7E7E"/>
                </a:solidFill>
                <a:latin typeface="Calibri"/>
                <a:cs typeface="Calibri"/>
              </a:rPr>
              <a:t>del</a:t>
            </a:r>
            <a:r>
              <a:rPr sz="3200" b="1" spc="-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10">
                <a:solidFill>
                  <a:srgbClr val="7E7E7E"/>
                </a:solidFill>
                <a:latin typeface="Calibri"/>
                <a:cs typeface="Calibri"/>
              </a:rPr>
              <a:t>software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201600"/>
              </a:lnSpc>
            </a:pPr>
            <a:r>
              <a:rPr sz="3200" b="1">
                <a:solidFill>
                  <a:srgbClr val="7E7E7E"/>
                </a:solidFill>
                <a:latin typeface="Calibri"/>
                <a:cs typeface="Calibri"/>
              </a:rPr>
              <a:t>Análisis</a:t>
            </a:r>
            <a:r>
              <a:rPr sz="3200" b="1" spc="-1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3200" b="1" spc="-6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10">
                <a:solidFill>
                  <a:srgbClr val="7E7E7E"/>
                </a:solidFill>
                <a:latin typeface="Calibri"/>
                <a:cs typeface="Calibri"/>
              </a:rPr>
              <a:t>requisitos </a:t>
            </a:r>
            <a:r>
              <a:rPr sz="3200" b="1">
                <a:solidFill>
                  <a:srgbClr val="7E7E7E"/>
                </a:solidFill>
                <a:latin typeface="Calibri"/>
                <a:cs typeface="Calibri"/>
              </a:rPr>
              <a:t>Documentación</a:t>
            </a:r>
            <a:r>
              <a:rPr sz="3200" b="1" spc="-8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3200" b="1" spc="-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10">
                <a:solidFill>
                  <a:srgbClr val="7E7E7E"/>
                </a:solidFill>
                <a:latin typeface="Calibri"/>
                <a:cs typeface="Calibri"/>
              </a:rPr>
              <a:t>requerimientos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3200">
              <a:latin typeface="Calibri"/>
              <a:cs typeface="Calibri"/>
            </a:endParaRPr>
          </a:p>
          <a:p>
            <a:pPr marL="12700" marR="81280">
              <a:lnSpc>
                <a:spcPts val="3829"/>
              </a:lnSpc>
              <a:spcBef>
                <a:spcPts val="5"/>
              </a:spcBef>
            </a:pPr>
            <a:r>
              <a:rPr sz="3200" b="1">
                <a:solidFill>
                  <a:srgbClr val="7E7E7E"/>
                </a:solidFill>
                <a:latin typeface="Calibri"/>
                <a:cs typeface="Calibri"/>
              </a:rPr>
              <a:t>Requerimientos</a:t>
            </a:r>
            <a:r>
              <a:rPr sz="3200" b="1" spc="-7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>
                <a:solidFill>
                  <a:srgbClr val="7E7E7E"/>
                </a:solidFill>
                <a:latin typeface="Calibri"/>
                <a:cs typeface="Calibri"/>
              </a:rPr>
              <a:t>funcionales</a:t>
            </a:r>
            <a:r>
              <a:rPr sz="3200" b="1" spc="-7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>
                <a:solidFill>
                  <a:srgbClr val="7E7E7E"/>
                </a:solidFill>
                <a:latin typeface="Calibri"/>
                <a:cs typeface="Calibri"/>
              </a:rPr>
              <a:t>vs.</a:t>
            </a:r>
            <a:r>
              <a:rPr sz="3200" b="1" spc="-3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25">
                <a:solidFill>
                  <a:srgbClr val="7E7E7E"/>
                </a:solidFill>
                <a:latin typeface="Calibri"/>
                <a:cs typeface="Calibri"/>
              </a:rPr>
              <a:t>no </a:t>
            </a:r>
            <a:r>
              <a:rPr sz="3200" b="1" spc="-10">
                <a:solidFill>
                  <a:srgbClr val="7E7E7E"/>
                </a:solidFill>
                <a:latin typeface="Calibri"/>
                <a:cs typeface="Calibri"/>
              </a:rPr>
              <a:t>funcionales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25"/>
              </a:spcBef>
            </a:pPr>
            <a:r>
              <a:rPr sz="3200" b="1" spc="-10">
                <a:solidFill>
                  <a:srgbClr val="7E7E7E"/>
                </a:solidFill>
                <a:latin typeface="Calibri"/>
                <a:cs typeface="Calibri"/>
              </a:rPr>
              <a:t>Síntesis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50210" y="2346070"/>
            <a:ext cx="6853555" cy="20440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875155" marR="5080" indent="-1863089">
              <a:lnSpc>
                <a:spcPct val="100499"/>
              </a:lnSpc>
              <a:spcBef>
                <a:spcPts val="70"/>
              </a:spcBef>
            </a:pPr>
            <a:r>
              <a:rPr sz="6600"/>
              <a:t>Requerimientos</a:t>
            </a:r>
            <a:r>
              <a:rPr sz="6600" spc="-125"/>
              <a:t> </a:t>
            </a:r>
            <a:r>
              <a:rPr sz="6600" spc="-25"/>
              <a:t>del </a:t>
            </a:r>
            <a:r>
              <a:rPr sz="6600" spc="-10"/>
              <a:t>software</a:t>
            </a:r>
            <a:endParaRPr sz="6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343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130"/>
              </a:spcBef>
            </a:pPr>
            <a:r>
              <a:t>Requerimientos</a:t>
            </a:r>
            <a:r>
              <a:rPr spc="90"/>
              <a:t> </a:t>
            </a:r>
            <a:r>
              <a:t>del</a:t>
            </a:r>
            <a:r>
              <a:rPr spc="40"/>
              <a:t> </a:t>
            </a:r>
            <a:r>
              <a:rPr spc="-10"/>
              <a:t>software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381500"/>
            <a:ext cx="2952750" cy="15525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4677" y="1712531"/>
            <a:ext cx="8338820" cy="4248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715" algn="just">
              <a:lnSpc>
                <a:spcPct val="100400"/>
              </a:lnSpc>
              <a:spcBef>
                <a:spcPts val="90"/>
              </a:spcBef>
            </a:pPr>
            <a:r>
              <a:rPr sz="2400" b="1">
                <a:solidFill>
                  <a:srgbClr val="61A72F"/>
                </a:solidFill>
                <a:latin typeface="Calibri"/>
                <a:cs typeface="Calibri"/>
              </a:rPr>
              <a:t>Requerimientos</a:t>
            </a:r>
            <a:r>
              <a:rPr sz="2400" b="1" spc="285">
                <a:solidFill>
                  <a:srgbClr val="61A72F"/>
                </a:solidFill>
                <a:latin typeface="Calibri"/>
                <a:cs typeface="Calibri"/>
              </a:rPr>
              <a:t>  </a:t>
            </a:r>
            <a:r>
              <a:rPr sz="2400" b="1">
                <a:solidFill>
                  <a:srgbClr val="61A72F"/>
                </a:solidFill>
                <a:latin typeface="Calibri"/>
                <a:cs typeface="Calibri"/>
              </a:rPr>
              <a:t>del</a:t>
            </a:r>
            <a:r>
              <a:rPr sz="2400" b="1" spc="270">
                <a:solidFill>
                  <a:srgbClr val="61A72F"/>
                </a:solidFill>
                <a:latin typeface="Calibri"/>
                <a:cs typeface="Calibri"/>
              </a:rPr>
              <a:t>  </a:t>
            </a:r>
            <a:r>
              <a:rPr sz="2400" b="1">
                <a:solidFill>
                  <a:srgbClr val="61A72F"/>
                </a:solidFill>
                <a:latin typeface="Calibri"/>
                <a:cs typeface="Calibri"/>
              </a:rPr>
              <a:t>usuario:</a:t>
            </a:r>
            <a:r>
              <a:rPr sz="2400" b="1" spc="260">
                <a:solidFill>
                  <a:srgbClr val="61A72F"/>
                </a:solidFill>
                <a:latin typeface="Calibri"/>
                <a:cs typeface="Calibri"/>
              </a:rPr>
              <a:t> 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son</a:t>
            </a:r>
            <a:r>
              <a:rPr sz="2400" spc="28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descripciones,</a:t>
            </a:r>
            <a:r>
              <a:rPr sz="2400" spc="27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en</a:t>
            </a:r>
            <a:r>
              <a:rPr sz="2400" spc="27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lenguaje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sencillo</a:t>
            </a:r>
            <a:r>
              <a:rPr sz="2400" spc="7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8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en</a:t>
            </a:r>
            <a:r>
              <a:rPr sz="2400" spc="8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diagramas,</a:t>
            </a:r>
            <a:r>
              <a:rPr sz="2400" spc="114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7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lo</a:t>
            </a:r>
            <a:r>
              <a:rPr sz="2400" spc="10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400" spc="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se</a:t>
            </a:r>
            <a:r>
              <a:rPr sz="2400" spc="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espera</a:t>
            </a:r>
            <a:r>
              <a:rPr sz="2400" spc="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400" spc="6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el</a:t>
            </a:r>
            <a:r>
              <a:rPr sz="2400" spc="8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sistema</a:t>
            </a:r>
            <a:r>
              <a:rPr sz="2400" spc="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haga</a:t>
            </a:r>
            <a:r>
              <a:rPr sz="2400" spc="9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50">
                <a:solidFill>
                  <a:srgbClr val="484746"/>
                </a:solidFill>
                <a:latin typeface="Calibri"/>
                <a:cs typeface="Calibri"/>
              </a:rPr>
              <a:t>y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-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las</a:t>
            </a:r>
            <a:r>
              <a:rPr sz="2400" spc="-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restricciones</a:t>
            </a:r>
            <a:r>
              <a:rPr sz="2400" spc="-2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bajo</a:t>
            </a:r>
            <a:r>
              <a:rPr sz="2400" spc="-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las</a:t>
            </a:r>
            <a:r>
              <a:rPr sz="2400" spc="-6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cuáles</a:t>
            </a:r>
            <a:r>
              <a:rPr sz="2400" spc="-3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tiene</a:t>
            </a:r>
            <a:r>
              <a:rPr sz="2400" spc="-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400" spc="-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operar.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25"/>
              </a:spcBef>
            </a:pP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2400" b="1">
                <a:solidFill>
                  <a:srgbClr val="61A72F"/>
                </a:solidFill>
                <a:latin typeface="Calibri"/>
                <a:cs typeface="Calibri"/>
              </a:rPr>
              <a:t>Ejemplos:</a:t>
            </a:r>
            <a:r>
              <a:rPr sz="2400" b="1" spc="-25">
                <a:solidFill>
                  <a:srgbClr val="61A72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software</a:t>
            </a:r>
            <a:r>
              <a:rPr sz="2400" spc="-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para</a:t>
            </a:r>
            <a:r>
              <a:rPr sz="2400" spc="-7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un</a:t>
            </a:r>
            <a:r>
              <a:rPr sz="2400" spc="-3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gimnasio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2400">
              <a:latin typeface="Calibri"/>
              <a:cs typeface="Calibri"/>
            </a:endParaRPr>
          </a:p>
          <a:p>
            <a:pPr marL="2761615" marR="5080" indent="-400685">
              <a:lnSpc>
                <a:spcPct val="94600"/>
              </a:lnSpc>
              <a:buClr>
                <a:srgbClr val="61A72F"/>
              </a:buClr>
              <a:buSzPct val="135000"/>
              <a:buChar char="-"/>
              <a:tabLst>
                <a:tab pos="2761615" algn="l"/>
              </a:tabLst>
            </a:pP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El</a:t>
            </a:r>
            <a:r>
              <a:rPr sz="2000" spc="43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sistema</a:t>
            </a:r>
            <a:r>
              <a:rPr sz="2000" spc="42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debe</a:t>
            </a:r>
            <a:r>
              <a:rPr sz="2000" spc="4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permitir</a:t>
            </a:r>
            <a:r>
              <a:rPr sz="2000" spc="459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a</a:t>
            </a:r>
            <a:r>
              <a:rPr sz="2000" spc="43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los</a:t>
            </a:r>
            <a:r>
              <a:rPr sz="2000" spc="4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usuarios</a:t>
            </a:r>
            <a:r>
              <a:rPr sz="2000" spc="42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spc="-10">
                <a:solidFill>
                  <a:srgbClr val="484746"/>
                </a:solidFill>
                <a:latin typeface="Calibri"/>
                <a:cs typeface="Calibri"/>
              </a:rPr>
              <a:t>registrarse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con</a:t>
            </a:r>
            <a:r>
              <a:rPr sz="2000" spc="-1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su</a:t>
            </a:r>
            <a:r>
              <a:rPr sz="2000" spc="-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dirección</a:t>
            </a:r>
            <a:r>
              <a:rPr sz="2000" spc="-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000" spc="-3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correo</a:t>
            </a:r>
            <a:r>
              <a:rPr sz="2000" spc="-2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spc="-10">
                <a:solidFill>
                  <a:srgbClr val="484746"/>
                </a:solidFill>
                <a:latin typeface="Calibri"/>
                <a:cs typeface="Calibri"/>
              </a:rPr>
              <a:t>electrónico.</a:t>
            </a:r>
            <a:endParaRPr sz="2000">
              <a:latin typeface="Calibri"/>
              <a:cs typeface="Calibri"/>
            </a:endParaRPr>
          </a:p>
          <a:p>
            <a:pPr marL="2761615" indent="-400050">
              <a:lnSpc>
                <a:spcPts val="2475"/>
              </a:lnSpc>
              <a:buClr>
                <a:srgbClr val="61A72F"/>
              </a:buClr>
              <a:buSzPct val="135000"/>
              <a:buChar char="-"/>
              <a:tabLst>
                <a:tab pos="2761615" algn="l"/>
              </a:tabLst>
            </a:pP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Los</a:t>
            </a:r>
            <a:r>
              <a:rPr sz="2000" spc="26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usuarios</a:t>
            </a:r>
            <a:r>
              <a:rPr sz="2000" spc="2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deben</a:t>
            </a:r>
            <a:r>
              <a:rPr sz="2000" spc="22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poder</a:t>
            </a:r>
            <a:r>
              <a:rPr sz="2000" spc="28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registrarse</a:t>
            </a:r>
            <a:r>
              <a:rPr sz="2000" spc="2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a</a:t>
            </a:r>
            <a:r>
              <a:rPr sz="2000" spc="2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la</a:t>
            </a:r>
            <a:r>
              <a:rPr sz="2000" spc="27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clase</a:t>
            </a:r>
            <a:r>
              <a:rPr sz="2000" spc="2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spc="-25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endParaRPr sz="2000">
              <a:latin typeface="Calibri"/>
              <a:cs typeface="Calibri"/>
            </a:endParaRPr>
          </a:p>
          <a:p>
            <a:pPr marL="2761615" marR="5715">
              <a:lnSpc>
                <a:spcPts val="2400"/>
              </a:lnSpc>
              <a:spcBef>
                <a:spcPts val="15"/>
              </a:spcBef>
            </a:pP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desean</a:t>
            </a:r>
            <a:r>
              <a:rPr sz="2000" spc="37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tomar</a:t>
            </a:r>
            <a:r>
              <a:rPr sz="2000" spc="39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000" spc="37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se</a:t>
            </a:r>
            <a:r>
              <a:rPr sz="2000" spc="3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le</a:t>
            </a:r>
            <a:r>
              <a:rPr sz="2000" spc="39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debe</a:t>
            </a:r>
            <a:r>
              <a:rPr sz="2000" spc="40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enviar</a:t>
            </a:r>
            <a:r>
              <a:rPr sz="2000" spc="40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un</a:t>
            </a:r>
            <a:r>
              <a:rPr sz="2000" spc="37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mensaje</a:t>
            </a:r>
            <a:r>
              <a:rPr sz="2000" spc="409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spc="-25">
                <a:solidFill>
                  <a:srgbClr val="484746"/>
                </a:solidFill>
                <a:latin typeface="Calibri"/>
                <a:cs typeface="Calibri"/>
              </a:rPr>
              <a:t>por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WhatsApp</a:t>
            </a:r>
            <a:r>
              <a:rPr sz="2000" spc="-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000" spc="-2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spc="-10">
                <a:solidFill>
                  <a:srgbClr val="484746"/>
                </a:solidFill>
                <a:latin typeface="Calibri"/>
                <a:cs typeface="Calibri"/>
              </a:rPr>
              <a:t>confirmación.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004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130"/>
              </a:spcBef>
            </a:pPr>
            <a:r>
              <a:t>Requerimientos</a:t>
            </a:r>
            <a:r>
              <a:rPr spc="95"/>
              <a:t> </a:t>
            </a:r>
            <a:r>
              <a:t>del</a:t>
            </a:r>
            <a:r>
              <a:rPr spc="40"/>
              <a:t> </a:t>
            </a:r>
            <a:r>
              <a:rPr spc="-1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855" y="1921763"/>
            <a:ext cx="8358505" cy="2966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70"/>
              </a:lnSpc>
              <a:spcBef>
                <a:spcPts val="105"/>
              </a:spcBef>
            </a:pP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Requerimientos</a:t>
            </a:r>
            <a:r>
              <a:rPr sz="2400" b="1" spc="-45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del</a:t>
            </a:r>
            <a:r>
              <a:rPr sz="2400" b="1" spc="-5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usuario: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algunos</a:t>
            </a:r>
            <a:r>
              <a:rPr sz="2400" spc="-2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problemas</a:t>
            </a:r>
            <a:r>
              <a:rPr sz="2400" spc="-8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400" spc="-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pueden</a:t>
            </a:r>
            <a:r>
              <a:rPr sz="2400" spc="-3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surgir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-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400" spc="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se</a:t>
            </a:r>
            <a:r>
              <a:rPr sz="2400" spc="-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deben</a:t>
            </a:r>
            <a:r>
              <a:rPr sz="2400" spc="-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evitar:</a:t>
            </a:r>
            <a:endParaRPr sz="2400">
              <a:latin typeface="Calibri"/>
              <a:cs typeface="Calibri"/>
            </a:endParaRPr>
          </a:p>
          <a:p>
            <a:pPr marL="469900" indent="-400050">
              <a:lnSpc>
                <a:spcPct val="100000"/>
              </a:lnSpc>
              <a:spcBef>
                <a:spcPts val="2600"/>
              </a:spcBef>
              <a:buClr>
                <a:srgbClr val="04A3C9"/>
              </a:buClr>
              <a:buSzPct val="112500"/>
              <a:buFont typeface="Calibri"/>
              <a:buChar char="-"/>
              <a:tabLst>
                <a:tab pos="469900" algn="l"/>
              </a:tabLst>
            </a:pPr>
            <a:r>
              <a:rPr sz="2400" i="1">
                <a:solidFill>
                  <a:srgbClr val="484746"/>
                </a:solidFill>
                <a:latin typeface="Calibri"/>
                <a:cs typeface="Calibri"/>
              </a:rPr>
              <a:t>Falta</a:t>
            </a:r>
            <a:r>
              <a:rPr sz="2400" i="1" spc="-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i="1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i="1" spc="-3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i="1" spc="-10">
                <a:solidFill>
                  <a:srgbClr val="484746"/>
                </a:solidFill>
                <a:latin typeface="Calibri"/>
                <a:cs typeface="Calibri"/>
              </a:rPr>
              <a:t>claridad</a:t>
            </a:r>
            <a:endParaRPr sz="2400">
              <a:latin typeface="Calibri"/>
              <a:cs typeface="Calibri"/>
            </a:endParaRPr>
          </a:p>
          <a:p>
            <a:pPr marL="469900" indent="-400050">
              <a:lnSpc>
                <a:spcPct val="100000"/>
              </a:lnSpc>
              <a:spcBef>
                <a:spcPts val="2545"/>
              </a:spcBef>
              <a:buClr>
                <a:srgbClr val="04A3C9"/>
              </a:buClr>
              <a:buSzPct val="112500"/>
              <a:buFont typeface="Calibri"/>
              <a:buChar char="-"/>
              <a:tabLst>
                <a:tab pos="469900" algn="l"/>
              </a:tabLst>
            </a:pPr>
            <a:r>
              <a:rPr sz="2400" i="1">
                <a:solidFill>
                  <a:srgbClr val="484746"/>
                </a:solidFill>
                <a:latin typeface="Calibri"/>
                <a:cs typeface="Calibri"/>
              </a:rPr>
              <a:t>Confusión</a:t>
            </a:r>
            <a:r>
              <a:rPr sz="2400" i="1" spc="-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i="1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i="1" spc="-10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i="1" spc="-10">
                <a:solidFill>
                  <a:srgbClr val="484746"/>
                </a:solidFill>
                <a:latin typeface="Calibri"/>
                <a:cs typeface="Calibri"/>
              </a:rPr>
              <a:t>requerimientos</a:t>
            </a:r>
            <a:endParaRPr sz="2400">
              <a:latin typeface="Calibri"/>
              <a:cs typeface="Calibri"/>
            </a:endParaRPr>
          </a:p>
          <a:p>
            <a:pPr marL="469900" indent="-400050">
              <a:lnSpc>
                <a:spcPct val="100000"/>
              </a:lnSpc>
              <a:spcBef>
                <a:spcPts val="2545"/>
              </a:spcBef>
              <a:buClr>
                <a:srgbClr val="04A3C9"/>
              </a:buClr>
              <a:buSzPct val="112500"/>
              <a:buFont typeface="Calibri"/>
              <a:buChar char="-"/>
              <a:tabLst>
                <a:tab pos="469900" algn="l"/>
              </a:tabLst>
            </a:pPr>
            <a:r>
              <a:rPr sz="2400" i="1">
                <a:solidFill>
                  <a:srgbClr val="484746"/>
                </a:solidFill>
                <a:latin typeface="Calibri"/>
                <a:cs typeface="Calibri"/>
              </a:rPr>
              <a:t>Conjunción</a:t>
            </a:r>
            <a:r>
              <a:rPr sz="2400" i="1" spc="-9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i="1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i="1" spc="-7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i="1" spc="-10">
                <a:solidFill>
                  <a:srgbClr val="484746"/>
                </a:solidFill>
                <a:latin typeface="Calibri"/>
                <a:cs typeface="Calibri"/>
              </a:rPr>
              <a:t>requerimientos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Errores Comunes en la Captura de Requisitos para el Desarrollo de Software  - BLMovi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1150" y="2857436"/>
            <a:ext cx="3290951" cy="32909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4248150"/>
            <a:ext cx="2952750" cy="155257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62305" y="1843722"/>
            <a:ext cx="8178800" cy="33674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>
                <a:solidFill>
                  <a:srgbClr val="9F79AD"/>
                </a:solidFill>
                <a:latin typeface="Calibri"/>
                <a:cs typeface="Calibri"/>
              </a:rPr>
              <a:t>Requerimientos</a:t>
            </a:r>
            <a:r>
              <a:rPr sz="2400" b="1" spc="545">
                <a:solidFill>
                  <a:srgbClr val="9F79AD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9F79AD"/>
                </a:solidFill>
                <a:latin typeface="Calibri"/>
                <a:cs typeface="Calibri"/>
              </a:rPr>
              <a:t>del</a:t>
            </a:r>
            <a:r>
              <a:rPr sz="2400" b="1" spc="535">
                <a:solidFill>
                  <a:srgbClr val="9F79AD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9F79AD"/>
                </a:solidFill>
                <a:latin typeface="Calibri"/>
                <a:cs typeface="Calibri"/>
              </a:rPr>
              <a:t>sistema:</a:t>
            </a:r>
            <a:r>
              <a:rPr sz="2400" b="1" spc="505">
                <a:solidFill>
                  <a:srgbClr val="9F79AD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establecen</a:t>
            </a:r>
            <a:r>
              <a:rPr sz="2400" spc="52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detalle</a:t>
            </a:r>
            <a:r>
              <a:rPr sz="2400" spc="48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las</a:t>
            </a:r>
            <a:r>
              <a:rPr sz="2400" spc="484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funciones,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servicios</a:t>
            </a:r>
            <a:r>
              <a:rPr sz="2400" spc="-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-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restricciones</a:t>
            </a:r>
            <a:r>
              <a:rPr sz="2400" spc="-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operativas</a:t>
            </a:r>
            <a:r>
              <a:rPr sz="2400" spc="-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2400" spc="-7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sistema.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3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>
                <a:solidFill>
                  <a:srgbClr val="9F79AD"/>
                </a:solidFill>
                <a:latin typeface="Calibri"/>
                <a:cs typeface="Calibri"/>
              </a:rPr>
              <a:t>Ejemplos:</a:t>
            </a:r>
            <a:r>
              <a:rPr sz="2400" b="1" spc="-55">
                <a:solidFill>
                  <a:srgbClr val="9F79AD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software</a:t>
            </a:r>
            <a:r>
              <a:rPr sz="2400" spc="-2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para</a:t>
            </a:r>
            <a:r>
              <a:rPr sz="2400" spc="-2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un</a:t>
            </a:r>
            <a:r>
              <a:rPr sz="2400" spc="-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gimnasio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Calibri"/>
              <a:cs typeface="Calibri"/>
            </a:endParaRPr>
          </a:p>
          <a:p>
            <a:pPr marL="2694305" marR="5080" indent="-400685" algn="just">
              <a:lnSpc>
                <a:spcPct val="97300"/>
              </a:lnSpc>
            </a:pPr>
            <a:r>
              <a:rPr sz="2700">
                <a:solidFill>
                  <a:srgbClr val="9F79AD"/>
                </a:solidFill>
                <a:latin typeface="Calibri"/>
                <a:cs typeface="Calibri"/>
              </a:rPr>
              <a:t>-</a:t>
            </a:r>
            <a:r>
              <a:rPr sz="2700" spc="509">
                <a:solidFill>
                  <a:srgbClr val="9F79AD"/>
                </a:solidFill>
                <a:latin typeface="Calibri"/>
                <a:cs typeface="Calibri"/>
              </a:rPr>
              <a:t> 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Los</a:t>
            </a:r>
            <a:r>
              <a:rPr sz="2000" spc="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usuarios</a:t>
            </a:r>
            <a:r>
              <a:rPr sz="2000" spc="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contarán</a:t>
            </a:r>
            <a:r>
              <a:rPr sz="2000" spc="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con</a:t>
            </a:r>
            <a:r>
              <a:rPr sz="2000" spc="3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un</a:t>
            </a:r>
            <a:r>
              <a:rPr sz="2000" spc="1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estado</a:t>
            </a:r>
            <a:r>
              <a:rPr sz="2000" spc="-10">
                <a:solidFill>
                  <a:srgbClr val="484746"/>
                </a:solidFill>
                <a:latin typeface="Calibri"/>
                <a:cs typeface="Calibri"/>
              </a:rPr>
              <a:t> activo/inactivo.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Se</a:t>
            </a:r>
            <a:r>
              <a:rPr sz="2000" spc="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considerará</a:t>
            </a:r>
            <a:r>
              <a:rPr sz="2000" spc="-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inactivo</a:t>
            </a:r>
            <a:r>
              <a:rPr sz="2000" spc="-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al</a:t>
            </a:r>
            <a:r>
              <a:rPr sz="2000" spc="-1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usuario</a:t>
            </a:r>
            <a:r>
              <a:rPr sz="2000" spc="-2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000" spc="-1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por más</a:t>
            </a:r>
            <a:r>
              <a:rPr sz="2000" spc="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000" spc="-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spc="-25">
                <a:solidFill>
                  <a:srgbClr val="484746"/>
                </a:solidFill>
                <a:latin typeface="Calibri"/>
                <a:cs typeface="Calibri"/>
              </a:rPr>
              <a:t>90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días</a:t>
            </a:r>
            <a:r>
              <a:rPr sz="2000" spc="-2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no</a:t>
            </a:r>
            <a:r>
              <a:rPr sz="2000" spc="-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haya</a:t>
            </a:r>
            <a:r>
              <a:rPr sz="2000" spc="-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ingresado</a:t>
            </a:r>
            <a:r>
              <a:rPr sz="2000" spc="-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a</a:t>
            </a:r>
            <a:r>
              <a:rPr sz="2000" spc="-2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84746"/>
                </a:solidFill>
                <a:latin typeface="Calibri"/>
                <a:cs typeface="Calibri"/>
              </a:rPr>
              <a:t>la</a:t>
            </a:r>
            <a:r>
              <a:rPr sz="2000" spc="-1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spc="-10">
                <a:solidFill>
                  <a:srgbClr val="484746"/>
                </a:solidFill>
                <a:latin typeface="Calibri"/>
                <a:cs typeface="Calibri"/>
              </a:rPr>
              <a:t>aplicación.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0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Requerimientos</a:t>
            </a:r>
            <a:r>
              <a:rPr spc="85"/>
              <a:t> </a:t>
            </a:r>
            <a:r>
              <a:t>del</a:t>
            </a:r>
            <a:r>
              <a:rPr spc="35"/>
              <a:t> </a:t>
            </a:r>
            <a:r>
              <a:rPr spc="-10"/>
              <a:t>sistema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87016" y="2854578"/>
            <a:ext cx="7383780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/>
              <a:t>Análisis</a:t>
            </a:r>
            <a:r>
              <a:rPr sz="6600" spc="-80"/>
              <a:t> </a:t>
            </a:r>
            <a:r>
              <a:rPr sz="6600"/>
              <a:t>de</a:t>
            </a:r>
            <a:r>
              <a:rPr sz="6600" spc="-40"/>
              <a:t> </a:t>
            </a:r>
            <a:r>
              <a:rPr sz="6600" spc="-10"/>
              <a:t>requisitos</a:t>
            </a:r>
            <a:endParaRPr sz="6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Requerimientos</a:t>
            </a:r>
            <a:r>
              <a:rPr spc="80"/>
              <a:t> </a:t>
            </a:r>
            <a:r>
              <a:t>del</a:t>
            </a:r>
            <a:r>
              <a:rPr spc="30"/>
              <a:t> </a:t>
            </a:r>
            <a:r>
              <a:rPr spc="-10"/>
              <a:t>software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3000311"/>
            <a:ext cx="3119501" cy="25956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9434" y="1739836"/>
            <a:ext cx="8239759" cy="3611245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 marR="5080" algn="l">
              <a:lnSpc>
                <a:spcPct val="100400"/>
              </a:lnSpc>
              <a:spcBef>
                <a:spcPts val="90"/>
              </a:spcBef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El</a:t>
            </a:r>
            <a:r>
              <a:rPr sz="2400" spc="4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equipo</a:t>
            </a:r>
            <a:r>
              <a:rPr sz="2400" spc="459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4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desarrollo</a:t>
            </a:r>
            <a:r>
              <a:rPr sz="2400" spc="4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se</a:t>
            </a:r>
            <a:r>
              <a:rPr sz="2400" spc="4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enfoca</a:t>
            </a:r>
            <a:r>
              <a:rPr sz="2400" spc="484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en</a:t>
            </a:r>
            <a:r>
              <a:rPr sz="2400" spc="47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comprender</a:t>
            </a:r>
            <a:r>
              <a:rPr sz="2400" spc="4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47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definir</a:t>
            </a:r>
            <a:r>
              <a:rPr sz="2400" spc="484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25">
                <a:solidFill>
                  <a:srgbClr val="484746"/>
                </a:solidFill>
                <a:latin typeface="Calibri"/>
                <a:cs typeface="Calibri"/>
              </a:rPr>
              <a:t>de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manera</a:t>
            </a:r>
            <a:r>
              <a:rPr sz="2400" spc="20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precisa</a:t>
            </a:r>
            <a:r>
              <a:rPr sz="2400" spc="2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qué</a:t>
            </a:r>
            <a:r>
              <a:rPr sz="2400" spc="19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funcionalidades</a:t>
            </a:r>
            <a:r>
              <a:rPr sz="2400" spc="23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2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características</a:t>
            </a:r>
            <a:r>
              <a:rPr sz="2400" spc="2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debe</a:t>
            </a:r>
            <a:r>
              <a:rPr sz="2400" spc="204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tener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el</a:t>
            </a:r>
            <a:r>
              <a:rPr sz="2400" spc="-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software a</a:t>
            </a:r>
            <a:r>
              <a:rPr sz="2400" spc="-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desarrollar.</a:t>
            </a:r>
            <a:endParaRPr sz="2400">
              <a:latin typeface="Calibri"/>
              <a:cs typeface="Calibri"/>
            </a:endParaRPr>
          </a:p>
          <a:p>
            <a:pPr marL="12700" marR="3924935" algn="l">
              <a:lnSpc>
                <a:spcPct val="100099"/>
              </a:lnSpc>
              <a:spcBef>
                <a:spcPts val="2265"/>
              </a:spcBef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Sin</a:t>
            </a:r>
            <a:r>
              <a:rPr sz="2400" spc="3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una</a:t>
            </a:r>
            <a:r>
              <a:rPr sz="2400" spc="28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comprensión</a:t>
            </a:r>
            <a:r>
              <a:rPr sz="2400" spc="3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clara</a:t>
            </a:r>
            <a:r>
              <a:rPr sz="2400" spc="33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30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25">
                <a:solidFill>
                  <a:srgbClr val="484746"/>
                </a:solidFill>
                <a:latin typeface="Calibri"/>
                <a:cs typeface="Calibri"/>
              </a:rPr>
              <a:t>los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requisitos</a:t>
            </a:r>
            <a:r>
              <a:rPr sz="2400" spc="5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2400" spc="5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sistema,</a:t>
            </a:r>
            <a:r>
              <a:rPr sz="2400" spc="56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existe</a:t>
            </a:r>
            <a:r>
              <a:rPr sz="2400" b="1" spc="535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spc="-25">
                <a:solidFill>
                  <a:srgbClr val="04A3C9"/>
                </a:solidFill>
                <a:latin typeface="Calibri"/>
                <a:cs typeface="Calibri"/>
              </a:rPr>
              <a:t>un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riesgo</a:t>
            </a:r>
            <a:r>
              <a:rPr sz="2400" b="1" spc="215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significativo</a:t>
            </a:r>
            <a:r>
              <a:rPr sz="2400" b="1" spc="215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de</a:t>
            </a:r>
            <a:r>
              <a:rPr sz="2400" b="1" spc="204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spc="-10">
                <a:solidFill>
                  <a:srgbClr val="04A3C9"/>
                </a:solidFill>
                <a:latin typeface="Calibri"/>
                <a:cs typeface="Calibri"/>
              </a:rPr>
              <a:t>desarrollar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un</a:t>
            </a:r>
            <a:r>
              <a:rPr sz="2400" b="1" spc="405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producto</a:t>
            </a:r>
            <a:r>
              <a:rPr sz="2400" b="1" spc="355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que</a:t>
            </a:r>
            <a:r>
              <a:rPr sz="2400" b="1" spc="43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no</a:t>
            </a:r>
            <a:r>
              <a:rPr sz="2400" b="1" spc="409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cumpla</a:t>
            </a:r>
            <a:r>
              <a:rPr sz="2400" b="1" spc="365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spc="-25">
                <a:solidFill>
                  <a:srgbClr val="04A3C9"/>
                </a:solidFill>
                <a:latin typeface="Calibri"/>
                <a:cs typeface="Calibri"/>
              </a:rPr>
              <a:t>con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las</a:t>
            </a:r>
            <a:r>
              <a:rPr sz="2400" b="1" spc="22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necesidades</a:t>
            </a:r>
            <a:r>
              <a:rPr sz="2400" b="1" spc="215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del</a:t>
            </a:r>
            <a:r>
              <a:rPr sz="2400" b="1" spc="245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cliente</a:t>
            </a:r>
            <a:r>
              <a:rPr sz="2400" b="1" spc="195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o</a:t>
            </a:r>
            <a:r>
              <a:rPr sz="2400" spc="229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25">
                <a:solidFill>
                  <a:srgbClr val="484746"/>
                </a:solidFill>
                <a:latin typeface="Calibri"/>
                <a:cs typeface="Calibri"/>
              </a:rPr>
              <a:t>que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presente</a:t>
            </a:r>
            <a:r>
              <a:rPr sz="2400" spc="-9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diferencias</a:t>
            </a:r>
            <a:r>
              <a:rPr sz="2400" spc="-8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importantes.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073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30"/>
              </a:spcBef>
            </a:pPr>
            <a:r>
              <a:rPr spc="-10"/>
              <a:t>Actividades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0237" y="2335276"/>
            <a:ext cx="2426335" cy="1225550"/>
            <a:chOff x="630237" y="2335276"/>
            <a:chExt cx="2426335" cy="1225550"/>
          </a:xfrm>
        </p:grpSpPr>
        <p:sp>
          <p:nvSpPr>
            <p:cNvPr id="4" name="object 4"/>
            <p:cNvSpPr/>
            <p:nvPr/>
          </p:nvSpPr>
          <p:spPr>
            <a:xfrm>
              <a:off x="642937" y="2347976"/>
              <a:ext cx="2400935" cy="1200150"/>
            </a:xfrm>
            <a:custGeom>
              <a:avLst/>
              <a:gdLst/>
              <a:ahLst/>
              <a:cxnLst/>
              <a:rect l="l" t="t" r="r" b="b"/>
              <a:pathLst>
                <a:path w="2400935" h="1200150">
                  <a:moveTo>
                    <a:pt x="2280348" y="0"/>
                  </a:moveTo>
                  <a:lnTo>
                    <a:pt x="120014" y="0"/>
                  </a:lnTo>
                  <a:lnTo>
                    <a:pt x="73300" y="9429"/>
                  </a:lnTo>
                  <a:lnTo>
                    <a:pt x="35152" y="35147"/>
                  </a:lnTo>
                  <a:lnTo>
                    <a:pt x="9431" y="73294"/>
                  </a:lnTo>
                  <a:lnTo>
                    <a:pt x="0" y="120014"/>
                  </a:lnTo>
                  <a:lnTo>
                    <a:pt x="0" y="1080008"/>
                  </a:lnTo>
                  <a:lnTo>
                    <a:pt x="9431" y="1126728"/>
                  </a:lnTo>
                  <a:lnTo>
                    <a:pt x="35152" y="1164875"/>
                  </a:lnTo>
                  <a:lnTo>
                    <a:pt x="73300" y="1190593"/>
                  </a:lnTo>
                  <a:lnTo>
                    <a:pt x="120014" y="1200023"/>
                  </a:lnTo>
                  <a:lnTo>
                    <a:pt x="2280348" y="1200023"/>
                  </a:lnTo>
                  <a:lnTo>
                    <a:pt x="2327015" y="1190593"/>
                  </a:lnTo>
                  <a:lnTo>
                    <a:pt x="2365168" y="1164875"/>
                  </a:lnTo>
                  <a:lnTo>
                    <a:pt x="2390915" y="1126728"/>
                  </a:lnTo>
                  <a:lnTo>
                    <a:pt x="2400363" y="1080008"/>
                  </a:lnTo>
                  <a:lnTo>
                    <a:pt x="2400363" y="120014"/>
                  </a:lnTo>
                  <a:lnTo>
                    <a:pt x="2390915" y="73294"/>
                  </a:lnTo>
                  <a:lnTo>
                    <a:pt x="2365168" y="35147"/>
                  </a:lnTo>
                  <a:lnTo>
                    <a:pt x="2327015" y="9429"/>
                  </a:lnTo>
                  <a:lnTo>
                    <a:pt x="2280348" y="0"/>
                  </a:lnTo>
                  <a:close/>
                </a:path>
              </a:pathLst>
            </a:custGeom>
            <a:solidFill>
              <a:srgbClr val="9F79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2937" y="2347976"/>
              <a:ext cx="2400935" cy="1200150"/>
            </a:xfrm>
            <a:custGeom>
              <a:avLst/>
              <a:gdLst/>
              <a:ahLst/>
              <a:cxnLst/>
              <a:rect l="l" t="t" r="r" b="b"/>
              <a:pathLst>
                <a:path w="2400935" h="1200150">
                  <a:moveTo>
                    <a:pt x="0" y="120014"/>
                  </a:moveTo>
                  <a:lnTo>
                    <a:pt x="9431" y="73294"/>
                  </a:lnTo>
                  <a:lnTo>
                    <a:pt x="35152" y="35147"/>
                  </a:lnTo>
                  <a:lnTo>
                    <a:pt x="73300" y="9429"/>
                  </a:lnTo>
                  <a:lnTo>
                    <a:pt x="120014" y="0"/>
                  </a:lnTo>
                  <a:lnTo>
                    <a:pt x="2280348" y="0"/>
                  </a:lnTo>
                  <a:lnTo>
                    <a:pt x="2327015" y="9429"/>
                  </a:lnTo>
                  <a:lnTo>
                    <a:pt x="2365168" y="35147"/>
                  </a:lnTo>
                  <a:lnTo>
                    <a:pt x="2390915" y="73294"/>
                  </a:lnTo>
                  <a:lnTo>
                    <a:pt x="2400363" y="120014"/>
                  </a:lnTo>
                  <a:lnTo>
                    <a:pt x="2400363" y="1080008"/>
                  </a:lnTo>
                  <a:lnTo>
                    <a:pt x="2390915" y="1126728"/>
                  </a:lnTo>
                  <a:lnTo>
                    <a:pt x="2365168" y="1164875"/>
                  </a:lnTo>
                  <a:lnTo>
                    <a:pt x="2327015" y="1190593"/>
                  </a:lnTo>
                  <a:lnTo>
                    <a:pt x="2280348" y="1200023"/>
                  </a:lnTo>
                  <a:lnTo>
                    <a:pt x="120014" y="1200023"/>
                  </a:lnTo>
                  <a:lnTo>
                    <a:pt x="73300" y="1190593"/>
                  </a:lnTo>
                  <a:lnTo>
                    <a:pt x="35152" y="1164875"/>
                  </a:lnTo>
                  <a:lnTo>
                    <a:pt x="9431" y="1126728"/>
                  </a:lnTo>
                  <a:lnTo>
                    <a:pt x="0" y="1080008"/>
                  </a:lnTo>
                  <a:lnTo>
                    <a:pt x="0" y="12001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35977" y="2534602"/>
            <a:ext cx="2015489" cy="7461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81610" marR="5080" indent="-169545">
              <a:lnSpc>
                <a:spcPts val="2700"/>
              </a:lnSpc>
              <a:spcBef>
                <a:spcPts val="415"/>
              </a:spcBef>
            </a:pPr>
            <a:r>
              <a:rPr sz="2450" b="1">
                <a:solidFill>
                  <a:srgbClr val="FFFFFF"/>
                </a:solidFill>
                <a:latin typeface="Calibri"/>
                <a:cs typeface="Calibri"/>
              </a:rPr>
              <a:t>Entrevistas</a:t>
            </a:r>
            <a:r>
              <a:rPr sz="2450" b="1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50" b="1" spc="-25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sz="2450" b="1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sz="2450" b="1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50" b="1" spc="-10">
                <a:solidFill>
                  <a:srgbClr val="FFFFFF"/>
                </a:solidFill>
                <a:latin typeface="Calibri"/>
                <a:cs typeface="Calibri"/>
              </a:rPr>
              <a:t>usuarios:</a:t>
            </a:r>
            <a:endParaRPr sz="24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68362" y="3535426"/>
            <a:ext cx="2188210" cy="2130425"/>
            <a:chOff x="868362" y="3535426"/>
            <a:chExt cx="2188210" cy="2130425"/>
          </a:xfrm>
        </p:grpSpPr>
        <p:sp>
          <p:nvSpPr>
            <p:cNvPr id="8" name="object 8"/>
            <p:cNvSpPr/>
            <p:nvPr/>
          </p:nvSpPr>
          <p:spPr>
            <a:xfrm>
              <a:off x="881062" y="3548126"/>
              <a:ext cx="240029" cy="1205865"/>
            </a:xfrm>
            <a:custGeom>
              <a:avLst/>
              <a:gdLst/>
              <a:ahLst/>
              <a:cxnLst/>
              <a:rect l="l" t="t" r="r" b="b"/>
              <a:pathLst>
                <a:path w="240030" h="1205864">
                  <a:moveTo>
                    <a:pt x="0" y="0"/>
                  </a:moveTo>
                  <a:lnTo>
                    <a:pt x="0" y="1205738"/>
                  </a:lnTo>
                  <a:lnTo>
                    <a:pt x="240017" y="1205738"/>
                  </a:lnTo>
                </a:path>
              </a:pathLst>
            </a:custGeom>
            <a:ln w="25400">
              <a:solidFill>
                <a:srgbClr val="7D5F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28712" y="3843401"/>
              <a:ext cx="1915160" cy="1809750"/>
            </a:xfrm>
            <a:custGeom>
              <a:avLst/>
              <a:gdLst/>
              <a:ahLst/>
              <a:cxnLst/>
              <a:rect l="l" t="t" r="r" b="b"/>
              <a:pathLst>
                <a:path w="1915160" h="1809750">
                  <a:moveTo>
                    <a:pt x="1733613" y="0"/>
                  </a:moveTo>
                  <a:lnTo>
                    <a:pt x="181038" y="0"/>
                  </a:lnTo>
                  <a:lnTo>
                    <a:pt x="132901" y="6455"/>
                  </a:lnTo>
                  <a:lnTo>
                    <a:pt x="89652" y="24680"/>
                  </a:lnTo>
                  <a:lnTo>
                    <a:pt x="53014" y="52959"/>
                  </a:lnTo>
                  <a:lnTo>
                    <a:pt x="24710" y="89577"/>
                  </a:lnTo>
                  <a:lnTo>
                    <a:pt x="6464" y="132820"/>
                  </a:lnTo>
                  <a:lnTo>
                    <a:pt x="0" y="180975"/>
                  </a:lnTo>
                  <a:lnTo>
                    <a:pt x="0" y="1628775"/>
                  </a:lnTo>
                  <a:lnTo>
                    <a:pt x="6464" y="1676880"/>
                  </a:lnTo>
                  <a:lnTo>
                    <a:pt x="24710" y="1720099"/>
                  </a:lnTo>
                  <a:lnTo>
                    <a:pt x="53014" y="1756711"/>
                  </a:lnTo>
                  <a:lnTo>
                    <a:pt x="89652" y="1784994"/>
                  </a:lnTo>
                  <a:lnTo>
                    <a:pt x="132901" y="1803226"/>
                  </a:lnTo>
                  <a:lnTo>
                    <a:pt x="181038" y="1809686"/>
                  </a:lnTo>
                  <a:lnTo>
                    <a:pt x="1733613" y="1809686"/>
                  </a:lnTo>
                  <a:lnTo>
                    <a:pt x="1781723" y="1803226"/>
                  </a:lnTo>
                  <a:lnTo>
                    <a:pt x="1824954" y="1784994"/>
                  </a:lnTo>
                  <a:lnTo>
                    <a:pt x="1861581" y="1756711"/>
                  </a:lnTo>
                  <a:lnTo>
                    <a:pt x="1889879" y="1720099"/>
                  </a:lnTo>
                  <a:lnTo>
                    <a:pt x="1908123" y="1676880"/>
                  </a:lnTo>
                  <a:lnTo>
                    <a:pt x="1914588" y="1628775"/>
                  </a:lnTo>
                  <a:lnTo>
                    <a:pt x="1914588" y="180975"/>
                  </a:lnTo>
                  <a:lnTo>
                    <a:pt x="1908123" y="132820"/>
                  </a:lnTo>
                  <a:lnTo>
                    <a:pt x="1889879" y="89577"/>
                  </a:lnTo>
                  <a:lnTo>
                    <a:pt x="1861581" y="52959"/>
                  </a:lnTo>
                  <a:lnTo>
                    <a:pt x="1824954" y="24680"/>
                  </a:lnTo>
                  <a:lnTo>
                    <a:pt x="1781723" y="6455"/>
                  </a:lnTo>
                  <a:lnTo>
                    <a:pt x="173361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28712" y="3843401"/>
              <a:ext cx="1915160" cy="1809750"/>
            </a:xfrm>
            <a:custGeom>
              <a:avLst/>
              <a:gdLst/>
              <a:ahLst/>
              <a:cxnLst/>
              <a:rect l="l" t="t" r="r" b="b"/>
              <a:pathLst>
                <a:path w="1915160" h="1809750">
                  <a:moveTo>
                    <a:pt x="0" y="180975"/>
                  </a:moveTo>
                  <a:lnTo>
                    <a:pt x="6464" y="132820"/>
                  </a:lnTo>
                  <a:lnTo>
                    <a:pt x="24710" y="89577"/>
                  </a:lnTo>
                  <a:lnTo>
                    <a:pt x="53014" y="52959"/>
                  </a:lnTo>
                  <a:lnTo>
                    <a:pt x="89652" y="24680"/>
                  </a:lnTo>
                  <a:lnTo>
                    <a:pt x="132901" y="6455"/>
                  </a:lnTo>
                  <a:lnTo>
                    <a:pt x="181038" y="0"/>
                  </a:lnTo>
                  <a:lnTo>
                    <a:pt x="1733613" y="0"/>
                  </a:lnTo>
                  <a:lnTo>
                    <a:pt x="1781723" y="6455"/>
                  </a:lnTo>
                  <a:lnTo>
                    <a:pt x="1824954" y="24680"/>
                  </a:lnTo>
                  <a:lnTo>
                    <a:pt x="1861581" y="52959"/>
                  </a:lnTo>
                  <a:lnTo>
                    <a:pt x="1889879" y="89577"/>
                  </a:lnTo>
                  <a:lnTo>
                    <a:pt x="1908123" y="132820"/>
                  </a:lnTo>
                  <a:lnTo>
                    <a:pt x="1914588" y="180975"/>
                  </a:lnTo>
                  <a:lnTo>
                    <a:pt x="1914588" y="1628775"/>
                  </a:lnTo>
                  <a:lnTo>
                    <a:pt x="1908123" y="1676880"/>
                  </a:lnTo>
                  <a:lnTo>
                    <a:pt x="1889879" y="1720099"/>
                  </a:lnTo>
                  <a:lnTo>
                    <a:pt x="1861581" y="1756711"/>
                  </a:lnTo>
                  <a:lnTo>
                    <a:pt x="1824954" y="1784994"/>
                  </a:lnTo>
                  <a:lnTo>
                    <a:pt x="1781723" y="1803226"/>
                  </a:lnTo>
                  <a:lnTo>
                    <a:pt x="1733613" y="1809686"/>
                  </a:lnTo>
                  <a:lnTo>
                    <a:pt x="181038" y="1809686"/>
                  </a:lnTo>
                  <a:lnTo>
                    <a:pt x="132901" y="1803226"/>
                  </a:lnTo>
                  <a:lnTo>
                    <a:pt x="89652" y="1784994"/>
                  </a:lnTo>
                  <a:lnTo>
                    <a:pt x="53014" y="1756711"/>
                  </a:lnTo>
                  <a:lnTo>
                    <a:pt x="24710" y="1720099"/>
                  </a:lnTo>
                  <a:lnTo>
                    <a:pt x="6464" y="1676880"/>
                  </a:lnTo>
                  <a:lnTo>
                    <a:pt x="0" y="1628775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9F79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01419" y="4040568"/>
            <a:ext cx="1760220" cy="13817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40640" algn="ctr">
              <a:lnSpc>
                <a:spcPct val="94500"/>
              </a:lnSpc>
              <a:spcBef>
                <a:spcPts val="229"/>
              </a:spcBef>
            </a:pP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Encuentros</a:t>
            </a:r>
            <a:r>
              <a:rPr sz="1550" spc="9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con</a:t>
            </a:r>
            <a:r>
              <a:rPr sz="1550" spc="1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 spc="-25">
                <a:solidFill>
                  <a:srgbClr val="484746"/>
                </a:solidFill>
                <a:latin typeface="Calibri"/>
                <a:cs typeface="Calibri"/>
              </a:rPr>
              <a:t>un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conjunto</a:t>
            </a:r>
            <a:r>
              <a:rPr sz="1550" spc="1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 spc="-10">
                <a:solidFill>
                  <a:srgbClr val="484746"/>
                </a:solidFill>
                <a:latin typeface="Calibri"/>
                <a:cs typeface="Calibri"/>
              </a:rPr>
              <a:t>predefinido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1550" spc="1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preguntas</a:t>
            </a:r>
            <a:r>
              <a:rPr sz="1550" spc="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 spc="-20">
                <a:solidFill>
                  <a:srgbClr val="484746"/>
                </a:solidFill>
                <a:latin typeface="Calibri"/>
                <a:cs typeface="Calibri"/>
              </a:rPr>
              <a:t>para </a:t>
            </a:r>
            <a:r>
              <a:rPr sz="1550" spc="-10">
                <a:solidFill>
                  <a:srgbClr val="484746"/>
                </a:solidFill>
                <a:latin typeface="Calibri"/>
                <a:cs typeface="Calibri"/>
              </a:rPr>
              <a:t>recopilar</a:t>
            </a:r>
            <a:r>
              <a:rPr sz="1550" spc="50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información</a:t>
            </a:r>
            <a:r>
              <a:rPr sz="1550" spc="1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 spc="-25">
                <a:solidFill>
                  <a:srgbClr val="484746"/>
                </a:solidFill>
                <a:latin typeface="Calibri"/>
                <a:cs typeface="Calibri"/>
              </a:rPr>
              <a:t>de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manera</a:t>
            </a:r>
            <a:r>
              <a:rPr sz="1550" spc="10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 spc="-10">
                <a:solidFill>
                  <a:srgbClr val="484746"/>
                </a:solidFill>
                <a:latin typeface="Calibri"/>
                <a:cs typeface="Calibri"/>
              </a:rPr>
              <a:t>sistemática.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30676" y="2335276"/>
            <a:ext cx="2425700" cy="1225550"/>
            <a:chOff x="3630676" y="2335276"/>
            <a:chExt cx="2425700" cy="1225550"/>
          </a:xfrm>
        </p:grpSpPr>
        <p:sp>
          <p:nvSpPr>
            <p:cNvPr id="13" name="object 13"/>
            <p:cNvSpPr/>
            <p:nvPr/>
          </p:nvSpPr>
          <p:spPr>
            <a:xfrm>
              <a:off x="3643376" y="2347976"/>
              <a:ext cx="2400300" cy="1200150"/>
            </a:xfrm>
            <a:custGeom>
              <a:avLst/>
              <a:gdLst/>
              <a:ahLst/>
              <a:cxnLst/>
              <a:rect l="l" t="t" r="r" b="b"/>
              <a:pathLst>
                <a:path w="2400300" h="1200150">
                  <a:moveTo>
                    <a:pt x="2280285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008"/>
                  </a:lnTo>
                  <a:lnTo>
                    <a:pt x="9429" y="1126728"/>
                  </a:lnTo>
                  <a:lnTo>
                    <a:pt x="35147" y="1164875"/>
                  </a:lnTo>
                  <a:lnTo>
                    <a:pt x="73294" y="1190593"/>
                  </a:lnTo>
                  <a:lnTo>
                    <a:pt x="120014" y="1200023"/>
                  </a:lnTo>
                  <a:lnTo>
                    <a:pt x="2280285" y="1200023"/>
                  </a:lnTo>
                  <a:lnTo>
                    <a:pt x="2326951" y="1190593"/>
                  </a:lnTo>
                  <a:lnTo>
                    <a:pt x="2365105" y="1164875"/>
                  </a:lnTo>
                  <a:lnTo>
                    <a:pt x="2390852" y="1126728"/>
                  </a:lnTo>
                  <a:lnTo>
                    <a:pt x="2400300" y="1080008"/>
                  </a:lnTo>
                  <a:lnTo>
                    <a:pt x="2400300" y="120014"/>
                  </a:lnTo>
                  <a:lnTo>
                    <a:pt x="2390852" y="73294"/>
                  </a:lnTo>
                  <a:lnTo>
                    <a:pt x="2365105" y="35147"/>
                  </a:lnTo>
                  <a:lnTo>
                    <a:pt x="2326951" y="9429"/>
                  </a:lnTo>
                  <a:lnTo>
                    <a:pt x="2280285" y="0"/>
                  </a:lnTo>
                  <a:close/>
                </a:path>
              </a:pathLst>
            </a:custGeom>
            <a:solidFill>
              <a:srgbClr val="9F79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43376" y="2347976"/>
              <a:ext cx="2400300" cy="1200150"/>
            </a:xfrm>
            <a:custGeom>
              <a:avLst/>
              <a:gdLst/>
              <a:ahLst/>
              <a:cxnLst/>
              <a:rect l="l" t="t" r="r" b="b"/>
              <a:pathLst>
                <a:path w="2400300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2280285" y="0"/>
                  </a:lnTo>
                  <a:lnTo>
                    <a:pt x="2326951" y="9429"/>
                  </a:lnTo>
                  <a:lnTo>
                    <a:pt x="2365105" y="35147"/>
                  </a:lnTo>
                  <a:lnTo>
                    <a:pt x="2390852" y="73294"/>
                  </a:lnTo>
                  <a:lnTo>
                    <a:pt x="2400300" y="120014"/>
                  </a:lnTo>
                  <a:lnTo>
                    <a:pt x="2400300" y="1080008"/>
                  </a:lnTo>
                  <a:lnTo>
                    <a:pt x="2390852" y="1126728"/>
                  </a:lnTo>
                  <a:lnTo>
                    <a:pt x="2365105" y="1164875"/>
                  </a:lnTo>
                  <a:lnTo>
                    <a:pt x="2326951" y="1190593"/>
                  </a:lnTo>
                  <a:lnTo>
                    <a:pt x="2280285" y="1200023"/>
                  </a:lnTo>
                  <a:lnTo>
                    <a:pt x="120014" y="1200023"/>
                  </a:lnTo>
                  <a:lnTo>
                    <a:pt x="73294" y="1190593"/>
                  </a:lnTo>
                  <a:lnTo>
                    <a:pt x="35147" y="1164875"/>
                  </a:lnTo>
                  <a:lnTo>
                    <a:pt x="9429" y="1126728"/>
                  </a:lnTo>
                  <a:lnTo>
                    <a:pt x="0" y="1080008"/>
                  </a:lnTo>
                  <a:lnTo>
                    <a:pt x="0" y="120014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10634" y="2534602"/>
            <a:ext cx="2066925" cy="7461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406400" marR="5080" indent="-394335">
              <a:lnSpc>
                <a:spcPts val="2700"/>
              </a:lnSpc>
              <a:spcBef>
                <a:spcPts val="415"/>
              </a:spcBef>
            </a:pPr>
            <a:r>
              <a:rPr sz="2450" b="1">
                <a:solidFill>
                  <a:srgbClr val="FFFFFF"/>
                </a:solidFill>
                <a:latin typeface="Calibri"/>
                <a:cs typeface="Calibri"/>
              </a:rPr>
              <a:t>Observación</a:t>
            </a:r>
            <a:r>
              <a:rPr sz="2450" b="1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50" b="1" spc="-25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450" b="1" spc="-10">
                <a:solidFill>
                  <a:srgbClr val="FFFFFF"/>
                </a:solidFill>
                <a:latin typeface="Calibri"/>
                <a:cs typeface="Calibri"/>
              </a:rPr>
              <a:t>procesos:</a:t>
            </a:r>
            <a:endParaRPr sz="24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68801" y="3535426"/>
            <a:ext cx="2187575" cy="2130425"/>
            <a:chOff x="3868801" y="3535426"/>
            <a:chExt cx="2187575" cy="2130425"/>
          </a:xfrm>
        </p:grpSpPr>
        <p:sp>
          <p:nvSpPr>
            <p:cNvPr id="17" name="object 17"/>
            <p:cNvSpPr/>
            <p:nvPr/>
          </p:nvSpPr>
          <p:spPr>
            <a:xfrm>
              <a:off x="3881501" y="3548126"/>
              <a:ext cx="240029" cy="1205865"/>
            </a:xfrm>
            <a:custGeom>
              <a:avLst/>
              <a:gdLst/>
              <a:ahLst/>
              <a:cxnLst/>
              <a:rect l="l" t="t" r="r" b="b"/>
              <a:pathLst>
                <a:path w="240029" h="1205864">
                  <a:moveTo>
                    <a:pt x="0" y="0"/>
                  </a:moveTo>
                  <a:lnTo>
                    <a:pt x="0" y="1205738"/>
                  </a:lnTo>
                  <a:lnTo>
                    <a:pt x="239903" y="1205738"/>
                  </a:lnTo>
                </a:path>
              </a:pathLst>
            </a:custGeom>
            <a:ln w="25400">
              <a:solidFill>
                <a:srgbClr val="7D5F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151" y="3843401"/>
              <a:ext cx="1914525" cy="1809750"/>
            </a:xfrm>
            <a:custGeom>
              <a:avLst/>
              <a:gdLst/>
              <a:ahLst/>
              <a:cxnLst/>
              <a:rect l="l" t="t" r="r" b="b"/>
              <a:pathLst>
                <a:path w="1914525" h="1809750">
                  <a:moveTo>
                    <a:pt x="1733550" y="0"/>
                  </a:moveTo>
                  <a:lnTo>
                    <a:pt x="180975" y="0"/>
                  </a:lnTo>
                  <a:lnTo>
                    <a:pt x="132820" y="6455"/>
                  </a:lnTo>
                  <a:lnTo>
                    <a:pt x="89577" y="24680"/>
                  </a:lnTo>
                  <a:lnTo>
                    <a:pt x="52959" y="52959"/>
                  </a:lnTo>
                  <a:lnTo>
                    <a:pt x="24680" y="89577"/>
                  </a:lnTo>
                  <a:lnTo>
                    <a:pt x="6455" y="132820"/>
                  </a:lnTo>
                  <a:lnTo>
                    <a:pt x="0" y="180975"/>
                  </a:lnTo>
                  <a:lnTo>
                    <a:pt x="0" y="1628775"/>
                  </a:lnTo>
                  <a:lnTo>
                    <a:pt x="6455" y="1676880"/>
                  </a:lnTo>
                  <a:lnTo>
                    <a:pt x="24680" y="1720099"/>
                  </a:lnTo>
                  <a:lnTo>
                    <a:pt x="52959" y="1756711"/>
                  </a:lnTo>
                  <a:lnTo>
                    <a:pt x="89577" y="1784994"/>
                  </a:lnTo>
                  <a:lnTo>
                    <a:pt x="132820" y="1803226"/>
                  </a:lnTo>
                  <a:lnTo>
                    <a:pt x="180975" y="1809686"/>
                  </a:lnTo>
                  <a:lnTo>
                    <a:pt x="1733550" y="1809686"/>
                  </a:lnTo>
                  <a:lnTo>
                    <a:pt x="1781660" y="1803226"/>
                  </a:lnTo>
                  <a:lnTo>
                    <a:pt x="1824891" y="1784994"/>
                  </a:lnTo>
                  <a:lnTo>
                    <a:pt x="1861518" y="1756711"/>
                  </a:lnTo>
                  <a:lnTo>
                    <a:pt x="1889816" y="1720099"/>
                  </a:lnTo>
                  <a:lnTo>
                    <a:pt x="1908060" y="1676880"/>
                  </a:lnTo>
                  <a:lnTo>
                    <a:pt x="1914525" y="1628775"/>
                  </a:lnTo>
                  <a:lnTo>
                    <a:pt x="1914525" y="180975"/>
                  </a:lnTo>
                  <a:lnTo>
                    <a:pt x="1908060" y="132820"/>
                  </a:lnTo>
                  <a:lnTo>
                    <a:pt x="1889816" y="89577"/>
                  </a:lnTo>
                  <a:lnTo>
                    <a:pt x="1861518" y="52959"/>
                  </a:lnTo>
                  <a:lnTo>
                    <a:pt x="1824891" y="24680"/>
                  </a:lnTo>
                  <a:lnTo>
                    <a:pt x="1781660" y="6455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29151" y="3843401"/>
              <a:ext cx="1914525" cy="1809750"/>
            </a:xfrm>
            <a:custGeom>
              <a:avLst/>
              <a:gdLst/>
              <a:ahLst/>
              <a:cxnLst/>
              <a:rect l="l" t="t" r="r" b="b"/>
              <a:pathLst>
                <a:path w="1914525" h="1809750">
                  <a:moveTo>
                    <a:pt x="0" y="180975"/>
                  </a:moveTo>
                  <a:lnTo>
                    <a:pt x="6455" y="132820"/>
                  </a:lnTo>
                  <a:lnTo>
                    <a:pt x="24680" y="89577"/>
                  </a:lnTo>
                  <a:lnTo>
                    <a:pt x="52959" y="52959"/>
                  </a:lnTo>
                  <a:lnTo>
                    <a:pt x="89577" y="24680"/>
                  </a:lnTo>
                  <a:lnTo>
                    <a:pt x="132820" y="6455"/>
                  </a:lnTo>
                  <a:lnTo>
                    <a:pt x="180975" y="0"/>
                  </a:lnTo>
                  <a:lnTo>
                    <a:pt x="1733550" y="0"/>
                  </a:lnTo>
                  <a:lnTo>
                    <a:pt x="1781660" y="6455"/>
                  </a:lnTo>
                  <a:lnTo>
                    <a:pt x="1824891" y="24680"/>
                  </a:lnTo>
                  <a:lnTo>
                    <a:pt x="1861518" y="52959"/>
                  </a:lnTo>
                  <a:lnTo>
                    <a:pt x="1889816" y="89577"/>
                  </a:lnTo>
                  <a:lnTo>
                    <a:pt x="1908060" y="132820"/>
                  </a:lnTo>
                  <a:lnTo>
                    <a:pt x="1914525" y="180975"/>
                  </a:lnTo>
                  <a:lnTo>
                    <a:pt x="1914525" y="1628775"/>
                  </a:lnTo>
                  <a:lnTo>
                    <a:pt x="1908060" y="1676880"/>
                  </a:lnTo>
                  <a:lnTo>
                    <a:pt x="1889816" y="1720099"/>
                  </a:lnTo>
                  <a:lnTo>
                    <a:pt x="1861518" y="1756711"/>
                  </a:lnTo>
                  <a:lnTo>
                    <a:pt x="1824891" y="1784994"/>
                  </a:lnTo>
                  <a:lnTo>
                    <a:pt x="1781660" y="1803226"/>
                  </a:lnTo>
                  <a:lnTo>
                    <a:pt x="1733550" y="1809686"/>
                  </a:lnTo>
                  <a:lnTo>
                    <a:pt x="180975" y="1809686"/>
                  </a:lnTo>
                  <a:lnTo>
                    <a:pt x="132820" y="1803226"/>
                  </a:lnTo>
                  <a:lnTo>
                    <a:pt x="89577" y="1784994"/>
                  </a:lnTo>
                  <a:lnTo>
                    <a:pt x="52959" y="1756711"/>
                  </a:lnTo>
                  <a:lnTo>
                    <a:pt x="24680" y="1720099"/>
                  </a:lnTo>
                  <a:lnTo>
                    <a:pt x="6455" y="1676880"/>
                  </a:lnTo>
                  <a:lnTo>
                    <a:pt x="0" y="1628775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9F79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242434" y="4152201"/>
            <a:ext cx="1679575" cy="115316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algn="ctr">
              <a:lnSpc>
                <a:spcPct val="93900"/>
              </a:lnSpc>
              <a:spcBef>
                <a:spcPts val="240"/>
              </a:spcBef>
            </a:pP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El</a:t>
            </a:r>
            <a:r>
              <a:rPr sz="1550" spc="12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equipo</a:t>
            </a:r>
            <a:r>
              <a:rPr sz="1550" spc="9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observa</a:t>
            </a:r>
            <a:r>
              <a:rPr sz="1550" spc="10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 spc="-25">
                <a:solidFill>
                  <a:srgbClr val="484746"/>
                </a:solidFill>
                <a:latin typeface="Calibri"/>
                <a:cs typeface="Calibri"/>
              </a:rPr>
              <a:t>el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proceso</a:t>
            </a:r>
            <a:r>
              <a:rPr sz="1550" spc="9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1550" spc="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cómo</a:t>
            </a:r>
            <a:r>
              <a:rPr sz="1550" spc="9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 spc="-25">
                <a:solidFill>
                  <a:srgbClr val="484746"/>
                </a:solidFill>
                <a:latin typeface="Calibri"/>
                <a:cs typeface="Calibri"/>
              </a:rPr>
              <a:t>se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llevan</a:t>
            </a:r>
            <a:r>
              <a:rPr sz="1550" spc="8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 spc="-10">
                <a:solidFill>
                  <a:srgbClr val="484746"/>
                </a:solidFill>
                <a:latin typeface="Calibri"/>
                <a:cs typeface="Calibri"/>
              </a:rPr>
              <a:t>actualmente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las</a:t>
            </a:r>
            <a:r>
              <a:rPr sz="1550" spc="10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actividades</a:t>
            </a:r>
            <a:r>
              <a:rPr sz="1550" spc="20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 spc="-50">
                <a:solidFill>
                  <a:srgbClr val="484746"/>
                </a:solidFill>
                <a:latin typeface="Calibri"/>
                <a:cs typeface="Calibri"/>
              </a:rPr>
              <a:t>a </a:t>
            </a:r>
            <a:r>
              <a:rPr sz="1550" spc="-10">
                <a:solidFill>
                  <a:srgbClr val="484746"/>
                </a:solidFill>
                <a:latin typeface="Calibri"/>
                <a:cs typeface="Calibri"/>
              </a:rPr>
              <a:t>cabo.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31051" y="2335276"/>
            <a:ext cx="2425700" cy="1225550"/>
            <a:chOff x="6631051" y="2335276"/>
            <a:chExt cx="2425700" cy="1225550"/>
          </a:xfrm>
        </p:grpSpPr>
        <p:sp>
          <p:nvSpPr>
            <p:cNvPr id="22" name="object 22"/>
            <p:cNvSpPr/>
            <p:nvPr/>
          </p:nvSpPr>
          <p:spPr>
            <a:xfrm>
              <a:off x="6643751" y="2347976"/>
              <a:ext cx="2400300" cy="1200150"/>
            </a:xfrm>
            <a:custGeom>
              <a:avLst/>
              <a:gdLst/>
              <a:ahLst/>
              <a:cxnLst/>
              <a:rect l="l" t="t" r="r" b="b"/>
              <a:pathLst>
                <a:path w="2400300" h="1200150">
                  <a:moveTo>
                    <a:pt x="2280158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008"/>
                  </a:lnTo>
                  <a:lnTo>
                    <a:pt x="9429" y="1126728"/>
                  </a:lnTo>
                  <a:lnTo>
                    <a:pt x="35147" y="1164875"/>
                  </a:lnTo>
                  <a:lnTo>
                    <a:pt x="73294" y="1190593"/>
                  </a:lnTo>
                  <a:lnTo>
                    <a:pt x="120014" y="1200023"/>
                  </a:lnTo>
                  <a:lnTo>
                    <a:pt x="2280158" y="1200023"/>
                  </a:lnTo>
                  <a:lnTo>
                    <a:pt x="2326897" y="1190593"/>
                  </a:lnTo>
                  <a:lnTo>
                    <a:pt x="2365089" y="1164875"/>
                  </a:lnTo>
                  <a:lnTo>
                    <a:pt x="2390850" y="1126728"/>
                  </a:lnTo>
                  <a:lnTo>
                    <a:pt x="2400300" y="1080008"/>
                  </a:lnTo>
                  <a:lnTo>
                    <a:pt x="2400300" y="120014"/>
                  </a:lnTo>
                  <a:lnTo>
                    <a:pt x="2390850" y="73294"/>
                  </a:lnTo>
                  <a:lnTo>
                    <a:pt x="2365089" y="35147"/>
                  </a:lnTo>
                  <a:lnTo>
                    <a:pt x="2326897" y="9429"/>
                  </a:lnTo>
                  <a:lnTo>
                    <a:pt x="2280158" y="0"/>
                  </a:lnTo>
                  <a:close/>
                </a:path>
              </a:pathLst>
            </a:custGeom>
            <a:solidFill>
              <a:srgbClr val="9F79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43751" y="2347976"/>
              <a:ext cx="2400300" cy="1200150"/>
            </a:xfrm>
            <a:custGeom>
              <a:avLst/>
              <a:gdLst/>
              <a:ahLst/>
              <a:cxnLst/>
              <a:rect l="l" t="t" r="r" b="b"/>
              <a:pathLst>
                <a:path w="2400300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2280158" y="0"/>
                  </a:lnTo>
                  <a:lnTo>
                    <a:pt x="2326897" y="9429"/>
                  </a:lnTo>
                  <a:lnTo>
                    <a:pt x="2365089" y="35147"/>
                  </a:lnTo>
                  <a:lnTo>
                    <a:pt x="2390850" y="73294"/>
                  </a:lnTo>
                  <a:lnTo>
                    <a:pt x="2400300" y="120014"/>
                  </a:lnTo>
                  <a:lnTo>
                    <a:pt x="2400300" y="1080008"/>
                  </a:lnTo>
                  <a:lnTo>
                    <a:pt x="2390850" y="1126728"/>
                  </a:lnTo>
                  <a:lnTo>
                    <a:pt x="2365089" y="1164875"/>
                  </a:lnTo>
                  <a:lnTo>
                    <a:pt x="2326897" y="1190593"/>
                  </a:lnTo>
                  <a:lnTo>
                    <a:pt x="2280158" y="1200023"/>
                  </a:lnTo>
                  <a:lnTo>
                    <a:pt x="120014" y="1200023"/>
                  </a:lnTo>
                  <a:lnTo>
                    <a:pt x="73294" y="1190593"/>
                  </a:lnTo>
                  <a:lnTo>
                    <a:pt x="35147" y="1164875"/>
                  </a:lnTo>
                  <a:lnTo>
                    <a:pt x="9429" y="1126728"/>
                  </a:lnTo>
                  <a:lnTo>
                    <a:pt x="0" y="1080008"/>
                  </a:lnTo>
                  <a:lnTo>
                    <a:pt x="0" y="120014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017131" y="2359405"/>
            <a:ext cx="1654175" cy="109982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1270" algn="ctr">
              <a:lnSpc>
                <a:spcPct val="93200"/>
              </a:lnSpc>
              <a:spcBef>
                <a:spcPts val="330"/>
              </a:spcBef>
            </a:pPr>
            <a:r>
              <a:rPr sz="2450" b="1">
                <a:solidFill>
                  <a:srgbClr val="FFFFFF"/>
                </a:solidFill>
                <a:latin typeface="Calibri"/>
                <a:cs typeface="Calibri"/>
              </a:rPr>
              <a:t>Análisis</a:t>
            </a:r>
            <a:r>
              <a:rPr sz="2450" b="1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50" b="1" spc="-25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450" b="1" spc="-10">
                <a:solidFill>
                  <a:srgbClr val="FFFFFF"/>
                </a:solidFill>
                <a:latin typeface="Calibri"/>
                <a:cs typeface="Calibri"/>
              </a:rPr>
              <a:t>documentos existentes:</a:t>
            </a:r>
            <a:endParaRPr sz="24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69176" y="3535426"/>
            <a:ext cx="2187575" cy="2130425"/>
            <a:chOff x="6869176" y="3535426"/>
            <a:chExt cx="2187575" cy="2130425"/>
          </a:xfrm>
        </p:grpSpPr>
        <p:sp>
          <p:nvSpPr>
            <p:cNvPr id="26" name="object 26"/>
            <p:cNvSpPr/>
            <p:nvPr/>
          </p:nvSpPr>
          <p:spPr>
            <a:xfrm>
              <a:off x="6881876" y="3548126"/>
              <a:ext cx="240029" cy="1205865"/>
            </a:xfrm>
            <a:custGeom>
              <a:avLst/>
              <a:gdLst/>
              <a:ahLst/>
              <a:cxnLst/>
              <a:rect l="l" t="t" r="r" b="b"/>
              <a:pathLst>
                <a:path w="240029" h="1205864">
                  <a:moveTo>
                    <a:pt x="0" y="0"/>
                  </a:moveTo>
                  <a:lnTo>
                    <a:pt x="0" y="1205738"/>
                  </a:lnTo>
                  <a:lnTo>
                    <a:pt x="239903" y="1205738"/>
                  </a:lnTo>
                </a:path>
              </a:pathLst>
            </a:custGeom>
            <a:ln w="25400">
              <a:solidFill>
                <a:srgbClr val="7D5F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29526" y="3843401"/>
              <a:ext cx="1914525" cy="1809750"/>
            </a:xfrm>
            <a:custGeom>
              <a:avLst/>
              <a:gdLst/>
              <a:ahLst/>
              <a:cxnLst/>
              <a:rect l="l" t="t" r="r" b="b"/>
              <a:pathLst>
                <a:path w="1914525" h="1809750">
                  <a:moveTo>
                    <a:pt x="1733423" y="0"/>
                  </a:moveTo>
                  <a:lnTo>
                    <a:pt x="180975" y="0"/>
                  </a:lnTo>
                  <a:lnTo>
                    <a:pt x="132820" y="6455"/>
                  </a:lnTo>
                  <a:lnTo>
                    <a:pt x="89577" y="24680"/>
                  </a:lnTo>
                  <a:lnTo>
                    <a:pt x="52959" y="52959"/>
                  </a:lnTo>
                  <a:lnTo>
                    <a:pt x="24680" y="89577"/>
                  </a:lnTo>
                  <a:lnTo>
                    <a:pt x="6455" y="132820"/>
                  </a:lnTo>
                  <a:lnTo>
                    <a:pt x="0" y="180975"/>
                  </a:lnTo>
                  <a:lnTo>
                    <a:pt x="0" y="1628775"/>
                  </a:lnTo>
                  <a:lnTo>
                    <a:pt x="6455" y="1676880"/>
                  </a:lnTo>
                  <a:lnTo>
                    <a:pt x="24680" y="1720099"/>
                  </a:lnTo>
                  <a:lnTo>
                    <a:pt x="52959" y="1756711"/>
                  </a:lnTo>
                  <a:lnTo>
                    <a:pt x="89577" y="1784994"/>
                  </a:lnTo>
                  <a:lnTo>
                    <a:pt x="132820" y="1803226"/>
                  </a:lnTo>
                  <a:lnTo>
                    <a:pt x="180975" y="1809686"/>
                  </a:lnTo>
                  <a:lnTo>
                    <a:pt x="1733423" y="1809686"/>
                  </a:lnTo>
                  <a:lnTo>
                    <a:pt x="1781586" y="1803226"/>
                  </a:lnTo>
                  <a:lnTo>
                    <a:pt x="1824853" y="1784994"/>
                  </a:lnTo>
                  <a:lnTo>
                    <a:pt x="1861502" y="1756711"/>
                  </a:lnTo>
                  <a:lnTo>
                    <a:pt x="1889811" y="1720099"/>
                  </a:lnTo>
                  <a:lnTo>
                    <a:pt x="1908059" y="1676880"/>
                  </a:lnTo>
                  <a:lnTo>
                    <a:pt x="1914525" y="1628775"/>
                  </a:lnTo>
                  <a:lnTo>
                    <a:pt x="1914525" y="180975"/>
                  </a:lnTo>
                  <a:lnTo>
                    <a:pt x="1908059" y="132820"/>
                  </a:lnTo>
                  <a:lnTo>
                    <a:pt x="1889811" y="89577"/>
                  </a:lnTo>
                  <a:lnTo>
                    <a:pt x="1861502" y="52959"/>
                  </a:lnTo>
                  <a:lnTo>
                    <a:pt x="1824853" y="24680"/>
                  </a:lnTo>
                  <a:lnTo>
                    <a:pt x="1781586" y="6455"/>
                  </a:lnTo>
                  <a:lnTo>
                    <a:pt x="173342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29526" y="3843401"/>
              <a:ext cx="1914525" cy="1809750"/>
            </a:xfrm>
            <a:custGeom>
              <a:avLst/>
              <a:gdLst/>
              <a:ahLst/>
              <a:cxnLst/>
              <a:rect l="l" t="t" r="r" b="b"/>
              <a:pathLst>
                <a:path w="1914525" h="1809750">
                  <a:moveTo>
                    <a:pt x="0" y="180975"/>
                  </a:moveTo>
                  <a:lnTo>
                    <a:pt x="6455" y="132820"/>
                  </a:lnTo>
                  <a:lnTo>
                    <a:pt x="24680" y="89577"/>
                  </a:lnTo>
                  <a:lnTo>
                    <a:pt x="52959" y="52959"/>
                  </a:lnTo>
                  <a:lnTo>
                    <a:pt x="89577" y="24680"/>
                  </a:lnTo>
                  <a:lnTo>
                    <a:pt x="132820" y="6455"/>
                  </a:lnTo>
                  <a:lnTo>
                    <a:pt x="180975" y="0"/>
                  </a:lnTo>
                  <a:lnTo>
                    <a:pt x="1733423" y="0"/>
                  </a:lnTo>
                  <a:lnTo>
                    <a:pt x="1781586" y="6455"/>
                  </a:lnTo>
                  <a:lnTo>
                    <a:pt x="1824853" y="24680"/>
                  </a:lnTo>
                  <a:lnTo>
                    <a:pt x="1861502" y="52959"/>
                  </a:lnTo>
                  <a:lnTo>
                    <a:pt x="1889811" y="89577"/>
                  </a:lnTo>
                  <a:lnTo>
                    <a:pt x="1908059" y="132820"/>
                  </a:lnTo>
                  <a:lnTo>
                    <a:pt x="1914525" y="180975"/>
                  </a:lnTo>
                  <a:lnTo>
                    <a:pt x="1914525" y="1628775"/>
                  </a:lnTo>
                  <a:lnTo>
                    <a:pt x="1908059" y="1676880"/>
                  </a:lnTo>
                  <a:lnTo>
                    <a:pt x="1889811" y="1720099"/>
                  </a:lnTo>
                  <a:lnTo>
                    <a:pt x="1861502" y="1756711"/>
                  </a:lnTo>
                  <a:lnTo>
                    <a:pt x="1824853" y="1784994"/>
                  </a:lnTo>
                  <a:lnTo>
                    <a:pt x="1781586" y="1803226"/>
                  </a:lnTo>
                  <a:lnTo>
                    <a:pt x="1733423" y="1809686"/>
                  </a:lnTo>
                  <a:lnTo>
                    <a:pt x="180975" y="1809686"/>
                  </a:lnTo>
                  <a:lnTo>
                    <a:pt x="132820" y="1803226"/>
                  </a:lnTo>
                  <a:lnTo>
                    <a:pt x="89577" y="1784994"/>
                  </a:lnTo>
                  <a:lnTo>
                    <a:pt x="52959" y="1756711"/>
                  </a:lnTo>
                  <a:lnTo>
                    <a:pt x="24680" y="1720099"/>
                  </a:lnTo>
                  <a:lnTo>
                    <a:pt x="6455" y="1676880"/>
                  </a:lnTo>
                  <a:lnTo>
                    <a:pt x="0" y="1628775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9F79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261606" y="4040568"/>
            <a:ext cx="1649095" cy="13817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635" algn="ctr">
              <a:lnSpc>
                <a:spcPct val="94500"/>
              </a:lnSpc>
              <a:spcBef>
                <a:spcPts val="229"/>
              </a:spcBef>
            </a:pP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Revisión</a:t>
            </a:r>
            <a:r>
              <a:rPr sz="1550" spc="13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 spc="-25">
                <a:solidFill>
                  <a:srgbClr val="484746"/>
                </a:solidFill>
                <a:latin typeface="Calibri"/>
                <a:cs typeface="Calibri"/>
              </a:rPr>
              <a:t>de </a:t>
            </a:r>
            <a:r>
              <a:rPr sz="1550" spc="-10">
                <a:solidFill>
                  <a:srgbClr val="484746"/>
                </a:solidFill>
                <a:latin typeface="Calibri"/>
                <a:cs typeface="Calibri"/>
              </a:rPr>
              <a:t>documentación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actual</a:t>
            </a:r>
            <a:r>
              <a:rPr sz="1550" spc="1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 spc="-20">
                <a:solidFill>
                  <a:srgbClr val="484746"/>
                </a:solidFill>
                <a:latin typeface="Calibri"/>
                <a:cs typeface="Calibri"/>
              </a:rPr>
              <a:t>como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manuales,</a:t>
            </a:r>
            <a:r>
              <a:rPr sz="1550" spc="204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 spc="-10">
                <a:solidFill>
                  <a:srgbClr val="484746"/>
                </a:solidFill>
                <a:latin typeface="Calibri"/>
                <a:cs typeface="Calibri"/>
              </a:rPr>
              <a:t>informes </a:t>
            </a:r>
            <a:r>
              <a:rPr sz="155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1550" spc="-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550" spc="-10">
                <a:solidFill>
                  <a:srgbClr val="484746"/>
                </a:solidFill>
                <a:latin typeface="Calibri"/>
                <a:cs typeface="Calibri"/>
              </a:rPr>
              <a:t>especificaciones técnicas.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502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30"/>
              </a:spcBef>
            </a:pPr>
            <a:r>
              <a:t>Herramientas</a:t>
            </a:r>
            <a:r>
              <a:rPr spc="45"/>
              <a:t> </a:t>
            </a:r>
            <a:r>
              <a:t>y</a:t>
            </a:r>
            <a:r>
              <a:rPr spc="65"/>
              <a:t> </a:t>
            </a:r>
            <a:r>
              <a:rPr spc="-10"/>
              <a:t>técnicas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6255" y="1790636"/>
            <a:ext cx="8366125" cy="1126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2400" b="1">
                <a:solidFill>
                  <a:srgbClr val="F0A10D"/>
                </a:solidFill>
                <a:latin typeface="Calibri"/>
                <a:cs typeface="Calibri"/>
              </a:rPr>
              <a:t>Prototipado:</a:t>
            </a:r>
            <a:r>
              <a:rPr sz="2400" b="1" spc="70">
                <a:solidFill>
                  <a:srgbClr val="F0A10D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realizar</a:t>
            </a:r>
            <a:r>
              <a:rPr sz="2400" spc="8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una</a:t>
            </a:r>
            <a:r>
              <a:rPr sz="2400" spc="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representación</a:t>
            </a:r>
            <a:r>
              <a:rPr sz="2400" spc="1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2400" spc="7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sistema</a:t>
            </a:r>
            <a:r>
              <a:rPr sz="2400" spc="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7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2400" spc="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flujo.</a:t>
            </a:r>
            <a:r>
              <a:rPr sz="2400" spc="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25">
                <a:solidFill>
                  <a:srgbClr val="484746"/>
                </a:solidFill>
                <a:latin typeface="Calibri"/>
                <a:cs typeface="Calibri"/>
              </a:rPr>
              <a:t>El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objetivo</a:t>
            </a:r>
            <a:r>
              <a:rPr sz="2400" spc="27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principal</a:t>
            </a:r>
            <a:r>
              <a:rPr sz="2400" spc="3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es</a:t>
            </a:r>
            <a:r>
              <a:rPr sz="2400" spc="29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validar</a:t>
            </a:r>
            <a:r>
              <a:rPr sz="2400" spc="29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29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refinar</a:t>
            </a:r>
            <a:r>
              <a:rPr sz="2400" spc="28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los</a:t>
            </a:r>
            <a:r>
              <a:rPr sz="2400" spc="3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requisitos</a:t>
            </a:r>
            <a:r>
              <a:rPr sz="2400" spc="26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2400" spc="29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sistema</a:t>
            </a:r>
            <a:r>
              <a:rPr sz="2400" spc="27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50">
                <a:solidFill>
                  <a:srgbClr val="484746"/>
                </a:solidFill>
                <a:latin typeface="Calibri"/>
                <a:cs typeface="Calibri"/>
              </a:rPr>
              <a:t>a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través</a:t>
            </a:r>
            <a:r>
              <a:rPr sz="2400" spc="-7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-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la</a:t>
            </a:r>
            <a:r>
              <a:rPr sz="2400" spc="-2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retroalimentación</a:t>
            </a:r>
            <a:r>
              <a:rPr sz="2400" spc="-2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-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los</a:t>
            </a:r>
            <a:r>
              <a:rPr sz="2400" spc="-3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usuarios</a:t>
            </a:r>
            <a:r>
              <a:rPr sz="2400" spc="-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finales.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0" y="3409886"/>
            <a:ext cx="3586226" cy="24622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8187" y="4024376"/>
            <a:ext cx="3962400" cy="1200150"/>
          </a:xfrm>
          <a:prstGeom prst="rect">
            <a:avLst/>
          </a:prstGeom>
          <a:solidFill>
            <a:srgbClr val="FBEBCE"/>
          </a:solidFill>
          <a:ln w="9525">
            <a:solidFill>
              <a:srgbClr val="E9691F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66370" marR="159385" algn="ctr">
              <a:lnSpc>
                <a:spcPct val="100400"/>
              </a:lnSpc>
              <a:spcBef>
                <a:spcPts val="240"/>
              </a:spcBef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Permiten</a:t>
            </a:r>
            <a:r>
              <a:rPr sz="2400" spc="-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una</a:t>
            </a:r>
            <a:r>
              <a:rPr sz="2400" spc="-9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representación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visual</a:t>
            </a:r>
            <a:r>
              <a:rPr sz="2400" spc="-6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y funcional</a:t>
            </a:r>
            <a:r>
              <a:rPr sz="2400" spc="1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25">
                <a:solidFill>
                  <a:srgbClr val="484746"/>
                </a:solidFill>
                <a:latin typeface="Calibri"/>
                <a:cs typeface="Calibri"/>
              </a:rPr>
              <a:t>del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software.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14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30"/>
              </a:spcBef>
            </a:pPr>
            <a:r>
              <a:t>Herramientas</a:t>
            </a:r>
            <a:r>
              <a:rPr spc="40"/>
              <a:t> </a:t>
            </a:r>
            <a:r>
              <a:t>y</a:t>
            </a:r>
            <a:r>
              <a:rPr spc="70"/>
              <a:t> </a:t>
            </a:r>
            <a:r>
              <a:rPr spc="-10"/>
              <a:t>técnicas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337" y="2226373"/>
            <a:ext cx="4940300" cy="3319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Casos</a:t>
            </a:r>
            <a:r>
              <a:rPr sz="2400" b="1" spc="15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de</a:t>
            </a:r>
            <a:r>
              <a:rPr sz="2400" b="1" spc="17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uso:</a:t>
            </a:r>
            <a:r>
              <a:rPr sz="2400" b="1" spc="155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descripciones</a:t>
            </a:r>
            <a:r>
              <a:rPr sz="2400" spc="13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detalladas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-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cómo</a:t>
            </a:r>
            <a:r>
              <a:rPr sz="2400" spc="-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interactúan</a:t>
            </a:r>
            <a:r>
              <a:rPr sz="2400" spc="-7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los</a:t>
            </a:r>
            <a:r>
              <a:rPr sz="2400" spc="-3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usuarios</a:t>
            </a:r>
            <a:r>
              <a:rPr sz="2400" spc="-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con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25">
                <a:solidFill>
                  <a:srgbClr val="484746"/>
                </a:solidFill>
                <a:latin typeface="Calibri"/>
                <a:cs typeface="Calibri"/>
              </a:rPr>
              <a:t>el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sistema,</a:t>
            </a:r>
            <a:r>
              <a:rPr sz="2400" spc="325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ayudando</a:t>
            </a:r>
            <a:r>
              <a:rPr sz="2400" spc="305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a</a:t>
            </a:r>
            <a:r>
              <a:rPr sz="2400" spc="325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identificar</a:t>
            </a:r>
            <a:r>
              <a:rPr sz="2400" spc="335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spc="-25">
                <a:solidFill>
                  <a:srgbClr val="484746"/>
                </a:solidFill>
                <a:latin typeface="Calibri"/>
                <a:cs typeface="Calibri"/>
              </a:rPr>
              <a:t>los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requisitos.</a:t>
            </a:r>
            <a:endParaRPr sz="2400">
              <a:latin typeface="Calibri"/>
              <a:cs typeface="Calibri"/>
            </a:endParaRPr>
          </a:p>
          <a:p>
            <a:pPr marL="12700" marR="5715" algn="just">
              <a:lnSpc>
                <a:spcPct val="100000"/>
              </a:lnSpc>
              <a:spcBef>
                <a:spcPts val="2905"/>
              </a:spcBef>
            </a:pP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Diagramas</a:t>
            </a:r>
            <a:r>
              <a:rPr sz="2400" b="1" spc="59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de</a:t>
            </a:r>
            <a:r>
              <a:rPr sz="2400" b="1" spc="585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04A3C9"/>
                </a:solidFill>
                <a:latin typeface="Calibri"/>
                <a:cs typeface="Calibri"/>
              </a:rPr>
              <a:t>flujo:</a:t>
            </a:r>
            <a:r>
              <a:rPr sz="2400" b="1" spc="57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representaciones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visuales</a:t>
            </a:r>
            <a:r>
              <a:rPr sz="2400" spc="4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en</a:t>
            </a:r>
            <a:r>
              <a:rPr sz="2400" spc="4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diagramas</a:t>
            </a:r>
            <a:r>
              <a:rPr sz="2400" spc="434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4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cómo</a:t>
            </a:r>
            <a:r>
              <a:rPr sz="2400" spc="4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serán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los</a:t>
            </a:r>
            <a:r>
              <a:rPr sz="2400" spc="17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procesos</a:t>
            </a:r>
            <a:r>
              <a:rPr sz="2400" spc="1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2400" spc="1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sistema,</a:t>
            </a:r>
            <a:r>
              <a:rPr sz="2400" spc="1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mostrando</a:t>
            </a:r>
            <a:r>
              <a:rPr sz="2400" spc="1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25">
                <a:solidFill>
                  <a:srgbClr val="484746"/>
                </a:solidFill>
                <a:latin typeface="Calibri"/>
                <a:cs typeface="Calibri"/>
              </a:rPr>
              <a:t>la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secuencia</a:t>
            </a:r>
            <a:r>
              <a:rPr sz="2400" spc="-7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-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acciones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-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decisiones.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10250" y="1600200"/>
            <a:ext cx="3810000" cy="5095875"/>
            <a:chOff x="5810250" y="1600200"/>
            <a:chExt cx="3810000" cy="50958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50" y="1600200"/>
              <a:ext cx="3810000" cy="21145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3725" y="3810000"/>
              <a:ext cx="2381250" cy="28860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7335" y="2346070"/>
            <a:ext cx="6586220" cy="20440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99440" marR="5080" indent="-587375">
              <a:lnSpc>
                <a:spcPct val="100499"/>
              </a:lnSpc>
              <a:spcBef>
                <a:spcPts val="70"/>
              </a:spcBef>
            </a:pPr>
            <a:r>
              <a:rPr sz="6600"/>
              <a:t>Documentación</a:t>
            </a:r>
            <a:r>
              <a:rPr sz="6600" spc="-60"/>
              <a:t> </a:t>
            </a:r>
            <a:r>
              <a:rPr sz="6600" spc="-25"/>
              <a:t>de </a:t>
            </a:r>
            <a:r>
              <a:rPr sz="6600" spc="-10"/>
              <a:t>requerimientos</a:t>
            </a:r>
            <a:endParaRPr sz="6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7571" y="379194"/>
            <a:ext cx="9034781" cy="110876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ctr">
              <a:lnSpc>
                <a:spcPct val="101400"/>
              </a:lnSpc>
            </a:pPr>
            <a:r>
              <a:rPr sz="3600"/>
              <a:t>SRS</a:t>
            </a:r>
            <a:r>
              <a:rPr sz="3600" spc="75"/>
              <a:t> </a:t>
            </a:r>
            <a:r>
              <a:rPr sz="3600"/>
              <a:t>-</a:t>
            </a:r>
            <a:r>
              <a:rPr sz="3600" spc="60"/>
              <a:t> </a:t>
            </a:r>
            <a:r>
              <a:rPr sz="3600"/>
              <a:t>Documento</a:t>
            </a:r>
            <a:r>
              <a:rPr sz="3600" spc="5"/>
              <a:t> </a:t>
            </a:r>
            <a:r>
              <a:rPr sz="3600"/>
              <a:t>de</a:t>
            </a:r>
            <a:r>
              <a:rPr sz="3600" spc="70"/>
              <a:t> </a:t>
            </a:r>
            <a:r>
              <a:rPr sz="3600"/>
              <a:t>Especificación</a:t>
            </a:r>
            <a:r>
              <a:rPr sz="3600" spc="85"/>
              <a:t> </a:t>
            </a:r>
            <a:r>
              <a:rPr sz="3600" spc="-25"/>
              <a:t>de </a:t>
            </a:r>
            <a:r>
              <a:rPr sz="3600"/>
              <a:t>Requisitos</a:t>
            </a:r>
            <a:r>
              <a:rPr sz="3600" spc="35"/>
              <a:t> </a:t>
            </a:r>
            <a:r>
              <a:rPr sz="3600"/>
              <a:t>del</a:t>
            </a:r>
            <a:r>
              <a:rPr sz="3600" spc="60"/>
              <a:t> </a:t>
            </a:r>
            <a:r>
              <a:rPr sz="3600" spc="-10"/>
              <a:t>Sistema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6900" y="1766951"/>
            <a:ext cx="7096125" cy="828675"/>
          </a:xfrm>
          <a:prstGeom prst="rect">
            <a:avLst/>
          </a:prstGeom>
          <a:solidFill>
            <a:srgbClr val="EBE3EE"/>
          </a:solidFill>
          <a:ln w="9525">
            <a:solidFill>
              <a:srgbClr val="9F79AD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89535">
              <a:lnSpc>
                <a:spcPts val="2865"/>
              </a:lnSpc>
              <a:spcBef>
                <a:spcPts val="175"/>
              </a:spcBef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El</a:t>
            </a:r>
            <a:r>
              <a:rPr sz="2400" spc="23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SRS</a:t>
            </a:r>
            <a:r>
              <a:rPr sz="2400" spc="254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es</a:t>
            </a:r>
            <a:r>
              <a:rPr sz="2400" spc="26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un</a:t>
            </a:r>
            <a:r>
              <a:rPr sz="2400" spc="2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documento</a:t>
            </a:r>
            <a:r>
              <a:rPr sz="2400" spc="27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400" spc="2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explicita</a:t>
            </a:r>
            <a:r>
              <a:rPr sz="2400" spc="2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una</a:t>
            </a:r>
            <a:r>
              <a:rPr sz="2400" spc="2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descripción</a:t>
            </a:r>
            <a:endParaRPr sz="2400">
              <a:latin typeface="Calibri"/>
              <a:cs typeface="Calibri"/>
            </a:endParaRPr>
          </a:p>
          <a:p>
            <a:pPr marL="89535">
              <a:lnSpc>
                <a:spcPts val="2865"/>
              </a:lnSpc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detallada</a:t>
            </a:r>
            <a:r>
              <a:rPr sz="2400" spc="-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-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todos</a:t>
            </a:r>
            <a:r>
              <a:rPr sz="2400" spc="-1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los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requisitos</a:t>
            </a:r>
            <a:r>
              <a:rPr sz="2400" spc="-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2400" spc="-3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sistema.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337" y="2884424"/>
            <a:ext cx="5363845" cy="3320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Algunos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-5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los</a:t>
            </a:r>
            <a:r>
              <a:rPr sz="2400" spc="-2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puntos</a:t>
            </a:r>
            <a:r>
              <a:rPr sz="2400" spc="-3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400" spc="-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se</a:t>
            </a:r>
            <a:r>
              <a:rPr sz="2400" spc="-7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incluyen</a:t>
            </a:r>
            <a:r>
              <a:rPr sz="2400" spc="-1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20">
                <a:solidFill>
                  <a:srgbClr val="484746"/>
                </a:solidFill>
                <a:latin typeface="Calibri"/>
                <a:cs typeface="Calibri"/>
              </a:rPr>
              <a:t>son:</a:t>
            </a:r>
            <a:endParaRPr sz="2400">
              <a:latin typeface="Calibri"/>
              <a:cs typeface="Calibri"/>
            </a:endParaRPr>
          </a:p>
          <a:p>
            <a:pPr marL="469900" indent="-400050">
              <a:lnSpc>
                <a:spcPts val="2865"/>
              </a:lnSpc>
              <a:spcBef>
                <a:spcPts val="2905"/>
              </a:spcBef>
              <a:buClr>
                <a:srgbClr val="9F79AD"/>
              </a:buClr>
              <a:buSzPct val="112500"/>
              <a:buFont typeface="Wingdings"/>
              <a:buChar char=""/>
              <a:tabLst>
                <a:tab pos="469900" algn="l"/>
              </a:tabLst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Descripción</a:t>
            </a:r>
            <a:r>
              <a:rPr sz="2400" spc="-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general</a:t>
            </a:r>
            <a:r>
              <a:rPr sz="2400" spc="-3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2400" spc="-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sistema.</a:t>
            </a:r>
            <a:endParaRPr sz="2400">
              <a:latin typeface="Calibri"/>
              <a:cs typeface="Calibri"/>
            </a:endParaRPr>
          </a:p>
          <a:p>
            <a:pPr marL="469900" indent="-400050">
              <a:lnSpc>
                <a:spcPts val="2865"/>
              </a:lnSpc>
              <a:buClr>
                <a:srgbClr val="9F79AD"/>
              </a:buClr>
              <a:buSzPct val="112500"/>
              <a:buFont typeface="Wingdings"/>
              <a:buChar char=""/>
              <a:tabLst>
                <a:tab pos="469900" algn="l"/>
              </a:tabLst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Requisitos</a:t>
            </a:r>
            <a:r>
              <a:rPr sz="2400" spc="-7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funcionales.</a:t>
            </a:r>
            <a:endParaRPr sz="2400">
              <a:latin typeface="Calibri"/>
              <a:cs typeface="Calibri"/>
            </a:endParaRPr>
          </a:p>
          <a:p>
            <a:pPr marL="469900" indent="-400050">
              <a:lnSpc>
                <a:spcPts val="2865"/>
              </a:lnSpc>
              <a:spcBef>
                <a:spcPts val="50"/>
              </a:spcBef>
              <a:buClr>
                <a:srgbClr val="9F79AD"/>
              </a:buClr>
              <a:buSzPct val="112500"/>
              <a:buFont typeface="Wingdings"/>
              <a:buChar char=""/>
              <a:tabLst>
                <a:tab pos="469900" algn="l"/>
              </a:tabLst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Requisitos</a:t>
            </a:r>
            <a:r>
              <a:rPr sz="2400" spc="-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no</a:t>
            </a:r>
            <a:r>
              <a:rPr sz="2400" spc="-4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funcionales.</a:t>
            </a:r>
            <a:endParaRPr sz="2400">
              <a:latin typeface="Calibri"/>
              <a:cs typeface="Calibri"/>
            </a:endParaRPr>
          </a:p>
          <a:p>
            <a:pPr marL="469900" indent="-400050">
              <a:lnSpc>
                <a:spcPts val="2855"/>
              </a:lnSpc>
              <a:buClr>
                <a:srgbClr val="9F79AD"/>
              </a:buClr>
              <a:buSzPct val="112500"/>
              <a:buFont typeface="Wingdings"/>
              <a:buChar char=""/>
              <a:tabLst>
                <a:tab pos="469900" algn="l"/>
              </a:tabLst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Interfaces</a:t>
            </a:r>
            <a:r>
              <a:rPr sz="2400" spc="-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2400" spc="-7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sistema.</a:t>
            </a:r>
            <a:endParaRPr sz="2400">
              <a:latin typeface="Calibri"/>
              <a:cs typeface="Calibri"/>
            </a:endParaRPr>
          </a:p>
          <a:p>
            <a:pPr marL="469900" indent="-400050">
              <a:lnSpc>
                <a:spcPts val="2870"/>
              </a:lnSpc>
              <a:buClr>
                <a:srgbClr val="9F79AD"/>
              </a:buClr>
              <a:buSzPct val="112500"/>
              <a:buFont typeface="Wingdings"/>
              <a:buChar char=""/>
              <a:tabLst>
                <a:tab pos="469900" algn="l"/>
              </a:tabLst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Restricciones</a:t>
            </a:r>
            <a:r>
              <a:rPr sz="2400" spc="-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-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limitaciones.</a:t>
            </a:r>
            <a:endParaRPr sz="2400">
              <a:latin typeface="Calibri"/>
              <a:cs typeface="Calibri"/>
            </a:endParaRPr>
          </a:p>
          <a:p>
            <a:pPr marL="469900" marR="5080" indent="-400685">
              <a:lnSpc>
                <a:spcPts val="2850"/>
              </a:lnSpc>
              <a:spcBef>
                <a:spcPts val="170"/>
              </a:spcBef>
              <a:buClr>
                <a:srgbClr val="9F79AD"/>
              </a:buClr>
              <a:buSzPct val="112500"/>
              <a:buFont typeface="Wingdings"/>
              <a:buChar char=""/>
              <a:tabLst>
                <a:tab pos="469900" algn="l"/>
              </a:tabLst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Requisitos</a:t>
            </a:r>
            <a:r>
              <a:rPr sz="2400" spc="36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36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rendimiento,</a:t>
            </a:r>
            <a:r>
              <a:rPr sz="2400" spc="39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seguridad, documentación.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3429000"/>
            <a:ext cx="2847975" cy="2552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15060" y="2346070"/>
            <a:ext cx="9776460" cy="20440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69745" marR="5080" indent="-1757045">
              <a:lnSpc>
                <a:spcPct val="100499"/>
              </a:lnSpc>
              <a:spcBef>
                <a:spcPts val="70"/>
              </a:spcBef>
            </a:pPr>
            <a:r>
              <a:rPr sz="6600"/>
              <a:t>Requerimientos</a:t>
            </a:r>
            <a:r>
              <a:rPr sz="6600" spc="-125"/>
              <a:t> </a:t>
            </a:r>
            <a:r>
              <a:rPr sz="6600" spc="-10"/>
              <a:t>funcionales </a:t>
            </a:r>
            <a:r>
              <a:rPr sz="6600"/>
              <a:t>vs.</a:t>
            </a:r>
            <a:r>
              <a:rPr sz="6600" spc="-60"/>
              <a:t> </a:t>
            </a:r>
            <a:r>
              <a:rPr sz="6600"/>
              <a:t>no</a:t>
            </a:r>
            <a:r>
              <a:rPr sz="6600" spc="45"/>
              <a:t> </a:t>
            </a:r>
            <a:r>
              <a:rPr sz="6600" spc="-10"/>
              <a:t>funcionales</a:t>
            </a:r>
            <a:endParaRPr sz="6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0"/>
            <a:ext cx="11830050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1629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30"/>
              </a:spcBef>
            </a:pPr>
            <a:r>
              <a:t>Requerimientos</a:t>
            </a:r>
            <a:r>
              <a:rPr spc="125"/>
              <a:t> </a:t>
            </a:r>
            <a:r>
              <a:rPr spc="-10"/>
              <a:t>funcionales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250" y="1638300"/>
            <a:ext cx="8639175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950" y="0"/>
            <a:ext cx="11830050" cy="6858000"/>
            <a:chOff x="361950" y="0"/>
            <a:chExt cx="11830050" cy="6858000"/>
          </a:xfrm>
        </p:grpSpPr>
        <p:sp>
          <p:nvSpPr>
            <p:cNvPr id="3" name="object 3"/>
            <p:cNvSpPr/>
            <p:nvPr/>
          </p:nvSpPr>
          <p:spPr>
            <a:xfrm>
              <a:off x="4805426" y="3214751"/>
              <a:ext cx="3525520" cy="371475"/>
            </a:xfrm>
            <a:custGeom>
              <a:avLst/>
              <a:gdLst/>
              <a:ahLst/>
              <a:cxnLst/>
              <a:rect l="l" t="t" r="r" b="b"/>
              <a:pathLst>
                <a:path w="3525520" h="371475">
                  <a:moveTo>
                    <a:pt x="0" y="0"/>
                  </a:moveTo>
                  <a:lnTo>
                    <a:pt x="0" y="185674"/>
                  </a:lnTo>
                  <a:lnTo>
                    <a:pt x="3525139" y="185674"/>
                  </a:lnTo>
                  <a:lnTo>
                    <a:pt x="3525139" y="371348"/>
                  </a:lnTo>
                </a:path>
                <a:path w="3525520" h="371475">
                  <a:moveTo>
                    <a:pt x="0" y="0"/>
                  </a:moveTo>
                  <a:lnTo>
                    <a:pt x="0" y="185674"/>
                  </a:lnTo>
                  <a:lnTo>
                    <a:pt x="1175004" y="185674"/>
                  </a:lnTo>
                  <a:lnTo>
                    <a:pt x="1175004" y="371348"/>
                  </a:lnTo>
                </a:path>
              </a:pathLst>
            </a:custGeom>
            <a:ln w="25400">
              <a:solidFill>
                <a:srgbClr val="B952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24326" y="3214751"/>
              <a:ext cx="1175385" cy="371475"/>
            </a:xfrm>
            <a:custGeom>
              <a:avLst/>
              <a:gdLst/>
              <a:ahLst/>
              <a:cxnLst/>
              <a:rect l="l" t="t" r="r" b="b"/>
              <a:pathLst>
                <a:path w="1175385" h="371475">
                  <a:moveTo>
                    <a:pt x="1175003" y="0"/>
                  </a:moveTo>
                  <a:lnTo>
                    <a:pt x="1175003" y="185674"/>
                  </a:lnTo>
                  <a:lnTo>
                    <a:pt x="0" y="185674"/>
                  </a:lnTo>
                  <a:lnTo>
                    <a:pt x="0" y="371348"/>
                  </a:lnTo>
                </a:path>
              </a:pathLst>
            </a:custGeom>
            <a:ln w="25400">
              <a:solidFill>
                <a:srgbClr val="B952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81175" y="3214751"/>
              <a:ext cx="3525520" cy="371475"/>
            </a:xfrm>
            <a:custGeom>
              <a:avLst/>
              <a:gdLst/>
              <a:ahLst/>
              <a:cxnLst/>
              <a:rect l="l" t="t" r="r" b="b"/>
              <a:pathLst>
                <a:path w="3525520" h="371475">
                  <a:moveTo>
                    <a:pt x="3525139" y="0"/>
                  </a:moveTo>
                  <a:lnTo>
                    <a:pt x="3525139" y="185674"/>
                  </a:lnTo>
                  <a:lnTo>
                    <a:pt x="0" y="185674"/>
                  </a:lnTo>
                  <a:lnTo>
                    <a:pt x="0" y="371348"/>
                  </a:lnTo>
                </a:path>
              </a:pathLst>
            </a:custGeom>
            <a:ln w="25400">
              <a:solidFill>
                <a:srgbClr val="B952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95626" y="2024126"/>
              <a:ext cx="4410075" cy="1190625"/>
            </a:xfrm>
            <a:custGeom>
              <a:avLst/>
              <a:gdLst/>
              <a:ahLst/>
              <a:cxnLst/>
              <a:rect l="l" t="t" r="r" b="b"/>
              <a:pathLst>
                <a:path w="4410075" h="1190625">
                  <a:moveTo>
                    <a:pt x="4410075" y="0"/>
                  </a:moveTo>
                  <a:lnTo>
                    <a:pt x="0" y="0"/>
                  </a:lnTo>
                  <a:lnTo>
                    <a:pt x="0" y="1190625"/>
                  </a:lnTo>
                  <a:lnTo>
                    <a:pt x="4410075" y="1190625"/>
                  </a:lnTo>
                  <a:lnTo>
                    <a:pt x="4410075" y="0"/>
                  </a:lnTo>
                  <a:close/>
                </a:path>
              </a:pathLst>
            </a:custGeom>
            <a:solidFill>
              <a:srgbClr val="E969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5626" y="2024126"/>
              <a:ext cx="4410075" cy="1190625"/>
            </a:xfrm>
            <a:custGeom>
              <a:avLst/>
              <a:gdLst/>
              <a:ahLst/>
              <a:cxnLst/>
              <a:rect l="l" t="t" r="r" b="b"/>
              <a:pathLst>
                <a:path w="4410075" h="1190625">
                  <a:moveTo>
                    <a:pt x="0" y="1190625"/>
                  </a:moveTo>
                  <a:lnTo>
                    <a:pt x="4410075" y="1190625"/>
                  </a:lnTo>
                  <a:lnTo>
                    <a:pt x="4410075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25400">
              <a:solidFill>
                <a:srgbClr val="4847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02560" y="2277427"/>
            <a:ext cx="4197350" cy="61087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6379" marR="5080" indent="-234315">
              <a:lnSpc>
                <a:spcPts val="2180"/>
              </a:lnSpc>
              <a:spcBef>
                <a:spcPts val="380"/>
              </a:spcBef>
            </a:pP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Describen</a:t>
            </a:r>
            <a:r>
              <a:rPr sz="20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lo</a:t>
            </a:r>
            <a:r>
              <a:rPr sz="20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2000" b="1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000" b="1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sistema</a:t>
            </a:r>
            <a:r>
              <a:rPr sz="2000" b="1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debe</a:t>
            </a:r>
            <a:r>
              <a:rPr sz="2000" b="1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>
                <a:solidFill>
                  <a:srgbClr val="FFFFFF"/>
                </a:solidFill>
                <a:latin typeface="Calibri"/>
                <a:cs typeface="Calibri"/>
              </a:rPr>
              <a:t>hacer</a:t>
            </a:r>
            <a:r>
              <a:rPr sz="2000" spc="-1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algunos</a:t>
            </a:r>
            <a:r>
              <a:rPr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aspectos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>
                <a:solidFill>
                  <a:srgbClr val="FFFFFF"/>
                </a:solidFill>
                <a:latin typeface="Calibri"/>
                <a:cs typeface="Calibri"/>
              </a:rPr>
              <a:t>tener</a:t>
            </a:r>
            <a:r>
              <a:rPr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>
                <a:solidFill>
                  <a:srgbClr val="FFFFFF"/>
                </a:solidFill>
                <a:latin typeface="Calibri"/>
                <a:cs typeface="Calibri"/>
              </a:rPr>
              <a:t>cuenta: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7812" y="3573462"/>
            <a:ext cx="1997075" cy="2454275"/>
            <a:chOff x="277812" y="3573462"/>
            <a:chExt cx="1997075" cy="2454275"/>
          </a:xfrm>
        </p:grpSpPr>
        <p:sp>
          <p:nvSpPr>
            <p:cNvPr id="10" name="object 10"/>
            <p:cNvSpPr/>
            <p:nvPr/>
          </p:nvSpPr>
          <p:spPr>
            <a:xfrm>
              <a:off x="290512" y="3586162"/>
              <a:ext cx="1971675" cy="2428875"/>
            </a:xfrm>
            <a:custGeom>
              <a:avLst/>
              <a:gdLst/>
              <a:ahLst/>
              <a:cxnLst/>
              <a:rect l="l" t="t" r="r" b="b"/>
              <a:pathLst>
                <a:path w="1971675" h="2428875">
                  <a:moveTo>
                    <a:pt x="1971675" y="0"/>
                  </a:moveTo>
                  <a:lnTo>
                    <a:pt x="0" y="0"/>
                  </a:lnTo>
                  <a:lnTo>
                    <a:pt x="0" y="2428875"/>
                  </a:lnTo>
                  <a:lnTo>
                    <a:pt x="1971675" y="2428875"/>
                  </a:lnTo>
                  <a:lnTo>
                    <a:pt x="1971675" y="0"/>
                  </a:lnTo>
                  <a:close/>
                </a:path>
              </a:pathLst>
            </a:custGeom>
            <a:solidFill>
              <a:srgbClr val="FAE0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0512" y="3586162"/>
              <a:ext cx="1971675" cy="2428875"/>
            </a:xfrm>
            <a:custGeom>
              <a:avLst/>
              <a:gdLst/>
              <a:ahLst/>
              <a:cxnLst/>
              <a:rect l="l" t="t" r="r" b="b"/>
              <a:pathLst>
                <a:path w="1971675" h="2428875">
                  <a:moveTo>
                    <a:pt x="0" y="2428875"/>
                  </a:moveTo>
                  <a:lnTo>
                    <a:pt x="1971675" y="2428875"/>
                  </a:lnTo>
                  <a:lnTo>
                    <a:pt x="1971675" y="0"/>
                  </a:lnTo>
                  <a:lnTo>
                    <a:pt x="0" y="0"/>
                  </a:lnTo>
                  <a:lnTo>
                    <a:pt x="0" y="2428875"/>
                  </a:lnTo>
                  <a:close/>
                </a:path>
              </a:pathLst>
            </a:custGeom>
            <a:ln w="25400">
              <a:solidFill>
                <a:srgbClr val="E969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6722" y="4119816"/>
            <a:ext cx="1647825" cy="130175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4445" algn="ctr">
              <a:lnSpc>
                <a:spcPct val="91300"/>
              </a:lnSpc>
              <a:spcBef>
                <a:spcPts val="290"/>
              </a:spcBef>
            </a:pP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Describen</a:t>
            </a:r>
            <a:r>
              <a:rPr sz="1800" spc="-75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0E1B2B"/>
                </a:solidFill>
                <a:latin typeface="Calibri"/>
                <a:cs typeface="Calibri"/>
              </a:rPr>
              <a:t>las </a:t>
            </a:r>
            <a:r>
              <a:rPr sz="1800" spc="-10">
                <a:solidFill>
                  <a:srgbClr val="0E1B2B"/>
                </a:solidFill>
                <a:latin typeface="Calibri"/>
                <a:cs typeface="Calibri"/>
              </a:rPr>
              <a:t>funciones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específicas</a:t>
            </a:r>
            <a:r>
              <a:rPr sz="1800" spc="-6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que</a:t>
            </a:r>
            <a:r>
              <a:rPr sz="1800" spc="-95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0E1B2B"/>
                </a:solidFill>
                <a:latin typeface="Calibri"/>
                <a:cs typeface="Calibri"/>
              </a:rPr>
              <a:t>el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sistema</a:t>
            </a:r>
            <a:r>
              <a:rPr sz="1800" spc="-4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0E1B2B"/>
                </a:solidFill>
                <a:latin typeface="Calibri"/>
                <a:cs typeface="Calibri"/>
              </a:rPr>
              <a:t>debe </a:t>
            </a:r>
            <a:r>
              <a:rPr sz="1800" spc="-10">
                <a:solidFill>
                  <a:srgbClr val="0E1B2B"/>
                </a:solidFill>
                <a:latin typeface="Calibri"/>
                <a:cs typeface="Calibri"/>
              </a:rPr>
              <a:t>realizar.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21026" y="3573462"/>
            <a:ext cx="2006600" cy="2454275"/>
            <a:chOff x="2621026" y="3573462"/>
            <a:chExt cx="2006600" cy="2454275"/>
          </a:xfrm>
        </p:grpSpPr>
        <p:sp>
          <p:nvSpPr>
            <p:cNvPr id="14" name="object 14"/>
            <p:cNvSpPr/>
            <p:nvPr/>
          </p:nvSpPr>
          <p:spPr>
            <a:xfrm>
              <a:off x="2633726" y="3586162"/>
              <a:ext cx="1981200" cy="2428875"/>
            </a:xfrm>
            <a:custGeom>
              <a:avLst/>
              <a:gdLst/>
              <a:ahLst/>
              <a:cxnLst/>
              <a:rect l="l" t="t" r="r" b="b"/>
              <a:pathLst>
                <a:path w="1981200" h="2428875">
                  <a:moveTo>
                    <a:pt x="1981200" y="0"/>
                  </a:moveTo>
                  <a:lnTo>
                    <a:pt x="0" y="0"/>
                  </a:lnTo>
                  <a:lnTo>
                    <a:pt x="0" y="2428875"/>
                  </a:lnTo>
                  <a:lnTo>
                    <a:pt x="1981200" y="2428875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AE0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33726" y="3586162"/>
              <a:ext cx="1981200" cy="2428875"/>
            </a:xfrm>
            <a:custGeom>
              <a:avLst/>
              <a:gdLst/>
              <a:ahLst/>
              <a:cxnLst/>
              <a:rect l="l" t="t" r="r" b="b"/>
              <a:pathLst>
                <a:path w="1981200" h="2428875">
                  <a:moveTo>
                    <a:pt x="0" y="2428875"/>
                  </a:moveTo>
                  <a:lnTo>
                    <a:pt x="1981200" y="2428875"/>
                  </a:lnTo>
                  <a:lnTo>
                    <a:pt x="1981200" y="0"/>
                  </a:lnTo>
                  <a:lnTo>
                    <a:pt x="0" y="0"/>
                  </a:lnTo>
                  <a:lnTo>
                    <a:pt x="0" y="2428875"/>
                  </a:lnTo>
                  <a:close/>
                </a:path>
              </a:pathLst>
            </a:custGeom>
            <a:ln w="25400">
              <a:solidFill>
                <a:srgbClr val="E969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52395" y="4245673"/>
            <a:ext cx="1945005" cy="105346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065" marR="5080" indent="-6350" algn="ctr">
              <a:lnSpc>
                <a:spcPct val="91500"/>
              </a:lnSpc>
              <a:spcBef>
                <a:spcPts val="285"/>
              </a:spcBef>
            </a:pP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Especifican</a:t>
            </a:r>
            <a:r>
              <a:rPr sz="1800" spc="-85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0E1B2B"/>
                </a:solidFill>
                <a:latin typeface="Calibri"/>
                <a:cs typeface="Calibri"/>
              </a:rPr>
              <a:t>cómo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debe</a:t>
            </a:r>
            <a:r>
              <a:rPr sz="1800" spc="-5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E1B2B"/>
                </a:solidFill>
                <a:latin typeface="Calibri"/>
                <a:cs typeface="Calibri"/>
              </a:rPr>
              <a:t>comportarse</a:t>
            </a:r>
            <a:r>
              <a:rPr sz="1800" spc="-7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0E1B2B"/>
                </a:solidFill>
                <a:latin typeface="Calibri"/>
                <a:cs typeface="Calibri"/>
              </a:rPr>
              <a:t>el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sistema</a:t>
            </a:r>
            <a:r>
              <a:rPr sz="1800" spc="-4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en</a:t>
            </a:r>
            <a:r>
              <a:rPr sz="1800" spc="-45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E1B2B"/>
                </a:solidFill>
                <a:latin typeface="Calibri"/>
                <a:cs typeface="Calibri"/>
              </a:rPr>
              <a:t>diversas situaciones.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973701" y="3573462"/>
            <a:ext cx="2006600" cy="2454275"/>
            <a:chOff x="4973701" y="3573462"/>
            <a:chExt cx="2006600" cy="2454275"/>
          </a:xfrm>
        </p:grpSpPr>
        <p:sp>
          <p:nvSpPr>
            <p:cNvPr id="18" name="object 18"/>
            <p:cNvSpPr/>
            <p:nvPr/>
          </p:nvSpPr>
          <p:spPr>
            <a:xfrm>
              <a:off x="4986401" y="3586162"/>
              <a:ext cx="1981200" cy="2428875"/>
            </a:xfrm>
            <a:custGeom>
              <a:avLst/>
              <a:gdLst/>
              <a:ahLst/>
              <a:cxnLst/>
              <a:rect l="l" t="t" r="r" b="b"/>
              <a:pathLst>
                <a:path w="1981200" h="2428875">
                  <a:moveTo>
                    <a:pt x="1981200" y="0"/>
                  </a:moveTo>
                  <a:lnTo>
                    <a:pt x="0" y="0"/>
                  </a:lnTo>
                  <a:lnTo>
                    <a:pt x="0" y="2428875"/>
                  </a:lnTo>
                  <a:lnTo>
                    <a:pt x="1981200" y="2428875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AE0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86401" y="3586162"/>
              <a:ext cx="1981200" cy="2428875"/>
            </a:xfrm>
            <a:custGeom>
              <a:avLst/>
              <a:gdLst/>
              <a:ahLst/>
              <a:cxnLst/>
              <a:rect l="l" t="t" r="r" b="b"/>
              <a:pathLst>
                <a:path w="1981200" h="2428875">
                  <a:moveTo>
                    <a:pt x="0" y="2428875"/>
                  </a:moveTo>
                  <a:lnTo>
                    <a:pt x="1981200" y="2428875"/>
                  </a:lnTo>
                  <a:lnTo>
                    <a:pt x="1981200" y="0"/>
                  </a:lnTo>
                  <a:lnTo>
                    <a:pt x="0" y="0"/>
                  </a:lnTo>
                  <a:lnTo>
                    <a:pt x="0" y="2428875"/>
                  </a:lnTo>
                  <a:close/>
                </a:path>
              </a:pathLst>
            </a:custGeom>
            <a:ln w="25400">
              <a:solidFill>
                <a:srgbClr val="E969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010530" y="3868102"/>
            <a:ext cx="1925955" cy="18078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7620" algn="ctr">
              <a:lnSpc>
                <a:spcPct val="91600"/>
              </a:lnSpc>
              <a:spcBef>
                <a:spcPts val="280"/>
              </a:spcBef>
            </a:pP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Describen</a:t>
            </a:r>
            <a:r>
              <a:rPr sz="1800" spc="-7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0E1B2B"/>
                </a:solidFill>
                <a:latin typeface="Calibri"/>
                <a:cs typeface="Calibri"/>
              </a:rPr>
              <a:t>las </a:t>
            </a:r>
            <a:r>
              <a:rPr sz="1800" spc="-10">
                <a:solidFill>
                  <a:srgbClr val="0E1B2B"/>
                </a:solidFill>
                <a:latin typeface="Calibri"/>
                <a:cs typeface="Calibri"/>
              </a:rPr>
              <a:t>interacciones</a:t>
            </a:r>
            <a:r>
              <a:rPr sz="1800" spc="-4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de</a:t>
            </a:r>
            <a:r>
              <a:rPr sz="1800" spc="-1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0E1B2B"/>
                </a:solidFill>
                <a:latin typeface="Calibri"/>
                <a:cs typeface="Calibri"/>
              </a:rPr>
              <a:t>los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usuarios</a:t>
            </a:r>
            <a:r>
              <a:rPr sz="1800" spc="-75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con</a:t>
            </a:r>
            <a:r>
              <a:rPr sz="1800" spc="-2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0E1B2B"/>
                </a:solidFill>
                <a:latin typeface="Calibri"/>
                <a:cs typeface="Calibri"/>
              </a:rPr>
              <a:t>el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sistema.</a:t>
            </a:r>
            <a:r>
              <a:rPr sz="1800" spc="-6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0E1B2B"/>
                </a:solidFill>
                <a:latin typeface="Calibri"/>
                <a:cs typeface="Calibri"/>
              </a:rPr>
              <a:t>(Por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ejemplo,</a:t>
            </a:r>
            <a:r>
              <a:rPr sz="1800" spc="-75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0E1B2B"/>
                </a:solidFill>
                <a:latin typeface="Calibri"/>
                <a:cs typeface="Calibri"/>
              </a:rPr>
              <a:t>navegación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a</a:t>
            </a:r>
            <a:r>
              <a:rPr sz="1800" spc="-3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E1B2B"/>
                </a:solidFill>
                <a:latin typeface="Calibri"/>
                <a:cs typeface="Calibri"/>
              </a:rPr>
              <a:t>través</a:t>
            </a:r>
            <a:r>
              <a:rPr sz="1800" spc="-2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de</a:t>
            </a:r>
            <a:r>
              <a:rPr sz="1800" spc="-6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0E1B2B"/>
                </a:solidFill>
                <a:latin typeface="Calibri"/>
                <a:cs typeface="Calibri"/>
              </a:rPr>
              <a:t>las </a:t>
            </a:r>
            <a:r>
              <a:rPr sz="1800" spc="-10">
                <a:solidFill>
                  <a:srgbClr val="0E1B2B"/>
                </a:solidFill>
                <a:latin typeface="Calibri"/>
                <a:cs typeface="Calibri"/>
              </a:rPr>
              <a:t>pantallas).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26376" y="3573462"/>
            <a:ext cx="2006600" cy="2454275"/>
            <a:chOff x="7326376" y="3573462"/>
            <a:chExt cx="2006600" cy="2454275"/>
          </a:xfrm>
        </p:grpSpPr>
        <p:sp>
          <p:nvSpPr>
            <p:cNvPr id="22" name="object 22"/>
            <p:cNvSpPr/>
            <p:nvPr/>
          </p:nvSpPr>
          <p:spPr>
            <a:xfrm>
              <a:off x="7339076" y="3586162"/>
              <a:ext cx="1981200" cy="2428875"/>
            </a:xfrm>
            <a:custGeom>
              <a:avLst/>
              <a:gdLst/>
              <a:ahLst/>
              <a:cxnLst/>
              <a:rect l="l" t="t" r="r" b="b"/>
              <a:pathLst>
                <a:path w="1981200" h="2428875">
                  <a:moveTo>
                    <a:pt x="1981200" y="0"/>
                  </a:moveTo>
                  <a:lnTo>
                    <a:pt x="0" y="0"/>
                  </a:lnTo>
                  <a:lnTo>
                    <a:pt x="0" y="2428875"/>
                  </a:lnTo>
                  <a:lnTo>
                    <a:pt x="1981200" y="2428875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AE0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39076" y="3586162"/>
              <a:ext cx="1981200" cy="2428875"/>
            </a:xfrm>
            <a:custGeom>
              <a:avLst/>
              <a:gdLst/>
              <a:ahLst/>
              <a:cxnLst/>
              <a:rect l="l" t="t" r="r" b="b"/>
              <a:pathLst>
                <a:path w="1981200" h="2428875">
                  <a:moveTo>
                    <a:pt x="0" y="2428875"/>
                  </a:moveTo>
                  <a:lnTo>
                    <a:pt x="1981200" y="2428875"/>
                  </a:lnTo>
                  <a:lnTo>
                    <a:pt x="1981200" y="0"/>
                  </a:lnTo>
                  <a:lnTo>
                    <a:pt x="0" y="0"/>
                  </a:lnTo>
                  <a:lnTo>
                    <a:pt x="0" y="2428875"/>
                  </a:lnTo>
                  <a:close/>
                </a:path>
              </a:pathLst>
            </a:custGeom>
            <a:ln w="25400">
              <a:solidFill>
                <a:srgbClr val="E969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354189" y="3993832"/>
            <a:ext cx="1943735" cy="15595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6985" algn="ctr">
              <a:lnSpc>
                <a:spcPct val="91800"/>
              </a:lnSpc>
              <a:spcBef>
                <a:spcPts val="280"/>
              </a:spcBef>
            </a:pP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Deben</a:t>
            </a:r>
            <a:r>
              <a:rPr sz="1800" spc="-10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0E1B2B"/>
                </a:solidFill>
                <a:latin typeface="Calibri"/>
                <a:cs typeface="Calibri"/>
              </a:rPr>
              <a:t>ser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verificables,</a:t>
            </a:r>
            <a:r>
              <a:rPr sz="1800" spc="-65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es</a:t>
            </a:r>
            <a:r>
              <a:rPr sz="1800" spc="-9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E1B2B"/>
                </a:solidFill>
                <a:latin typeface="Calibri"/>
                <a:cs typeface="Calibri"/>
              </a:rPr>
              <a:t>decir,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se</a:t>
            </a:r>
            <a:r>
              <a:rPr sz="1800" spc="-25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E1B2B"/>
                </a:solidFill>
                <a:latin typeface="Calibri"/>
                <a:cs typeface="Calibri"/>
              </a:rPr>
              <a:t>pueden</a:t>
            </a:r>
            <a:r>
              <a:rPr sz="1800" spc="-65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E1B2B"/>
                </a:solidFill>
                <a:latin typeface="Calibri"/>
                <a:cs typeface="Calibri"/>
              </a:rPr>
              <a:t>probar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para</a:t>
            </a:r>
            <a:r>
              <a:rPr sz="1800" spc="-7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determinar</a:t>
            </a:r>
            <a:r>
              <a:rPr sz="1800" spc="-55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si</a:t>
            </a:r>
            <a:r>
              <a:rPr sz="1800" spc="-65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0E1B2B"/>
                </a:solidFill>
                <a:latin typeface="Calibri"/>
                <a:cs typeface="Calibri"/>
              </a:rPr>
              <a:t>el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sistema</a:t>
            </a:r>
            <a:r>
              <a:rPr sz="1800" spc="-60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E1B2B"/>
                </a:solidFill>
                <a:latin typeface="Calibri"/>
                <a:cs typeface="Calibri"/>
              </a:rPr>
              <a:t>cumple</a:t>
            </a:r>
            <a:r>
              <a:rPr sz="1800" spc="-85">
                <a:solidFill>
                  <a:srgbClr val="0E1B2B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0E1B2B"/>
                </a:solidFill>
                <a:latin typeface="Calibri"/>
                <a:cs typeface="Calibri"/>
              </a:rPr>
              <a:t>con </a:t>
            </a:r>
            <a:r>
              <a:rPr sz="1800" spc="-10">
                <a:solidFill>
                  <a:srgbClr val="0E1B2B"/>
                </a:solidFill>
                <a:latin typeface="Calibri"/>
                <a:cs typeface="Calibri"/>
              </a:rPr>
              <a:t>ellos.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1629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30"/>
              </a:spcBef>
            </a:pPr>
            <a:r>
              <a:t>Requerimientos</a:t>
            </a:r>
            <a:r>
              <a:rPr spc="125"/>
              <a:t> </a:t>
            </a:r>
            <a:r>
              <a:rPr spc="-10"/>
              <a:t>funcionales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590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30"/>
              </a:spcBef>
            </a:pPr>
            <a:r>
              <a:t>Requerimientos</a:t>
            </a:r>
            <a:r>
              <a:rPr spc="80"/>
              <a:t> </a:t>
            </a:r>
            <a:r>
              <a:t>no</a:t>
            </a:r>
            <a:r>
              <a:rPr spc="65"/>
              <a:t> </a:t>
            </a:r>
            <a:r>
              <a:rPr spc="-10"/>
              <a:t>funcionales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0897" y="1567814"/>
            <a:ext cx="8019415" cy="1489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Es</a:t>
            </a:r>
            <a:r>
              <a:rPr sz="2400" spc="9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una</a:t>
            </a:r>
            <a:r>
              <a:rPr sz="2400" spc="10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especificación</a:t>
            </a:r>
            <a:r>
              <a:rPr sz="2400" spc="13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400" spc="10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61A72F"/>
                </a:solidFill>
                <a:latin typeface="Calibri"/>
                <a:cs typeface="Calibri"/>
              </a:rPr>
              <a:t>describe</a:t>
            </a:r>
            <a:r>
              <a:rPr sz="2400" b="1" spc="135">
                <a:solidFill>
                  <a:srgbClr val="61A72F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61A72F"/>
                </a:solidFill>
                <a:latin typeface="Calibri"/>
                <a:cs typeface="Calibri"/>
              </a:rPr>
              <a:t>cómo</a:t>
            </a:r>
            <a:r>
              <a:rPr sz="2400" b="1" spc="85">
                <a:solidFill>
                  <a:srgbClr val="61A72F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61A72F"/>
                </a:solidFill>
                <a:latin typeface="Calibri"/>
                <a:cs typeface="Calibri"/>
              </a:rPr>
              <a:t>se</a:t>
            </a:r>
            <a:r>
              <a:rPr sz="2400" b="1" spc="114">
                <a:solidFill>
                  <a:srgbClr val="61A72F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61A72F"/>
                </a:solidFill>
                <a:latin typeface="Calibri"/>
                <a:cs typeface="Calibri"/>
              </a:rPr>
              <a:t>debe</a:t>
            </a:r>
            <a:r>
              <a:rPr sz="2400" b="1" spc="100">
                <a:solidFill>
                  <a:srgbClr val="61A72F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61A72F"/>
                </a:solidFill>
                <a:latin typeface="Calibri"/>
                <a:cs typeface="Calibri"/>
              </a:rPr>
              <a:t>comportar</a:t>
            </a:r>
            <a:r>
              <a:rPr sz="2400" b="1" spc="145">
                <a:solidFill>
                  <a:srgbClr val="61A72F"/>
                </a:solidFill>
                <a:latin typeface="Calibri"/>
                <a:cs typeface="Calibri"/>
              </a:rPr>
              <a:t> </a:t>
            </a:r>
            <a:r>
              <a:rPr sz="2400" b="1" spc="-25">
                <a:solidFill>
                  <a:srgbClr val="61A72F"/>
                </a:solidFill>
                <a:latin typeface="Calibri"/>
                <a:cs typeface="Calibri"/>
              </a:rPr>
              <a:t>el </a:t>
            </a:r>
            <a:r>
              <a:rPr sz="2400" b="1">
                <a:solidFill>
                  <a:srgbClr val="61A72F"/>
                </a:solidFill>
                <a:latin typeface="Calibri"/>
                <a:cs typeface="Calibri"/>
              </a:rPr>
              <a:t>sistema</a:t>
            </a:r>
            <a:r>
              <a:rPr sz="2400" b="1" spc="335">
                <a:solidFill>
                  <a:srgbClr val="61A72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en</a:t>
            </a:r>
            <a:r>
              <a:rPr sz="2400" spc="3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términos</a:t>
            </a:r>
            <a:r>
              <a:rPr sz="2400" spc="38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32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calidad,</a:t>
            </a:r>
            <a:r>
              <a:rPr sz="2400" spc="32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restricciones</a:t>
            </a:r>
            <a:r>
              <a:rPr sz="2400" spc="3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34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características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400" spc="17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no</a:t>
            </a:r>
            <a:r>
              <a:rPr sz="2400" spc="17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están</a:t>
            </a:r>
            <a:r>
              <a:rPr sz="2400" spc="17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relacionadas</a:t>
            </a:r>
            <a:r>
              <a:rPr sz="2400" spc="18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con</a:t>
            </a:r>
            <a:r>
              <a:rPr sz="2400" spc="195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las</a:t>
            </a:r>
            <a:r>
              <a:rPr sz="2400" spc="165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funcionalidades</a:t>
            </a:r>
            <a:r>
              <a:rPr sz="2400" spc="195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400" spc="165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spc="-25">
                <a:solidFill>
                  <a:srgbClr val="484746"/>
                </a:solidFill>
                <a:latin typeface="Calibri"/>
                <a:cs typeface="Calibri"/>
              </a:rPr>
              <a:t>el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sistema</a:t>
            </a:r>
            <a:r>
              <a:rPr sz="2400" spc="-5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484746"/>
                </a:solidFill>
                <a:latin typeface="Calibri"/>
                <a:cs typeface="Calibri"/>
              </a:rPr>
              <a:t>debe</a:t>
            </a:r>
            <a:r>
              <a:rPr sz="2400" spc="-35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484746"/>
                </a:solidFill>
                <a:latin typeface="Calibri"/>
                <a:cs typeface="Calibri"/>
              </a:rPr>
              <a:t>realizar.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Requerimientos funcionales: Ejemplos - La Oficina de Proyectos de  Informátic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2225" y="3324161"/>
            <a:ext cx="4738751" cy="32433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7175" y="0"/>
            <a:ext cx="11934825" cy="6858000"/>
            <a:chOff x="257175" y="0"/>
            <a:chExt cx="1193482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950" y="0"/>
              <a:ext cx="1183005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5" y="1590675"/>
              <a:ext cx="8553450" cy="4733925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590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30"/>
              </a:spcBef>
            </a:pPr>
            <a:r>
              <a:t>Requerimientos</a:t>
            </a:r>
            <a:r>
              <a:rPr spc="80"/>
              <a:t> </a:t>
            </a:r>
            <a:r>
              <a:t>no</a:t>
            </a:r>
            <a:r>
              <a:rPr spc="65"/>
              <a:t> </a:t>
            </a:r>
            <a:r>
              <a:rPr spc="-10"/>
              <a:t>funcionales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66309" y="2854578"/>
            <a:ext cx="2663190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spc="-10"/>
              <a:t>Síntesis</a:t>
            </a:r>
            <a:endParaRPr sz="6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7601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130"/>
              </a:spcBef>
            </a:pPr>
            <a:r>
              <a:rPr spc="-10"/>
              <a:t>Síntesis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52450" y="1943100"/>
            <a:ext cx="123825" cy="2409825"/>
            <a:chOff x="552450" y="1943100"/>
            <a:chExt cx="123825" cy="2409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50" y="1943100"/>
              <a:ext cx="123825" cy="1238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450" y="4219575"/>
              <a:ext cx="123825" cy="13335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55880" marR="5080" algn="just">
              <a:lnSpc>
                <a:spcPct val="102499"/>
              </a:lnSpc>
              <a:spcBef>
                <a:spcPts val="60"/>
              </a:spcBef>
            </a:pPr>
            <a:r>
              <a:t>Los</a:t>
            </a:r>
            <a:r>
              <a:rPr spc="114"/>
              <a:t>  </a:t>
            </a:r>
            <a:r>
              <a:t>requerimientos</a:t>
            </a:r>
            <a:r>
              <a:rPr spc="120"/>
              <a:t>  </a:t>
            </a:r>
            <a:r>
              <a:t>de</a:t>
            </a:r>
            <a:r>
              <a:rPr spc="105"/>
              <a:t>  </a:t>
            </a:r>
            <a:r>
              <a:t>software</a:t>
            </a:r>
            <a:r>
              <a:rPr spc="120"/>
              <a:t>  </a:t>
            </a:r>
            <a:r>
              <a:t>es</a:t>
            </a:r>
            <a:r>
              <a:rPr spc="110"/>
              <a:t>  </a:t>
            </a:r>
            <a:r>
              <a:t>la</a:t>
            </a:r>
            <a:r>
              <a:rPr spc="125"/>
              <a:t>  </a:t>
            </a:r>
            <a:r>
              <a:t>especificación</a:t>
            </a:r>
            <a:r>
              <a:rPr spc="135"/>
              <a:t>  </a:t>
            </a:r>
            <a:r>
              <a:t>en</a:t>
            </a:r>
            <a:r>
              <a:rPr spc="110"/>
              <a:t>  </a:t>
            </a:r>
            <a:r>
              <a:rPr spc="-10"/>
              <a:t>lenguaje </a:t>
            </a:r>
            <a:r>
              <a:t>natural,</a:t>
            </a:r>
            <a:r>
              <a:rPr spc="265"/>
              <a:t> </a:t>
            </a:r>
            <a:r>
              <a:t>de</a:t>
            </a:r>
            <a:r>
              <a:rPr spc="254"/>
              <a:t> </a:t>
            </a:r>
            <a:r>
              <a:t>las</a:t>
            </a:r>
            <a:r>
              <a:rPr spc="245"/>
              <a:t> </a:t>
            </a:r>
            <a:r>
              <a:t>necesidades</a:t>
            </a:r>
            <a:r>
              <a:rPr spc="295"/>
              <a:t> </a:t>
            </a:r>
            <a:r>
              <a:t>que</a:t>
            </a:r>
            <a:r>
              <a:rPr spc="310"/>
              <a:t> </a:t>
            </a:r>
            <a:r>
              <a:t>el</a:t>
            </a:r>
            <a:r>
              <a:rPr spc="250"/>
              <a:t> </a:t>
            </a:r>
            <a:r>
              <a:t>sistema</a:t>
            </a:r>
            <a:r>
              <a:rPr spc="315"/>
              <a:t> </a:t>
            </a:r>
            <a:r>
              <a:t>debe</a:t>
            </a:r>
            <a:r>
              <a:rPr spc="300"/>
              <a:t> </a:t>
            </a:r>
            <a:r>
              <a:t>cumplir</a:t>
            </a:r>
            <a:r>
              <a:rPr spc="270"/>
              <a:t> </a:t>
            </a:r>
            <a:r>
              <a:t>de</a:t>
            </a:r>
            <a:r>
              <a:rPr spc="254"/>
              <a:t> </a:t>
            </a:r>
            <a:r>
              <a:rPr spc="-10"/>
              <a:t>manera </a:t>
            </a:r>
            <a:r>
              <a:t>satisfactoria.</a:t>
            </a:r>
            <a:r>
              <a:rPr spc="470"/>
              <a:t>  </a:t>
            </a:r>
            <a:r>
              <a:t>Para</a:t>
            </a:r>
            <a:r>
              <a:rPr spc="465"/>
              <a:t>  </a:t>
            </a:r>
            <a:r>
              <a:t>recopilar</a:t>
            </a:r>
            <a:r>
              <a:rPr spc="484"/>
              <a:t>  </a:t>
            </a:r>
            <a:r>
              <a:t>estos</a:t>
            </a:r>
            <a:r>
              <a:rPr spc="455"/>
              <a:t>  </a:t>
            </a:r>
            <a:r>
              <a:t>requerimientos,</a:t>
            </a:r>
            <a:r>
              <a:rPr spc="500"/>
              <a:t>  </a:t>
            </a:r>
            <a:r>
              <a:t>se</a:t>
            </a:r>
            <a:r>
              <a:rPr spc="465"/>
              <a:t>  </a:t>
            </a:r>
            <a:r>
              <a:rPr spc="-10"/>
              <a:t>utilizan </a:t>
            </a:r>
            <a:r>
              <a:t>distintas</a:t>
            </a:r>
            <a:r>
              <a:rPr spc="170"/>
              <a:t>  </a:t>
            </a:r>
            <a:r>
              <a:t>técnicas</a:t>
            </a:r>
            <a:r>
              <a:rPr spc="180"/>
              <a:t>  </a:t>
            </a:r>
            <a:r>
              <a:t>como</a:t>
            </a:r>
            <a:r>
              <a:rPr spc="180"/>
              <a:t>  </a:t>
            </a:r>
            <a:r>
              <a:t>las</a:t>
            </a:r>
            <a:r>
              <a:rPr spc="160"/>
              <a:t>  </a:t>
            </a:r>
            <a:r>
              <a:t>entrevistas,</a:t>
            </a:r>
            <a:r>
              <a:rPr spc="175"/>
              <a:t>  </a:t>
            </a:r>
            <a:r>
              <a:t>análisis</a:t>
            </a:r>
            <a:r>
              <a:rPr spc="170"/>
              <a:t>  </a:t>
            </a:r>
            <a:r>
              <a:t>de</a:t>
            </a:r>
            <a:r>
              <a:rPr spc="165"/>
              <a:t>  </a:t>
            </a:r>
            <a:r>
              <a:rPr spc="-10"/>
              <a:t>documentos, </a:t>
            </a:r>
            <a:r>
              <a:t>observación,</a:t>
            </a:r>
            <a:r>
              <a:rPr spc="525"/>
              <a:t> </a:t>
            </a:r>
            <a:r>
              <a:t>entre</a:t>
            </a:r>
            <a:r>
              <a:rPr spc="45"/>
              <a:t>  </a:t>
            </a:r>
            <a:r>
              <a:t>otros.</a:t>
            </a:r>
            <a:r>
              <a:rPr spc="30"/>
              <a:t>  </a:t>
            </a:r>
            <a:r>
              <a:t>El</a:t>
            </a:r>
            <a:r>
              <a:rPr spc="40"/>
              <a:t>  </a:t>
            </a:r>
            <a:r>
              <a:t>documento</a:t>
            </a:r>
            <a:r>
              <a:rPr spc="30"/>
              <a:t>  </a:t>
            </a:r>
            <a:r>
              <a:t>final</a:t>
            </a:r>
            <a:r>
              <a:rPr spc="515"/>
              <a:t> </a:t>
            </a:r>
            <a:r>
              <a:t>que</a:t>
            </a:r>
            <a:r>
              <a:rPr spc="45"/>
              <a:t>  </a:t>
            </a:r>
            <a:r>
              <a:t>se</a:t>
            </a:r>
            <a:r>
              <a:rPr spc="530"/>
              <a:t> </a:t>
            </a:r>
            <a:r>
              <a:t>genera</a:t>
            </a:r>
            <a:r>
              <a:rPr spc="535"/>
              <a:t> </a:t>
            </a:r>
            <a:r>
              <a:t>es</a:t>
            </a:r>
            <a:r>
              <a:rPr spc="525"/>
              <a:t> </a:t>
            </a:r>
            <a:r>
              <a:rPr spc="-25"/>
              <a:t>el </a:t>
            </a:r>
            <a:r>
              <a:t>“Documento</a:t>
            </a:r>
            <a:r>
              <a:rPr spc="114"/>
              <a:t> </a:t>
            </a:r>
            <a:r>
              <a:t>de</a:t>
            </a:r>
            <a:r>
              <a:rPr spc="125"/>
              <a:t> </a:t>
            </a:r>
            <a:r>
              <a:t>Especificación</a:t>
            </a:r>
            <a:r>
              <a:rPr spc="150"/>
              <a:t> </a:t>
            </a:r>
            <a:r>
              <a:t>de</a:t>
            </a:r>
            <a:r>
              <a:rPr spc="130"/>
              <a:t> </a:t>
            </a:r>
            <a:r>
              <a:t>Requisitos”</a:t>
            </a:r>
            <a:r>
              <a:rPr spc="210"/>
              <a:t> </a:t>
            </a:r>
            <a:r>
              <a:rPr spc="-10"/>
              <a:t>(SRD).</a:t>
            </a:r>
          </a:p>
          <a:p>
            <a:pPr marL="12700" algn="just">
              <a:lnSpc>
                <a:spcPct val="100000"/>
              </a:lnSpc>
              <a:spcBef>
                <a:spcPts val="2220"/>
              </a:spcBef>
            </a:pPr>
            <a:r>
              <a:t>Los</a:t>
            </a:r>
            <a:r>
              <a:rPr spc="120"/>
              <a:t> </a:t>
            </a:r>
            <a:r>
              <a:t>requerimientos</a:t>
            </a:r>
            <a:r>
              <a:rPr spc="110"/>
              <a:t> </a:t>
            </a:r>
            <a:r>
              <a:t>pueden</a:t>
            </a:r>
            <a:r>
              <a:rPr spc="90"/>
              <a:t> </a:t>
            </a:r>
            <a:r>
              <a:t>ser</a:t>
            </a:r>
            <a:r>
              <a:rPr spc="75"/>
              <a:t> </a:t>
            </a:r>
            <a:r>
              <a:t>funcionales</a:t>
            </a:r>
            <a:r>
              <a:rPr spc="135"/>
              <a:t> </a:t>
            </a:r>
            <a:r>
              <a:t>o</a:t>
            </a:r>
            <a:r>
              <a:rPr spc="114"/>
              <a:t> </a:t>
            </a:r>
            <a:r>
              <a:t>no</a:t>
            </a:r>
            <a:r>
              <a:rPr spc="85"/>
              <a:t> </a:t>
            </a:r>
            <a:r>
              <a:rPr spc="-10"/>
              <a:t>funcionales:</a:t>
            </a:r>
          </a:p>
          <a:p>
            <a:pPr marL="354330" marR="50800" indent="-342265" algn="just">
              <a:lnSpc>
                <a:spcPct val="101800"/>
              </a:lnSpc>
              <a:spcBef>
                <a:spcPts val="80"/>
              </a:spcBef>
              <a:buClr>
                <a:srgbClr val="F0A10D"/>
              </a:buClr>
              <a:buFont typeface="Wingdings"/>
              <a:buChar char=""/>
              <a:tabLst>
                <a:tab pos="355600" algn="l"/>
              </a:tabLst>
            </a:pPr>
            <a:r>
              <a:t>Funcionales:</a:t>
            </a:r>
            <a:r>
              <a:rPr spc="355"/>
              <a:t> </a:t>
            </a:r>
            <a:r>
              <a:t>describen</a:t>
            </a:r>
            <a:r>
              <a:rPr spc="330"/>
              <a:t> </a:t>
            </a:r>
            <a:r>
              <a:t>qué</a:t>
            </a:r>
            <a:r>
              <a:rPr spc="395"/>
              <a:t> </a:t>
            </a:r>
            <a:r>
              <a:t>tiene</a:t>
            </a:r>
            <a:r>
              <a:rPr spc="360"/>
              <a:t> </a:t>
            </a:r>
            <a:r>
              <a:t>que</a:t>
            </a:r>
            <a:r>
              <a:rPr spc="405"/>
              <a:t> </a:t>
            </a:r>
            <a:r>
              <a:t>hacer</a:t>
            </a:r>
            <a:r>
              <a:rPr spc="405"/>
              <a:t> </a:t>
            </a:r>
            <a:r>
              <a:t>el</a:t>
            </a:r>
            <a:r>
              <a:rPr spc="335"/>
              <a:t> </a:t>
            </a:r>
            <a:r>
              <a:t>sistema,</a:t>
            </a:r>
            <a:r>
              <a:rPr spc="345"/>
              <a:t> </a:t>
            </a:r>
            <a:r>
              <a:t>es</a:t>
            </a:r>
            <a:r>
              <a:rPr spc="350"/>
              <a:t> </a:t>
            </a:r>
            <a:r>
              <a:rPr spc="-10"/>
              <a:t>decir, 	</a:t>
            </a:r>
            <a:r>
              <a:t>que</a:t>
            </a:r>
            <a:r>
              <a:rPr spc="135"/>
              <a:t> </a:t>
            </a:r>
            <a:r>
              <a:t>el</a:t>
            </a:r>
            <a:r>
              <a:rPr spc="80"/>
              <a:t> </a:t>
            </a:r>
            <a:r>
              <a:t>funcionamiento</a:t>
            </a:r>
            <a:r>
              <a:rPr spc="120"/>
              <a:t> </a:t>
            </a:r>
            <a:r>
              <a:t>cumpla</a:t>
            </a:r>
            <a:r>
              <a:rPr spc="85"/>
              <a:t> </a:t>
            </a:r>
            <a:r>
              <a:t>con</a:t>
            </a:r>
            <a:r>
              <a:rPr spc="120"/>
              <a:t> </a:t>
            </a:r>
            <a:r>
              <a:t>lo</a:t>
            </a:r>
            <a:r>
              <a:rPr spc="125"/>
              <a:t> </a:t>
            </a:r>
            <a:r>
              <a:t>requerido</a:t>
            </a:r>
            <a:r>
              <a:rPr spc="95"/>
              <a:t> </a:t>
            </a:r>
            <a:r>
              <a:t>por</a:t>
            </a:r>
            <a:r>
              <a:rPr spc="70"/>
              <a:t> </a:t>
            </a:r>
            <a:r>
              <a:t>el</a:t>
            </a:r>
            <a:r>
              <a:rPr spc="80"/>
              <a:t> </a:t>
            </a:r>
            <a:r>
              <a:rPr spc="-10"/>
              <a:t>cliente.</a:t>
            </a:r>
          </a:p>
          <a:p>
            <a:pPr marL="354330" marR="49530" indent="-342265" algn="just">
              <a:lnSpc>
                <a:spcPct val="101899"/>
              </a:lnSpc>
              <a:buClr>
                <a:srgbClr val="F0A10D"/>
              </a:buClr>
              <a:buFont typeface="Wingdings"/>
              <a:buChar char=""/>
              <a:tabLst>
                <a:tab pos="355600" algn="l"/>
              </a:tabLst>
            </a:pPr>
            <a:r>
              <a:t>No</a:t>
            </a:r>
            <a:r>
              <a:rPr spc="365"/>
              <a:t> </a:t>
            </a:r>
            <a:r>
              <a:t>funcionales:</a:t>
            </a:r>
            <a:r>
              <a:rPr spc="350"/>
              <a:t> </a:t>
            </a:r>
            <a:r>
              <a:t>describen</a:t>
            </a:r>
            <a:r>
              <a:rPr spc="320"/>
              <a:t> </a:t>
            </a:r>
            <a:r>
              <a:t>el</a:t>
            </a:r>
            <a:r>
              <a:rPr spc="320"/>
              <a:t> </a:t>
            </a:r>
            <a:r>
              <a:t>“cómo”,</a:t>
            </a:r>
            <a:r>
              <a:rPr spc="310"/>
              <a:t> </a:t>
            </a:r>
            <a:r>
              <a:t>es</a:t>
            </a:r>
            <a:r>
              <a:rPr spc="325"/>
              <a:t> </a:t>
            </a:r>
            <a:r>
              <a:t>decir,</a:t>
            </a:r>
            <a:r>
              <a:rPr spc="305"/>
              <a:t> </a:t>
            </a:r>
            <a:r>
              <a:t>las</a:t>
            </a:r>
            <a:r>
              <a:rPr spc="315"/>
              <a:t> </a:t>
            </a:r>
            <a:r>
              <a:rPr spc="-10"/>
              <a:t>características 	</a:t>
            </a:r>
            <a:r>
              <a:t>emergentes</a:t>
            </a:r>
            <a:r>
              <a:rPr spc="475"/>
              <a:t> </a:t>
            </a:r>
            <a:r>
              <a:t>como</a:t>
            </a:r>
            <a:r>
              <a:rPr spc="430"/>
              <a:t> </a:t>
            </a:r>
            <a:r>
              <a:t>la</a:t>
            </a:r>
            <a:r>
              <a:rPr spc="445"/>
              <a:t> </a:t>
            </a:r>
            <a:r>
              <a:t>fiabilidad,</a:t>
            </a:r>
            <a:r>
              <a:rPr spc="434"/>
              <a:t> </a:t>
            </a:r>
            <a:r>
              <a:t>tiempo</a:t>
            </a:r>
            <a:r>
              <a:rPr spc="409"/>
              <a:t> </a:t>
            </a:r>
            <a:r>
              <a:t>de</a:t>
            </a:r>
            <a:r>
              <a:rPr spc="409"/>
              <a:t> </a:t>
            </a:r>
            <a:r>
              <a:t>respuesta,</a:t>
            </a:r>
            <a:r>
              <a:rPr spc="370"/>
              <a:t> </a:t>
            </a:r>
            <a:r>
              <a:rPr spc="-10"/>
              <a:t>seguridad, 	</a:t>
            </a:r>
            <a:r>
              <a:t>entre</a:t>
            </a:r>
            <a:r>
              <a:rPr spc="90"/>
              <a:t> </a:t>
            </a:r>
            <a:r>
              <a:rPr spc="-10"/>
              <a:t>otras.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44901" y="2854578"/>
            <a:ext cx="5915660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/>
              <a:t>¡Muchas</a:t>
            </a:r>
            <a:r>
              <a:rPr sz="6600" spc="-80"/>
              <a:t> </a:t>
            </a:r>
            <a:r>
              <a:rPr sz="6600" spc="-10"/>
              <a:t>gracias!</a:t>
            </a:r>
            <a:endParaRPr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9299BB7DBAB604CBF92CED6F341956D" ma:contentTypeVersion="3" ma:contentTypeDescription="Crear nuevo documento." ma:contentTypeScope="" ma:versionID="9afc5c629d1fa4daa758eae5c0ffce08">
  <xsd:schema xmlns:xsd="http://www.w3.org/2001/XMLSchema" xmlns:xs="http://www.w3.org/2001/XMLSchema" xmlns:p="http://schemas.microsoft.com/office/2006/metadata/properties" xmlns:ns2="0fd8070d-56ff-4b43-b705-64ae6a394890" targetNamespace="http://schemas.microsoft.com/office/2006/metadata/properties" ma:root="true" ma:fieldsID="e452753519e258a995a8d5047b5119ca" ns2:_="">
    <xsd:import namespace="0fd8070d-56ff-4b43-b705-64ae6a3948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8070d-56ff-4b43-b705-64ae6a3948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70FFC0-A99C-4830-9A09-F45B5E53E0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92FDF0-4116-485D-8022-EE6608741008}">
  <ds:schemaRefs>
    <ds:schemaRef ds:uri="0fd8070d-56ff-4b43-b705-64ae6a3948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B78B731-394A-402B-B59A-B064DE36D98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Temas a desarrollar</vt:lpstr>
      <vt:lpstr>Requerimientos del software</vt:lpstr>
      <vt:lpstr>Requerimientos del software</vt:lpstr>
      <vt:lpstr>Requerimientos del software</vt:lpstr>
      <vt:lpstr>Requerimientos del sistema</vt:lpstr>
      <vt:lpstr>Análisis de requisitos</vt:lpstr>
      <vt:lpstr>Requerimientos del software</vt:lpstr>
      <vt:lpstr>Actividades</vt:lpstr>
      <vt:lpstr>Herramientas y técnicas</vt:lpstr>
      <vt:lpstr>Herramientas y técnicas</vt:lpstr>
      <vt:lpstr>Documentación de requerimientos</vt:lpstr>
      <vt:lpstr>SRS - Documento de Especificación de Requisitos del Sistema</vt:lpstr>
      <vt:lpstr>Requerimientos funcionales vs. no funcionales</vt:lpstr>
      <vt:lpstr>Requerimientos funcionales</vt:lpstr>
      <vt:lpstr>Requerimientos funcionales</vt:lpstr>
      <vt:lpstr>Requerimientos no funcionales</vt:lpstr>
      <vt:lpstr>Requerimientos no funcionales</vt:lpstr>
      <vt:lpstr>Síntesis</vt:lpstr>
      <vt:lpstr>Síntesis</vt:lpstr>
      <vt:lpstr>¡Muchas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Daldin Susana</dc:creator>
  <cp:revision>1</cp:revision>
  <dcterms:created xsi:type="dcterms:W3CDTF">2026-08-31T15:38:23Z</dcterms:created>
  <dcterms:modified xsi:type="dcterms:W3CDTF">2026-08-31T15:53:23Z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2025-02-03T00:00:00Z</vt:filetime>
  </property>
  <property fmtid="{D5CDD505-2E9C-101B-9397-08002B2CF9AE}" pid="4" name="LastSaved">
    <vt:filetime>2026-08-31T00:00:00Z</vt:filetime>
  </property>
  <property fmtid="{D5CDD505-2E9C-101B-9397-08002B2CF9AE}" pid="5" name="ContentTypeId">
    <vt:lpwstr>0x01010019299BB7DBAB604CBF92CED6F341956D</vt:lpwstr>
  </property>
</Properties>
</file>